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0533" autoAdjust="0"/>
  </p:normalViewPr>
  <p:slideViewPr>
    <p:cSldViewPr snapToGrid="0">
      <p:cViewPr varScale="1">
        <p:scale>
          <a:sx n="61" d="100"/>
          <a:sy n="61" d="100"/>
        </p:scale>
        <p:origin x="3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2700A9-FBD6-44A8-8A74-558C8FA74040}" type="datetimeFigureOut">
              <a:rPr lang="zh-TW" altLang="en-US" smtClean="0"/>
              <a:t>2020/2/9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47965-B1C0-4CB8-8CE1-A3DED20DCF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8356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這邊的</a:t>
            </a:r>
            <a:r>
              <a:rPr lang="en-US" altLang="zh-TW" dirty="0" smtClean="0"/>
              <a:t>enhancement</a:t>
            </a:r>
            <a:r>
              <a:rPr lang="zh-TW" altLang="en-US" dirty="0" smtClean="0"/>
              <a:t>包含了 </a:t>
            </a:r>
            <a:r>
              <a:rPr lang="zh-TW" altLang="en-US" dirty="0" smtClean="0"/>
              <a:t>提高</a:t>
            </a:r>
            <a:r>
              <a:rPr lang="en-US" altLang="zh-TW" dirty="0" err="1" smtClean="0"/>
              <a:t>QoS</a:t>
            </a:r>
            <a:r>
              <a:rPr lang="en-US" altLang="zh-TW" dirty="0" smtClean="0"/>
              <a:t>,</a:t>
            </a:r>
            <a:r>
              <a:rPr lang="en-US" altLang="zh-TW" baseline="0" dirty="0" smtClean="0"/>
              <a:t> </a:t>
            </a:r>
            <a:r>
              <a:rPr lang="zh-TW" altLang="en-US" baseline="0" dirty="0" smtClean="0"/>
              <a:t> 更高的效率、可靠性，降低複雜</a:t>
            </a:r>
            <a:r>
              <a:rPr lang="zh-TW" altLang="en-US" baseline="0" dirty="0" smtClean="0"/>
              <a:t>度、</a:t>
            </a:r>
            <a:r>
              <a:rPr lang="zh-TW" altLang="en-US" baseline="0" dirty="0" smtClean="0"/>
              <a:t>電力等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47965-B1C0-4CB8-8CE1-A3DED20DCF4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8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這邊在談論的是</a:t>
            </a:r>
            <a:r>
              <a:rPr lang="en-US" altLang="zh-TW" dirty="0" smtClean="0"/>
              <a:t>UE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bandwidth</a:t>
            </a:r>
            <a:r>
              <a:rPr lang="en-US" altLang="zh-TW" baseline="0" dirty="0" smtClean="0"/>
              <a:t> capabilities</a:t>
            </a:r>
          </a:p>
          <a:p>
            <a:r>
              <a:rPr lang="en-US" altLang="zh-TW" baseline="0" dirty="0" smtClean="0"/>
              <a:t>Relay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UE</a:t>
            </a:r>
            <a:r>
              <a:rPr lang="zh-TW" altLang="en-US" baseline="0" dirty="0" smtClean="0"/>
              <a:t>必須擁有</a:t>
            </a:r>
            <a:r>
              <a:rPr lang="en-US" altLang="zh-TW" baseline="0" dirty="0" smtClean="0"/>
              <a:t>Downlink, Uplink , </a:t>
            </a:r>
            <a:r>
              <a:rPr lang="en-US" altLang="zh-TW" baseline="0" dirty="0" err="1" smtClean="0"/>
              <a:t>SideLink</a:t>
            </a:r>
            <a:r>
              <a:rPr lang="zh-TW" altLang="en-US" baseline="0" dirty="0" smtClean="0"/>
              <a:t>的頻寬</a:t>
            </a:r>
            <a:endParaRPr lang="en-US" altLang="zh-TW" baseline="0" dirty="0" smtClean="0"/>
          </a:p>
          <a:p>
            <a:r>
              <a:rPr lang="en-US" altLang="zh-TW" baseline="0" dirty="0" smtClean="0"/>
              <a:t>Remote UE </a:t>
            </a:r>
            <a:r>
              <a:rPr lang="zh-TW" altLang="en-US" baseline="0" dirty="0" smtClean="0"/>
              <a:t>支持 </a:t>
            </a:r>
            <a:r>
              <a:rPr lang="en-US" altLang="zh-TW" baseline="0" dirty="0" smtClean="0"/>
              <a:t>BW</a:t>
            </a:r>
            <a:r>
              <a:rPr lang="zh-TW" altLang="en-US" baseline="0" dirty="0" smtClean="0"/>
              <a:t>限制</a:t>
            </a:r>
            <a:endParaRPr lang="en-US" altLang="zh-TW" baseline="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47965-B1C0-4CB8-8CE1-A3DED20DCF4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370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這邊在討論當頻寬限制是</a:t>
            </a:r>
            <a:r>
              <a:rPr lang="en-US" altLang="zh-TW" dirty="0" smtClean="0"/>
              <a:t>1PRB</a:t>
            </a:r>
            <a:r>
              <a:rPr lang="zh-TW" altLang="en-US" dirty="0" smtClean="0"/>
              <a:t>的時候，需要有新的</a:t>
            </a:r>
            <a:r>
              <a:rPr lang="en-US" altLang="zh-TW" dirty="0" smtClean="0"/>
              <a:t>SLSS/PSBCH </a:t>
            </a:r>
            <a:r>
              <a:rPr lang="zh-TW" altLang="en-US" dirty="0" smtClean="0"/>
              <a:t>的格式，</a:t>
            </a:r>
            <a:endParaRPr lang="en-US" altLang="zh-TW" dirty="0" smtClean="0"/>
          </a:p>
          <a:p>
            <a:r>
              <a:rPr lang="zh-TW" altLang="en-US" dirty="0" smtClean="0"/>
              <a:t>然後這邊規範新的</a:t>
            </a:r>
            <a:r>
              <a:rPr lang="en-US" altLang="zh-TW" dirty="0" smtClean="0"/>
              <a:t>format</a:t>
            </a:r>
            <a:r>
              <a:rPr lang="zh-TW" altLang="en-US" dirty="0" smtClean="0"/>
              <a:t>，</a:t>
            </a:r>
            <a:r>
              <a:rPr lang="en-US" altLang="zh-TW" dirty="0" smtClean="0"/>
              <a:t>PSBCH</a:t>
            </a:r>
            <a:r>
              <a:rPr lang="zh-TW" altLang="en-US" dirty="0" smtClean="0"/>
              <a:t> </a:t>
            </a:r>
            <a:r>
              <a:rPr lang="en-US" altLang="zh-TW" dirty="0" smtClean="0"/>
              <a:t>/ SLSS</a:t>
            </a:r>
            <a:r>
              <a:rPr lang="zh-TW" altLang="en-US" dirty="0" smtClean="0"/>
              <a:t>的頻寬要是 </a:t>
            </a:r>
            <a:r>
              <a:rPr lang="en-US" altLang="zh-TW" dirty="0" smtClean="0"/>
              <a:t>1</a:t>
            </a:r>
            <a:r>
              <a:rPr lang="zh-TW" altLang="en-US" dirty="0" smtClean="0"/>
              <a:t> </a:t>
            </a:r>
            <a:r>
              <a:rPr lang="en-US" altLang="zh-TW" dirty="0" smtClean="0"/>
              <a:t>PRB</a:t>
            </a:r>
          </a:p>
          <a:p>
            <a:r>
              <a:rPr lang="zh-TW" altLang="en-US" dirty="0" smtClean="0"/>
              <a:t>並且可以兼容舊的</a:t>
            </a:r>
            <a:r>
              <a:rPr lang="en-US" altLang="zh-TW" dirty="0" smtClean="0"/>
              <a:t>PSBCH</a:t>
            </a:r>
            <a:r>
              <a:rPr lang="zh-TW" altLang="en-US" dirty="0" smtClean="0"/>
              <a:t>格式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但是若</a:t>
            </a:r>
            <a:r>
              <a:rPr lang="en-US" altLang="zh-TW" dirty="0" smtClean="0"/>
              <a:t>UE</a:t>
            </a:r>
            <a:r>
              <a:rPr lang="zh-TW" altLang="en-US" dirty="0" smtClean="0"/>
              <a:t>沒有</a:t>
            </a:r>
            <a:r>
              <a:rPr lang="en-US" altLang="zh-TW" dirty="0" err="1" smtClean="0"/>
              <a:t>sidelink</a:t>
            </a:r>
            <a:r>
              <a:rPr lang="zh-TW" altLang="en-US" dirty="0" smtClean="0"/>
              <a:t>的接收功能就不需要有新的</a:t>
            </a:r>
            <a:r>
              <a:rPr lang="en-US" altLang="zh-TW" dirty="0" smtClean="0"/>
              <a:t>SLSS</a:t>
            </a:r>
            <a:r>
              <a:rPr lang="zh-TW" altLang="en-US" dirty="0" smtClean="0"/>
              <a:t> </a:t>
            </a:r>
            <a:r>
              <a:rPr lang="en-US" altLang="zh-TW" dirty="0" smtClean="0"/>
              <a:t>/PSBCH</a:t>
            </a:r>
            <a:r>
              <a:rPr lang="zh-TW" altLang="en-US" dirty="0" smtClean="0"/>
              <a:t>格式了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PRB</a:t>
            </a:r>
            <a:r>
              <a:rPr lang="zh-TW" altLang="en-US" dirty="0" smtClean="0"/>
              <a:t>是排程的最小資源單位，</a:t>
            </a:r>
            <a:r>
              <a:rPr lang="en-US" altLang="zh-TW" dirty="0" smtClean="0"/>
              <a:t>1PRB</a:t>
            </a:r>
            <a:r>
              <a:rPr lang="zh-TW" altLang="en-US" dirty="0" smtClean="0"/>
              <a:t>有</a:t>
            </a:r>
            <a:r>
              <a:rPr lang="en-US" altLang="zh-TW" dirty="0" smtClean="0"/>
              <a:t>12</a:t>
            </a:r>
            <a:r>
              <a:rPr lang="zh-TW" altLang="en-US" dirty="0" smtClean="0"/>
              <a:t>個</a:t>
            </a:r>
            <a:r>
              <a:rPr lang="zh-TW" altLang="zh-TW" dirty="0" smtClean="0"/>
              <a:t>連續子載波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47965-B1C0-4CB8-8CE1-A3DED20DCF4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242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這邊都是假設頻寬限制是 </a:t>
            </a:r>
            <a:r>
              <a:rPr lang="en-US" altLang="zh-TW" dirty="0" smtClean="0"/>
              <a:t>1</a:t>
            </a:r>
            <a:r>
              <a:rPr lang="zh-TW" altLang="en-US" dirty="0" smtClean="0"/>
              <a:t> </a:t>
            </a:r>
            <a:r>
              <a:rPr lang="en-US" altLang="zh-TW" dirty="0" smtClean="0"/>
              <a:t>PRB</a:t>
            </a:r>
            <a:r>
              <a:rPr lang="zh-TW" altLang="en-US" dirty="0" smtClean="0"/>
              <a:t>下 來討論</a:t>
            </a:r>
            <a:r>
              <a:rPr lang="en-US" altLang="zh-TW" dirty="0" err="1" smtClean="0"/>
              <a:t>sidelink</a:t>
            </a:r>
            <a:r>
              <a:rPr lang="zh-TW" altLang="en-US" dirty="0" smtClean="0"/>
              <a:t>中的</a:t>
            </a:r>
            <a:r>
              <a:rPr lang="en-US" altLang="zh-TW" dirty="0" smtClean="0"/>
              <a:t>communication, synchronization, discovery:</a:t>
            </a:r>
          </a:p>
          <a:p>
            <a:r>
              <a:rPr lang="en-US" altLang="zh-TW" dirty="0" smtClean="0"/>
              <a:t>SC</a:t>
            </a:r>
            <a:r>
              <a:rPr lang="zh-TW" altLang="en-US" dirty="0" smtClean="0"/>
              <a:t> </a:t>
            </a:r>
            <a:r>
              <a:rPr lang="en-US" altLang="zh-TW" dirty="0" smtClean="0"/>
              <a:t>–</a:t>
            </a:r>
            <a:r>
              <a:rPr lang="zh-TW" altLang="en-US" dirty="0" smtClean="0"/>
              <a:t> </a:t>
            </a:r>
            <a:r>
              <a:rPr lang="en-US" altLang="zh-TW" dirty="0" smtClean="0"/>
              <a:t>FDMA</a:t>
            </a:r>
            <a:r>
              <a:rPr lang="zh-TW" altLang="en-US" dirty="0" smtClean="0"/>
              <a:t>波型 要可以接收跟發送資料</a:t>
            </a:r>
            <a:endParaRPr lang="en-US" altLang="zh-TW" dirty="0" smtClean="0"/>
          </a:p>
          <a:p>
            <a:r>
              <a:rPr lang="en-US" altLang="zh-TW" dirty="0" smtClean="0"/>
              <a:t>TBCC</a:t>
            </a:r>
            <a:r>
              <a:rPr lang="zh-TW" altLang="en-US" dirty="0" smtClean="0"/>
              <a:t> </a:t>
            </a:r>
            <a:r>
              <a:rPr lang="en-US" altLang="zh-TW" dirty="0" smtClean="0"/>
              <a:t>(Tail-biting</a:t>
            </a:r>
            <a:r>
              <a:rPr lang="en-US" altLang="zh-TW" baseline="0" dirty="0" smtClean="0"/>
              <a:t> convolution code</a:t>
            </a:r>
            <a:r>
              <a:rPr lang="en-US" altLang="zh-TW" dirty="0" smtClean="0"/>
              <a:t>)</a:t>
            </a:r>
            <a:r>
              <a:rPr lang="zh-TW" altLang="en-US" dirty="0" smtClean="0"/>
              <a:t>要</a:t>
            </a:r>
            <a:r>
              <a:rPr lang="zh-TW" altLang="en-US" dirty="0" smtClean="0"/>
              <a:t>可以成為</a:t>
            </a:r>
            <a:r>
              <a:rPr lang="en-US" altLang="zh-TW" dirty="0" err="1" smtClean="0"/>
              <a:t>sidelink</a:t>
            </a:r>
            <a:r>
              <a:rPr lang="en-US" altLang="zh-TW" dirty="0" smtClean="0"/>
              <a:t> physical channels</a:t>
            </a:r>
            <a:r>
              <a:rPr lang="en-US" altLang="zh-TW" baseline="0" dirty="0" smtClean="0"/>
              <a:t> </a:t>
            </a:r>
            <a:r>
              <a:rPr lang="zh-TW" altLang="en-US" dirty="0" smtClean="0"/>
              <a:t>的</a:t>
            </a:r>
            <a:r>
              <a:rPr lang="en-US" altLang="zh-TW" dirty="0" smtClean="0"/>
              <a:t>channel coding scheme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aseline="0" dirty="0" smtClean="0"/>
              <a:t>不需要優先支持</a:t>
            </a:r>
            <a:r>
              <a:rPr lang="en-US" altLang="zh-TW" dirty="0" smtClean="0"/>
              <a:t>Sub- </a:t>
            </a:r>
            <a:r>
              <a:rPr lang="en-US" altLang="zh-TW" dirty="0" smtClean="0"/>
              <a:t>PRB and 3.75kHz subcarrier spacing</a:t>
            </a:r>
            <a:r>
              <a:rPr lang="en-US" altLang="zh-TW" baseline="0" dirty="0" smtClean="0"/>
              <a:t>  </a:t>
            </a:r>
            <a:r>
              <a:rPr lang="zh-TW" altLang="en-US" baseline="0" dirty="0" smtClean="0"/>
              <a:t>在</a:t>
            </a:r>
            <a:r>
              <a:rPr lang="en-US" altLang="zh-TW" baseline="0" dirty="0" err="1" smtClean="0"/>
              <a:t>sidelink</a:t>
            </a:r>
            <a:r>
              <a:rPr lang="en-US" altLang="zh-TW" baseline="0" dirty="0" smtClean="0"/>
              <a:t> </a:t>
            </a:r>
            <a:r>
              <a:rPr lang="zh-TW" altLang="en-US" baseline="0" dirty="0" smtClean="0"/>
              <a:t>的發送跟</a:t>
            </a:r>
            <a:r>
              <a:rPr lang="zh-TW" altLang="en-US" baseline="0" dirty="0" smtClean="0"/>
              <a:t>接收</a:t>
            </a:r>
            <a:endParaRPr lang="en-US" altLang="zh-TW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aseline="0" dirty="0" smtClean="0"/>
              <a:t>因</a:t>
            </a:r>
            <a:r>
              <a:rPr lang="en-US" altLang="zh-TW" baseline="0" dirty="0" smtClean="0"/>
              <a:t>remote </a:t>
            </a:r>
            <a:r>
              <a:rPr lang="en-US" altLang="zh-TW" baseline="0" dirty="0" err="1" smtClean="0"/>
              <a:t>ue</a:t>
            </a:r>
            <a:r>
              <a:rPr lang="zh-TW" altLang="en-US" baseline="0" dirty="0" smtClean="0"/>
              <a:t>在 </a:t>
            </a:r>
            <a:r>
              <a:rPr lang="en-US" altLang="zh-TW" baseline="0" dirty="0" smtClean="0"/>
              <a:t>1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PRB</a:t>
            </a:r>
            <a:r>
              <a:rPr lang="zh-TW" altLang="en-US" baseline="0" dirty="0" smtClean="0"/>
              <a:t> 的頻寬限制下，因此必須有新的</a:t>
            </a:r>
            <a:r>
              <a:rPr lang="en-US" altLang="zh-TW" baseline="0" dirty="0" smtClean="0"/>
              <a:t>PSDCH</a:t>
            </a:r>
            <a:r>
              <a:rPr lang="zh-TW" altLang="en-US" baseline="0" dirty="0" smtClean="0"/>
              <a:t>格式</a:t>
            </a:r>
            <a:endParaRPr lang="en-US" altLang="zh-TW" baseline="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47965-B1C0-4CB8-8CE1-A3DED20DCF4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934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那這邊有三種可考慮的設計選項作為</a:t>
            </a:r>
            <a:r>
              <a:rPr lang="en-US" altLang="zh-TW" dirty="0" err="1" smtClean="0"/>
              <a:t>sidelink</a:t>
            </a:r>
            <a:r>
              <a:rPr lang="en-US" altLang="zh-TW" dirty="0" smtClean="0"/>
              <a:t> </a:t>
            </a:r>
            <a:r>
              <a:rPr lang="zh-TW" altLang="en-US" dirty="0" smtClean="0"/>
              <a:t>的</a:t>
            </a:r>
            <a:r>
              <a:rPr lang="en-US" altLang="zh-TW" dirty="0" smtClean="0"/>
              <a:t>discovery </a:t>
            </a:r>
            <a:r>
              <a:rPr lang="zh-TW" altLang="en-US" dirty="0" smtClean="0"/>
              <a:t>當</a:t>
            </a:r>
            <a:r>
              <a:rPr lang="en-US" altLang="zh-TW" dirty="0" smtClean="0"/>
              <a:t>UE</a:t>
            </a:r>
            <a:r>
              <a:rPr lang="zh-TW" altLang="en-US" dirty="0" smtClean="0"/>
              <a:t>頻寬為</a:t>
            </a:r>
            <a:r>
              <a:rPr lang="en-US" altLang="zh-TW" dirty="0" smtClean="0"/>
              <a:t>1PRB</a:t>
            </a:r>
            <a:r>
              <a:rPr lang="zh-TW" altLang="en-US" dirty="0" smtClean="0"/>
              <a:t>的時候</a:t>
            </a:r>
            <a:r>
              <a:rPr lang="en-US" altLang="zh-TW" dirty="0" smtClean="0"/>
              <a:t>:</a:t>
            </a:r>
          </a:p>
          <a:p>
            <a:r>
              <a:rPr lang="zh-TW" altLang="en-US" dirty="0" smtClean="0"/>
              <a:t>第一個就是要定義 </a:t>
            </a:r>
            <a:r>
              <a:rPr lang="en-US" altLang="zh-TW" dirty="0" smtClean="0"/>
              <a:t>1</a:t>
            </a:r>
            <a:r>
              <a:rPr lang="zh-TW" altLang="en-US" dirty="0" smtClean="0"/>
              <a:t> </a:t>
            </a:r>
            <a:r>
              <a:rPr lang="en-US" altLang="zh-TW" dirty="0" smtClean="0"/>
              <a:t>PRB</a:t>
            </a:r>
            <a:r>
              <a:rPr lang="zh-TW" altLang="en-US" dirty="0" smtClean="0"/>
              <a:t> 或 </a:t>
            </a:r>
            <a:r>
              <a:rPr lang="en-US" altLang="zh-TW" dirty="0" smtClean="0"/>
              <a:t>1TTI</a:t>
            </a:r>
            <a:r>
              <a:rPr lang="zh-TW" altLang="en-US" dirty="0" smtClean="0"/>
              <a:t> </a:t>
            </a:r>
            <a:r>
              <a:rPr lang="zh-TW" altLang="en-US" dirty="0" smtClean="0"/>
              <a:t>的</a:t>
            </a:r>
            <a:r>
              <a:rPr lang="en-US" altLang="zh-TW" dirty="0" smtClean="0"/>
              <a:t>physical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 </a:t>
            </a:r>
            <a:r>
              <a:rPr lang="zh-TW" altLang="en-US" dirty="0" smtClean="0"/>
              <a:t>並縮小</a:t>
            </a:r>
            <a:r>
              <a:rPr lang="en-US" altLang="zh-TW" dirty="0" smtClean="0"/>
              <a:t>payload</a:t>
            </a:r>
            <a:r>
              <a:rPr lang="zh-TW" altLang="en-US" dirty="0" smtClean="0"/>
              <a:t>大小，</a:t>
            </a:r>
            <a:endParaRPr lang="en-US" altLang="zh-TW" dirty="0" smtClean="0"/>
          </a:p>
          <a:p>
            <a:r>
              <a:rPr lang="zh-TW" altLang="en-US" dirty="0" smtClean="0"/>
              <a:t>第二個就是要定義 </a:t>
            </a:r>
            <a:r>
              <a:rPr lang="en-US" altLang="zh-TW" dirty="0" smtClean="0"/>
              <a:t>1</a:t>
            </a:r>
            <a:r>
              <a:rPr lang="zh-TW" altLang="en-US" dirty="0" smtClean="0"/>
              <a:t> </a:t>
            </a:r>
            <a:r>
              <a:rPr lang="en-US" altLang="zh-TW" dirty="0" smtClean="0"/>
              <a:t>PRB</a:t>
            </a:r>
            <a:r>
              <a:rPr lang="zh-TW" altLang="en-US" dirty="0" smtClean="0"/>
              <a:t> 或 </a:t>
            </a:r>
            <a:r>
              <a:rPr lang="en-US" altLang="zh-TW" dirty="0" smtClean="0"/>
              <a:t>2TTI</a:t>
            </a:r>
            <a:r>
              <a:rPr lang="zh-TW" altLang="en-US" dirty="0" smtClean="0"/>
              <a:t> </a:t>
            </a:r>
            <a:r>
              <a:rPr lang="zh-TW" altLang="en-US" dirty="0" smtClean="0"/>
              <a:t>的</a:t>
            </a:r>
            <a:r>
              <a:rPr lang="en-US" altLang="zh-TW" dirty="0" smtClean="0"/>
              <a:t>physical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 </a:t>
            </a:r>
            <a:r>
              <a:rPr lang="zh-TW" altLang="en-US" dirty="0" smtClean="0"/>
              <a:t>維持</a:t>
            </a:r>
            <a:r>
              <a:rPr lang="en-US" altLang="zh-TW" dirty="0" smtClean="0"/>
              <a:t>payload </a:t>
            </a:r>
            <a:r>
              <a:rPr lang="zh-TW" altLang="en-US" dirty="0" smtClean="0"/>
              <a:t>大小</a:t>
            </a:r>
            <a:endParaRPr lang="en-US" altLang="zh-TW" dirty="0" smtClean="0"/>
          </a:p>
          <a:p>
            <a:r>
              <a:rPr lang="zh-TW" altLang="en-US" dirty="0" smtClean="0"/>
              <a:t>第三個就是要定義 </a:t>
            </a:r>
            <a:r>
              <a:rPr lang="en-US" altLang="zh-TW" dirty="0" smtClean="0"/>
              <a:t>1</a:t>
            </a:r>
            <a:r>
              <a:rPr lang="zh-TW" altLang="en-US" dirty="0" smtClean="0"/>
              <a:t> </a:t>
            </a:r>
            <a:r>
              <a:rPr lang="en-US" altLang="zh-TW" dirty="0" smtClean="0"/>
              <a:t>PRB</a:t>
            </a:r>
            <a:r>
              <a:rPr lang="zh-TW" altLang="en-US" dirty="0" smtClean="0"/>
              <a:t> </a:t>
            </a:r>
            <a:r>
              <a:rPr lang="zh-TW" altLang="en-US" smtClean="0"/>
              <a:t>或 </a:t>
            </a:r>
            <a:r>
              <a:rPr lang="en-US" altLang="zh-TW" smtClean="0"/>
              <a:t>1TTL</a:t>
            </a:r>
            <a:r>
              <a:rPr lang="zh-TW" altLang="en-US" smtClean="0"/>
              <a:t> </a:t>
            </a:r>
            <a:r>
              <a:rPr lang="zh-TW" altLang="en-US" dirty="0" smtClean="0"/>
              <a:t>的</a:t>
            </a:r>
            <a:r>
              <a:rPr lang="en-US" altLang="zh-TW" dirty="0" smtClean="0"/>
              <a:t>physical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</a:t>
            </a:r>
            <a:r>
              <a:rPr lang="zh-TW" altLang="en-US" dirty="0" smtClean="0"/>
              <a:t>但增加調變的</a:t>
            </a:r>
            <a:r>
              <a:rPr lang="en-US" altLang="zh-TW" dirty="0" smtClean="0"/>
              <a:t>order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47965-B1C0-4CB8-8CE1-A3DED20DCF4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121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原本</a:t>
            </a:r>
            <a:r>
              <a:rPr lang="en-US" altLang="zh-TW" dirty="0" smtClean="0"/>
              <a:t>6PRB</a:t>
            </a:r>
            <a:r>
              <a:rPr lang="zh-TW" altLang="en-US" dirty="0" smtClean="0"/>
              <a:t>頻寬限制</a:t>
            </a:r>
            <a:r>
              <a:rPr lang="zh-TW" altLang="en-US" dirty="0" smtClean="0"/>
              <a:t>下的</a:t>
            </a:r>
            <a:r>
              <a:rPr lang="en-US" altLang="zh-TW" dirty="0" smtClean="0"/>
              <a:t>UE</a:t>
            </a:r>
            <a:r>
              <a:rPr lang="zh-TW" altLang="en-US" dirty="0" smtClean="0"/>
              <a:t>若變為</a:t>
            </a:r>
            <a:r>
              <a:rPr lang="en-US" altLang="zh-TW" dirty="0" smtClean="0"/>
              <a:t>1PRB</a:t>
            </a:r>
            <a:r>
              <a:rPr lang="zh-TW" altLang="en-US" dirty="0" smtClean="0"/>
              <a:t> 的話，以下的項目都能夠增強。</a:t>
            </a:r>
            <a:endParaRPr lang="en-US" altLang="zh-TW" dirty="0" smtClean="0"/>
          </a:p>
          <a:p>
            <a:r>
              <a:rPr lang="zh-TW" altLang="zh-TW" dirty="0" smtClean="0"/>
              <a:t>eNB控制和</a:t>
            </a:r>
            <a:r>
              <a:rPr lang="en-US" altLang="zh-TW" dirty="0" smtClean="0"/>
              <a:t>relay</a:t>
            </a:r>
            <a:r>
              <a:rPr lang="en-US" altLang="zh-TW" baseline="0" dirty="0" smtClean="0"/>
              <a:t> </a:t>
            </a:r>
            <a:r>
              <a:rPr lang="zh-TW" altLang="zh-TW" dirty="0" smtClean="0"/>
              <a:t>UE輔助的資源分配模式</a:t>
            </a:r>
            <a:endParaRPr lang="en-US" altLang="zh-TW" dirty="0" smtClean="0"/>
          </a:p>
          <a:p>
            <a:r>
              <a:rPr lang="en-US" altLang="zh-TW" dirty="0" err="1" smtClean="0"/>
              <a:t>Sidelink</a:t>
            </a:r>
            <a:r>
              <a:rPr lang="en-US" altLang="zh-TW" dirty="0" smtClean="0"/>
              <a:t> </a:t>
            </a:r>
            <a:r>
              <a:rPr lang="zh-TW" altLang="en-US" dirty="0" smtClean="0"/>
              <a:t>半永久的排程方式</a:t>
            </a:r>
            <a:endParaRPr lang="en-US" altLang="zh-TW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 smtClean="0"/>
              <a:t>Sidelink</a:t>
            </a:r>
            <a:r>
              <a:rPr lang="en-US" altLang="zh-TW" dirty="0" smtClean="0"/>
              <a:t> power control;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 smtClean="0"/>
              <a:t>Sidelink</a:t>
            </a:r>
            <a:r>
              <a:rPr lang="en-US" altLang="zh-TW" dirty="0" smtClean="0"/>
              <a:t> feedback;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 smtClean="0"/>
              <a:t>Sidelink</a:t>
            </a:r>
            <a:r>
              <a:rPr lang="en-US" altLang="zh-TW" dirty="0" smtClean="0"/>
              <a:t> measurements.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47965-B1C0-4CB8-8CE1-A3DED20DCF4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152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那要實現</a:t>
            </a:r>
            <a:r>
              <a:rPr lang="en-US" altLang="zh-TW" dirty="0" smtClean="0"/>
              <a:t>1PRB</a:t>
            </a:r>
            <a:r>
              <a:rPr lang="zh-TW" altLang="en-US" dirty="0" smtClean="0"/>
              <a:t>限制的話，還要額外考慮以下幾項</a:t>
            </a:r>
            <a:r>
              <a:rPr lang="en-US" altLang="zh-TW" dirty="0" smtClean="0"/>
              <a:t>:</a:t>
            </a:r>
          </a:p>
          <a:p>
            <a:r>
              <a:rPr lang="zh-TW" altLang="zh-TW" dirty="0" smtClean="0"/>
              <a:t>有關PSCCH / PSSCH資源池配置的其他注意事項</a:t>
            </a:r>
            <a:endParaRPr lang="en-US" altLang="zh-TW" dirty="0" smtClean="0"/>
          </a:p>
          <a:p>
            <a:r>
              <a:rPr lang="en-US" altLang="zh-TW" dirty="0" smtClean="0"/>
              <a:t>TBS(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Transport Block Size)</a:t>
            </a:r>
            <a:r>
              <a:rPr lang="zh-TW" altLang="en-US" dirty="0" smtClean="0"/>
              <a:t>的</a:t>
            </a:r>
            <a:r>
              <a:rPr lang="zh-TW" altLang="en-US" dirty="0" smtClean="0"/>
              <a:t>限制大小以及</a:t>
            </a:r>
            <a:r>
              <a:rPr lang="en-US" altLang="zh-TW" dirty="0" smtClean="0"/>
              <a:t>TTI</a:t>
            </a:r>
            <a:r>
              <a:rPr lang="zh-TW" altLang="en-US" dirty="0" smtClean="0"/>
              <a:t> </a:t>
            </a:r>
            <a:r>
              <a:rPr lang="en-US" altLang="zh-TW" dirty="0" smtClean="0"/>
              <a:t>bundle</a:t>
            </a:r>
            <a:r>
              <a:rPr lang="zh-TW" altLang="en-US" dirty="0" smtClean="0"/>
              <a:t>方面的</a:t>
            </a:r>
            <a:r>
              <a:rPr lang="en-US" altLang="zh-TW" dirty="0" err="1" smtClean="0"/>
              <a:t>sidelink</a:t>
            </a:r>
            <a:r>
              <a:rPr lang="zh-TW" altLang="en-US" dirty="0" smtClean="0"/>
              <a:t>通訊</a:t>
            </a:r>
            <a:r>
              <a:rPr lang="en-US" altLang="zh-TW" dirty="0" smtClean="0"/>
              <a:t>(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TTI bundling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是在多个</a:t>
            </a:r>
            <a:r>
              <a:rPr lang="zh-TW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连续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-US" altLang="zh-TW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subframe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上多次发送同一个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Transport Block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而无需等待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ACK/NACK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的技术，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目的就是为了提高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边缘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UE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的上行覆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盖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TW" dirty="0" smtClean="0"/>
          </a:p>
          <a:p>
            <a:r>
              <a:rPr lang="en-US" altLang="zh-TW" dirty="0" err="1" smtClean="0"/>
              <a:t>Sidelink</a:t>
            </a:r>
            <a:r>
              <a:rPr lang="en-US" altLang="zh-TW" dirty="0" smtClean="0"/>
              <a:t> </a:t>
            </a:r>
            <a:r>
              <a:rPr lang="zh-TW" altLang="en-US" dirty="0" smtClean="0"/>
              <a:t>的測量精度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47965-B1C0-4CB8-8CE1-A3DED20DCF4B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860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若是採用</a:t>
            </a:r>
            <a:r>
              <a:rPr lang="en-US" altLang="zh-TW" dirty="0" smtClean="0"/>
              <a:t>semi-persistent transmission</a:t>
            </a:r>
            <a:r>
              <a:rPr lang="zh-TW" altLang="en-US" dirty="0" smtClean="0"/>
              <a:t>的話，以下都可能會被強化</a:t>
            </a:r>
            <a:endParaRPr lang="en-US" altLang="zh-TW" dirty="0" smtClean="0"/>
          </a:p>
          <a:p>
            <a:r>
              <a:rPr lang="en-US" altLang="zh-TW" dirty="0" err="1" smtClean="0"/>
              <a:t>eNodeB</a:t>
            </a:r>
            <a:r>
              <a:rPr lang="en-US" altLang="zh-TW" dirty="0" smtClean="0"/>
              <a:t> </a:t>
            </a:r>
            <a:r>
              <a:rPr lang="zh-TW" altLang="en-US" dirty="0" smtClean="0"/>
              <a:t>排程 </a:t>
            </a:r>
            <a:r>
              <a:rPr lang="en-US" altLang="zh-TW" dirty="0" smtClean="0"/>
              <a:t>UE-to-Network UE forward</a:t>
            </a:r>
            <a:r>
              <a:rPr lang="zh-TW" altLang="en-US" dirty="0" smtClean="0"/>
              <a:t>到有</a:t>
            </a:r>
            <a:r>
              <a:rPr lang="en-US" altLang="zh-TW" dirty="0" smtClean="0"/>
              <a:t>relay UE</a:t>
            </a:r>
            <a:r>
              <a:rPr lang="zh-TW" altLang="en-US" dirty="0" smtClean="0"/>
              <a:t>連著的</a:t>
            </a:r>
            <a:r>
              <a:rPr lang="en-US" altLang="zh-TW" dirty="0" smtClean="0"/>
              <a:t>remote</a:t>
            </a:r>
            <a:r>
              <a:rPr lang="en-US" altLang="zh-TW" baseline="0" dirty="0" smtClean="0"/>
              <a:t> </a:t>
            </a:r>
            <a:r>
              <a:rPr lang="en-US" altLang="zh-TW" baseline="0" dirty="0" err="1" smtClean="0"/>
              <a:t>ue</a:t>
            </a:r>
            <a:endParaRPr lang="en-US" altLang="zh-TW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Relay </a:t>
            </a:r>
            <a:r>
              <a:rPr lang="en-US" altLang="zh-TW" dirty="0" err="1" smtClean="0"/>
              <a:t>ue</a:t>
            </a:r>
            <a:r>
              <a:rPr lang="en-US" altLang="zh-TW" dirty="0" smtClean="0"/>
              <a:t> </a:t>
            </a:r>
            <a:r>
              <a:rPr lang="zh-TW" altLang="en-US" dirty="0" smtClean="0"/>
              <a:t>排程 </a:t>
            </a:r>
            <a:r>
              <a:rPr lang="en-US" altLang="zh-TW" dirty="0" smtClean="0"/>
              <a:t>UE-to-Network UE </a:t>
            </a:r>
            <a:r>
              <a:rPr lang="zh-TW" altLang="en-US" dirty="0" smtClean="0"/>
              <a:t>連到</a:t>
            </a:r>
            <a:r>
              <a:rPr lang="en-US" altLang="zh-TW" dirty="0" smtClean="0"/>
              <a:t>remote</a:t>
            </a:r>
            <a:r>
              <a:rPr lang="en-US" altLang="zh-TW" baseline="0" dirty="0" smtClean="0"/>
              <a:t> </a:t>
            </a:r>
            <a:r>
              <a:rPr lang="en-US" altLang="zh-TW" baseline="0" dirty="0" err="1" smtClean="0"/>
              <a:t>ue</a:t>
            </a:r>
            <a:endParaRPr lang="en-US" altLang="zh-TW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以往的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 Network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的封包傳輸，都是使用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Scheduling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，也就是要傳輸的時候，才開始要空中資源，一般上行的資料都是用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access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的方式，而下行都是用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Paging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的方式。但因為未來在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LTE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上必須乘載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Voice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的訊息，對於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Voice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來說，若使用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Scheduling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的方式並不適合，因為此種方式會在通話期間會一直持續要資源，並且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Voice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本身的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不大，反而會造成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 channel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的負擔。</a:t>
            </a:r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Semi-Persistent Scheduling(SPS)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是來分配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persistent PRB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，沒有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Voice traffic 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就自動釋放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PRB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，等到有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Voice traffic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則再次請求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persistent PRB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，這樣即可省下大量在</a:t>
            </a:r>
            <a:r>
              <a:rPr lang="en-US" altLang="zh-TW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Schduling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control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的資源。</a:t>
            </a:r>
            <a:endParaRPr lang="en-US" altLang="zh-TW" baseline="0" dirty="0" smtClean="0"/>
          </a:p>
          <a:p>
            <a:endParaRPr lang="en-US" altLang="zh-TW" baseline="0" dirty="0" smtClean="0"/>
          </a:p>
          <a:p>
            <a:endParaRPr lang="en-US" altLang="zh-TW" baseline="0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47965-B1C0-4CB8-8CE1-A3DED20DCF4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5980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DD6070C-1373-4317-A1A2-74161B06C4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zh-TW" dirty="0">
                <a:latin typeface="+mj-ea"/>
              </a:rPr>
              <a:t>LTE </a:t>
            </a:r>
            <a:r>
              <a:rPr lang="en-GB" altLang="zh-TW" dirty="0" err="1">
                <a:latin typeface="+mj-ea"/>
              </a:rPr>
              <a:t>sidelink</a:t>
            </a:r>
            <a:r>
              <a:rPr lang="en-GB" altLang="zh-TW" dirty="0">
                <a:latin typeface="+mj-ea"/>
              </a:rPr>
              <a:t> enhancements</a:t>
            </a:r>
            <a:endParaRPr lang="zh-TW" altLang="en-US" dirty="0">
              <a:latin typeface="+mj-ea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="" xmlns:a16="http://schemas.microsoft.com/office/drawing/2014/main" id="{E3FF8CC3-15EF-4D70-ACF2-E6B05F36C8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435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5FACB656-9766-431D-8929-FCB7DE5F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General considerations on </a:t>
            </a:r>
            <a:r>
              <a:rPr lang="en-US" altLang="zh-TW" dirty="0" err="1">
                <a:latin typeface="+mj-ea"/>
              </a:rPr>
              <a:t>sidelink</a:t>
            </a:r>
            <a:r>
              <a:rPr lang="en-US" altLang="zh-TW" dirty="0">
                <a:latin typeface="+mj-ea"/>
              </a:rPr>
              <a:t> enhancements</a:t>
            </a:r>
            <a:endParaRPr lang="zh-TW" altLang="en-US" dirty="0">
              <a:latin typeface="+mj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B7AB40B7-F518-4920-99BC-0C03F7D9A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TW" sz="2800" b="1" dirty="0"/>
              <a:t>On bandwidth capabilities of evolved </a:t>
            </a:r>
            <a:r>
              <a:rPr lang="en-GB" altLang="zh-TW" sz="2800" b="1" dirty="0" err="1"/>
              <a:t>ProSe</a:t>
            </a:r>
            <a:r>
              <a:rPr lang="en-GB" altLang="zh-TW" sz="2800" b="1" dirty="0"/>
              <a:t> UE-to-Network Relay UE and evolved </a:t>
            </a:r>
            <a:r>
              <a:rPr lang="en-GB" altLang="zh-TW" sz="2800" b="1" dirty="0" err="1"/>
              <a:t>ProSe</a:t>
            </a:r>
            <a:r>
              <a:rPr lang="en-GB" altLang="zh-TW" sz="2800" b="1" dirty="0"/>
              <a:t> Remote UEs:</a:t>
            </a:r>
          </a:p>
          <a:p>
            <a:pPr lvl="1"/>
            <a:r>
              <a:rPr lang="en-GB" altLang="zh-TW" sz="2400" dirty="0"/>
              <a:t>Evolved </a:t>
            </a:r>
            <a:r>
              <a:rPr lang="en-GB" altLang="zh-TW" sz="2400" dirty="0" err="1"/>
              <a:t>ProSe</a:t>
            </a:r>
            <a:r>
              <a:rPr lang="en-GB" altLang="zh-TW" sz="2400" dirty="0"/>
              <a:t> UE-to-Network Relay UE</a:t>
            </a:r>
            <a:r>
              <a:rPr lang="en-US" altLang="zh-TW" sz="2400" dirty="0"/>
              <a:t>s support all DL/UL/SL system bandwidth capabilities</a:t>
            </a:r>
          </a:p>
          <a:p>
            <a:pPr lvl="1"/>
            <a:r>
              <a:rPr lang="en-US" altLang="zh-TW" sz="2400" dirty="0"/>
              <a:t>BW limitations are supported for evolved </a:t>
            </a:r>
            <a:r>
              <a:rPr lang="en-US" altLang="zh-TW" sz="2400" dirty="0" err="1"/>
              <a:t>ProSe</a:t>
            </a:r>
            <a:r>
              <a:rPr lang="en-US" altLang="zh-TW" sz="2400" dirty="0"/>
              <a:t> Remote UEs;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6547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C03DC24A-8CA4-41F5-B012-FAB7DD969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A9C09B87-B354-45DB-9A16-C51E7F787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TW" b="1" dirty="0"/>
              <a:t>On UEs with 1 PRB bandwidth:</a:t>
            </a:r>
            <a:endParaRPr lang="en-US" altLang="zh-TW" b="1" dirty="0"/>
          </a:p>
          <a:p>
            <a:pPr marL="0" indent="0">
              <a:buNone/>
            </a:pPr>
            <a:r>
              <a:rPr lang="en-US" altLang="zh-TW" dirty="0"/>
              <a:t>For Remote UEs with 1 PRB bandwidth limitation </a:t>
            </a:r>
            <a:r>
              <a:rPr lang="en-GB" altLang="zh-TW" dirty="0"/>
              <a:t>new</a:t>
            </a:r>
            <a:r>
              <a:rPr lang="en-US" altLang="zh-TW" dirty="0"/>
              <a:t> SLSS/PSBCH format is needed.</a:t>
            </a:r>
          </a:p>
          <a:p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PSBCH/SLSS bandwidth is one PRB;</a:t>
            </a:r>
          </a:p>
          <a:p>
            <a:pPr lvl="1"/>
            <a:r>
              <a:rPr lang="en-US" altLang="zh-TW" dirty="0"/>
              <a:t>New PSBCH format includes the legacy PSBCH content</a:t>
            </a:r>
            <a:r>
              <a:rPr lang="en-US" altLang="zh-TW" dirty="0" smtClean="0"/>
              <a:t>.</a:t>
            </a:r>
          </a:p>
          <a:p>
            <a:pPr lvl="1"/>
            <a:endParaRPr lang="en-US" altLang="zh-TW" dirty="0"/>
          </a:p>
          <a:p>
            <a:pPr marL="530352" lvl="1" indent="0">
              <a:buNone/>
            </a:pPr>
            <a:r>
              <a:rPr lang="en-US" altLang="zh-TW" dirty="0" smtClean="0"/>
              <a:t>NOTE:</a:t>
            </a:r>
            <a:r>
              <a:rPr lang="zh-TW" altLang="en-US" dirty="0" smtClean="0"/>
              <a:t> </a:t>
            </a:r>
            <a:r>
              <a:rPr lang="en-US" altLang="zh-TW" dirty="0" smtClean="0"/>
              <a:t>for </a:t>
            </a:r>
            <a:r>
              <a:rPr lang="en-US" altLang="zh-TW" dirty="0"/>
              <a:t>UEs w/o </a:t>
            </a:r>
            <a:r>
              <a:rPr lang="en-US" altLang="zh-TW" dirty="0" err="1"/>
              <a:t>sidelink</a:t>
            </a:r>
            <a:r>
              <a:rPr lang="en-US" altLang="zh-TW" dirty="0"/>
              <a:t> </a:t>
            </a:r>
            <a:r>
              <a:rPr lang="en-GB" altLang="zh-TW" dirty="0"/>
              <a:t>reception</a:t>
            </a:r>
            <a:r>
              <a:rPr lang="en-US" altLang="zh-TW" dirty="0"/>
              <a:t> capabilities new SLSS/PSBCH format is not needed</a:t>
            </a:r>
            <a:endParaRPr lang="zh-TW" altLang="zh-TW" dirty="0"/>
          </a:p>
          <a:p>
            <a:pPr marL="530352" lvl="1" indent="0">
              <a:buNone/>
            </a:pP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323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AA688A67-3D39-4434-9AE7-307D5B1C5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68D8A73C-908D-4529-B870-2531311C2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following is assumed for further design of </a:t>
            </a:r>
            <a:r>
              <a:rPr lang="en-US" altLang="zh-TW" dirty="0" err="1"/>
              <a:t>sidelink</a:t>
            </a:r>
            <a:r>
              <a:rPr lang="en-US" altLang="zh-TW" dirty="0"/>
              <a:t> communication, synchronization, and discovery for 1 PRB bandwidth limited UEs</a:t>
            </a:r>
            <a:endParaRPr lang="zh-TW" altLang="zh-TW" dirty="0"/>
          </a:p>
          <a:p>
            <a:pPr lvl="1"/>
            <a:r>
              <a:rPr lang="en-US" altLang="zh-TW" dirty="0"/>
              <a:t>SC-FDMA waveform can be used for </a:t>
            </a:r>
            <a:r>
              <a:rPr lang="en-US" altLang="zh-TW" dirty="0" err="1"/>
              <a:t>sidelink</a:t>
            </a:r>
            <a:r>
              <a:rPr lang="en-US" altLang="zh-TW" dirty="0"/>
              <a:t> transmission and reception;</a:t>
            </a:r>
          </a:p>
          <a:p>
            <a:pPr lvl="1"/>
            <a:r>
              <a:rPr lang="en-US" altLang="zh-TW" dirty="0"/>
              <a:t>TBCC can be used as a channel coding scheme for all </a:t>
            </a:r>
            <a:r>
              <a:rPr lang="en-US" altLang="zh-TW" dirty="0" err="1"/>
              <a:t>sidelink</a:t>
            </a:r>
            <a:r>
              <a:rPr lang="en-US" altLang="zh-TW" dirty="0"/>
              <a:t> physical channels;</a:t>
            </a:r>
            <a:endParaRPr lang="zh-TW" altLang="zh-TW" dirty="0"/>
          </a:p>
          <a:p>
            <a:pPr lvl="1"/>
            <a:r>
              <a:rPr lang="en-US" altLang="zh-TW" dirty="0"/>
              <a:t>Support of sub-PRB and 3.75 kHz subcarrier spacing </a:t>
            </a:r>
            <a:r>
              <a:rPr lang="en-US" altLang="zh-TW" dirty="0" err="1"/>
              <a:t>sidelink</a:t>
            </a:r>
            <a:r>
              <a:rPr lang="en-US" altLang="zh-TW" dirty="0"/>
              <a:t> transmission/reception is deprioritized.</a:t>
            </a:r>
          </a:p>
          <a:p>
            <a:pPr lvl="1"/>
            <a:endParaRPr lang="en-US" altLang="zh-TW" dirty="0"/>
          </a:p>
          <a:p>
            <a:pPr marL="530352" lvl="1" indent="0">
              <a:buNone/>
            </a:pPr>
            <a:r>
              <a:rPr lang="en-US" altLang="zh-TW" dirty="0"/>
              <a:t>For Remote UEs with 1 PRB bandwidth limitation new PSDCH format is needed</a:t>
            </a:r>
            <a:endParaRPr lang="zh-TW" altLang="zh-TW" dirty="0"/>
          </a:p>
          <a:p>
            <a:pPr marL="530352" lvl="1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258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4967DA00-F73A-4A2E-8685-9887C3C8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788F0647-5B0B-4818-ACFA-0768BC03D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following discovery design options are identified for UEs with 1 PRB BW limitation</a:t>
            </a:r>
            <a:endParaRPr lang="zh-TW" altLang="zh-TW" dirty="0"/>
          </a:p>
          <a:p>
            <a:pPr lvl="1"/>
            <a:r>
              <a:rPr lang="en-US" altLang="zh-TW" dirty="0"/>
              <a:t>Option 1: Define 1 PRB / 1 TTI physical structure and reduce payload size;</a:t>
            </a:r>
            <a:endParaRPr lang="zh-TW" altLang="zh-TW" dirty="0"/>
          </a:p>
          <a:p>
            <a:pPr lvl="1"/>
            <a:r>
              <a:rPr lang="en-US" altLang="zh-TW" dirty="0"/>
              <a:t>Option 2: Define 1 PRB / 2 TTIs physical structure and keep the same payload size;</a:t>
            </a:r>
            <a:endParaRPr lang="zh-TW" altLang="zh-TW" dirty="0"/>
          </a:p>
          <a:p>
            <a:pPr lvl="1"/>
            <a:r>
              <a:rPr lang="en-US" altLang="zh-TW" dirty="0"/>
              <a:t>Option 3: Define 1 PRB / 1 TTI physical structure and increase modulation order (e.g. to 16-QAM);</a:t>
            </a:r>
            <a:endParaRPr lang="zh-TW" altLang="zh-TW" dirty="0"/>
          </a:p>
          <a:p>
            <a:pPr lvl="1"/>
            <a:r>
              <a:rPr lang="en-US" altLang="zh-TW" dirty="0"/>
              <a:t>Other options are not precluded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571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4B4E1B41-14C5-4A41-8F92-320A7296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At least the following </a:t>
            </a:r>
            <a:r>
              <a:rPr lang="en-US" altLang="zh-TW" sz="2400" dirty="0" err="1"/>
              <a:t>sidelink</a:t>
            </a:r>
            <a:r>
              <a:rPr lang="en-US" altLang="zh-TW" sz="2400" dirty="0"/>
              <a:t> enhancements for UEs with 6 PRB bandwidth limitation can be applicable for UEs with 1 PRB bandwidth limitations;</a:t>
            </a:r>
            <a:r>
              <a:rPr lang="zh-TW" altLang="zh-TW" sz="2400" dirty="0"/>
              <a:t/>
            </a:r>
            <a:br>
              <a:rPr lang="zh-TW" altLang="zh-TW" sz="2400" dirty="0"/>
            </a:br>
            <a:endParaRPr lang="zh-TW" altLang="en-US" sz="24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3A43166E-5681-4C10-BA0F-C3B3D4801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-	</a:t>
            </a:r>
            <a:r>
              <a:rPr lang="en-US" altLang="zh-TW" dirty="0" err="1"/>
              <a:t>eNB</a:t>
            </a:r>
            <a:r>
              <a:rPr lang="en-US" altLang="zh-TW" dirty="0"/>
              <a:t> controlled and Relay UE assisted resource allocation modes;</a:t>
            </a:r>
          </a:p>
          <a:p>
            <a:r>
              <a:rPr lang="en-US" altLang="zh-TW" dirty="0"/>
              <a:t>-	</a:t>
            </a:r>
            <a:r>
              <a:rPr lang="en-US" altLang="zh-TW" dirty="0" err="1"/>
              <a:t>Sidelink</a:t>
            </a:r>
            <a:r>
              <a:rPr lang="en-US" altLang="zh-TW" dirty="0"/>
              <a:t> SPS;</a:t>
            </a:r>
          </a:p>
          <a:p>
            <a:r>
              <a:rPr lang="en-US" altLang="zh-TW" dirty="0"/>
              <a:t>-	</a:t>
            </a:r>
            <a:r>
              <a:rPr lang="en-US" altLang="zh-TW" dirty="0" err="1"/>
              <a:t>Sidelink</a:t>
            </a:r>
            <a:r>
              <a:rPr lang="en-US" altLang="zh-TW" dirty="0"/>
              <a:t> power control;</a:t>
            </a:r>
          </a:p>
          <a:p>
            <a:r>
              <a:rPr lang="en-US" altLang="zh-TW" dirty="0"/>
              <a:t>-	</a:t>
            </a:r>
            <a:r>
              <a:rPr lang="en-US" altLang="zh-TW" dirty="0" err="1"/>
              <a:t>Sidelink</a:t>
            </a:r>
            <a:r>
              <a:rPr lang="en-US" altLang="zh-TW" dirty="0"/>
              <a:t> feedback;</a:t>
            </a:r>
          </a:p>
          <a:p>
            <a:r>
              <a:rPr lang="en-US" altLang="zh-TW" dirty="0"/>
              <a:t>-	</a:t>
            </a:r>
            <a:r>
              <a:rPr lang="en-US" altLang="zh-TW" dirty="0" err="1"/>
              <a:t>Sidelink</a:t>
            </a:r>
            <a:r>
              <a:rPr lang="en-US" altLang="zh-TW" dirty="0"/>
              <a:t> measurements.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463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8862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At least the following additional work is needed to support 1 PRB UEs</a:t>
            </a:r>
            <a:endParaRPr lang="zh-TW" altLang="en-US" sz="2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71600" y="1434662"/>
            <a:ext cx="9601200" cy="4432738"/>
          </a:xfrm>
        </p:spPr>
        <p:txBody>
          <a:bodyPr/>
          <a:lstStyle/>
          <a:p>
            <a:r>
              <a:rPr lang="en-GB" altLang="zh-TW" dirty="0"/>
              <a:t>-	</a:t>
            </a:r>
            <a:r>
              <a:rPr lang="en-US" altLang="zh-TW" dirty="0"/>
              <a:t>Additional consideration on PSCCH/PSSCH resource pool configuration;</a:t>
            </a:r>
            <a:endParaRPr lang="zh-TW" altLang="zh-TW" dirty="0"/>
          </a:p>
          <a:p>
            <a:r>
              <a:rPr lang="en-GB" altLang="zh-TW" dirty="0"/>
              <a:t>-	</a:t>
            </a:r>
            <a:r>
              <a:rPr lang="en-US" altLang="zh-TW" dirty="0"/>
              <a:t>Restriction of TBS size and/or TTI bundling aspects for </a:t>
            </a:r>
            <a:r>
              <a:rPr lang="en-US" altLang="zh-TW" dirty="0" err="1"/>
              <a:t>sidelink</a:t>
            </a:r>
            <a:r>
              <a:rPr lang="en-US" altLang="zh-TW" dirty="0"/>
              <a:t> communication;</a:t>
            </a:r>
            <a:endParaRPr lang="zh-TW" altLang="zh-TW" dirty="0"/>
          </a:p>
          <a:p>
            <a:r>
              <a:rPr lang="en-GB" altLang="zh-TW" dirty="0"/>
              <a:t>-	</a:t>
            </a:r>
            <a:r>
              <a:rPr lang="en-US" altLang="zh-TW" dirty="0" err="1"/>
              <a:t>Sidelink</a:t>
            </a:r>
            <a:r>
              <a:rPr lang="en-US" altLang="zh-TW" dirty="0"/>
              <a:t> measurement accuracy.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131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b="1" dirty="0"/>
              <a:t>On semi-persistent transmission:</a:t>
            </a:r>
            <a:r>
              <a:rPr lang="zh-TW" altLang="zh-TW" dirty="0"/>
              <a:t/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TW" dirty="0"/>
              <a:t>Semi-persistent </a:t>
            </a:r>
            <a:r>
              <a:rPr lang="en-GB" altLang="zh-TW" dirty="0" smtClean="0"/>
              <a:t>transmission (</a:t>
            </a:r>
            <a:r>
              <a:rPr lang="en-GB" altLang="zh-TW" dirty="0"/>
              <a:t>e.g. similar to SPS) over </a:t>
            </a:r>
            <a:r>
              <a:rPr lang="en-GB" altLang="zh-TW" dirty="0" err="1"/>
              <a:t>sidelink</a:t>
            </a:r>
            <a:r>
              <a:rPr lang="en-GB" altLang="zh-TW" dirty="0"/>
              <a:t> is considered </a:t>
            </a:r>
            <a:r>
              <a:rPr lang="en-GB" altLang="zh-TW" dirty="0" smtClean="0"/>
              <a:t>useful</a:t>
            </a:r>
          </a:p>
          <a:p>
            <a:pPr lvl="1"/>
            <a:r>
              <a:rPr lang="en-GB" altLang="zh-TW" dirty="0" err="1"/>
              <a:t>eNB</a:t>
            </a:r>
            <a:r>
              <a:rPr lang="en-GB" altLang="zh-TW" dirty="0"/>
              <a:t> schedules </a:t>
            </a:r>
            <a:r>
              <a:rPr lang="en-GB" altLang="zh-TW" dirty="0" err="1"/>
              <a:t>sidelink</a:t>
            </a:r>
            <a:r>
              <a:rPr lang="en-GB" altLang="zh-TW" dirty="0"/>
              <a:t> SPS via evolved </a:t>
            </a:r>
            <a:r>
              <a:rPr lang="en-GB" altLang="zh-TW" dirty="0" err="1"/>
              <a:t>ProSe</a:t>
            </a:r>
            <a:r>
              <a:rPr lang="en-GB" altLang="zh-TW" dirty="0"/>
              <a:t> UE-to-Network Relay UE forwarding for the evolved </a:t>
            </a:r>
            <a:r>
              <a:rPr lang="en-GB" altLang="zh-TW" dirty="0" err="1"/>
              <a:t>ProSe</a:t>
            </a:r>
            <a:r>
              <a:rPr lang="en-GB" altLang="zh-TW" dirty="0"/>
              <a:t> Remote UE linked with the relay UE;</a:t>
            </a:r>
            <a:endParaRPr lang="zh-TW" altLang="zh-TW" dirty="0"/>
          </a:p>
          <a:p>
            <a:pPr lvl="1"/>
            <a:r>
              <a:rPr lang="en-GB" altLang="zh-TW" dirty="0" err="1"/>
              <a:t>eNB</a:t>
            </a:r>
            <a:r>
              <a:rPr lang="en-GB" altLang="zh-TW" dirty="0"/>
              <a:t> schedules </a:t>
            </a:r>
            <a:r>
              <a:rPr lang="en-GB" altLang="zh-TW" dirty="0" err="1"/>
              <a:t>sidelink</a:t>
            </a:r>
            <a:r>
              <a:rPr lang="en-GB" altLang="zh-TW" dirty="0"/>
              <a:t> SPS for the evolved </a:t>
            </a:r>
            <a:r>
              <a:rPr lang="en-GB" altLang="zh-TW" dirty="0" err="1"/>
              <a:t>ProSe</a:t>
            </a:r>
            <a:r>
              <a:rPr lang="en-GB" altLang="zh-TW" dirty="0"/>
              <a:t> Remote UE linked with the evolved </a:t>
            </a:r>
            <a:r>
              <a:rPr lang="en-GB" altLang="zh-TW" dirty="0" err="1"/>
              <a:t>ProSe</a:t>
            </a:r>
            <a:r>
              <a:rPr lang="en-GB" altLang="zh-TW" dirty="0"/>
              <a:t> UE-to-Network Relay UE;</a:t>
            </a:r>
            <a:endParaRPr lang="zh-TW" altLang="zh-TW" dirty="0"/>
          </a:p>
          <a:p>
            <a:pPr lvl="1"/>
            <a:r>
              <a:rPr lang="en-GB" altLang="zh-TW" dirty="0"/>
              <a:t>Relay UE schedules </a:t>
            </a:r>
            <a:r>
              <a:rPr lang="en-GB" altLang="zh-TW" dirty="0" err="1"/>
              <a:t>sidelink</a:t>
            </a:r>
            <a:r>
              <a:rPr lang="en-GB" altLang="zh-TW" dirty="0"/>
              <a:t> SPS for the evolved </a:t>
            </a:r>
            <a:r>
              <a:rPr lang="en-GB" altLang="zh-TW" dirty="0" err="1"/>
              <a:t>ProSe</a:t>
            </a:r>
            <a:r>
              <a:rPr lang="en-GB" altLang="zh-TW" dirty="0"/>
              <a:t> Remote UE linked with the evolved </a:t>
            </a:r>
            <a:r>
              <a:rPr lang="en-GB" altLang="zh-TW" dirty="0" err="1"/>
              <a:t>ProSe</a:t>
            </a:r>
            <a:r>
              <a:rPr lang="en-GB" altLang="zh-TW" dirty="0"/>
              <a:t> UE-to-Network Relay UE.</a:t>
            </a:r>
            <a:endParaRPr lang="zh-TW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8768003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TM10001105[[fn=裁剪]]</Template>
  <TotalTime>851</TotalTime>
  <Words>916</Words>
  <Application>Microsoft Office PowerPoint</Application>
  <PresentationFormat>寬螢幕</PresentationFormat>
  <Paragraphs>83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宋体</vt:lpstr>
      <vt:lpstr>微軟正黑體</vt:lpstr>
      <vt:lpstr>新細明體</vt:lpstr>
      <vt:lpstr>Calibri</vt:lpstr>
      <vt:lpstr>Franklin Gothic Book</vt:lpstr>
      <vt:lpstr>裁剪</vt:lpstr>
      <vt:lpstr>LTE sidelink enhancements</vt:lpstr>
      <vt:lpstr>General considerations on sidelink enhancements</vt:lpstr>
      <vt:lpstr>PowerPoint 簡報</vt:lpstr>
      <vt:lpstr>PowerPoint 簡報</vt:lpstr>
      <vt:lpstr>PowerPoint 簡報</vt:lpstr>
      <vt:lpstr>At least the following sidelink enhancements for UEs with 6 PRB bandwidth limitation can be applicable for UEs with 1 PRB bandwidth limitations; </vt:lpstr>
      <vt:lpstr>At least the following additional work is needed to support 1 PRB UEs</vt:lpstr>
      <vt:lpstr>On semi-persistent transmission: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LTE sidelink enhancements</dc:title>
  <dc:creator>Albert</dc:creator>
  <cp:lastModifiedBy>祺淵 黃</cp:lastModifiedBy>
  <cp:revision>39</cp:revision>
  <dcterms:created xsi:type="dcterms:W3CDTF">2020-02-06T13:50:31Z</dcterms:created>
  <dcterms:modified xsi:type="dcterms:W3CDTF">2020-02-09T21:24:35Z</dcterms:modified>
</cp:coreProperties>
</file>