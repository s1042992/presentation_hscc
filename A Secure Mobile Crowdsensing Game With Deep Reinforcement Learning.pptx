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7" r:id="rId3"/>
    <p:sldId id="261" r:id="rId4"/>
    <p:sldId id="263" r:id="rId5"/>
    <p:sldId id="259" r:id="rId6"/>
    <p:sldId id="264" r:id="rId7"/>
    <p:sldId id="267" r:id="rId8"/>
    <p:sldId id="269" r:id="rId9"/>
    <p:sldId id="270" r:id="rId10"/>
    <p:sldId id="275" r:id="rId11"/>
    <p:sldId id="276" r:id="rId12"/>
    <p:sldId id="277" r:id="rId13"/>
    <p:sldId id="278" r:id="rId14"/>
    <p:sldId id="279" r:id="rId15"/>
    <p:sldId id="280" r:id="rId16"/>
    <p:sldId id="266" r:id="rId17"/>
    <p:sldId id="281" r:id="rId18"/>
    <p:sldId id="282" r:id="rId19"/>
    <p:sldId id="283" r:id="rId20"/>
    <p:sldId id="284" r:id="rId21"/>
    <p:sldId id="285" r:id="rId22"/>
    <p:sldId id="287" r:id="rId23"/>
    <p:sldId id="288" r:id="rId24"/>
    <p:sldId id="286" r:id="rId25"/>
    <p:sldId id="289" r:id="rId26"/>
    <p:sldId id="290" r:id="rId27"/>
    <p:sldId id="291" r:id="rId28"/>
    <p:sldId id="292" r:id="rId29"/>
    <p:sldId id="265"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9705FC86-1640-4C2F-9894-1BD8B6063B6E}">
          <p14:sldIdLst>
            <p14:sldId id="256"/>
            <p14:sldId id="257"/>
            <p14:sldId id="261"/>
            <p14:sldId id="263"/>
            <p14:sldId id="259"/>
            <p14:sldId id="264"/>
          </p14:sldIdLst>
        </p14:section>
        <p14:section name="未命名的章節" id="{111113D4-7902-4E38-9589-46FB03F2E295}">
          <p14:sldIdLst>
            <p14:sldId id="267"/>
            <p14:sldId id="269"/>
            <p14:sldId id="270"/>
            <p14:sldId id="275"/>
            <p14:sldId id="276"/>
            <p14:sldId id="277"/>
            <p14:sldId id="278"/>
            <p14:sldId id="279"/>
            <p14:sldId id="280"/>
            <p14:sldId id="266"/>
            <p14:sldId id="281"/>
            <p14:sldId id="282"/>
            <p14:sldId id="283"/>
            <p14:sldId id="284"/>
            <p14:sldId id="285"/>
            <p14:sldId id="287"/>
            <p14:sldId id="288"/>
            <p14:sldId id="286"/>
            <p14:sldId id="289"/>
            <p14:sldId id="290"/>
            <p14:sldId id="291"/>
            <p14:sldId id="292"/>
            <p14:sldId id="265"/>
          </p14:sldIdLst>
        </p14:section>
      </p14:sectionLst>
    </p:ext>
    <p:ext uri="{EFAFB233-063F-42B5-8137-9DF3F51BA10A}">
      <p15:sldGuideLst xmlns:p15="http://schemas.microsoft.com/office/powerpoint/2012/main">
        <p15:guide id="1" orient="horz" pos="55" userDrawn="1">
          <p15:clr>
            <a:srgbClr val="A4A3A4"/>
          </p15:clr>
        </p15:guide>
        <p15:guide id="2" pos="1202" userDrawn="1">
          <p15:clr>
            <a:srgbClr val="A4A3A4"/>
          </p15:clr>
        </p15:guide>
        <p15:guide id="3" pos="5602" userDrawn="1">
          <p15:clr>
            <a:srgbClr val="A4A3A4"/>
          </p15:clr>
        </p15:guide>
        <p15:guide id="5" orient="horz" pos="31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B34"/>
    <a:srgbClr val="FFD53B"/>
    <a:srgbClr val="F6F4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85168" autoAdjust="0"/>
  </p:normalViewPr>
  <p:slideViewPr>
    <p:cSldViewPr snapToGrid="0" showGuides="1">
      <p:cViewPr varScale="1">
        <p:scale>
          <a:sx n="131" d="100"/>
          <a:sy n="131" d="100"/>
        </p:scale>
        <p:origin x="1050" y="96"/>
      </p:cViewPr>
      <p:guideLst>
        <p:guide orient="horz" pos="55"/>
        <p:guide pos="1202"/>
        <p:guide pos="5602"/>
        <p:guide orient="horz" pos="3162"/>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8" d="100"/>
          <a:sy n="88" d="100"/>
        </p:scale>
        <p:origin x="93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59322-6C85-4127-9E81-7F8BF0D70E1A}" type="datetimeFigureOut">
              <a:rPr lang="zh-CN" altLang="en-US" smtClean="0"/>
              <a:t>2019/10/3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EA76D6-C0AA-410F-9DDC-526F0CB07C6D}" type="slidenum">
              <a:rPr lang="zh-CN" altLang="en-US" smtClean="0"/>
              <a:t>‹#›</a:t>
            </a:fld>
            <a:endParaRPr lang="zh-CN" altLang="en-US"/>
          </a:p>
        </p:txBody>
      </p:sp>
    </p:spTree>
    <p:extLst>
      <p:ext uri="{BB962C8B-B14F-4D97-AF65-F5344CB8AC3E}">
        <p14:creationId xmlns:p14="http://schemas.microsoft.com/office/powerpoint/2010/main" val="1452184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iki.mbalib.com/wiki/%E4%BB%B7%E6%A0%BC%E9%A2%86%E5%AF%BC%E6%A8%A1%E5%9E%8B"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iki.mbalib.com/wiki/%E9%A2%86%E5%AF%BC%E6%80%A7"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一個基於ＤＱＮ的賽局理論，並將它用來防範</a:t>
            </a:r>
            <a:r>
              <a:rPr lang="en-US" altLang="zh-TW" sz="1200" dirty="0" smtClean="0"/>
              <a:t>Mobile </a:t>
            </a:r>
            <a:r>
              <a:rPr lang="en-US" altLang="zh-TW" sz="1200" dirty="0" err="1" smtClean="0"/>
              <a:t>Crowdsensing</a:t>
            </a:r>
            <a:r>
              <a:rPr lang="en-US" altLang="zh-TW" sz="1200" dirty="0" smtClean="0"/>
              <a:t> </a:t>
            </a:r>
            <a:r>
              <a:rPr lang="zh-TW" altLang="en-US" sz="1200" dirty="0" smtClean="0"/>
              <a:t>遇到的攻擊並提高</a:t>
            </a:r>
            <a:r>
              <a:rPr lang="en-US" altLang="zh-TW" sz="1200" dirty="0" smtClean="0"/>
              <a:t>Server</a:t>
            </a:r>
            <a:r>
              <a:rPr lang="zh-TW" altLang="en-US" sz="1200" dirty="0" smtClean="0"/>
              <a:t>的</a:t>
            </a:r>
            <a:r>
              <a:rPr lang="en-US" altLang="zh-TW" sz="1200" dirty="0" smtClean="0"/>
              <a:t>Utility</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a:t>
            </a:fld>
            <a:endParaRPr lang="zh-CN" altLang="en-US"/>
          </a:p>
        </p:txBody>
      </p:sp>
    </p:spTree>
    <p:extLst>
      <p:ext uri="{BB962C8B-B14F-4D97-AF65-F5344CB8AC3E}">
        <p14:creationId xmlns:p14="http://schemas.microsoft.com/office/powerpoint/2010/main" val="2548052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a:t>
            </a:fld>
            <a:endParaRPr lang="zh-CN" altLang="en-US"/>
          </a:p>
        </p:txBody>
      </p:sp>
    </p:spTree>
    <p:extLst>
      <p:ext uri="{BB962C8B-B14F-4D97-AF65-F5344CB8AC3E}">
        <p14:creationId xmlns:p14="http://schemas.microsoft.com/office/powerpoint/2010/main" val="1373099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簡單來說就是利用一大群人的移動裝置所自帶的傳感器來對區域進行感測。</a:t>
            </a:r>
            <a:endParaRPr lang="en-US" altLang="zh-TW" dirty="0" smtClean="0"/>
          </a:p>
          <a:p>
            <a:endParaRPr lang="en-US" altLang="zh-TW" dirty="0" smtClean="0"/>
          </a:p>
          <a:p>
            <a:r>
              <a:rPr lang="zh-TW" altLang="en-US" dirty="0" smtClean="0"/>
              <a:t>一般常見的</a:t>
            </a:r>
            <a:r>
              <a:rPr lang="en-US" altLang="zh-TW" dirty="0" smtClean="0"/>
              <a:t>sensor</a:t>
            </a:r>
            <a:r>
              <a:rPr lang="zh-TW" altLang="en-US" dirty="0" smtClean="0"/>
              <a:t>有 加速度、溫度、亮度、地磁、氣壓傳感</a:t>
            </a:r>
            <a:r>
              <a:rPr lang="en-US" altLang="zh-TW" dirty="0" smtClean="0"/>
              <a:t>….</a:t>
            </a:r>
            <a:r>
              <a:rPr lang="zh-TW" altLang="en-US" dirty="0" smtClean="0"/>
              <a:t>像</a:t>
            </a:r>
            <a:r>
              <a:rPr lang="en-US" altLang="zh-TW" dirty="0" smtClean="0"/>
              <a:t>apple watch</a:t>
            </a:r>
            <a:r>
              <a:rPr lang="zh-TW" altLang="en-US" dirty="0" smtClean="0"/>
              <a:t>還有心律傳感器，搭配</a:t>
            </a:r>
            <a:r>
              <a:rPr lang="en-US" altLang="zh-TW" dirty="0" smtClean="0"/>
              <a:t>GPS</a:t>
            </a:r>
            <a:r>
              <a:rPr lang="zh-TW" altLang="en-US" dirty="0" smtClean="0"/>
              <a:t> 可以做到一些事情。</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3</a:t>
            </a:fld>
            <a:endParaRPr lang="zh-CN" altLang="en-US"/>
          </a:p>
        </p:txBody>
      </p:sp>
    </p:spTree>
    <p:extLst>
      <p:ext uri="{BB962C8B-B14F-4D97-AF65-F5344CB8AC3E}">
        <p14:creationId xmlns:p14="http://schemas.microsoft.com/office/powerpoint/2010/main" val="2335400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每個ｕｓｅｒ都是自私的，為了減少自己手機在感測跟傳輸上的ｃｏｓｔ，ｕｓｅｒ會選擇傳送假ｄａｔａ或不送，另一種情況則是因為隱私　但不討論，</a:t>
            </a:r>
            <a:endParaRPr lang="en-US" altLang="zh-TW" dirty="0" smtClean="0"/>
          </a:p>
          <a:p>
            <a:r>
              <a:rPr lang="zh-TW" altLang="en-US" dirty="0" smtClean="0"/>
              <a:t>另一個這篇不討論的是惡意攻擊。</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4</a:t>
            </a:fld>
            <a:endParaRPr lang="zh-CN" altLang="en-US"/>
          </a:p>
        </p:txBody>
      </p:sp>
    </p:spTree>
    <p:extLst>
      <p:ext uri="{BB962C8B-B14F-4D97-AF65-F5344CB8AC3E}">
        <p14:creationId xmlns:p14="http://schemas.microsoft.com/office/powerpoint/2010/main" val="2888774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smtClean="0">
                <a:solidFill>
                  <a:schemeClr val="tx1"/>
                </a:solidFill>
                <a:effectLst/>
                <a:latin typeface="+mn-lt"/>
                <a:ea typeface="+mn-ea"/>
                <a:cs typeface="+mn-cs"/>
              </a:rPr>
              <a:t>賽局理論考慮遊戲中的個體的預測行為和實際行為，並研究它們的優化策略。表面上不同的相互作用可能表現出相似的激勵結構</a:t>
            </a:r>
            <a:endParaRPr lang="en-US" altLang="zh-TW" sz="1200" b="0" i="0" kern="1200" dirty="0" smtClean="0">
              <a:solidFill>
                <a:schemeClr val="tx1"/>
              </a:solidFill>
              <a:effectLst/>
              <a:latin typeface="+mn-lt"/>
              <a:ea typeface="+mn-ea"/>
              <a:cs typeface="+mn-cs"/>
            </a:endParaRPr>
          </a:p>
          <a:p>
            <a:endParaRPr lang="en-US" altLang="zh-TW"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斯塔克尔伯格模型是一个</a:t>
            </a:r>
            <a:r>
              <a:rPr lang="zh-CN" altLang="en-US" sz="1200" b="0" i="0" u="none" strike="noStrike" kern="1200" dirty="0" smtClean="0">
                <a:solidFill>
                  <a:schemeClr val="tx1"/>
                </a:solidFill>
                <a:effectLst/>
                <a:latin typeface="+mn-lt"/>
                <a:ea typeface="+mn-ea"/>
                <a:cs typeface="+mn-cs"/>
                <a:hlinkClick r:id="rId3" tooltip="价格领导模型"/>
              </a:rPr>
              <a:t>价格领导模型</a:t>
            </a:r>
            <a:r>
              <a:rPr lang="zh-CN" altLang="en-US" sz="1200" b="0" i="0" kern="1200" dirty="0" smtClean="0">
                <a:solidFill>
                  <a:schemeClr val="tx1"/>
                </a:solidFill>
                <a:effectLst/>
                <a:latin typeface="+mn-lt"/>
                <a:ea typeface="+mn-ea"/>
                <a:cs typeface="+mn-cs"/>
              </a:rPr>
              <a:t>，</a:t>
            </a:r>
            <a:r>
              <a:rPr lang="zh-TW" altLang="en-US" sz="1200" b="0" i="0" kern="1200" dirty="0" smtClean="0">
                <a:solidFill>
                  <a:schemeClr val="tx1"/>
                </a:solidFill>
                <a:effectLst/>
                <a:latin typeface="+mn-lt"/>
                <a:ea typeface="+mn-ea"/>
                <a:cs typeface="+mn-cs"/>
              </a:rPr>
              <a:t>玩家</a:t>
            </a:r>
            <a:r>
              <a:rPr lang="zh-CN" altLang="en-US" sz="1200" b="0" i="0" kern="1200" dirty="0" smtClean="0">
                <a:solidFill>
                  <a:schemeClr val="tx1"/>
                </a:solidFill>
                <a:effectLst/>
                <a:latin typeface="+mn-lt"/>
                <a:ea typeface="+mn-ea"/>
                <a:cs typeface="+mn-cs"/>
              </a:rPr>
              <a:t>之间存在着行动次序的区别。</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在有些市场，竞争厂商之间的地位并不是对称的，市场地位的不对称引起了决策次序的不对称，通常，小企业先观察到大企业的行为，再决定自己的对策。</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5</a:t>
            </a:fld>
            <a:endParaRPr lang="zh-CN" altLang="en-US"/>
          </a:p>
        </p:txBody>
      </p:sp>
    </p:spTree>
    <p:extLst>
      <p:ext uri="{BB962C8B-B14F-4D97-AF65-F5344CB8AC3E}">
        <p14:creationId xmlns:p14="http://schemas.microsoft.com/office/powerpoint/2010/main" val="1468473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effectLst/>
                <a:latin typeface="+mn-lt"/>
                <a:ea typeface="+mn-ea"/>
                <a:cs typeface="+mn-cs"/>
              </a:rPr>
              <a:t>privacy</a:t>
            </a:r>
            <a:r>
              <a:rPr lang="zh-CN" altLang="en-US" sz="1200" b="0" i="0" kern="1200" dirty="0" smtClean="0">
                <a:solidFill>
                  <a:schemeClr val="tx1"/>
                </a:solidFill>
                <a:effectLst/>
                <a:latin typeface="+mn-lt"/>
                <a:ea typeface="+mn-ea"/>
                <a:cs typeface="+mn-cs"/>
              </a:rPr>
              <a:t>的决定依据以下次序：</a:t>
            </a:r>
            <a:r>
              <a:rPr lang="zh-CN" altLang="en-US" sz="1200" b="0" i="0" u="none" strike="noStrike" kern="1200" dirty="0" smtClean="0">
                <a:solidFill>
                  <a:schemeClr val="tx1"/>
                </a:solidFill>
                <a:effectLst/>
                <a:latin typeface="+mn-lt"/>
                <a:ea typeface="+mn-ea"/>
                <a:cs typeface="+mn-cs"/>
                <a:hlinkClick r:id="rId3" tooltip="领导性"/>
              </a:rPr>
              <a:t>领导性</a:t>
            </a:r>
            <a:r>
              <a:rPr lang="en-US" altLang="zh-CN" sz="1200" b="0" i="0" kern="1200" dirty="0" smtClean="0">
                <a:solidFill>
                  <a:schemeClr val="tx1"/>
                </a:solidFill>
                <a:effectLst/>
                <a:latin typeface="+mn-lt"/>
                <a:ea typeface="+mn-ea"/>
                <a:cs typeface="+mn-cs"/>
              </a:rPr>
              <a:t>server</a:t>
            </a:r>
            <a:r>
              <a:rPr lang="zh-CN" altLang="en-US" sz="1200" b="0" i="0" kern="1200" dirty="0" smtClean="0">
                <a:solidFill>
                  <a:schemeClr val="tx1"/>
                </a:solidFill>
                <a:effectLst/>
                <a:latin typeface="+mn-lt"/>
                <a:ea typeface="+mn-ea"/>
                <a:cs typeface="+mn-cs"/>
              </a:rPr>
              <a:t>决定一个</a:t>
            </a:r>
            <a:r>
              <a:rPr lang="en-US" altLang="zh-CN" sz="1200" b="0" i="0" kern="1200" dirty="0" smtClean="0">
                <a:solidFill>
                  <a:schemeClr val="tx1"/>
                </a:solidFill>
                <a:effectLst/>
                <a:latin typeface="+mn-lt"/>
                <a:ea typeface="+mn-ea"/>
                <a:cs typeface="+mn-cs"/>
              </a:rPr>
              <a:t>privacy</a:t>
            </a:r>
            <a:r>
              <a:rPr lang="zh-CN" altLang="en-US" sz="1200" b="0" i="0" kern="1200" dirty="0" smtClean="0">
                <a:solidFill>
                  <a:schemeClr val="tx1"/>
                </a:solidFill>
                <a:effectLst/>
                <a:latin typeface="+mn-lt"/>
                <a:ea typeface="+mn-ea"/>
                <a:cs typeface="+mn-cs"/>
              </a:rPr>
              <a:t>，然后跟随</a:t>
            </a:r>
            <a:r>
              <a:rPr lang="zh-TW" altLang="en-US" sz="1200" b="0" i="0" kern="1200" dirty="0" smtClean="0">
                <a:solidFill>
                  <a:schemeClr val="tx1"/>
                </a:solidFill>
                <a:effectLst/>
                <a:latin typeface="+mn-lt"/>
                <a:ea typeface="+mn-ea"/>
                <a:cs typeface="+mn-cs"/>
              </a:rPr>
              <a:t>的</a:t>
            </a:r>
            <a:r>
              <a:rPr lang="en-US" altLang="zh-TW" sz="1200" b="0" i="0" kern="1200" dirty="0" smtClean="0">
                <a:solidFill>
                  <a:schemeClr val="tx1"/>
                </a:solidFill>
                <a:effectLst/>
                <a:latin typeface="+mn-lt"/>
                <a:ea typeface="+mn-ea"/>
                <a:cs typeface="+mn-cs"/>
              </a:rPr>
              <a:t>mobile</a:t>
            </a:r>
            <a:r>
              <a:rPr lang="en-US" altLang="zh-TW" sz="1200" b="0" i="0" kern="1200" baseline="0" dirty="0" smtClean="0">
                <a:solidFill>
                  <a:schemeClr val="tx1"/>
                </a:solidFill>
                <a:effectLst/>
                <a:latin typeface="+mn-lt"/>
                <a:ea typeface="+mn-ea"/>
                <a:cs typeface="+mn-cs"/>
              </a:rPr>
              <a:t> user</a:t>
            </a:r>
            <a:r>
              <a:rPr lang="zh-CN" altLang="en-US" sz="1200" b="0" i="0" kern="1200" dirty="0" smtClean="0">
                <a:solidFill>
                  <a:schemeClr val="tx1"/>
                </a:solidFill>
                <a:effectLst/>
                <a:latin typeface="+mn-lt"/>
                <a:ea typeface="+mn-ea"/>
                <a:cs typeface="+mn-cs"/>
              </a:rPr>
              <a:t>可以观察到这个</a:t>
            </a:r>
            <a:r>
              <a:rPr lang="en-US" altLang="zh-CN" sz="1200" b="0" i="0" kern="1200" dirty="0" smtClean="0">
                <a:solidFill>
                  <a:schemeClr val="tx1"/>
                </a:solidFill>
                <a:effectLst/>
                <a:latin typeface="+mn-lt"/>
                <a:ea typeface="+mn-ea"/>
                <a:cs typeface="+mn-cs"/>
              </a:rPr>
              <a:t>privacy</a:t>
            </a:r>
            <a:r>
              <a:rPr lang="zh-CN" altLang="en-US" sz="1200" b="0" i="0" kern="1200" dirty="0" smtClean="0">
                <a:solidFill>
                  <a:schemeClr val="tx1"/>
                </a:solidFill>
                <a:effectLst/>
                <a:latin typeface="+mn-lt"/>
                <a:ea typeface="+mn-ea"/>
                <a:cs typeface="+mn-cs"/>
              </a:rPr>
              <a:t>，然后根据领导性</a:t>
            </a:r>
            <a:r>
              <a:rPr lang="en-US" altLang="zh-CN" sz="1200" b="0" i="0" kern="1200" dirty="0" smtClean="0">
                <a:solidFill>
                  <a:schemeClr val="tx1"/>
                </a:solidFill>
                <a:effectLst/>
                <a:latin typeface="+mn-lt"/>
                <a:ea typeface="+mn-ea"/>
                <a:cs typeface="+mn-cs"/>
              </a:rPr>
              <a:t>server</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privacy</a:t>
            </a:r>
            <a:r>
              <a:rPr lang="zh-CN" altLang="en-US" sz="1200" b="0" i="0" kern="1200" dirty="0" smtClean="0">
                <a:solidFill>
                  <a:schemeClr val="tx1"/>
                </a:solidFill>
                <a:effectLst/>
                <a:latin typeface="+mn-lt"/>
                <a:ea typeface="+mn-ea"/>
                <a:cs typeface="+mn-cs"/>
              </a:rPr>
              <a:t>来决定他自己的</a:t>
            </a:r>
            <a:r>
              <a:rPr lang="en-US" altLang="zh-CN" sz="1200" b="0" i="0" kern="1200" dirty="0" smtClean="0">
                <a:solidFill>
                  <a:schemeClr val="tx1"/>
                </a:solidFill>
                <a:effectLst/>
                <a:latin typeface="+mn-lt"/>
                <a:ea typeface="+mn-ea"/>
                <a:cs typeface="+mn-cs"/>
              </a:rPr>
              <a:t>sensing cost</a:t>
            </a:r>
            <a:r>
              <a:rPr lang="zh-CN" altLang="en-US" sz="1200" b="0" i="0" kern="1200" dirty="0" smtClean="0">
                <a:solidFill>
                  <a:schemeClr val="tx1"/>
                </a:solidFill>
                <a:effectLst/>
                <a:latin typeface="+mn-lt"/>
                <a:ea typeface="+mn-ea"/>
                <a:cs typeface="+mn-cs"/>
              </a:rPr>
              <a:t>。需要注意的是，</a:t>
            </a:r>
            <a:r>
              <a:rPr lang="en-US" altLang="zh-CN" sz="1200" b="0" i="0" kern="1200" dirty="0" smtClean="0">
                <a:solidFill>
                  <a:schemeClr val="tx1"/>
                </a:solidFill>
                <a:effectLst/>
                <a:latin typeface="+mn-lt"/>
                <a:ea typeface="+mn-ea"/>
                <a:cs typeface="+mn-cs"/>
              </a:rPr>
              <a:t>Server</a:t>
            </a:r>
            <a:r>
              <a:rPr lang="zh-CN" altLang="en-US" sz="1200" b="0" i="0" kern="1200" dirty="0" smtClean="0">
                <a:solidFill>
                  <a:schemeClr val="tx1"/>
                </a:solidFill>
                <a:effectLst/>
                <a:latin typeface="+mn-lt"/>
                <a:ea typeface="+mn-ea"/>
                <a:cs typeface="+mn-cs"/>
              </a:rPr>
              <a:t>在决定自己的</a:t>
            </a:r>
            <a:r>
              <a:rPr lang="en-US" altLang="zh-CN" sz="1200" b="0" i="0" kern="1200" dirty="0" smtClean="0">
                <a:solidFill>
                  <a:schemeClr val="tx1"/>
                </a:solidFill>
                <a:effectLst/>
                <a:latin typeface="+mn-lt"/>
                <a:ea typeface="+mn-ea"/>
                <a:cs typeface="+mn-cs"/>
              </a:rPr>
              <a:t>privacy</a:t>
            </a:r>
            <a:r>
              <a:rPr lang="zh-CN" altLang="en-US" sz="1200" b="0" i="0" kern="1200" dirty="0" smtClean="0">
                <a:solidFill>
                  <a:schemeClr val="tx1"/>
                </a:solidFill>
                <a:effectLst/>
                <a:latin typeface="+mn-lt"/>
                <a:ea typeface="+mn-ea"/>
                <a:cs typeface="+mn-cs"/>
              </a:rPr>
              <a:t>的时候，充分了解跟随</a:t>
            </a:r>
            <a:r>
              <a:rPr lang="en-US" altLang="zh-CN" sz="1200" b="0" i="0" kern="1200" dirty="0" smtClean="0">
                <a:solidFill>
                  <a:schemeClr val="tx1"/>
                </a:solidFill>
                <a:effectLst/>
                <a:latin typeface="+mn-lt"/>
                <a:ea typeface="+mn-ea"/>
                <a:cs typeface="+mn-cs"/>
              </a:rPr>
              <a:t>Mobile</a:t>
            </a:r>
            <a:r>
              <a:rPr lang="en-US" altLang="zh-CN" sz="1200" b="0" i="0" kern="1200" baseline="0" dirty="0" smtClean="0">
                <a:solidFill>
                  <a:schemeClr val="tx1"/>
                </a:solidFill>
                <a:effectLst/>
                <a:latin typeface="+mn-lt"/>
                <a:ea typeface="+mn-ea"/>
                <a:cs typeface="+mn-cs"/>
              </a:rPr>
              <a:t> users</a:t>
            </a:r>
            <a:r>
              <a:rPr lang="zh-CN" altLang="en-US" sz="1200" b="0" i="0" kern="1200" dirty="0" smtClean="0">
                <a:solidFill>
                  <a:schemeClr val="tx1"/>
                </a:solidFill>
                <a:effectLst/>
                <a:latin typeface="+mn-lt"/>
                <a:ea typeface="+mn-ea"/>
                <a:cs typeface="+mn-cs"/>
              </a:rPr>
              <a:t>会如何行动</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这意味着领导性</a:t>
            </a:r>
            <a:r>
              <a:rPr lang="en-US" altLang="zh-CN" sz="1200" b="0" i="0" kern="1200" dirty="0" smtClean="0">
                <a:solidFill>
                  <a:schemeClr val="tx1"/>
                </a:solidFill>
                <a:effectLst/>
                <a:latin typeface="+mn-lt"/>
                <a:ea typeface="+mn-ea"/>
                <a:cs typeface="+mn-cs"/>
              </a:rPr>
              <a:t>Server</a:t>
            </a:r>
            <a:r>
              <a:rPr lang="zh-CN" altLang="en-US" sz="1200" b="0" i="0" kern="1200" dirty="0" smtClean="0">
                <a:solidFill>
                  <a:schemeClr val="tx1"/>
                </a:solidFill>
                <a:effectLst/>
                <a:latin typeface="+mn-lt"/>
                <a:ea typeface="+mn-ea"/>
                <a:cs typeface="+mn-cs"/>
              </a:rPr>
              <a:t>可以知道</a:t>
            </a:r>
            <a:r>
              <a:rPr lang="en-US" altLang="zh-CN" sz="1200" b="0" i="0" kern="1200" dirty="0" smtClean="0">
                <a:solidFill>
                  <a:schemeClr val="tx1"/>
                </a:solidFill>
                <a:effectLst/>
                <a:latin typeface="+mn-lt"/>
                <a:ea typeface="+mn-ea"/>
                <a:cs typeface="+mn-cs"/>
              </a:rPr>
              <a:t>Mobile user</a:t>
            </a:r>
            <a:r>
              <a:rPr lang="zh-CN" altLang="en-US" sz="1200" b="0" i="0" kern="1200" dirty="0" smtClean="0">
                <a:solidFill>
                  <a:schemeClr val="tx1"/>
                </a:solidFill>
                <a:effectLst/>
                <a:latin typeface="+mn-lt"/>
                <a:ea typeface="+mn-ea"/>
                <a:cs typeface="+mn-cs"/>
              </a:rPr>
              <a:t>的反应函数。因此，领导性</a:t>
            </a:r>
            <a:r>
              <a:rPr lang="en-US" altLang="zh-CN" sz="1200" b="0" i="0" kern="1200" dirty="0" smtClean="0">
                <a:solidFill>
                  <a:schemeClr val="tx1"/>
                </a:solidFill>
                <a:effectLst/>
                <a:latin typeface="+mn-lt"/>
                <a:ea typeface="+mn-ea"/>
                <a:cs typeface="+mn-cs"/>
              </a:rPr>
              <a:t>server</a:t>
            </a:r>
            <a:r>
              <a:rPr lang="zh-CN" altLang="en-US" sz="1200" b="0" i="0" kern="1200" dirty="0" smtClean="0">
                <a:solidFill>
                  <a:schemeClr val="tx1"/>
                </a:solidFill>
                <a:effectLst/>
                <a:latin typeface="+mn-lt"/>
                <a:ea typeface="+mn-ea"/>
                <a:cs typeface="+mn-cs"/>
              </a:rPr>
              <a:t>自然会预期到自己决定的</a:t>
            </a:r>
            <a:r>
              <a:rPr lang="en-US" altLang="zh-CN" sz="1200" b="0" i="0" kern="1200" dirty="0" smtClean="0">
                <a:solidFill>
                  <a:schemeClr val="tx1"/>
                </a:solidFill>
                <a:effectLst/>
                <a:latin typeface="+mn-lt"/>
                <a:ea typeface="+mn-ea"/>
                <a:cs typeface="+mn-cs"/>
              </a:rPr>
              <a:t>privacy</a:t>
            </a:r>
            <a:r>
              <a:rPr lang="zh-CN" altLang="en-US" sz="1200" b="0" i="0" kern="1200" dirty="0" smtClean="0">
                <a:solidFill>
                  <a:schemeClr val="tx1"/>
                </a:solidFill>
                <a:effectLst/>
                <a:latin typeface="+mn-lt"/>
                <a:ea typeface="+mn-ea"/>
                <a:cs typeface="+mn-cs"/>
              </a:rPr>
              <a:t>对跟随</a:t>
            </a:r>
            <a:r>
              <a:rPr lang="en-US" altLang="zh-CN" sz="1200" b="0" i="0" kern="1200" dirty="0" smtClean="0">
                <a:solidFill>
                  <a:schemeClr val="tx1"/>
                </a:solidFill>
                <a:effectLst/>
                <a:latin typeface="+mn-lt"/>
                <a:ea typeface="+mn-ea"/>
                <a:cs typeface="+mn-cs"/>
              </a:rPr>
              <a:t>mobile user</a:t>
            </a:r>
            <a:r>
              <a:rPr lang="zh-CN" altLang="en-US" sz="1200" b="0" i="0" kern="1200" dirty="0" smtClean="0">
                <a:solidFill>
                  <a:schemeClr val="tx1"/>
                </a:solidFill>
                <a:effectLst/>
                <a:latin typeface="+mn-lt"/>
                <a:ea typeface="+mn-ea"/>
                <a:cs typeface="+mn-cs"/>
              </a:rPr>
              <a:t>的影响。</a:t>
            </a: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6</a:t>
            </a:fld>
            <a:endParaRPr lang="zh-CN" altLang="en-US"/>
          </a:p>
        </p:txBody>
      </p:sp>
    </p:spTree>
    <p:extLst>
      <p:ext uri="{BB962C8B-B14F-4D97-AF65-F5344CB8AC3E}">
        <p14:creationId xmlns:p14="http://schemas.microsoft.com/office/powerpoint/2010/main" val="463922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更高的付款額會刺激更多的智能手機用戶為移動人群感應應用做出貢獻，並抑制偽造的感應攻擊。 但是，多付會導致過度感應，有時會導致網絡擁塞，從而降低服務器的實用性。 因此，</a:t>
            </a:r>
            <a:r>
              <a:rPr lang="en-US" altLang="zh-TW" dirty="0" smtClean="0"/>
              <a:t>MCS</a:t>
            </a:r>
            <a:r>
              <a:rPr lang="zh-TW" altLang="en-US" dirty="0" smtClean="0"/>
              <a:t>服務器必須在感測成本和感測精度之間進行權衡。</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7</a:t>
            </a:fld>
            <a:endParaRPr lang="zh-CN" altLang="en-US"/>
          </a:p>
        </p:txBody>
      </p:sp>
    </p:spTree>
    <p:extLst>
      <p:ext uri="{BB962C8B-B14F-4D97-AF65-F5344CB8AC3E}">
        <p14:creationId xmlns:p14="http://schemas.microsoft.com/office/powerpoint/2010/main" val="2123306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第</a:t>
            </a:r>
            <a:r>
              <a:rPr lang="en-US" altLang="zh-TW" dirty="0" smtClean="0"/>
              <a:t>j</a:t>
            </a:r>
            <a:r>
              <a:rPr lang="zh-TW" altLang="en-US" dirty="0" smtClean="0"/>
              <a:t>個用戶的實際傳感精度水平 </a:t>
            </a:r>
            <a:r>
              <a:rPr lang="en-US" altLang="zh-TW" dirty="0" smtClean="0"/>
              <a:t>(-1=</a:t>
            </a:r>
            <a:r>
              <a:rPr lang="zh-TW" altLang="en-US" dirty="0" smtClean="0"/>
              <a:t>沒參與</a:t>
            </a:r>
            <a:r>
              <a:rPr lang="en-US" altLang="zh-TW" dirty="0" smtClean="0"/>
              <a:t>)</a:t>
            </a:r>
            <a:r>
              <a:rPr lang="zh-TW" altLang="en-US" dirty="0" smtClean="0"/>
              <a:t>、</a:t>
            </a:r>
            <a:r>
              <a:rPr lang="en-US" altLang="zh-TW" dirty="0" smtClean="0"/>
              <a:t>(0=</a:t>
            </a:r>
            <a:r>
              <a:rPr lang="zh-TW" altLang="en-US" dirty="0" smtClean="0"/>
              <a:t>假資料</a:t>
            </a:r>
            <a:r>
              <a:rPr lang="en-US" altLang="zh-TW" dirty="0" smtClean="0"/>
              <a:t>)</a:t>
            </a:r>
            <a:r>
              <a:rPr lang="zh-TW" altLang="en-US" dirty="0" smtClean="0"/>
              <a:t> 、</a:t>
            </a:r>
            <a:r>
              <a:rPr lang="en-US" altLang="zh-TW" dirty="0" smtClean="0"/>
              <a:t>(L</a:t>
            </a:r>
            <a:r>
              <a:rPr lang="zh-TW" altLang="en-US" dirty="0" smtClean="0"/>
              <a:t> </a:t>
            </a:r>
            <a:r>
              <a:rPr lang="en-US" altLang="zh-TW" dirty="0" smtClean="0"/>
              <a:t>=</a:t>
            </a:r>
            <a:r>
              <a:rPr lang="zh-TW" altLang="en-US" dirty="0" smtClean="0"/>
              <a:t> 最精確的資料</a:t>
            </a:r>
            <a:r>
              <a:rPr lang="en-US" altLang="zh-TW" dirty="0" smtClean="0"/>
              <a:t>)</a:t>
            </a:r>
          </a:p>
          <a:p>
            <a:r>
              <a:rPr lang="en-US" altLang="zh-TW" dirty="0" err="1" smtClean="0"/>
              <a:t>Pj</a:t>
            </a:r>
            <a:r>
              <a:rPr lang="en-US" altLang="zh-TW" dirty="0" smtClean="0"/>
              <a:t> </a:t>
            </a:r>
            <a:r>
              <a:rPr lang="zh-TW" altLang="en-US" dirty="0" smtClean="0"/>
              <a:t>代表</a:t>
            </a:r>
            <a:r>
              <a:rPr lang="en-US" altLang="zh-TW" dirty="0" smtClean="0"/>
              <a:t>user</a:t>
            </a:r>
            <a:r>
              <a:rPr lang="zh-TW" altLang="en-US" dirty="0" smtClean="0"/>
              <a:t> </a:t>
            </a:r>
            <a:r>
              <a:rPr lang="en-US" altLang="zh-TW" dirty="0" smtClean="0"/>
              <a:t>j</a:t>
            </a:r>
            <a:r>
              <a:rPr lang="zh-TW" altLang="en-US" dirty="0" smtClean="0"/>
              <a:t> 離開 或重新加入此網路的機率 </a:t>
            </a:r>
            <a:r>
              <a:rPr lang="en-US" altLang="zh-TW" dirty="0" smtClean="0"/>
              <a:t>(</a:t>
            </a:r>
            <a:r>
              <a:rPr lang="zh-TW" altLang="en-US" dirty="0" smtClean="0"/>
              <a:t>大部分取決於用戶移動速度</a:t>
            </a:r>
            <a:r>
              <a:rPr lang="en-US" altLang="zh-TW" dirty="0" smtClean="0"/>
              <a:t>)</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9</a:t>
            </a:fld>
            <a:endParaRPr lang="zh-CN" altLang="en-US"/>
          </a:p>
        </p:txBody>
      </p:sp>
    </p:spTree>
    <p:extLst>
      <p:ext uri="{BB962C8B-B14F-4D97-AF65-F5344CB8AC3E}">
        <p14:creationId xmlns:p14="http://schemas.microsoft.com/office/powerpoint/2010/main" val="1573578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移動用戶的感測努力會影響其他用戶的貢獻。 例如，如果用戶</a:t>
            </a:r>
            <a:r>
              <a:rPr lang="en-US" altLang="zh-TW" dirty="0" smtClean="0"/>
              <a:t>A</a:t>
            </a:r>
            <a:r>
              <a:rPr lang="zh-TW" altLang="en-US" dirty="0" smtClean="0"/>
              <a:t>已經向</a:t>
            </a:r>
            <a:r>
              <a:rPr lang="en-US" altLang="zh-TW" dirty="0" smtClean="0"/>
              <a:t>MCS</a:t>
            </a:r>
            <a:r>
              <a:rPr lang="zh-TW" altLang="en-US" dirty="0" smtClean="0"/>
              <a:t>服務器發送了準確的檢測報告，則用戶</a:t>
            </a:r>
            <a:r>
              <a:rPr lang="en-US" altLang="zh-TW" dirty="0" smtClean="0"/>
              <a:t>B</a:t>
            </a:r>
            <a:r>
              <a:rPr lang="zh-TW" altLang="en-US" dirty="0" smtClean="0"/>
              <a:t>發送的第二份報告的影響將大大降低，因此即使用戶</a:t>
            </a:r>
            <a:r>
              <a:rPr lang="en-US" altLang="zh-TW" dirty="0" smtClean="0"/>
              <a:t>B</a:t>
            </a:r>
            <a:r>
              <a:rPr lang="zh-TW" altLang="en-US" dirty="0" smtClean="0"/>
              <a:t>申請，服務器也有動機向用戶</a:t>
            </a:r>
            <a:r>
              <a:rPr lang="en-US" altLang="zh-TW" dirty="0" smtClean="0"/>
              <a:t>B</a:t>
            </a:r>
            <a:r>
              <a:rPr lang="zh-TW" altLang="en-US" dirty="0" smtClean="0"/>
              <a:t>支付較低的費用 同樣的感測努力。 此外，由於傳輸成本，智能手機必須花費更多的精力來發送偽造的報告</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10</a:t>
            </a:fld>
            <a:endParaRPr lang="zh-CN" altLang="en-US"/>
          </a:p>
        </p:txBody>
      </p:sp>
    </p:spTree>
    <p:extLst>
      <p:ext uri="{BB962C8B-B14F-4D97-AF65-F5344CB8AC3E}">
        <p14:creationId xmlns:p14="http://schemas.microsoft.com/office/powerpoint/2010/main" val="3032331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通過應用高級有效的感知質量評估算法，例如</a:t>
            </a:r>
            <a:r>
              <a:rPr lang="en-US" altLang="zh-TW" dirty="0" smtClean="0"/>
              <a:t>[16]</a:t>
            </a:r>
            <a:r>
              <a:rPr lang="zh-TW" altLang="en-US" dirty="0" smtClean="0"/>
              <a:t>和</a:t>
            </a:r>
            <a:r>
              <a:rPr lang="en-US" altLang="zh-TW" dirty="0" smtClean="0"/>
              <a:t>[28] – [30]</a:t>
            </a:r>
            <a:r>
              <a:rPr lang="zh-TW" altLang="en-US" dirty="0" smtClean="0"/>
              <a:t>中的分類算法以及</a:t>
            </a:r>
            <a:r>
              <a:rPr lang="en-US" altLang="zh-TW" dirty="0" smtClean="0"/>
              <a:t>[17]</a:t>
            </a:r>
            <a:r>
              <a:rPr lang="zh-TW" altLang="en-US" dirty="0" smtClean="0"/>
              <a:t>中的</a:t>
            </a:r>
            <a:r>
              <a:rPr lang="zh-TW" altLang="en-US" b="1" dirty="0" smtClean="0">
                <a:solidFill>
                  <a:srgbClr val="FF0000"/>
                </a:solidFill>
              </a:rPr>
              <a:t>多數投票算法</a:t>
            </a:r>
            <a:r>
              <a:rPr lang="zh-TW" altLang="en-US" dirty="0" smtClean="0"/>
              <a:t>，服務器可以估算每個用戶的感知工作量。 例如，在檢測到的數量是圖像的情況下，服務器可以使用</a:t>
            </a:r>
            <a:r>
              <a:rPr lang="en-US" altLang="zh-TW" dirty="0" smtClean="0"/>
              <a:t>[16]</a:t>
            </a:r>
            <a:r>
              <a:rPr lang="zh-TW" altLang="en-US" dirty="0" smtClean="0"/>
              <a:t>中的盲圖像質量評估算法提取感興趣的圖像特徵，從而評估檢測報告的質量。 對於某些無法準確評估單個報告的環境監控應用程序，服務器必須招募更多用戶並根據數據真實性評估傳感質量</a:t>
            </a:r>
            <a:r>
              <a:rPr lang="en-US" altLang="zh-TW" dirty="0" smtClean="0"/>
              <a:t>[31]</a:t>
            </a:r>
            <a:r>
              <a:rPr lang="zh-TW" altLang="en-US" dirty="0" smtClean="0"/>
              <a:t>。</a:t>
            </a:r>
            <a:endParaRPr lang="en-US" altLang="zh-TW" dirty="0" smtClean="0"/>
          </a:p>
          <a:p>
            <a:endParaRPr lang="en-US" altLang="zh-TW" dirty="0" smtClean="0"/>
          </a:p>
          <a:p>
            <a:r>
              <a:rPr lang="en-US" altLang="zh-TW" dirty="0" smtClean="0"/>
              <a:t>e </a:t>
            </a:r>
            <a:r>
              <a:rPr lang="zh-TW" altLang="en-US" dirty="0" smtClean="0"/>
              <a:t>代表</a:t>
            </a:r>
            <a:r>
              <a:rPr lang="en-US" altLang="zh-TW" dirty="0" smtClean="0"/>
              <a:t>server</a:t>
            </a:r>
            <a:r>
              <a:rPr lang="zh-TW" altLang="en-US" dirty="0" smtClean="0"/>
              <a:t>估錯的機率</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11</a:t>
            </a:fld>
            <a:endParaRPr lang="zh-CN" altLang="en-US"/>
          </a:p>
        </p:txBody>
      </p:sp>
    </p:spTree>
    <p:extLst>
      <p:ext uri="{BB962C8B-B14F-4D97-AF65-F5344CB8AC3E}">
        <p14:creationId xmlns:p14="http://schemas.microsoft.com/office/powerpoint/2010/main" val="4292205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f(</a:t>
            </a:r>
            <a:r>
              <a:rPr lang="en-US" altLang="zh-TW" dirty="0" err="1" smtClean="0"/>
              <a:t>Xj</a:t>
            </a:r>
            <a:r>
              <a:rPr lang="en-US" altLang="zh-TW" dirty="0" smtClean="0"/>
              <a:t>) </a:t>
            </a:r>
            <a:r>
              <a:rPr lang="zh-TW" altLang="en-US" dirty="0" smtClean="0"/>
              <a:t>代表</a:t>
            </a:r>
            <a:r>
              <a:rPr lang="en-US" altLang="zh-TW" dirty="0" smtClean="0"/>
              <a:t>user j </a:t>
            </a:r>
            <a:r>
              <a:rPr lang="zh-TW" altLang="en-US" dirty="0" smtClean="0"/>
              <a:t>在</a:t>
            </a:r>
            <a:r>
              <a:rPr lang="en-US" altLang="zh-TW" dirty="0" smtClean="0"/>
              <a:t>level x</a:t>
            </a:r>
            <a:r>
              <a:rPr lang="zh-TW" altLang="en-US" dirty="0" smtClean="0"/>
              <a:t>的預測感知精度</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y(f(</a:t>
            </a:r>
            <a:r>
              <a:rPr lang="en-US" altLang="zh-TW" dirty="0" err="1" smtClean="0"/>
              <a:t>Xj</a:t>
            </a:r>
            <a:r>
              <a:rPr lang="en-US" altLang="zh-TW" dirty="0" smtClean="0"/>
              <a:t>)) </a:t>
            </a:r>
            <a:r>
              <a:rPr lang="zh-TW" altLang="en-US" dirty="0" smtClean="0"/>
              <a:t>代表</a:t>
            </a:r>
            <a:r>
              <a:rPr lang="en-US" altLang="zh-TW" dirty="0" smtClean="0"/>
              <a:t>user j </a:t>
            </a:r>
            <a:r>
              <a:rPr lang="zh-TW" altLang="en-US" dirty="0" smtClean="0"/>
              <a:t>在</a:t>
            </a:r>
            <a:r>
              <a:rPr lang="en-US" altLang="zh-TW" dirty="0" smtClean="0"/>
              <a:t>level x</a:t>
            </a:r>
            <a:r>
              <a:rPr lang="zh-TW" altLang="en-US" dirty="0" smtClean="0"/>
              <a:t>的預測感知精度 的</a:t>
            </a:r>
            <a:r>
              <a:rPr lang="en-US" altLang="zh-TW" dirty="0" smtClean="0"/>
              <a:t>payment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可以推導出</a:t>
            </a:r>
            <a:r>
              <a:rPr lang="en-US" altLang="zh-TW" dirty="0" smtClean="0"/>
              <a:t>Server</a:t>
            </a:r>
            <a:r>
              <a:rPr lang="zh-TW" altLang="en-US" dirty="0" smtClean="0"/>
              <a:t> </a:t>
            </a:r>
            <a:r>
              <a:rPr lang="en-US" altLang="zh-TW" dirty="0" smtClean="0"/>
              <a:t>Overall</a:t>
            </a:r>
            <a:r>
              <a:rPr lang="zh-TW" altLang="en-US" dirty="0" smtClean="0"/>
              <a:t> </a:t>
            </a:r>
            <a:r>
              <a:rPr lang="en-US" altLang="zh-TW" dirty="0" smtClean="0"/>
              <a:t>utility</a:t>
            </a: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12</a:t>
            </a:fld>
            <a:endParaRPr lang="zh-CN" altLang="en-US"/>
          </a:p>
        </p:txBody>
      </p:sp>
    </p:spTree>
    <p:extLst>
      <p:ext uri="{BB962C8B-B14F-4D97-AF65-F5344CB8AC3E}">
        <p14:creationId xmlns:p14="http://schemas.microsoft.com/office/powerpoint/2010/main" val="41814351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最優支付</a:t>
            </a:r>
            <a:r>
              <a:rPr lang="en-US" altLang="zh-TW" dirty="0" smtClean="0"/>
              <a:t>y *</a:t>
            </a:r>
            <a:r>
              <a:rPr lang="zh-TW" altLang="en-US" dirty="0" smtClean="0"/>
              <a:t>隨著感測評估誤差而增加，以彌補用戶的欠付損失。 另一方面，由於所提供的支付必須超過傳感成本以刺激用戶執行傳感任務，因此傳感任務由於傳感結果不足而失敗的可能性隨該地區智能手機的傳感成本而增加。若是</a:t>
            </a:r>
            <a:r>
              <a:rPr lang="en-US" altLang="zh-TW" dirty="0" smtClean="0"/>
              <a:t>payment </a:t>
            </a:r>
            <a:r>
              <a:rPr lang="zh-TW" altLang="en-US" dirty="0" smtClean="0"/>
              <a:t>低於上述的結果，將會導致</a:t>
            </a:r>
            <a:r>
              <a:rPr lang="en-US" altLang="zh-TW" dirty="0" smtClean="0"/>
              <a:t>user</a:t>
            </a:r>
            <a:r>
              <a:rPr lang="zh-TW" altLang="en-US" dirty="0" smtClean="0"/>
              <a:t>傳送</a:t>
            </a:r>
            <a:r>
              <a:rPr lang="en-US" altLang="zh-TW" dirty="0" smtClean="0"/>
              <a:t>faked report</a:t>
            </a:r>
          </a:p>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13</a:t>
            </a:fld>
            <a:endParaRPr lang="zh-CN" altLang="en-US"/>
          </a:p>
        </p:txBody>
      </p:sp>
    </p:spTree>
    <p:extLst>
      <p:ext uri="{BB962C8B-B14F-4D97-AF65-F5344CB8AC3E}">
        <p14:creationId xmlns:p14="http://schemas.microsoft.com/office/powerpoint/2010/main" val="2311559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用戶永遠不會主動發送虛假的感知報告，除非他或她確定知道大量用戶同時發動虛假的感知攻擊，否則在大範圍的攻擊中不太可能發生 擴展無線網絡。</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14</a:t>
            </a:fld>
            <a:endParaRPr lang="zh-CN" altLang="en-US"/>
          </a:p>
        </p:txBody>
      </p:sp>
    </p:spTree>
    <p:extLst>
      <p:ext uri="{BB962C8B-B14F-4D97-AF65-F5344CB8AC3E}">
        <p14:creationId xmlns:p14="http://schemas.microsoft.com/office/powerpoint/2010/main" val="1854600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如果服務器可以從</a:t>
            </a:r>
            <a:r>
              <a:rPr lang="en-US" altLang="zh-TW" dirty="0" smtClean="0"/>
              <a:t>MCS</a:t>
            </a:r>
            <a:r>
              <a:rPr lang="zh-TW" altLang="en-US" dirty="0" smtClean="0"/>
              <a:t>賽局所有感測報告中受益，那麼所有智能手機用戶都將被激勵參與</a:t>
            </a:r>
            <a:r>
              <a:rPr lang="en-US" altLang="zh-TW" dirty="0" smtClean="0"/>
              <a:t>MCS</a:t>
            </a:r>
            <a:r>
              <a:rPr lang="zh-TW" altLang="en-US" dirty="0" smtClean="0"/>
              <a:t>賽局</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15</a:t>
            </a:fld>
            <a:endParaRPr lang="zh-CN" altLang="en-US"/>
          </a:p>
        </p:txBody>
      </p:sp>
    </p:spTree>
    <p:extLst>
      <p:ext uri="{BB962C8B-B14F-4D97-AF65-F5344CB8AC3E}">
        <p14:creationId xmlns:p14="http://schemas.microsoft.com/office/powerpoint/2010/main" val="3970697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通常，為準確的感應報告支付高昂費用會降低服務器的即時效用，但同時也會刺激更多用戶將來參與</a:t>
            </a:r>
            <a:r>
              <a:rPr lang="en-US" altLang="zh-TW" dirty="0" smtClean="0"/>
              <a:t>MCS</a:t>
            </a:r>
            <a:r>
              <a:rPr lang="zh-TW" altLang="en-US" dirty="0" smtClean="0"/>
              <a:t>任務。</a:t>
            </a:r>
            <a:endParaRPr lang="en-US" altLang="zh-TW" dirty="0" smtClean="0"/>
          </a:p>
          <a:p>
            <a:r>
              <a:rPr lang="zh-TW" altLang="en-US" dirty="0" smtClean="0"/>
              <a:t>另一方面，長期支付不足的策略通常會導致檢測不足，甚至導致檢測任務失敗。此外，移動用戶通常會根據</a:t>
            </a:r>
            <a:r>
              <a:rPr lang="en-US" altLang="zh-TW" dirty="0" smtClean="0"/>
              <a:t>MCS</a:t>
            </a:r>
            <a:r>
              <a:rPr lang="zh-TW" altLang="en-US" dirty="0" smtClean="0"/>
              <a:t>支付歷史選擇其感知工作量，因為支付不足的感知體驗表明服務器的感知評估不准確。</a:t>
            </a:r>
            <a:endParaRPr lang="en-US" altLang="zh-TW" dirty="0" smtClean="0"/>
          </a:p>
          <a:p>
            <a:r>
              <a:rPr lang="zh-TW" altLang="en-US" dirty="0" smtClean="0"/>
              <a:t>因此，</a:t>
            </a:r>
            <a:r>
              <a:rPr lang="en-US" altLang="zh-TW" dirty="0" smtClean="0"/>
              <a:t>MCS</a:t>
            </a:r>
            <a:r>
              <a:rPr lang="zh-TW" altLang="en-US" dirty="0" smtClean="0"/>
              <a:t>服務器的支付策略會影響未來的感知結果和未來的回報。</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17</a:t>
            </a:fld>
            <a:endParaRPr lang="zh-CN" altLang="en-US"/>
          </a:p>
        </p:txBody>
      </p:sp>
    </p:spTree>
    <p:extLst>
      <p:ext uri="{BB962C8B-B14F-4D97-AF65-F5344CB8AC3E}">
        <p14:creationId xmlns:p14="http://schemas.microsoft.com/office/powerpoint/2010/main" val="1693221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1" i="0" kern="1200" dirty="0" smtClean="0">
                <a:solidFill>
                  <a:schemeClr val="tx1"/>
                </a:solidFill>
                <a:effectLst/>
                <a:latin typeface="+mn-lt"/>
                <a:ea typeface="+mn-ea"/>
                <a:cs typeface="+mn-cs"/>
              </a:rPr>
              <a:t>EM </a:t>
            </a:r>
            <a:r>
              <a:rPr lang="zh-TW" altLang="en-US" sz="1200" b="1" i="0" kern="1200" dirty="0" smtClean="0">
                <a:solidFill>
                  <a:schemeClr val="tx1"/>
                </a:solidFill>
                <a:effectLst/>
                <a:latin typeface="+mn-lt"/>
                <a:ea typeface="+mn-ea"/>
                <a:cs typeface="+mn-cs"/>
              </a:rPr>
              <a:t>演算法</a:t>
            </a:r>
            <a:r>
              <a:rPr lang="en-US" altLang="zh-TW" sz="1200" b="1" i="0" kern="1200" dirty="0" smtClean="0">
                <a:solidFill>
                  <a:schemeClr val="tx1"/>
                </a:solidFill>
                <a:effectLst/>
                <a:latin typeface="+mn-lt"/>
                <a:ea typeface="+mn-ea"/>
                <a:cs typeface="+mn-cs"/>
              </a:rPr>
              <a:t>(Expectation-Maximization)</a:t>
            </a:r>
            <a:r>
              <a:rPr lang="zh-TW" altLang="en-US" sz="1200" b="1" i="0" kern="1200" dirty="0" smtClean="0">
                <a:solidFill>
                  <a:schemeClr val="tx1"/>
                </a:solidFill>
                <a:effectLst/>
                <a:latin typeface="+mn-lt"/>
                <a:ea typeface="+mn-ea"/>
                <a:cs typeface="+mn-cs"/>
              </a:rPr>
              <a:t> </a:t>
            </a:r>
            <a:r>
              <a:rPr lang="en-US" altLang="zh-TW" sz="1200" b="0" i="0" kern="1200" dirty="0" smtClean="0">
                <a:solidFill>
                  <a:schemeClr val="tx1"/>
                </a:solidFill>
                <a:effectLst/>
                <a:latin typeface="+mn-lt"/>
                <a:ea typeface="+mn-ea"/>
                <a:cs typeface="+mn-cs"/>
              </a:rPr>
              <a:t>EM</a:t>
            </a:r>
            <a:r>
              <a:rPr lang="zh-TW" altLang="en-US" sz="1200" b="0" i="0" kern="1200" dirty="0" smtClean="0">
                <a:solidFill>
                  <a:schemeClr val="tx1"/>
                </a:solidFill>
                <a:effectLst/>
                <a:latin typeface="+mn-lt"/>
                <a:ea typeface="+mn-ea"/>
                <a:cs typeface="+mn-cs"/>
              </a:rPr>
              <a:t>是用來解決存在隱藏資訊最佳化問題的方法，這邊用來評價你的</a:t>
            </a:r>
            <a:r>
              <a:rPr lang="en-US" altLang="zh-TW" sz="1200" b="0" i="0" kern="1200" dirty="0" smtClean="0">
                <a:solidFill>
                  <a:schemeClr val="tx1"/>
                </a:solidFill>
                <a:effectLst/>
                <a:latin typeface="+mn-lt"/>
                <a:ea typeface="+mn-ea"/>
                <a:cs typeface="+mn-cs"/>
              </a:rPr>
              <a:t>sensing report</a:t>
            </a:r>
            <a:endParaRPr lang="zh-TW" altLang="en-US" sz="1200" b="1" i="0" kern="1200" dirty="0" smtClean="0">
              <a:solidFill>
                <a:schemeClr val="tx1"/>
              </a:solidFill>
              <a:effectLst/>
              <a:latin typeface="+mn-lt"/>
              <a:ea typeface="+mn-ea"/>
              <a:cs typeface="+mn-cs"/>
            </a:endParaRPr>
          </a:p>
          <a:p>
            <a:r>
              <a:rPr lang="en-US" altLang="zh-TW" dirty="0" smtClean="0"/>
              <a:t>I</a:t>
            </a:r>
            <a:r>
              <a:rPr lang="zh-TW" altLang="en-US" dirty="0" smtClean="0"/>
              <a:t>（</a:t>
            </a:r>
            <a:r>
              <a:rPr lang="en-US" altLang="zh-TW" dirty="0" smtClean="0"/>
              <a:t>·</a:t>
            </a:r>
            <a:r>
              <a:rPr lang="zh-TW" altLang="en-US" dirty="0" smtClean="0"/>
              <a:t>）是指標函數，如果其值為</a:t>
            </a:r>
            <a:r>
              <a:rPr lang="en-US" altLang="zh-TW" dirty="0" smtClean="0"/>
              <a:t>1</a:t>
            </a:r>
            <a:r>
              <a:rPr lang="en-US" altLang="zh-TW" baseline="0" dirty="0" smtClean="0"/>
              <a:t> </a:t>
            </a:r>
          </a:p>
          <a:p>
            <a:r>
              <a:rPr lang="zh-TW" altLang="en-US" dirty="0" smtClean="0"/>
              <a:t>參數為</a:t>
            </a:r>
            <a:r>
              <a:rPr lang="en-US" altLang="zh-TW" dirty="0" smtClean="0"/>
              <a:t>true</a:t>
            </a:r>
            <a:r>
              <a:rPr lang="zh-TW" altLang="en-US" dirty="0" smtClean="0"/>
              <a:t>，否則為</a:t>
            </a:r>
            <a:r>
              <a:rPr lang="en-US" altLang="zh-TW" dirty="0" smtClean="0"/>
              <a:t>0</a:t>
            </a:r>
            <a:r>
              <a:rPr lang="zh-TW" altLang="en-US" dirty="0" smtClean="0"/>
              <a:t>。</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18</a:t>
            </a:fld>
            <a:endParaRPr lang="zh-CN" altLang="en-US"/>
          </a:p>
        </p:txBody>
      </p:sp>
    </p:spTree>
    <p:extLst>
      <p:ext uri="{BB962C8B-B14F-4D97-AF65-F5344CB8AC3E}">
        <p14:creationId xmlns:p14="http://schemas.microsoft.com/office/powerpoint/2010/main" val="2643399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fontAlgn="t"/>
            <a:r>
              <a:rPr lang="zh-TW" altLang="en-US" sz="1200" b="0" i="0" kern="1200" dirty="0" smtClean="0">
                <a:solidFill>
                  <a:schemeClr val="tx1"/>
                </a:solidFill>
                <a:effectLst/>
                <a:latin typeface="+mn-lt"/>
                <a:ea typeface="+mn-ea"/>
                <a:cs typeface="+mn-cs"/>
              </a:rPr>
              <a:t/>
            </a:r>
            <a:br>
              <a:rPr lang="zh-TW" altLang="en-US" sz="1200" b="0" i="0" kern="1200" dirty="0" smtClean="0">
                <a:solidFill>
                  <a:schemeClr val="tx1"/>
                </a:solidFill>
                <a:effectLst/>
                <a:latin typeface="+mn-lt"/>
                <a:ea typeface="+mn-ea"/>
                <a:cs typeface="+mn-cs"/>
              </a:rPr>
            </a:br>
            <a:r>
              <a:rPr lang="zh-TW" altLang="en-US" sz="1200" b="0" i="0" kern="1200" dirty="0" smtClean="0">
                <a:solidFill>
                  <a:schemeClr val="tx1"/>
                </a:solidFill>
                <a:effectLst/>
                <a:latin typeface="+mn-lt"/>
                <a:ea typeface="+mn-ea"/>
                <a:cs typeface="+mn-cs"/>
              </a:rPr>
              <a:t>基於</a:t>
            </a:r>
            <a:r>
              <a:rPr lang="en-US" altLang="zh-TW" sz="1200" b="0" i="0" kern="1200" dirty="0" smtClean="0">
                <a:solidFill>
                  <a:schemeClr val="tx1"/>
                </a:solidFill>
                <a:effectLst/>
                <a:latin typeface="+mn-lt"/>
                <a:ea typeface="+mn-ea"/>
                <a:cs typeface="+mn-cs"/>
              </a:rPr>
              <a:t>s</a:t>
            </a:r>
            <a:r>
              <a:rPr lang="zh-TW" altLang="en-US" sz="1200" b="0" i="0" kern="1200" dirty="0" smtClean="0">
                <a:solidFill>
                  <a:schemeClr val="tx1"/>
                </a:solidFill>
                <a:effectLst/>
                <a:latin typeface="+mn-lt"/>
                <a:ea typeface="+mn-ea"/>
                <a:cs typeface="+mn-cs"/>
              </a:rPr>
              <a:t>（</a:t>
            </a:r>
            <a:r>
              <a:rPr lang="en-US" altLang="zh-TW" sz="1200" b="0" i="0" kern="1200" dirty="0" smtClean="0">
                <a:solidFill>
                  <a:schemeClr val="tx1"/>
                </a:solidFill>
                <a:effectLst/>
                <a:latin typeface="+mn-lt"/>
                <a:ea typeface="+mn-ea"/>
                <a:cs typeface="+mn-cs"/>
              </a:rPr>
              <a:t>k</a:t>
            </a:r>
            <a:r>
              <a:rPr lang="zh-TW" altLang="en-US" sz="1200" b="0" i="0" kern="1200" dirty="0" smtClean="0">
                <a:solidFill>
                  <a:schemeClr val="tx1"/>
                </a:solidFill>
                <a:effectLst/>
                <a:latin typeface="+mn-lt"/>
                <a:ea typeface="+mn-ea"/>
                <a:cs typeface="+mn-cs"/>
              </a:rPr>
              <a:t>）的系統狀態選擇基於</a:t>
            </a:r>
            <a:r>
              <a:rPr lang="en-US" altLang="zh-TW" sz="1200" b="0" i="0" kern="1200" dirty="0" smtClean="0">
                <a:solidFill>
                  <a:schemeClr val="tx1"/>
                </a:solidFill>
                <a:effectLst/>
                <a:latin typeface="+mn-lt"/>
                <a:ea typeface="+mn-ea"/>
                <a:cs typeface="+mn-cs"/>
              </a:rPr>
              <a:t>Q</a:t>
            </a:r>
            <a:r>
              <a:rPr lang="zh-TW" altLang="en-US" sz="1200" b="0" i="0" kern="1200" dirty="0" smtClean="0">
                <a:solidFill>
                  <a:schemeClr val="tx1"/>
                </a:solidFill>
                <a:effectLst/>
                <a:latin typeface="+mn-lt"/>
                <a:ea typeface="+mn-ea"/>
                <a:cs typeface="+mn-cs"/>
              </a:rPr>
              <a:t>學習的付款，該狀態由先前的感知質量和付款策略組成</a:t>
            </a:r>
            <a:endParaRPr lang="zh-TW" altLang="en-US"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19</a:t>
            </a:fld>
            <a:endParaRPr lang="zh-CN" altLang="en-US"/>
          </a:p>
        </p:txBody>
      </p:sp>
    </p:spTree>
    <p:extLst>
      <p:ext uri="{BB962C8B-B14F-4D97-AF65-F5344CB8AC3E}">
        <p14:creationId xmlns:p14="http://schemas.microsoft.com/office/powerpoint/2010/main" val="2101548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根據</a:t>
            </a:r>
            <a:r>
              <a:rPr lang="en-US" altLang="zh-TW" dirty="0" smtClean="0"/>
              <a:t>iterative Bellman</a:t>
            </a:r>
            <a:r>
              <a:rPr lang="zh-TW" altLang="en-US" dirty="0" smtClean="0"/>
              <a:t> </a:t>
            </a:r>
            <a:r>
              <a:rPr lang="en-US" altLang="zh-TW" dirty="0" smtClean="0"/>
              <a:t>equation </a:t>
            </a:r>
            <a:r>
              <a:rPr lang="zh-TW" altLang="en-US" dirty="0" smtClean="0"/>
              <a:t> </a:t>
            </a:r>
            <a:r>
              <a:rPr lang="en-US" altLang="zh-TW" dirty="0" smtClean="0"/>
              <a:t>(</a:t>
            </a:r>
            <a:r>
              <a:rPr lang="zh-TW" altLang="en-US" dirty="0" smtClean="0"/>
              <a:t>迭代貝爾曼方程</a:t>
            </a:r>
            <a:r>
              <a:rPr lang="en-US" altLang="zh-TW" dirty="0" smtClean="0"/>
              <a:t>)</a:t>
            </a:r>
            <a:r>
              <a:rPr lang="zh-TW" altLang="en-US" dirty="0" smtClean="0"/>
              <a:t> </a:t>
            </a:r>
            <a:r>
              <a:rPr lang="en-US" altLang="zh-TW" dirty="0" smtClean="0"/>
              <a:t>Q function</a:t>
            </a:r>
            <a:r>
              <a:rPr lang="zh-TW" altLang="en-US" dirty="0" smtClean="0"/>
              <a:t>寫成下列函數，</a:t>
            </a:r>
            <a:endParaRPr lang="en-US" altLang="zh-TW" dirty="0" smtClean="0"/>
          </a:p>
          <a:p>
            <a:r>
              <a:rPr lang="en-US" altLang="zh-TW" dirty="0" smtClean="0"/>
              <a:t>where s’ is the new state from s with action y</a:t>
            </a:r>
          </a:p>
          <a:p>
            <a:endParaRPr lang="en-US" altLang="zh-TW" dirty="0" smtClean="0"/>
          </a:p>
          <a:p>
            <a:r>
              <a:rPr lang="zh-TW" altLang="en-US" dirty="0" smtClean="0"/>
              <a:t>嘎瑪是短視利ㄉ折扣因子，阿爾法 是目前的學習速率。</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20</a:t>
            </a:fld>
            <a:endParaRPr lang="zh-CN" altLang="en-US"/>
          </a:p>
        </p:txBody>
      </p:sp>
    </p:spTree>
    <p:extLst>
      <p:ext uri="{BB962C8B-B14F-4D97-AF65-F5344CB8AC3E}">
        <p14:creationId xmlns:p14="http://schemas.microsoft.com/office/powerpoint/2010/main" val="690209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因此，基於</a:t>
            </a:r>
            <a:r>
              <a:rPr lang="en-US" altLang="zh-TW" dirty="0" smtClean="0"/>
              <a:t>Q</a:t>
            </a:r>
            <a:r>
              <a:rPr lang="zh-TW" altLang="en-US" dirty="0" smtClean="0"/>
              <a:t>學習的</a:t>
            </a:r>
            <a:r>
              <a:rPr lang="en-US" altLang="zh-TW" dirty="0" smtClean="0"/>
              <a:t>MCS</a:t>
            </a:r>
            <a:r>
              <a:rPr lang="zh-TW" altLang="en-US" dirty="0" smtClean="0"/>
              <a:t>系統必須解決對於涉及用戶數時的收斂速度。</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21</a:t>
            </a:fld>
            <a:endParaRPr lang="zh-CN" altLang="en-US"/>
          </a:p>
        </p:txBody>
      </p:sp>
    </p:spTree>
    <p:extLst>
      <p:ext uri="{BB962C8B-B14F-4D97-AF65-F5344CB8AC3E}">
        <p14:creationId xmlns:p14="http://schemas.microsoft.com/office/powerpoint/2010/main" val="23151282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先利用</a:t>
            </a:r>
            <a:r>
              <a:rPr lang="en-US" altLang="zh-TW" dirty="0" smtClean="0"/>
              <a:t>e-greedy</a:t>
            </a:r>
            <a:r>
              <a:rPr lang="zh-TW" altLang="en-US" dirty="0" smtClean="0"/>
              <a:t>決定</a:t>
            </a:r>
            <a:r>
              <a:rPr lang="en-US" altLang="zh-TW" dirty="0" smtClean="0"/>
              <a:t>server</a:t>
            </a:r>
            <a:r>
              <a:rPr lang="en-US" altLang="zh-TW" baseline="0" dirty="0" smtClean="0"/>
              <a:t> </a:t>
            </a:r>
            <a:r>
              <a:rPr lang="zh-TW" altLang="en-US" baseline="0" dirty="0" smtClean="0"/>
              <a:t>的</a:t>
            </a:r>
            <a:r>
              <a:rPr lang="en-US" altLang="zh-TW" baseline="0" dirty="0" smtClean="0"/>
              <a:t>payment policy,</a:t>
            </a:r>
          </a:p>
          <a:p>
            <a:r>
              <a:rPr lang="zh-TW" altLang="en-US" baseline="0" dirty="0" smtClean="0"/>
              <a:t>獲得一個用戶的</a:t>
            </a:r>
            <a:r>
              <a:rPr lang="en-US" altLang="zh-TW" baseline="0" dirty="0" smtClean="0"/>
              <a:t>report</a:t>
            </a:r>
            <a:r>
              <a:rPr lang="zh-TW" altLang="en-US" baseline="0" dirty="0" smtClean="0"/>
              <a:t>後給定相對應的</a:t>
            </a:r>
            <a:r>
              <a:rPr lang="en-US" altLang="zh-TW" baseline="0" dirty="0" smtClean="0"/>
              <a:t>payoff, </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baseline="0" dirty="0" smtClean="0"/>
              <a:t>再來</a:t>
            </a:r>
            <a:r>
              <a:rPr lang="zh-TW" altLang="en-US" sz="1200" b="0" i="0" kern="1200" dirty="0" smtClean="0">
                <a:solidFill>
                  <a:schemeClr val="tx1"/>
                </a:solidFill>
                <a:effectLst/>
                <a:latin typeface="+mn-lt"/>
                <a:ea typeface="+mn-ea"/>
                <a:cs typeface="+mn-cs"/>
              </a:rPr>
              <a:t>評價這個</a:t>
            </a:r>
            <a:r>
              <a:rPr lang="en-US" altLang="zh-TW" sz="1200" b="0" i="0" kern="1200" dirty="0" smtClean="0">
                <a:solidFill>
                  <a:schemeClr val="tx1"/>
                </a:solidFill>
                <a:effectLst/>
                <a:latin typeface="+mn-lt"/>
                <a:ea typeface="+mn-ea"/>
                <a:cs typeface="+mn-cs"/>
              </a:rPr>
              <a:t>sensing report</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b="0" i="0" kern="1200" dirty="0" smtClean="0">
                <a:solidFill>
                  <a:schemeClr val="tx1"/>
                </a:solidFill>
                <a:effectLst/>
                <a:latin typeface="+mn-lt"/>
                <a:ea typeface="+mn-ea"/>
                <a:cs typeface="+mn-cs"/>
              </a:rPr>
              <a:t>然後</a:t>
            </a:r>
            <a:r>
              <a:rPr lang="en-US" altLang="zh-TW" sz="1200" b="0" i="0" kern="1200" dirty="0" smtClean="0">
                <a:solidFill>
                  <a:schemeClr val="tx1"/>
                </a:solidFill>
                <a:effectLst/>
                <a:latin typeface="+mn-lt"/>
                <a:ea typeface="+mn-ea"/>
                <a:cs typeface="+mn-cs"/>
              </a:rPr>
              <a:t>Update</a:t>
            </a:r>
            <a:r>
              <a:rPr lang="en-US" altLang="zh-TW" sz="1200" b="0" i="0" kern="1200" baseline="0" dirty="0" smtClean="0">
                <a:solidFill>
                  <a:schemeClr val="tx1"/>
                </a:solidFill>
                <a:effectLst/>
                <a:latin typeface="+mn-lt"/>
                <a:ea typeface="+mn-ea"/>
                <a:cs typeface="+mn-cs"/>
              </a:rPr>
              <a:t> Q table</a:t>
            </a:r>
            <a:r>
              <a:rPr lang="zh-TW" altLang="en-US" sz="1200" b="0" i="0" kern="1200" baseline="0" dirty="0" smtClean="0">
                <a:solidFill>
                  <a:schemeClr val="tx1"/>
                </a:solidFill>
                <a:effectLst/>
                <a:latin typeface="+mn-lt"/>
                <a:ea typeface="+mn-ea"/>
                <a:cs typeface="+mn-cs"/>
              </a:rPr>
              <a:t> 。</a:t>
            </a:r>
            <a:endParaRPr lang="zh-TW" altLang="en-US" sz="1200" b="1" i="0" kern="1200" dirty="0" smtClean="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22</a:t>
            </a:fld>
            <a:endParaRPr lang="zh-CN" altLang="en-US"/>
          </a:p>
        </p:txBody>
      </p:sp>
    </p:spTree>
    <p:extLst>
      <p:ext uri="{BB962C8B-B14F-4D97-AF65-F5344CB8AC3E}">
        <p14:creationId xmlns:p14="http://schemas.microsoft.com/office/powerpoint/2010/main" val="36084320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因此，基於</a:t>
            </a:r>
            <a:r>
              <a:rPr lang="en-US" altLang="zh-TW" dirty="0" smtClean="0"/>
              <a:t>Q</a:t>
            </a:r>
            <a:r>
              <a:rPr lang="zh-TW" altLang="en-US" dirty="0" smtClean="0"/>
              <a:t>學習的</a:t>
            </a:r>
            <a:r>
              <a:rPr lang="en-US" altLang="zh-TW" dirty="0" smtClean="0"/>
              <a:t>MCS</a:t>
            </a:r>
            <a:r>
              <a:rPr lang="zh-TW" altLang="en-US" dirty="0" smtClean="0"/>
              <a:t>系統必須解決對於涉及用戶數時的收斂速度。</a:t>
            </a:r>
          </a:p>
          <a:p>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23</a:t>
            </a:fld>
            <a:endParaRPr lang="zh-CN" altLang="en-US"/>
          </a:p>
        </p:txBody>
      </p:sp>
    </p:spTree>
    <p:extLst>
      <p:ext uri="{BB962C8B-B14F-4D97-AF65-F5344CB8AC3E}">
        <p14:creationId xmlns:p14="http://schemas.microsoft.com/office/powerpoint/2010/main" val="3976859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利用 </a:t>
            </a:r>
            <a:r>
              <a:rPr lang="en-US" altLang="zh-TW" dirty="0" smtClean="0"/>
              <a:t>nonlinear</a:t>
            </a:r>
            <a:r>
              <a:rPr lang="en-US" altLang="zh-TW" baseline="0" dirty="0" smtClean="0"/>
              <a:t> neural network (</a:t>
            </a:r>
            <a:r>
              <a:rPr lang="zh-TW" altLang="en-US" baseline="0" dirty="0" smtClean="0"/>
              <a:t>非線性神經網絡</a:t>
            </a:r>
            <a:r>
              <a:rPr lang="en-US" altLang="zh-TW" baseline="0" dirty="0" smtClean="0"/>
              <a:t>)</a:t>
            </a:r>
            <a:r>
              <a:rPr lang="zh-TW" altLang="en-US" baseline="0" dirty="0" smtClean="0"/>
              <a:t>來逼近　</a:t>
            </a:r>
            <a:r>
              <a:rPr lang="en-US" altLang="zh-TW" baseline="0" dirty="0" smtClean="0"/>
              <a:t>Q function </a:t>
            </a:r>
            <a:r>
              <a:rPr lang="zh-TW" altLang="en-US" baseline="0" dirty="0" smtClean="0"/>
              <a:t>的值　</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24</a:t>
            </a:fld>
            <a:endParaRPr lang="zh-CN" altLang="en-US"/>
          </a:p>
        </p:txBody>
      </p:sp>
    </p:spTree>
    <p:extLst>
      <p:ext uri="{BB962C8B-B14F-4D97-AF65-F5344CB8AC3E}">
        <p14:creationId xmlns:p14="http://schemas.microsoft.com/office/powerpoint/2010/main" val="3111554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convolutional deep neural network</a:t>
            </a:r>
          </a:p>
          <a:p>
            <a:r>
              <a:rPr lang="zh-TW" altLang="en-US" dirty="0" smtClean="0"/>
              <a:t>利用</a:t>
            </a:r>
            <a:r>
              <a:rPr lang="en-US" altLang="zh-TW" dirty="0" err="1" smtClean="0"/>
              <a:t>ReLU</a:t>
            </a:r>
            <a:r>
              <a:rPr lang="zh-TW" altLang="en-US" dirty="0" smtClean="0"/>
              <a:t>得到　ＨＬ：在該Ｌ</a:t>
            </a:r>
            <a:r>
              <a:rPr lang="en-US" altLang="zh-TW" dirty="0" smtClean="0"/>
              <a:t>sensing</a:t>
            </a:r>
            <a:r>
              <a:rPr lang="en-US" altLang="zh-TW" baseline="0" dirty="0" smtClean="0"/>
              <a:t> level </a:t>
            </a:r>
            <a:r>
              <a:rPr lang="zh-TW" altLang="en-US" baseline="0" dirty="0" smtClean="0"/>
              <a:t>所有的</a:t>
            </a:r>
            <a:r>
              <a:rPr lang="en-US" altLang="zh-TW" dirty="0" smtClean="0"/>
              <a:t>feasible payment</a:t>
            </a:r>
            <a:r>
              <a:rPr lang="zh-TW" altLang="en-US" dirty="0" smtClean="0"/>
              <a:t>數量</a:t>
            </a:r>
            <a:endParaRPr lang="en-US" altLang="zh-TW" dirty="0" smtClean="0"/>
          </a:p>
          <a:p>
            <a:endParaRPr lang="en-US" altLang="zh-TW" dirty="0" smtClean="0"/>
          </a:p>
          <a:p>
            <a:r>
              <a:rPr lang="en-US" altLang="zh-TW" dirty="0" smtClean="0"/>
              <a:t>server </a:t>
            </a:r>
            <a:r>
              <a:rPr lang="zh-TW" altLang="en-US" dirty="0" smtClean="0"/>
              <a:t>再從</a:t>
            </a:r>
            <a:r>
              <a:rPr lang="en-US" altLang="zh-TW" dirty="0" smtClean="0"/>
              <a:t>memory</a:t>
            </a:r>
            <a:r>
              <a:rPr lang="en-US" altLang="zh-TW" baseline="0" dirty="0" smtClean="0"/>
              <a:t> pool </a:t>
            </a:r>
            <a:r>
              <a:rPr lang="zh-TW" altLang="en-US" baseline="0" dirty="0" smtClean="0"/>
              <a:t>選一個</a:t>
            </a:r>
            <a:r>
              <a:rPr lang="en-US" altLang="zh-TW" baseline="0" dirty="0" smtClean="0"/>
              <a:t>experience</a:t>
            </a:r>
            <a:r>
              <a:rPr lang="zh-TW" altLang="en-US" baseline="0" dirty="0" smtClean="0"/>
              <a:t>來</a:t>
            </a:r>
            <a:r>
              <a:rPr lang="en-US" altLang="zh-TW" baseline="0" dirty="0" smtClean="0"/>
              <a:t>update </a:t>
            </a:r>
            <a:r>
              <a:rPr lang="en-US" altLang="zh-TW" dirty="0" smtClean="0"/>
              <a:t>CNN weights θ(k)</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25</a:t>
            </a:fld>
            <a:endParaRPr lang="zh-CN" altLang="en-US"/>
          </a:p>
        </p:txBody>
      </p:sp>
    </p:spTree>
    <p:extLst>
      <p:ext uri="{BB962C8B-B14F-4D97-AF65-F5344CB8AC3E}">
        <p14:creationId xmlns:p14="http://schemas.microsoft.com/office/powerpoint/2010/main" val="18458268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差別在有</a:t>
            </a:r>
            <a:r>
              <a:rPr lang="en-US" altLang="zh-TW" dirty="0" smtClean="0"/>
              <a:t>memory pool</a:t>
            </a:r>
            <a:r>
              <a:rPr lang="zh-TW" altLang="en-US" dirty="0" smtClean="0"/>
              <a:t>並且沒有更新Ｑ</a:t>
            </a:r>
            <a:r>
              <a:rPr lang="en-US" altLang="zh-TW" dirty="0" smtClean="0"/>
              <a:t>-table</a:t>
            </a:r>
            <a:r>
              <a:rPr lang="zh-TW" altLang="en-US" dirty="0" smtClean="0"/>
              <a:t>　而是修改ＣＮＮ的權重去影響下次的逼近Ｑ值</a:t>
            </a:r>
            <a:endParaRPr lang="zh-TW" altLang="en-US" dirty="0"/>
          </a:p>
        </p:txBody>
      </p:sp>
      <p:sp>
        <p:nvSpPr>
          <p:cNvPr id="4" name="投影片編號版面配置區 3"/>
          <p:cNvSpPr>
            <a:spLocks noGrp="1"/>
          </p:cNvSpPr>
          <p:nvPr>
            <p:ph type="sldNum" sz="quarter" idx="10"/>
          </p:nvPr>
        </p:nvSpPr>
        <p:spPr/>
        <p:txBody>
          <a:bodyPr/>
          <a:lstStyle/>
          <a:p>
            <a:fld id="{2AEA76D6-C0AA-410F-9DDC-526F0CB07C6D}" type="slidenum">
              <a:rPr lang="zh-CN" altLang="en-US" smtClean="0"/>
              <a:t>26</a:t>
            </a:fld>
            <a:endParaRPr lang="zh-CN" altLang="en-US"/>
          </a:p>
        </p:txBody>
      </p:sp>
    </p:spTree>
    <p:extLst>
      <p:ext uri="{BB962C8B-B14F-4D97-AF65-F5344CB8AC3E}">
        <p14:creationId xmlns:p14="http://schemas.microsoft.com/office/powerpoint/2010/main" val="2066993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a:extLst>
              <a:ext uri="{FF2B5EF4-FFF2-40B4-BE49-F238E27FC236}">
                <a16:creationId xmlns="" xmlns:a16="http://schemas.microsoft.com/office/drawing/2014/main" id="{682FCF50-3C2B-439D-ACA3-2FD3367F5851}"/>
              </a:ext>
            </a:extLst>
          </p:cNvPr>
          <p:cNvSpPr/>
          <p:nvPr userDrawn="1"/>
        </p:nvSpPr>
        <p:spPr>
          <a:xfrm>
            <a:off x="0" y="0"/>
            <a:ext cx="4572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3247244"/>
      </p:ext>
    </p:extLst>
  </p:cSld>
  <p:clrMapOvr>
    <a:masterClrMapping/>
  </p:clrMapOvr>
  <p:extLst>
    <p:ext uri="{DCECCB84-F9BA-43D5-87BE-67443E8EF086}">
      <p15:sldGuideLst xmlns:p15="http://schemas.microsoft.com/office/powerpoint/2012/main">
        <p15:guide id="1"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7" name="矩形 6">
            <a:extLst>
              <a:ext uri="{FF2B5EF4-FFF2-40B4-BE49-F238E27FC236}">
                <a16:creationId xmlns="" xmlns:a16="http://schemas.microsoft.com/office/drawing/2014/main" id="{682FCF50-3C2B-439D-ACA3-2FD3367F5851}"/>
              </a:ext>
            </a:extLst>
          </p:cNvPr>
          <p:cNvSpPr/>
          <p:nvPr userDrawn="1"/>
        </p:nvSpPr>
        <p:spPr>
          <a:xfrm>
            <a:off x="0" y="0"/>
            <a:ext cx="4572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 xmlns:a16="http://schemas.microsoft.com/office/drawing/2014/main" id="{8CEFF940-8976-4FD3-B6C0-C5119E122C3C}"/>
              </a:ext>
            </a:extLst>
          </p:cNvPr>
          <p:cNvSpPr/>
          <p:nvPr userDrawn="1"/>
        </p:nvSpPr>
        <p:spPr>
          <a:xfrm>
            <a:off x="178308" y="249174"/>
            <a:ext cx="8787384" cy="4645152"/>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 xmlns:a16="http://schemas.microsoft.com/office/drawing/2014/main" id="{A7808C2C-12D8-49E5-A767-E2D2FD52F0C8}"/>
              </a:ext>
            </a:extLst>
          </p:cNvPr>
          <p:cNvCxnSpPr>
            <a:cxnSpLocks/>
          </p:cNvCxnSpPr>
          <p:nvPr userDrawn="1"/>
        </p:nvCxnSpPr>
        <p:spPr>
          <a:xfrm>
            <a:off x="388823" y="407418"/>
            <a:ext cx="0" cy="549536"/>
          </a:xfrm>
          <a:prstGeom prst="line">
            <a:avLst/>
          </a:prstGeom>
          <a:ln w="28575"/>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 xmlns:a16="http://schemas.microsoft.com/office/drawing/2014/main" id="{2A1F05D5-6AF2-485F-90D3-0D200AD3D2C8}"/>
              </a:ext>
            </a:extLst>
          </p:cNvPr>
          <p:cNvGrpSpPr/>
          <p:nvPr userDrawn="1"/>
        </p:nvGrpSpPr>
        <p:grpSpPr>
          <a:xfrm>
            <a:off x="7904665" y="61196"/>
            <a:ext cx="692443" cy="692443"/>
            <a:chOff x="3963053" y="796069"/>
            <a:chExt cx="1445741" cy="1445741"/>
          </a:xfrm>
        </p:grpSpPr>
        <p:sp>
          <p:nvSpPr>
            <p:cNvPr id="8" name="椭圆 7">
              <a:extLst>
                <a:ext uri="{FF2B5EF4-FFF2-40B4-BE49-F238E27FC236}">
                  <a16:creationId xmlns="" xmlns:a16="http://schemas.microsoft.com/office/drawing/2014/main" id="{667B22CB-8808-414D-A143-BD5ED12B2D12}"/>
                </a:ext>
              </a:extLst>
            </p:cNvPr>
            <p:cNvSpPr/>
            <p:nvPr/>
          </p:nvSpPr>
          <p:spPr>
            <a:xfrm>
              <a:off x="3963053" y="796069"/>
              <a:ext cx="1445741" cy="1445741"/>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Light"/>
                <a:ea typeface="微软雅黑"/>
                <a:cs typeface="+mn-cs"/>
              </a:endParaRPr>
            </a:p>
          </p:txBody>
        </p:sp>
        <p:grpSp>
          <p:nvGrpSpPr>
            <p:cNvPr id="9" name="组合 8">
              <a:extLst>
                <a:ext uri="{FF2B5EF4-FFF2-40B4-BE49-F238E27FC236}">
                  <a16:creationId xmlns="" xmlns:a16="http://schemas.microsoft.com/office/drawing/2014/main" id="{6A7779CB-C061-4F57-9C73-4B712E01C6D3}"/>
                </a:ext>
              </a:extLst>
            </p:cNvPr>
            <p:cNvGrpSpPr/>
            <p:nvPr/>
          </p:nvGrpSpPr>
          <p:grpSpPr>
            <a:xfrm>
              <a:off x="4188168" y="1149945"/>
              <a:ext cx="995510" cy="868332"/>
              <a:chOff x="4675188" y="2882900"/>
              <a:chExt cx="360362" cy="314325"/>
            </a:xfrm>
            <a:solidFill>
              <a:schemeClr val="bg1"/>
            </a:solidFill>
          </p:grpSpPr>
          <p:sp>
            <p:nvSpPr>
              <p:cNvPr id="10" name="AutoShape 43">
                <a:extLst>
                  <a:ext uri="{FF2B5EF4-FFF2-40B4-BE49-F238E27FC236}">
                    <a16:creationId xmlns="" xmlns:a16="http://schemas.microsoft.com/office/drawing/2014/main" id="{A4EBCCF3-1011-4C4E-AC09-1FD9508596E3}"/>
                  </a:ext>
                </a:extLst>
              </p:cNvPr>
              <p:cNvSpPr>
                <a:spLocks/>
              </p:cNvSpPr>
              <p:nvPr/>
            </p:nvSpPr>
            <p:spPr bwMode="auto">
              <a:xfrm>
                <a:off x="4675188" y="2882900"/>
                <a:ext cx="360362" cy="2571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951" y="9367"/>
                    </a:moveTo>
                    <a:cubicBezTo>
                      <a:pt x="10901" y="9383"/>
                      <a:pt x="10851" y="9391"/>
                      <a:pt x="10800" y="9391"/>
                    </a:cubicBezTo>
                    <a:cubicBezTo>
                      <a:pt x="10748" y="9391"/>
                      <a:pt x="10698" y="9383"/>
                      <a:pt x="10648" y="9367"/>
                    </a:cubicBezTo>
                    <a:lnTo>
                      <a:pt x="1873" y="6550"/>
                    </a:lnTo>
                    <a:cubicBezTo>
                      <a:pt x="1566" y="6452"/>
                      <a:pt x="1349" y="6072"/>
                      <a:pt x="1349" y="5634"/>
                    </a:cubicBezTo>
                    <a:cubicBezTo>
                      <a:pt x="1349" y="5197"/>
                      <a:pt x="1566" y="4817"/>
                      <a:pt x="1873" y="4719"/>
                    </a:cubicBezTo>
                    <a:lnTo>
                      <a:pt x="10648" y="1902"/>
                    </a:lnTo>
                    <a:cubicBezTo>
                      <a:pt x="10698" y="1886"/>
                      <a:pt x="10748" y="1878"/>
                      <a:pt x="10800" y="1878"/>
                    </a:cubicBezTo>
                    <a:cubicBezTo>
                      <a:pt x="10851" y="1878"/>
                      <a:pt x="10901" y="1886"/>
                      <a:pt x="10951" y="1902"/>
                    </a:cubicBezTo>
                    <a:lnTo>
                      <a:pt x="19726" y="4719"/>
                    </a:lnTo>
                    <a:cubicBezTo>
                      <a:pt x="20033" y="4817"/>
                      <a:pt x="20249" y="5197"/>
                      <a:pt x="20249" y="5634"/>
                    </a:cubicBezTo>
                    <a:cubicBezTo>
                      <a:pt x="20249" y="6072"/>
                      <a:pt x="20033" y="6452"/>
                      <a:pt x="19726" y="6550"/>
                    </a:cubicBezTo>
                    <a:cubicBezTo>
                      <a:pt x="19726" y="6550"/>
                      <a:pt x="10951" y="9367"/>
                      <a:pt x="10951" y="9367"/>
                    </a:cubicBezTo>
                    <a:close/>
                    <a:moveTo>
                      <a:pt x="16874" y="16904"/>
                    </a:moveTo>
                    <a:cubicBezTo>
                      <a:pt x="16874" y="17942"/>
                      <a:pt x="14849" y="19721"/>
                      <a:pt x="10800" y="19721"/>
                    </a:cubicBezTo>
                    <a:cubicBezTo>
                      <a:pt x="6749" y="19721"/>
                      <a:pt x="4724" y="17942"/>
                      <a:pt x="4724" y="16904"/>
                    </a:cubicBezTo>
                    <a:lnTo>
                      <a:pt x="4724" y="9394"/>
                    </a:lnTo>
                    <a:lnTo>
                      <a:pt x="10353" y="11200"/>
                    </a:lnTo>
                    <a:cubicBezTo>
                      <a:pt x="10501" y="11246"/>
                      <a:pt x="10651" y="11269"/>
                      <a:pt x="10800" y="11269"/>
                    </a:cubicBezTo>
                    <a:cubicBezTo>
                      <a:pt x="10949" y="11269"/>
                      <a:pt x="11098" y="11246"/>
                      <a:pt x="11255" y="11198"/>
                    </a:cubicBezTo>
                    <a:lnTo>
                      <a:pt x="16874" y="9394"/>
                    </a:lnTo>
                    <a:cubicBezTo>
                      <a:pt x="16874" y="9394"/>
                      <a:pt x="16874" y="16904"/>
                      <a:pt x="16874" y="16904"/>
                    </a:cubicBezTo>
                    <a:close/>
                    <a:moveTo>
                      <a:pt x="21600" y="5634"/>
                    </a:moveTo>
                    <a:cubicBezTo>
                      <a:pt x="21600" y="4314"/>
                      <a:pt x="20954" y="3185"/>
                      <a:pt x="20030" y="2888"/>
                    </a:cubicBezTo>
                    <a:lnTo>
                      <a:pt x="11246" y="68"/>
                    </a:lnTo>
                    <a:cubicBezTo>
                      <a:pt x="11098" y="22"/>
                      <a:pt x="10949" y="0"/>
                      <a:pt x="10800" y="0"/>
                    </a:cubicBezTo>
                    <a:cubicBezTo>
                      <a:pt x="10651" y="0"/>
                      <a:pt x="10501" y="22"/>
                      <a:pt x="10344" y="71"/>
                    </a:cubicBezTo>
                    <a:lnTo>
                      <a:pt x="1570" y="2888"/>
                    </a:lnTo>
                    <a:cubicBezTo>
                      <a:pt x="645" y="3185"/>
                      <a:pt x="0" y="4314"/>
                      <a:pt x="0" y="5634"/>
                    </a:cubicBezTo>
                    <a:cubicBezTo>
                      <a:pt x="0" y="6955"/>
                      <a:pt x="645" y="8084"/>
                      <a:pt x="1569" y="8380"/>
                    </a:cubicBezTo>
                    <a:lnTo>
                      <a:pt x="3374" y="8960"/>
                    </a:lnTo>
                    <a:lnTo>
                      <a:pt x="3374" y="16904"/>
                    </a:lnTo>
                    <a:cubicBezTo>
                      <a:pt x="3374" y="19397"/>
                      <a:pt x="5425" y="21600"/>
                      <a:pt x="10800" y="21600"/>
                    </a:cubicBezTo>
                    <a:cubicBezTo>
                      <a:pt x="16174" y="21600"/>
                      <a:pt x="18224" y="19397"/>
                      <a:pt x="18224" y="16904"/>
                    </a:cubicBezTo>
                    <a:lnTo>
                      <a:pt x="18224" y="8960"/>
                    </a:lnTo>
                    <a:lnTo>
                      <a:pt x="20030" y="8380"/>
                    </a:lnTo>
                    <a:cubicBezTo>
                      <a:pt x="20954" y="8084"/>
                      <a:pt x="21600" y="6955"/>
                      <a:pt x="21600" y="5634"/>
                    </a:cubicBezTo>
                  </a:path>
                </a:pathLst>
              </a:custGeom>
              <a:grpFill/>
              <a:ln>
                <a:noFill/>
              </a:ln>
              <a:effectLst/>
              <a:extLst>
                <a:ext uri="{91240B29-F687-4f45-9708-019B960494DF}"/>
                <a:ext uri="{AF507438-7753-43e0-B8FC-AC1667EBCBE1}"/>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a:cs typeface="+mn-cs"/>
                  <a:sym typeface="Gill Sans" charset="0"/>
                </a:endParaRPr>
              </a:p>
            </p:txBody>
          </p:sp>
          <p:sp>
            <p:nvSpPr>
              <p:cNvPr id="11" name="AutoShape 44">
                <a:extLst>
                  <a:ext uri="{FF2B5EF4-FFF2-40B4-BE49-F238E27FC236}">
                    <a16:creationId xmlns="" xmlns:a16="http://schemas.microsoft.com/office/drawing/2014/main" id="{5DEEC6ED-5F8A-497E-87B3-5EC42B6EF485}"/>
                  </a:ext>
                </a:extLst>
              </p:cNvPr>
              <p:cNvSpPr>
                <a:spLocks/>
              </p:cNvSpPr>
              <p:nvPr/>
            </p:nvSpPr>
            <p:spPr bwMode="auto">
              <a:xfrm>
                <a:off x="5000625" y="2994025"/>
                <a:ext cx="22225" cy="1238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1963"/>
                    </a:moveTo>
                    <a:lnTo>
                      <a:pt x="0" y="19636"/>
                    </a:lnTo>
                    <a:cubicBezTo>
                      <a:pt x="0" y="20721"/>
                      <a:pt x="4841" y="21599"/>
                      <a:pt x="10800" y="21599"/>
                    </a:cubicBezTo>
                    <a:cubicBezTo>
                      <a:pt x="16758" y="21599"/>
                      <a:pt x="21600" y="20721"/>
                      <a:pt x="21600" y="19636"/>
                    </a:cubicBezTo>
                    <a:lnTo>
                      <a:pt x="21600" y="1963"/>
                    </a:lnTo>
                    <a:cubicBezTo>
                      <a:pt x="21600" y="878"/>
                      <a:pt x="16758" y="0"/>
                      <a:pt x="10800" y="0"/>
                    </a:cubicBezTo>
                    <a:cubicBezTo>
                      <a:pt x="4841" y="0"/>
                      <a:pt x="0" y="878"/>
                      <a:pt x="0" y="1963"/>
                    </a:cubicBezTo>
                  </a:path>
                </a:pathLst>
              </a:custGeom>
              <a:grpFill/>
              <a:ln>
                <a:noFill/>
              </a:ln>
              <a:effectLst/>
              <a:extLst>
                <a:ext uri="{91240B29-F687-4f45-9708-019B960494DF}"/>
                <a:ext uri="{AF507438-7753-43e0-B8FC-AC1667EBCBE1}"/>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a:cs typeface="+mn-cs"/>
                  <a:sym typeface="Gill Sans" charset="0"/>
                </a:endParaRPr>
              </a:p>
            </p:txBody>
          </p:sp>
          <p:sp>
            <p:nvSpPr>
              <p:cNvPr id="12" name="AutoShape 45">
                <a:extLst>
                  <a:ext uri="{FF2B5EF4-FFF2-40B4-BE49-F238E27FC236}">
                    <a16:creationId xmlns="" xmlns:a16="http://schemas.microsoft.com/office/drawing/2014/main" id="{EBCBDC78-519F-4DCF-9701-737C2E29980C}"/>
                  </a:ext>
                </a:extLst>
              </p:cNvPr>
              <p:cNvSpPr>
                <a:spLocks/>
              </p:cNvSpPr>
              <p:nvPr/>
            </p:nvSpPr>
            <p:spPr bwMode="auto">
              <a:xfrm>
                <a:off x="4989513" y="3128963"/>
                <a:ext cx="46037" cy="682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38" y="0"/>
                      <a:pt x="0" y="10427"/>
                      <a:pt x="0" y="14400"/>
                    </a:cubicBezTo>
                    <a:cubicBezTo>
                      <a:pt x="0" y="18372"/>
                      <a:pt x="4838" y="21599"/>
                      <a:pt x="10800" y="21599"/>
                    </a:cubicBezTo>
                    <a:cubicBezTo>
                      <a:pt x="16761" y="21599"/>
                      <a:pt x="21600" y="18372"/>
                      <a:pt x="21600" y="14400"/>
                    </a:cubicBezTo>
                    <a:cubicBezTo>
                      <a:pt x="21600" y="10427"/>
                      <a:pt x="16761" y="0"/>
                      <a:pt x="10800" y="0"/>
                    </a:cubicBezTo>
                  </a:path>
                </a:pathLst>
              </a:custGeom>
              <a:grpFill/>
              <a:ln>
                <a:noFill/>
              </a:ln>
              <a:effectLst/>
              <a:extLst>
                <a:ext uri="{91240B29-F687-4f45-9708-019B960494DF}"/>
                <a:ext uri="{AF507438-7753-43e0-B8FC-AC1667EBCBE1}"/>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tabLst/>
                  <a:defRPr/>
                </a:pPr>
                <a:endParaRPr kumimoji="0" lang="en-US" sz="1500" b="0" i="0" u="none" strike="noStrike" kern="0" cap="none" spc="0" normalizeH="0" baseline="0" noProof="0">
                  <a:ln>
                    <a:noFill/>
                  </a:ln>
                  <a:solidFill>
                    <a:srgbClr val="FFFFFF"/>
                  </a:solidFill>
                  <a:effectLst>
                    <a:outerShdw blurRad="38100" dist="38100" dir="2700000" algn="tl">
                      <a:srgbClr val="000000"/>
                    </a:outerShdw>
                  </a:effectLst>
                  <a:uLnTx/>
                  <a:uFillTx/>
                  <a:latin typeface="Gill Sans" charset="0"/>
                  <a:ea typeface="微软雅黑"/>
                  <a:cs typeface="+mn-cs"/>
                  <a:sym typeface="Gill Sans" charset="0"/>
                </a:endParaRPr>
              </a:p>
            </p:txBody>
          </p:sp>
        </p:grpSp>
      </p:grpSp>
    </p:spTree>
    <p:extLst>
      <p:ext uri="{BB962C8B-B14F-4D97-AF65-F5344CB8AC3E}">
        <p14:creationId xmlns:p14="http://schemas.microsoft.com/office/powerpoint/2010/main" val="2652234666"/>
      </p:ext>
    </p:extLst>
  </p:cSld>
  <p:clrMapOvr>
    <a:masterClrMapping/>
  </p:clrMapOvr>
  <p:extLst mod="1">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7" name="矩形 6">
            <a:extLst>
              <a:ext uri="{FF2B5EF4-FFF2-40B4-BE49-F238E27FC236}">
                <a16:creationId xmlns="" xmlns:a16="http://schemas.microsoft.com/office/drawing/2014/main" id="{682FCF50-3C2B-439D-ACA3-2FD3367F5851}"/>
              </a:ext>
            </a:extLst>
          </p:cNvPr>
          <p:cNvSpPr/>
          <p:nvPr userDrawn="1"/>
        </p:nvSpPr>
        <p:spPr>
          <a:xfrm>
            <a:off x="0" y="0"/>
            <a:ext cx="4572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 xmlns:a16="http://schemas.microsoft.com/office/drawing/2014/main" id="{8CEFF940-8976-4FD3-B6C0-C5119E122C3C}"/>
              </a:ext>
            </a:extLst>
          </p:cNvPr>
          <p:cNvSpPr/>
          <p:nvPr userDrawn="1"/>
        </p:nvSpPr>
        <p:spPr>
          <a:xfrm>
            <a:off x="178308" y="249174"/>
            <a:ext cx="8787384" cy="4645152"/>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75676643"/>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906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2141465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27654001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1597228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813326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2774200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2029456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30437393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4277729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71449F7-5D90-411E-B63D-8723CE855B03}" type="datetimeFigureOut">
              <a:rPr lang="zh-CN" altLang="en-US" smtClean="0"/>
              <a:t>2019/10/3</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156948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71449F7-5D90-411E-B63D-8723CE855B03}" type="datetimeFigureOut">
              <a:rPr lang="zh-CN" altLang="en-US" smtClean="0"/>
              <a:t>2019/10/3</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78D03BD-8273-4B2F-9BD5-C1C4F37ADDE7}" type="slidenum">
              <a:rPr lang="zh-CN" altLang="en-US" smtClean="0"/>
              <a:t>‹#›</a:t>
            </a:fld>
            <a:endParaRPr lang="zh-CN" altLang="en-US"/>
          </a:p>
        </p:txBody>
      </p:sp>
    </p:spTree>
    <p:extLst>
      <p:ext uri="{BB962C8B-B14F-4D97-AF65-F5344CB8AC3E}">
        <p14:creationId xmlns:p14="http://schemas.microsoft.com/office/powerpoint/2010/main" val="872337004"/>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2"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tmp"/></Relationships>
</file>

<file path=ppt/slides/_rels/slide12.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tmp"/><Relationship Id="rId4" Type="http://schemas.openxmlformats.org/officeDocument/2006/relationships/image" Target="../media/image9.tmp"/></Relationships>
</file>

<file path=ppt/slides/_rels/slide13.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tmp"/></Relationships>
</file>

<file path=ppt/slides/_rels/slide20.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tmp"/></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4.tmp"/></Relationships>
</file>

<file path=ppt/slides/_rels/slide27.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 xmlns:a16="http://schemas.microsoft.com/office/drawing/2014/main" id="{27845620-1BD2-4CB4-A849-1D6F71C83D3D}"/>
              </a:ext>
            </a:extLst>
          </p:cNvPr>
          <p:cNvSpPr/>
          <p:nvPr/>
        </p:nvSpPr>
        <p:spPr>
          <a:xfrm>
            <a:off x="548640" y="546354"/>
            <a:ext cx="8046720" cy="4098798"/>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 xmlns:a16="http://schemas.microsoft.com/office/drawing/2014/main" id="{F308687F-5083-4900-B884-1ED108CE6C82}"/>
              </a:ext>
            </a:extLst>
          </p:cNvPr>
          <p:cNvSpPr txBox="1"/>
          <p:nvPr/>
        </p:nvSpPr>
        <p:spPr>
          <a:xfrm>
            <a:off x="1358259" y="1317069"/>
            <a:ext cx="6427481" cy="954107"/>
          </a:xfrm>
          <a:prstGeom prst="rect">
            <a:avLst/>
          </a:prstGeom>
          <a:noFill/>
        </p:spPr>
        <p:txBody>
          <a:bodyPr wrap="square" rtlCol="0">
            <a:spAutoFit/>
          </a:bodyPr>
          <a:lstStyle/>
          <a:p>
            <a:pPr algn="ctr"/>
            <a:r>
              <a:rPr lang="en-US" altLang="zh-TW" sz="2800" dirty="0"/>
              <a:t>A Secure Mobile </a:t>
            </a:r>
            <a:r>
              <a:rPr lang="en-US" altLang="zh-TW" sz="2800" dirty="0" err="1"/>
              <a:t>Crowdsensing</a:t>
            </a:r>
            <a:r>
              <a:rPr lang="en-US" altLang="zh-TW" sz="2800" dirty="0"/>
              <a:t> Game With Deep Reinforcement Learning </a:t>
            </a:r>
            <a:endParaRPr lang="en-US" altLang="zh-TW" sz="2800" dirty="0"/>
          </a:p>
        </p:txBody>
      </p:sp>
      <p:cxnSp>
        <p:nvCxnSpPr>
          <p:cNvPr id="14" name="直接连接符 13">
            <a:extLst>
              <a:ext uri="{FF2B5EF4-FFF2-40B4-BE49-F238E27FC236}">
                <a16:creationId xmlns="" xmlns:a16="http://schemas.microsoft.com/office/drawing/2014/main" id="{CF3A8B31-6E44-4C33-990E-9C86ACE33E11}"/>
              </a:ext>
            </a:extLst>
          </p:cNvPr>
          <p:cNvCxnSpPr/>
          <p:nvPr/>
        </p:nvCxnSpPr>
        <p:spPr>
          <a:xfrm>
            <a:off x="4441370" y="2595753"/>
            <a:ext cx="261257"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副標題 2">
            <a:extLst>
              <a:ext uri="{FF2B5EF4-FFF2-40B4-BE49-F238E27FC236}">
                <a16:creationId xmlns:a16="http://schemas.microsoft.com/office/drawing/2014/main" xmlns="" id="{0E4B0F2B-F337-409D-A453-126DF3F9D422}"/>
              </a:ext>
            </a:extLst>
          </p:cNvPr>
          <p:cNvSpPr txBox="1">
            <a:spLocks/>
          </p:cNvSpPr>
          <p:nvPr/>
        </p:nvSpPr>
        <p:spPr>
          <a:xfrm>
            <a:off x="1407223" y="3041891"/>
            <a:ext cx="6590807" cy="11313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TW" sz="1400" dirty="0" err="1" smtClean="0"/>
              <a:t>Authors:Liang</a:t>
            </a:r>
            <a:r>
              <a:rPr lang="en-US" altLang="zh-TW" sz="1400" dirty="0" smtClean="0"/>
              <a:t> </a:t>
            </a:r>
            <a:r>
              <a:rPr lang="en-US" altLang="zh-TW" sz="1400" dirty="0"/>
              <a:t>Xiao, Senior Member, IEEE, </a:t>
            </a:r>
            <a:r>
              <a:rPr lang="en-US" altLang="zh-TW" sz="1400" dirty="0" err="1"/>
              <a:t>Yanda</a:t>
            </a:r>
            <a:r>
              <a:rPr lang="en-US" altLang="zh-TW" sz="1400" dirty="0"/>
              <a:t> Li, </a:t>
            </a:r>
            <a:r>
              <a:rPr lang="en-US" altLang="zh-TW" sz="1400" dirty="0" err="1"/>
              <a:t>Guoan</a:t>
            </a:r>
            <a:r>
              <a:rPr lang="en-US" altLang="zh-TW" sz="1400" dirty="0"/>
              <a:t> Han, Student Member, IEEE, </a:t>
            </a:r>
            <a:r>
              <a:rPr lang="en-US" altLang="zh-TW" sz="1400" dirty="0" err="1"/>
              <a:t>Huaiyu</a:t>
            </a:r>
            <a:r>
              <a:rPr lang="en-US" altLang="zh-TW" sz="1400" dirty="0"/>
              <a:t> Dai, Fellow, IEEE, and H. Vincent Poor, Fellow, IEEE</a:t>
            </a:r>
          </a:p>
          <a:p>
            <a:pPr marL="0" indent="0" algn="ctr">
              <a:buNone/>
            </a:pPr>
            <a:r>
              <a:rPr lang="en-US" altLang="zh-TW" sz="1400" dirty="0"/>
              <a:t>IEEE TRANSACTIONS ON INFORMATION FORENSICS AND SECURITY, VOL. 13, NO. 1, JANUARY 2018 </a:t>
            </a:r>
          </a:p>
          <a:p>
            <a:endParaRPr lang="zh-TW" altLang="en-US" sz="1400" dirty="0"/>
          </a:p>
        </p:txBody>
      </p:sp>
    </p:spTree>
    <p:extLst>
      <p:ext uri="{BB962C8B-B14F-4D97-AF65-F5344CB8AC3E}">
        <p14:creationId xmlns:p14="http://schemas.microsoft.com/office/powerpoint/2010/main" val="17063475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4DDA22EB-20CE-408C-85B4-8B6AF0706B36}"/>
              </a:ext>
            </a:extLst>
          </p:cNvPr>
          <p:cNvSpPr txBox="1"/>
          <p:nvPr/>
        </p:nvSpPr>
        <p:spPr>
          <a:xfrm>
            <a:off x="210032" y="336563"/>
            <a:ext cx="1737399" cy="707886"/>
          </a:xfrm>
          <a:prstGeom prst="rect">
            <a:avLst/>
          </a:prstGeom>
          <a:noFill/>
        </p:spPr>
        <p:txBody>
          <a:bodyPr wrap="none" rtlCol="0">
            <a:spAutoFit/>
          </a:bodyPr>
          <a:lstStyle/>
          <a:p>
            <a:r>
              <a:rPr lang="en-US" altLang="zh-CN" sz="4000" dirty="0" smtClean="0">
                <a:solidFill>
                  <a:schemeClr val="accent1"/>
                </a:solidFill>
              </a:rPr>
              <a:t>Agenda</a:t>
            </a:r>
            <a:endParaRPr lang="zh-CN" altLang="en-US" sz="4000" dirty="0">
              <a:solidFill>
                <a:schemeClr val="accent1"/>
              </a:solidFill>
            </a:endParaRPr>
          </a:p>
        </p:txBody>
      </p:sp>
      <p:cxnSp>
        <p:nvCxnSpPr>
          <p:cNvPr id="4" name="直接连接符 3">
            <a:extLst>
              <a:ext uri="{FF2B5EF4-FFF2-40B4-BE49-F238E27FC236}">
                <a16:creationId xmlns="" xmlns:a16="http://schemas.microsoft.com/office/drawing/2014/main" id="{F0A0F34D-04C9-4B6F-9537-C4B94B15C82E}"/>
              </a:ext>
            </a:extLst>
          </p:cNvPr>
          <p:cNvCxnSpPr/>
          <p:nvPr/>
        </p:nvCxnSpPr>
        <p:spPr>
          <a:xfrm flipH="1">
            <a:off x="466344" y="690506"/>
            <a:ext cx="1325880" cy="626230"/>
          </a:xfrm>
          <a:prstGeom prst="line">
            <a:avLst/>
          </a:prstGeom>
          <a:ln w="19050">
            <a:solidFill>
              <a:srgbClr val="222B34"/>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 xmlns:a16="http://schemas.microsoft.com/office/drawing/2014/main" id="{DA28BF9B-EF97-4747-AD9D-72C93554A059}"/>
              </a:ext>
            </a:extLst>
          </p:cNvPr>
          <p:cNvSpPr txBox="1"/>
          <p:nvPr/>
        </p:nvSpPr>
        <p:spPr>
          <a:xfrm>
            <a:off x="949810" y="1044449"/>
            <a:ext cx="1454244" cy="369332"/>
          </a:xfrm>
          <a:prstGeom prst="rect">
            <a:avLst/>
          </a:prstGeom>
          <a:noFill/>
        </p:spPr>
        <p:txBody>
          <a:bodyPr wrap="none" rtlCol="0">
            <a:spAutoFit/>
          </a:bodyPr>
          <a:lstStyle/>
          <a:p>
            <a:r>
              <a:rPr lang="en-US" altLang="zh-CN">
                <a:solidFill>
                  <a:schemeClr val="accent1"/>
                </a:solidFill>
                <a:latin typeface="+mj-lt"/>
              </a:rPr>
              <a:t>CONTENTS</a:t>
            </a:r>
            <a:endParaRPr lang="zh-CN" altLang="en-US">
              <a:solidFill>
                <a:schemeClr val="accent1"/>
              </a:solidFill>
              <a:latin typeface="+mj-lt"/>
            </a:endParaRPr>
          </a:p>
        </p:txBody>
      </p:sp>
      <p:sp>
        <p:nvSpPr>
          <p:cNvPr id="6" name="椭圆 5">
            <a:extLst>
              <a:ext uri="{FF2B5EF4-FFF2-40B4-BE49-F238E27FC236}">
                <a16:creationId xmlns="" xmlns:a16="http://schemas.microsoft.com/office/drawing/2014/main" id="{4CB3FFBD-331E-42F6-83E7-4E7290D02507}"/>
              </a:ext>
            </a:extLst>
          </p:cNvPr>
          <p:cNvSpPr/>
          <p:nvPr/>
        </p:nvSpPr>
        <p:spPr>
          <a:xfrm>
            <a:off x="795933" y="1848879"/>
            <a:ext cx="1040625" cy="1040625"/>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7" name="矩形 6">
            <a:extLst>
              <a:ext uri="{FF2B5EF4-FFF2-40B4-BE49-F238E27FC236}">
                <a16:creationId xmlns="" xmlns:a16="http://schemas.microsoft.com/office/drawing/2014/main" id="{B697FF0D-B812-4518-824F-8AF2AC26DB85}"/>
              </a:ext>
            </a:extLst>
          </p:cNvPr>
          <p:cNvSpPr/>
          <p:nvPr/>
        </p:nvSpPr>
        <p:spPr>
          <a:xfrm>
            <a:off x="689169" y="3069531"/>
            <a:ext cx="1462901" cy="338554"/>
          </a:xfrm>
          <a:prstGeom prst="rect">
            <a:avLst/>
          </a:prstGeom>
        </p:spPr>
        <p:txBody>
          <a:bodyPr wrap="none">
            <a:spAutoFit/>
          </a:bodyPr>
          <a:lstStyle/>
          <a:p>
            <a:r>
              <a:rPr lang="en-US" altLang="ko-KR" sz="1600" b="1" dirty="0">
                <a:solidFill>
                  <a:schemeClr val="tx1">
                    <a:lumMod val="85000"/>
                    <a:lumOff val="15000"/>
                  </a:schemeClr>
                </a:solidFill>
                <a:cs typeface="Arial" pitchFamily="34" charset="0"/>
              </a:rPr>
              <a:t>INTRODUCTION</a:t>
            </a:r>
            <a:endParaRPr lang="ko-KR" altLang="en-US" sz="1600" b="1" dirty="0">
              <a:solidFill>
                <a:schemeClr val="tx1">
                  <a:lumMod val="85000"/>
                  <a:lumOff val="15000"/>
                </a:schemeClr>
              </a:solidFill>
              <a:cs typeface="Arial" pitchFamily="34" charset="0"/>
            </a:endParaRPr>
          </a:p>
        </p:txBody>
      </p:sp>
      <p:sp>
        <p:nvSpPr>
          <p:cNvPr id="8" name="椭圆 7">
            <a:extLst>
              <a:ext uri="{FF2B5EF4-FFF2-40B4-BE49-F238E27FC236}">
                <a16:creationId xmlns="" xmlns:a16="http://schemas.microsoft.com/office/drawing/2014/main" id="{61AD739D-6B1B-41EA-8079-419F27465730}"/>
              </a:ext>
            </a:extLst>
          </p:cNvPr>
          <p:cNvSpPr/>
          <p:nvPr/>
        </p:nvSpPr>
        <p:spPr>
          <a:xfrm>
            <a:off x="2914755" y="1848879"/>
            <a:ext cx="1040625" cy="1040625"/>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 name="矩形 8">
            <a:extLst>
              <a:ext uri="{FF2B5EF4-FFF2-40B4-BE49-F238E27FC236}">
                <a16:creationId xmlns="" xmlns:a16="http://schemas.microsoft.com/office/drawing/2014/main" id="{5E39C0C3-772E-4B36-B074-9A7345360EAE}"/>
              </a:ext>
            </a:extLst>
          </p:cNvPr>
          <p:cNvSpPr/>
          <p:nvPr/>
        </p:nvSpPr>
        <p:spPr>
          <a:xfrm>
            <a:off x="2674336" y="3069531"/>
            <a:ext cx="1520096" cy="338554"/>
          </a:xfrm>
          <a:prstGeom prst="rect">
            <a:avLst/>
          </a:prstGeom>
        </p:spPr>
        <p:txBody>
          <a:bodyPr wrap="none">
            <a:spAutoFit/>
          </a:bodyPr>
          <a:lstStyle/>
          <a:p>
            <a:r>
              <a:rPr lang="en-US" altLang="ko-KR" sz="1600" b="1" dirty="0">
                <a:solidFill>
                  <a:schemeClr val="tx1">
                    <a:lumMod val="85000"/>
                    <a:lumOff val="15000"/>
                  </a:schemeClr>
                </a:solidFill>
                <a:cs typeface="Arial" pitchFamily="34" charset="0"/>
              </a:rPr>
              <a:t>SYSTEM MODEL </a:t>
            </a:r>
            <a:endParaRPr lang="ko-KR" altLang="en-US" sz="1600" b="1" dirty="0">
              <a:solidFill>
                <a:schemeClr val="tx1">
                  <a:lumMod val="85000"/>
                  <a:lumOff val="15000"/>
                </a:schemeClr>
              </a:solidFill>
              <a:cs typeface="Arial" pitchFamily="34" charset="0"/>
            </a:endParaRPr>
          </a:p>
        </p:txBody>
      </p:sp>
      <p:sp>
        <p:nvSpPr>
          <p:cNvPr id="10" name="椭圆 9">
            <a:extLst>
              <a:ext uri="{FF2B5EF4-FFF2-40B4-BE49-F238E27FC236}">
                <a16:creationId xmlns="" xmlns:a16="http://schemas.microsoft.com/office/drawing/2014/main" id="{F45FF37A-03C7-4681-8C7A-BB81B7A4E0AF}"/>
              </a:ext>
            </a:extLst>
          </p:cNvPr>
          <p:cNvSpPr/>
          <p:nvPr/>
        </p:nvSpPr>
        <p:spPr>
          <a:xfrm>
            <a:off x="5014184" y="1848879"/>
            <a:ext cx="1040625" cy="1040625"/>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1" name="矩形 10">
            <a:extLst>
              <a:ext uri="{FF2B5EF4-FFF2-40B4-BE49-F238E27FC236}">
                <a16:creationId xmlns="" xmlns:a16="http://schemas.microsoft.com/office/drawing/2014/main" id="{2F5E705C-613F-431D-9818-5CD0BE8539EB}"/>
              </a:ext>
            </a:extLst>
          </p:cNvPr>
          <p:cNvSpPr/>
          <p:nvPr/>
        </p:nvSpPr>
        <p:spPr>
          <a:xfrm>
            <a:off x="4616157" y="3074061"/>
            <a:ext cx="1978619" cy="338554"/>
          </a:xfrm>
          <a:prstGeom prst="rect">
            <a:avLst/>
          </a:prstGeom>
        </p:spPr>
        <p:txBody>
          <a:bodyPr wrap="none">
            <a:spAutoFit/>
          </a:bodyPr>
          <a:lstStyle/>
          <a:p>
            <a:r>
              <a:rPr lang="en-US" altLang="ko-KR" sz="1600" b="1" dirty="0">
                <a:solidFill>
                  <a:schemeClr val="tx1">
                    <a:lumMod val="85000"/>
                    <a:lumOff val="15000"/>
                  </a:schemeClr>
                </a:solidFill>
                <a:cs typeface="Arial" pitchFamily="34" charset="0"/>
              </a:rPr>
              <a:t>DYNAMIC MCS GAME </a:t>
            </a:r>
            <a:endParaRPr lang="ko-KR" altLang="en-US" sz="1600" b="1" dirty="0">
              <a:solidFill>
                <a:schemeClr val="tx1">
                  <a:lumMod val="85000"/>
                  <a:lumOff val="15000"/>
                </a:schemeClr>
              </a:solidFill>
              <a:cs typeface="Arial" pitchFamily="34" charset="0"/>
            </a:endParaRPr>
          </a:p>
        </p:txBody>
      </p:sp>
      <p:sp>
        <p:nvSpPr>
          <p:cNvPr id="12" name="椭圆 11">
            <a:extLst>
              <a:ext uri="{FF2B5EF4-FFF2-40B4-BE49-F238E27FC236}">
                <a16:creationId xmlns="" xmlns:a16="http://schemas.microsoft.com/office/drawing/2014/main" id="{BA9CD052-A7F1-4058-8F7A-03A277ACB590}"/>
              </a:ext>
            </a:extLst>
          </p:cNvPr>
          <p:cNvSpPr/>
          <p:nvPr/>
        </p:nvSpPr>
        <p:spPr>
          <a:xfrm>
            <a:off x="6975238" y="1848879"/>
            <a:ext cx="1040625" cy="1040625"/>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3" name="矩形 12">
            <a:extLst>
              <a:ext uri="{FF2B5EF4-FFF2-40B4-BE49-F238E27FC236}">
                <a16:creationId xmlns="" xmlns:a16="http://schemas.microsoft.com/office/drawing/2014/main" id="{F09E2613-AA62-40E9-A789-F6A2C1BFA7CA}"/>
              </a:ext>
            </a:extLst>
          </p:cNvPr>
          <p:cNvSpPr/>
          <p:nvPr/>
        </p:nvSpPr>
        <p:spPr>
          <a:xfrm>
            <a:off x="6890256" y="3069531"/>
            <a:ext cx="1267078" cy="338554"/>
          </a:xfrm>
          <a:prstGeom prst="rect">
            <a:avLst/>
          </a:prstGeom>
        </p:spPr>
        <p:txBody>
          <a:bodyPr wrap="none">
            <a:spAutoFit/>
          </a:bodyPr>
          <a:lstStyle/>
          <a:p>
            <a:r>
              <a:rPr lang="en-US" altLang="ko-KR" sz="1600" b="1" dirty="0">
                <a:solidFill>
                  <a:schemeClr val="tx1">
                    <a:lumMod val="85000"/>
                    <a:lumOff val="15000"/>
                  </a:schemeClr>
                </a:solidFill>
                <a:cs typeface="Arial" pitchFamily="34" charset="0"/>
              </a:rPr>
              <a:t>CONCLUSION</a:t>
            </a:r>
            <a:endParaRPr lang="ko-KR" altLang="en-US" sz="1600" b="1" dirty="0">
              <a:solidFill>
                <a:schemeClr val="tx1">
                  <a:lumMod val="85000"/>
                  <a:lumOff val="15000"/>
                </a:schemeClr>
              </a:solidFill>
              <a:cs typeface="Arial" pitchFamily="34" charset="0"/>
            </a:endParaRPr>
          </a:p>
        </p:txBody>
      </p:sp>
      <p:sp>
        <p:nvSpPr>
          <p:cNvPr id="16" name="文本框 15">
            <a:extLst>
              <a:ext uri="{FF2B5EF4-FFF2-40B4-BE49-F238E27FC236}">
                <a16:creationId xmlns="" xmlns:a16="http://schemas.microsoft.com/office/drawing/2014/main" id="{35B809C4-5FEA-410E-B945-C8E99E3168E7}"/>
              </a:ext>
            </a:extLst>
          </p:cNvPr>
          <p:cNvSpPr txBox="1"/>
          <p:nvPr/>
        </p:nvSpPr>
        <p:spPr>
          <a:xfrm>
            <a:off x="938579" y="2015248"/>
            <a:ext cx="755335" cy="707886"/>
          </a:xfrm>
          <a:prstGeom prst="rect">
            <a:avLst/>
          </a:prstGeom>
          <a:noFill/>
        </p:spPr>
        <p:txBody>
          <a:bodyPr wrap="none" rtlCol="0">
            <a:spAutoFit/>
          </a:bodyPr>
          <a:lstStyle/>
          <a:p>
            <a:pPr algn="ctr"/>
            <a:r>
              <a:rPr lang="en-US" altLang="zh-CN" sz="4000" b="1">
                <a:solidFill>
                  <a:schemeClr val="bg1"/>
                </a:solidFill>
                <a:latin typeface="+mj-lt"/>
              </a:rPr>
              <a:t>01</a:t>
            </a:r>
            <a:endParaRPr lang="zh-CN" altLang="en-US" sz="4000" b="1">
              <a:solidFill>
                <a:schemeClr val="bg1"/>
              </a:solidFill>
              <a:latin typeface="+mj-lt"/>
            </a:endParaRPr>
          </a:p>
        </p:txBody>
      </p:sp>
      <p:sp>
        <p:nvSpPr>
          <p:cNvPr id="17" name="文本框 16">
            <a:extLst>
              <a:ext uri="{FF2B5EF4-FFF2-40B4-BE49-F238E27FC236}">
                <a16:creationId xmlns="" xmlns:a16="http://schemas.microsoft.com/office/drawing/2014/main" id="{F75C41DC-A784-4EED-9C7A-DDA83A9D9C79}"/>
              </a:ext>
            </a:extLst>
          </p:cNvPr>
          <p:cNvSpPr txBox="1"/>
          <p:nvPr/>
        </p:nvSpPr>
        <p:spPr>
          <a:xfrm>
            <a:off x="3056717" y="2015248"/>
            <a:ext cx="755335" cy="707886"/>
          </a:xfrm>
          <a:prstGeom prst="rect">
            <a:avLst/>
          </a:prstGeom>
          <a:noFill/>
        </p:spPr>
        <p:txBody>
          <a:bodyPr wrap="none" rtlCol="0">
            <a:spAutoFit/>
          </a:bodyPr>
          <a:lstStyle/>
          <a:p>
            <a:pPr algn="ctr"/>
            <a:r>
              <a:rPr lang="en-US" altLang="zh-CN" sz="4000" b="1" dirty="0">
                <a:solidFill>
                  <a:schemeClr val="bg1"/>
                </a:solidFill>
                <a:latin typeface="+mj-lt"/>
              </a:rPr>
              <a:t>02</a:t>
            </a:r>
            <a:endParaRPr lang="zh-CN" altLang="en-US" sz="4000" b="1" dirty="0">
              <a:solidFill>
                <a:schemeClr val="bg1"/>
              </a:solidFill>
              <a:latin typeface="+mj-lt"/>
            </a:endParaRPr>
          </a:p>
        </p:txBody>
      </p:sp>
      <p:sp>
        <p:nvSpPr>
          <p:cNvPr id="18" name="文本框 17">
            <a:extLst>
              <a:ext uri="{FF2B5EF4-FFF2-40B4-BE49-F238E27FC236}">
                <a16:creationId xmlns="" xmlns:a16="http://schemas.microsoft.com/office/drawing/2014/main" id="{24B8F62E-2895-474D-8436-CCA11BEA2F3F}"/>
              </a:ext>
            </a:extLst>
          </p:cNvPr>
          <p:cNvSpPr txBox="1"/>
          <p:nvPr/>
        </p:nvSpPr>
        <p:spPr>
          <a:xfrm>
            <a:off x="5156829" y="2016447"/>
            <a:ext cx="755335" cy="707886"/>
          </a:xfrm>
          <a:prstGeom prst="rect">
            <a:avLst/>
          </a:prstGeom>
          <a:noFill/>
        </p:spPr>
        <p:txBody>
          <a:bodyPr wrap="none" rtlCol="0">
            <a:spAutoFit/>
          </a:bodyPr>
          <a:lstStyle/>
          <a:p>
            <a:pPr algn="ctr"/>
            <a:r>
              <a:rPr lang="en-US" altLang="zh-CN" sz="4000" b="1" dirty="0">
                <a:solidFill>
                  <a:schemeClr val="bg1"/>
                </a:solidFill>
                <a:latin typeface="+mj-lt"/>
              </a:rPr>
              <a:t>03</a:t>
            </a:r>
            <a:endParaRPr lang="zh-CN" altLang="en-US" sz="4000" b="1" dirty="0">
              <a:solidFill>
                <a:schemeClr val="bg1"/>
              </a:solidFill>
              <a:latin typeface="+mj-lt"/>
            </a:endParaRPr>
          </a:p>
        </p:txBody>
      </p:sp>
      <p:sp>
        <p:nvSpPr>
          <p:cNvPr id="19" name="文本框 18">
            <a:extLst>
              <a:ext uri="{FF2B5EF4-FFF2-40B4-BE49-F238E27FC236}">
                <a16:creationId xmlns="" xmlns:a16="http://schemas.microsoft.com/office/drawing/2014/main" id="{FE2226A0-E0FA-4B03-98BB-815BDC71D906}"/>
              </a:ext>
            </a:extLst>
          </p:cNvPr>
          <p:cNvSpPr txBox="1"/>
          <p:nvPr/>
        </p:nvSpPr>
        <p:spPr>
          <a:xfrm>
            <a:off x="7117882" y="2015248"/>
            <a:ext cx="755335" cy="707886"/>
          </a:xfrm>
          <a:prstGeom prst="rect">
            <a:avLst/>
          </a:prstGeom>
          <a:noFill/>
        </p:spPr>
        <p:txBody>
          <a:bodyPr wrap="none" rtlCol="0">
            <a:spAutoFit/>
          </a:bodyPr>
          <a:lstStyle/>
          <a:p>
            <a:pPr algn="ctr"/>
            <a:r>
              <a:rPr lang="en-US" altLang="zh-CN" sz="4000" b="1" dirty="0">
                <a:solidFill>
                  <a:schemeClr val="bg1"/>
                </a:solidFill>
                <a:latin typeface="+mj-lt"/>
              </a:rPr>
              <a:t>04</a:t>
            </a:r>
            <a:endParaRPr lang="zh-CN" altLang="en-US" sz="4000" b="1" dirty="0">
              <a:solidFill>
                <a:schemeClr val="bg1"/>
              </a:solidFill>
              <a:latin typeface="+mj-lt"/>
            </a:endParaRPr>
          </a:p>
        </p:txBody>
      </p:sp>
    </p:spTree>
    <p:extLst>
      <p:ext uri="{BB962C8B-B14F-4D97-AF65-F5344CB8AC3E}">
        <p14:creationId xmlns:p14="http://schemas.microsoft.com/office/powerpoint/2010/main" val="13956022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B1EF227F-F971-46C4-8C83-D820A502B67B}"/>
              </a:ext>
            </a:extLst>
          </p:cNvPr>
          <p:cNvSpPr/>
          <p:nvPr/>
        </p:nvSpPr>
        <p:spPr>
          <a:xfrm>
            <a:off x="388823" y="375240"/>
            <a:ext cx="1781642" cy="400110"/>
          </a:xfrm>
          <a:prstGeom prst="rect">
            <a:avLst/>
          </a:prstGeom>
        </p:spPr>
        <p:txBody>
          <a:bodyPr wrap="none">
            <a:spAutoFit/>
          </a:bodyPr>
          <a:lstStyle/>
          <a:p>
            <a:r>
              <a:rPr lang="en-US" altLang="ko-KR" sz="2000" b="1" dirty="0">
                <a:solidFill>
                  <a:schemeClr val="tx1">
                    <a:lumMod val="85000"/>
                    <a:lumOff val="15000"/>
                  </a:schemeClr>
                </a:solidFill>
                <a:cs typeface="Arial" pitchFamily="34" charset="0"/>
              </a:rPr>
              <a:t>INTRODUCTION</a:t>
            </a:r>
            <a:endParaRPr lang="ko-KR" altLang="en-US" sz="2000" b="1" dirty="0">
              <a:solidFill>
                <a:schemeClr val="tx1">
                  <a:lumMod val="85000"/>
                  <a:lumOff val="15000"/>
                </a:schemeClr>
              </a:solidFill>
              <a:cs typeface="Arial" pitchFamily="34" charset="0"/>
            </a:endParaRPr>
          </a:p>
        </p:txBody>
      </p:sp>
      <p:grpSp>
        <p:nvGrpSpPr>
          <p:cNvPr id="30" name="组合 29">
            <a:extLst>
              <a:ext uri="{FF2B5EF4-FFF2-40B4-BE49-F238E27FC236}">
                <a16:creationId xmlns="" xmlns:a16="http://schemas.microsoft.com/office/drawing/2014/main" id="{51852231-DBA4-4459-A525-9D6F0328D398}"/>
              </a:ext>
            </a:extLst>
          </p:cNvPr>
          <p:cNvGrpSpPr/>
          <p:nvPr/>
        </p:nvGrpSpPr>
        <p:grpSpPr>
          <a:xfrm>
            <a:off x="699771" y="1647253"/>
            <a:ext cx="626564" cy="626564"/>
            <a:chOff x="2473104" y="2145028"/>
            <a:chExt cx="359165" cy="359165"/>
          </a:xfrm>
          <a:solidFill>
            <a:schemeClr val="bg1"/>
          </a:solidFill>
        </p:grpSpPr>
        <p:sp>
          <p:nvSpPr>
            <p:cNvPr id="31" name="AutoShape 126">
              <a:extLst>
                <a:ext uri="{FF2B5EF4-FFF2-40B4-BE49-F238E27FC236}">
                  <a16:creationId xmlns="" xmlns:a16="http://schemas.microsoft.com/office/drawing/2014/main" id="{3A999974-19D3-44F7-BF39-C052E0153F33}"/>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32" name="AutoShape 127">
              <a:extLst>
                <a:ext uri="{FF2B5EF4-FFF2-40B4-BE49-F238E27FC236}">
                  <a16:creationId xmlns="" xmlns:a16="http://schemas.microsoft.com/office/drawing/2014/main" id="{AA83F5E9-B885-450C-9308-5D18FF3B7BA7}"/>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grpSp>
      <p:sp>
        <p:nvSpPr>
          <p:cNvPr id="2" name="文字方塊 1"/>
          <p:cNvSpPr txBox="1"/>
          <p:nvPr/>
        </p:nvSpPr>
        <p:spPr>
          <a:xfrm>
            <a:off x="526165" y="1568285"/>
            <a:ext cx="7327948" cy="954107"/>
          </a:xfrm>
          <a:prstGeom prst="rect">
            <a:avLst/>
          </a:prstGeom>
          <a:noFill/>
        </p:spPr>
        <p:txBody>
          <a:bodyPr wrap="square" rtlCol="0">
            <a:spAutoFit/>
          </a:bodyPr>
          <a:lstStyle/>
          <a:p>
            <a:r>
              <a:rPr lang="en-US" altLang="zh-TW" sz="2000" b="1" dirty="0" smtClean="0"/>
              <a:t>Mobile </a:t>
            </a:r>
            <a:r>
              <a:rPr lang="en-US" altLang="zh-TW" sz="2000" b="1" dirty="0" err="1" smtClean="0"/>
              <a:t>CrowdSensing</a:t>
            </a:r>
            <a:r>
              <a:rPr lang="en-US" altLang="zh-TW" sz="2000" b="1" dirty="0" smtClean="0"/>
              <a:t> (MCS)</a:t>
            </a:r>
          </a:p>
          <a:p>
            <a:r>
              <a:rPr lang="en-US" altLang="zh-TW" dirty="0" smtClean="0"/>
              <a:t>is </a:t>
            </a:r>
            <a:r>
              <a:rPr lang="en-US" altLang="zh-TW" dirty="0"/>
              <a:t>a technique where a large group of individuals having mobile devices capable of sensing and computing </a:t>
            </a:r>
            <a:endParaRPr lang="zh-TW" altLang="en-US" dirty="0"/>
          </a:p>
        </p:txBody>
      </p:sp>
      <p:sp>
        <p:nvSpPr>
          <p:cNvPr id="33" name="圓角矩形 32"/>
          <p:cNvSpPr/>
          <p:nvPr/>
        </p:nvSpPr>
        <p:spPr>
          <a:xfrm>
            <a:off x="526165" y="3230088"/>
            <a:ext cx="1470694" cy="148441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1400" dirty="0" smtClean="0"/>
              <a:t>Accelerometer</a:t>
            </a:r>
            <a:endParaRPr lang="zh-TW" altLang="en-US" sz="1400" dirty="0"/>
          </a:p>
        </p:txBody>
      </p:sp>
      <p:sp>
        <p:nvSpPr>
          <p:cNvPr id="34" name="圓角矩形 33"/>
          <p:cNvSpPr/>
          <p:nvPr/>
        </p:nvSpPr>
        <p:spPr>
          <a:xfrm>
            <a:off x="2207762" y="3230088"/>
            <a:ext cx="1470694" cy="148441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1600" dirty="0"/>
              <a:t>T</a:t>
            </a:r>
            <a:r>
              <a:rPr lang="en-US" altLang="zh-TW" sz="1600" dirty="0" smtClean="0"/>
              <a:t>emperature</a:t>
            </a:r>
            <a:endParaRPr lang="zh-TW" altLang="en-US" sz="1600" dirty="0"/>
          </a:p>
        </p:txBody>
      </p:sp>
      <p:sp>
        <p:nvSpPr>
          <p:cNvPr id="35" name="圓角矩形 34"/>
          <p:cNvSpPr/>
          <p:nvPr/>
        </p:nvSpPr>
        <p:spPr>
          <a:xfrm>
            <a:off x="3889359" y="3230088"/>
            <a:ext cx="1470694" cy="148441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1600" dirty="0" smtClean="0"/>
              <a:t>Light</a:t>
            </a:r>
            <a:endParaRPr lang="zh-TW" altLang="en-US" sz="1600" dirty="0"/>
          </a:p>
        </p:txBody>
      </p:sp>
      <p:sp>
        <p:nvSpPr>
          <p:cNvPr id="36" name="圓角矩形 35"/>
          <p:cNvSpPr/>
          <p:nvPr/>
        </p:nvSpPr>
        <p:spPr>
          <a:xfrm>
            <a:off x="5697802" y="3230088"/>
            <a:ext cx="1470694" cy="1484416"/>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TW" sz="1600" dirty="0"/>
              <a:t>Magnetism</a:t>
            </a:r>
            <a:endParaRPr lang="zh-TW" altLang="en-US" sz="1600" dirty="0"/>
          </a:p>
        </p:txBody>
      </p:sp>
      <p:sp>
        <p:nvSpPr>
          <p:cNvPr id="6" name="文字方塊 5"/>
          <p:cNvSpPr txBox="1"/>
          <p:nvPr/>
        </p:nvSpPr>
        <p:spPr>
          <a:xfrm>
            <a:off x="7445829" y="3764478"/>
            <a:ext cx="1401288" cy="369332"/>
          </a:xfrm>
          <a:prstGeom prst="rect">
            <a:avLst/>
          </a:prstGeom>
          <a:noFill/>
        </p:spPr>
        <p:txBody>
          <a:bodyPr wrap="square" rtlCol="0">
            <a:spAutoFit/>
          </a:bodyPr>
          <a:lstStyle/>
          <a:p>
            <a:r>
              <a:rPr lang="en-US" altLang="zh-TW" dirty="0" smtClean="0"/>
              <a:t>……</a:t>
            </a:r>
            <a:endParaRPr lang="zh-TW" altLang="en-US" dirty="0"/>
          </a:p>
        </p:txBody>
      </p:sp>
    </p:spTree>
    <p:extLst>
      <p:ext uri="{BB962C8B-B14F-4D97-AF65-F5344CB8AC3E}">
        <p14:creationId xmlns:p14="http://schemas.microsoft.com/office/powerpoint/2010/main" val="9363479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 xmlns:a16="http://schemas.microsoft.com/office/drawing/2014/main" id="{43472C6A-CD4B-4B7B-9F48-350D9E4EBCB3}"/>
              </a:ext>
            </a:extLst>
          </p:cNvPr>
          <p:cNvSpPr/>
          <p:nvPr/>
        </p:nvSpPr>
        <p:spPr>
          <a:xfrm>
            <a:off x="388822" y="1294108"/>
            <a:ext cx="7794281" cy="11381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 xmlns:a16="http://schemas.microsoft.com/office/drawing/2014/main" id="{B1EF227F-F971-46C4-8C83-D820A502B67B}"/>
              </a:ext>
            </a:extLst>
          </p:cNvPr>
          <p:cNvSpPr/>
          <p:nvPr/>
        </p:nvSpPr>
        <p:spPr>
          <a:xfrm>
            <a:off x="388823" y="375240"/>
            <a:ext cx="1781642" cy="400110"/>
          </a:xfrm>
          <a:prstGeom prst="rect">
            <a:avLst/>
          </a:prstGeom>
        </p:spPr>
        <p:txBody>
          <a:bodyPr wrap="none">
            <a:spAutoFit/>
          </a:bodyPr>
          <a:lstStyle/>
          <a:p>
            <a:pPr>
              <a:spcAft>
                <a:spcPts val="0"/>
              </a:spcAft>
            </a:pPr>
            <a:r>
              <a:rPr lang="en-US" altLang="ko-KR" sz="2000" b="1" dirty="0">
                <a:solidFill>
                  <a:schemeClr val="tx1">
                    <a:lumMod val="85000"/>
                    <a:lumOff val="15000"/>
                  </a:schemeClr>
                </a:solidFill>
                <a:cs typeface="Arial" pitchFamily="34" charset="0"/>
              </a:rPr>
              <a:t>INTRODUCTION</a:t>
            </a:r>
            <a:endParaRPr lang="zh-CN" altLang="en-US" sz="2000" b="1" kern="100" dirty="0">
              <a:solidFill>
                <a:schemeClr val="accent1"/>
              </a:solidFill>
              <a:latin typeface="+mn-ea"/>
              <a:cs typeface="Times New Roman" panose="02020603050405020304" pitchFamily="18" charset="0"/>
            </a:endParaRPr>
          </a:p>
        </p:txBody>
      </p:sp>
      <p:sp>
        <p:nvSpPr>
          <p:cNvPr id="27" name="矩形 26">
            <a:extLst>
              <a:ext uri="{FF2B5EF4-FFF2-40B4-BE49-F238E27FC236}">
                <a16:creationId xmlns="" xmlns:a16="http://schemas.microsoft.com/office/drawing/2014/main" id="{B75F93CF-3DCA-4826-923A-B1601135DAD3}"/>
              </a:ext>
            </a:extLst>
          </p:cNvPr>
          <p:cNvSpPr/>
          <p:nvPr/>
        </p:nvSpPr>
        <p:spPr>
          <a:xfrm>
            <a:off x="450816" y="1425155"/>
            <a:ext cx="1350370" cy="400110"/>
          </a:xfrm>
          <a:prstGeom prst="rect">
            <a:avLst/>
          </a:prstGeom>
        </p:spPr>
        <p:txBody>
          <a:bodyPr wrap="none">
            <a:spAutoFit/>
          </a:bodyPr>
          <a:lstStyle/>
          <a:p>
            <a:pPr>
              <a:spcAft>
                <a:spcPts val="0"/>
              </a:spcAft>
            </a:pPr>
            <a:r>
              <a:rPr lang="en-US" altLang="zh-CN" sz="2000" b="1" kern="100" dirty="0" smtClean="0">
                <a:solidFill>
                  <a:schemeClr val="bg1"/>
                </a:solidFill>
                <a:latin typeface="+mn-ea"/>
                <a:cs typeface="Times New Roman" panose="02020603050405020304" pitchFamily="18" charset="0"/>
              </a:rPr>
              <a:t>Problem:</a:t>
            </a:r>
            <a:endParaRPr lang="zh-CN" altLang="en-US" sz="2000" b="1" kern="100" dirty="0">
              <a:solidFill>
                <a:schemeClr val="bg1"/>
              </a:solidFill>
              <a:latin typeface="+mn-ea"/>
              <a:cs typeface="Times New Roman" panose="02020603050405020304" pitchFamily="18" charset="0"/>
            </a:endParaRPr>
          </a:p>
        </p:txBody>
      </p:sp>
      <p:sp>
        <p:nvSpPr>
          <p:cNvPr id="28" name="矩形 27">
            <a:extLst>
              <a:ext uri="{FF2B5EF4-FFF2-40B4-BE49-F238E27FC236}">
                <a16:creationId xmlns="" xmlns:a16="http://schemas.microsoft.com/office/drawing/2014/main" id="{5A7AE200-7CBF-47A8-BFC3-5EE3783AF59A}"/>
              </a:ext>
            </a:extLst>
          </p:cNvPr>
          <p:cNvSpPr/>
          <p:nvPr/>
        </p:nvSpPr>
        <p:spPr>
          <a:xfrm>
            <a:off x="469979" y="1771559"/>
            <a:ext cx="5217899" cy="460126"/>
          </a:xfrm>
          <a:prstGeom prst="rect">
            <a:avLst/>
          </a:prstGeom>
        </p:spPr>
        <p:txBody>
          <a:bodyPr wrap="square">
            <a:spAutoFit/>
          </a:bodyPr>
          <a:lstStyle/>
          <a:p>
            <a:pPr>
              <a:lnSpc>
                <a:spcPct val="130000"/>
              </a:lnSpc>
              <a:spcBef>
                <a:spcPts val="600"/>
              </a:spcBef>
            </a:pPr>
            <a:r>
              <a:rPr lang="en-US" altLang="zh-CN" sz="2000" b="1" i="1" dirty="0" smtClean="0">
                <a:solidFill>
                  <a:schemeClr val="bg1"/>
                </a:solidFill>
              </a:rPr>
              <a:t>Faked sensing attacks</a:t>
            </a:r>
            <a:endParaRPr lang="en-US" altLang="zh-CN" sz="2000" b="1" i="1" dirty="0">
              <a:solidFill>
                <a:schemeClr val="bg1"/>
              </a:solidFill>
            </a:endParaRPr>
          </a:p>
        </p:txBody>
      </p:sp>
      <p:sp>
        <p:nvSpPr>
          <p:cNvPr id="29" name="椭圆 28">
            <a:extLst>
              <a:ext uri="{FF2B5EF4-FFF2-40B4-BE49-F238E27FC236}">
                <a16:creationId xmlns="" xmlns:a16="http://schemas.microsoft.com/office/drawing/2014/main" id="{D33AB898-91D3-49AF-BFAA-50C82A809FC9}"/>
              </a:ext>
            </a:extLst>
          </p:cNvPr>
          <p:cNvSpPr/>
          <p:nvPr/>
        </p:nvSpPr>
        <p:spPr>
          <a:xfrm>
            <a:off x="469979" y="2610060"/>
            <a:ext cx="681925" cy="681925"/>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0" name="椭圆 29">
            <a:extLst>
              <a:ext uri="{FF2B5EF4-FFF2-40B4-BE49-F238E27FC236}">
                <a16:creationId xmlns="" xmlns:a16="http://schemas.microsoft.com/office/drawing/2014/main" id="{0122DECD-DE99-4981-844D-0E38BB114A8D}"/>
              </a:ext>
            </a:extLst>
          </p:cNvPr>
          <p:cNvSpPr/>
          <p:nvPr/>
        </p:nvSpPr>
        <p:spPr>
          <a:xfrm>
            <a:off x="450816" y="3694941"/>
            <a:ext cx="681925" cy="681925"/>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1" name="矩形 30">
            <a:extLst>
              <a:ext uri="{FF2B5EF4-FFF2-40B4-BE49-F238E27FC236}">
                <a16:creationId xmlns="" xmlns:a16="http://schemas.microsoft.com/office/drawing/2014/main" id="{4E72295C-1C6B-4477-BB61-51C9EAC2B8E8}"/>
              </a:ext>
            </a:extLst>
          </p:cNvPr>
          <p:cNvSpPr/>
          <p:nvPr/>
        </p:nvSpPr>
        <p:spPr>
          <a:xfrm>
            <a:off x="1283641" y="2731049"/>
            <a:ext cx="4280252" cy="652486"/>
          </a:xfrm>
          <a:prstGeom prst="rect">
            <a:avLst/>
          </a:prstGeom>
        </p:spPr>
        <p:txBody>
          <a:bodyPr wrap="square">
            <a:spAutoFit/>
          </a:bodyPr>
          <a:lstStyle/>
          <a:p>
            <a:pPr>
              <a:lnSpc>
                <a:spcPct val="130000"/>
              </a:lnSpc>
              <a:spcBef>
                <a:spcPts val="600"/>
              </a:spcBef>
            </a:pPr>
            <a:r>
              <a:rPr lang="en-US" altLang="zh-CN" sz="1400" dirty="0" smtClean="0">
                <a:solidFill>
                  <a:schemeClr val="tx1">
                    <a:lumMod val="85000"/>
                    <a:lumOff val="15000"/>
                  </a:schemeClr>
                </a:solidFill>
              </a:rPr>
              <a:t>In order to reduce the cost of sensing or make payoff maximized.</a:t>
            </a:r>
            <a:endParaRPr lang="en-US" altLang="zh-CN" sz="1400" dirty="0">
              <a:solidFill>
                <a:schemeClr val="tx1">
                  <a:lumMod val="85000"/>
                  <a:lumOff val="15000"/>
                </a:schemeClr>
              </a:solidFill>
            </a:endParaRPr>
          </a:p>
        </p:txBody>
      </p:sp>
      <p:sp>
        <p:nvSpPr>
          <p:cNvPr id="32" name="矩形 31">
            <a:extLst>
              <a:ext uri="{FF2B5EF4-FFF2-40B4-BE49-F238E27FC236}">
                <a16:creationId xmlns="" xmlns:a16="http://schemas.microsoft.com/office/drawing/2014/main" id="{6724EFDA-2C65-40C4-A4CD-545800692528}"/>
              </a:ext>
            </a:extLst>
          </p:cNvPr>
          <p:cNvSpPr/>
          <p:nvPr/>
        </p:nvSpPr>
        <p:spPr>
          <a:xfrm>
            <a:off x="1283641" y="3862173"/>
            <a:ext cx="4280252" cy="349776"/>
          </a:xfrm>
          <a:prstGeom prst="rect">
            <a:avLst/>
          </a:prstGeom>
        </p:spPr>
        <p:txBody>
          <a:bodyPr wrap="square">
            <a:spAutoFit/>
          </a:bodyPr>
          <a:lstStyle/>
          <a:p>
            <a:pPr>
              <a:lnSpc>
                <a:spcPct val="130000"/>
              </a:lnSpc>
              <a:spcBef>
                <a:spcPts val="600"/>
              </a:spcBef>
            </a:pPr>
            <a:r>
              <a:rPr lang="en-US" altLang="zh-CN" sz="1400" dirty="0" smtClean="0">
                <a:solidFill>
                  <a:schemeClr val="tx1">
                    <a:lumMod val="85000"/>
                    <a:lumOff val="15000"/>
                  </a:schemeClr>
                </a:solidFill>
              </a:rPr>
              <a:t>User Privacy</a:t>
            </a:r>
            <a:endParaRPr lang="en-US" altLang="zh-CN" sz="1400" dirty="0">
              <a:solidFill>
                <a:schemeClr val="tx1">
                  <a:lumMod val="85000"/>
                  <a:lumOff val="15000"/>
                </a:schemeClr>
              </a:solidFill>
            </a:endParaRPr>
          </a:p>
        </p:txBody>
      </p:sp>
      <p:grpSp>
        <p:nvGrpSpPr>
          <p:cNvPr id="15" name="组合 14">
            <a:extLst>
              <a:ext uri="{FF2B5EF4-FFF2-40B4-BE49-F238E27FC236}">
                <a16:creationId xmlns="" xmlns:a16="http://schemas.microsoft.com/office/drawing/2014/main" id="{8AA21313-A925-4B7F-B556-8FB7A8A7EA46}"/>
              </a:ext>
            </a:extLst>
          </p:cNvPr>
          <p:cNvGrpSpPr/>
          <p:nvPr/>
        </p:nvGrpSpPr>
        <p:grpSpPr>
          <a:xfrm>
            <a:off x="609421" y="3858897"/>
            <a:ext cx="352425" cy="354012"/>
            <a:chOff x="5478463" y="2630488"/>
            <a:chExt cx="352425" cy="354012"/>
          </a:xfrm>
        </p:grpSpPr>
        <p:sp>
          <p:nvSpPr>
            <p:cNvPr id="16" name="AutoShape 37">
              <a:extLst>
                <a:ext uri="{FF2B5EF4-FFF2-40B4-BE49-F238E27FC236}">
                  <a16:creationId xmlns="" xmlns:a16="http://schemas.microsoft.com/office/drawing/2014/main" id="{90DC2582-9CA2-4589-AC65-AA61516FE008}"/>
                </a:ext>
              </a:extLst>
            </p:cNvPr>
            <p:cNvSpPr>
              <a:spLocks/>
            </p:cNvSpPr>
            <p:nvPr/>
          </p:nvSpPr>
          <p:spPr bwMode="auto">
            <a:xfrm>
              <a:off x="5478463" y="2663825"/>
              <a:ext cx="320675" cy="320675"/>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17" name="AutoShape 38">
              <a:extLst>
                <a:ext uri="{FF2B5EF4-FFF2-40B4-BE49-F238E27FC236}">
                  <a16:creationId xmlns="" xmlns:a16="http://schemas.microsoft.com/office/drawing/2014/main" id="{4548D2E2-6A51-491D-A1DC-72C20B5A5E94}"/>
                </a:ext>
              </a:extLst>
            </p:cNvPr>
            <p:cNvSpPr>
              <a:spLocks/>
            </p:cNvSpPr>
            <p:nvPr/>
          </p:nvSpPr>
          <p:spPr bwMode="auto">
            <a:xfrm>
              <a:off x="5632450" y="2808288"/>
              <a:ext cx="53975" cy="539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18" name="AutoShape 39">
              <a:extLst>
                <a:ext uri="{FF2B5EF4-FFF2-40B4-BE49-F238E27FC236}">
                  <a16:creationId xmlns="" xmlns:a16="http://schemas.microsoft.com/office/drawing/2014/main" id="{D168534D-AF8B-4165-B659-91122FCFCE82}"/>
                </a:ext>
              </a:extLst>
            </p:cNvPr>
            <p:cNvSpPr>
              <a:spLocks/>
            </p:cNvSpPr>
            <p:nvPr/>
          </p:nvSpPr>
          <p:spPr bwMode="auto">
            <a:xfrm>
              <a:off x="5775325" y="2630488"/>
              <a:ext cx="55563"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19" name="AutoShape 40">
              <a:extLst>
                <a:ext uri="{FF2B5EF4-FFF2-40B4-BE49-F238E27FC236}">
                  <a16:creationId xmlns="" xmlns:a16="http://schemas.microsoft.com/office/drawing/2014/main" id="{568D3028-93C0-4884-86E6-6741448EE783}"/>
                </a:ext>
              </a:extLst>
            </p:cNvPr>
            <p:cNvSpPr>
              <a:spLocks/>
            </p:cNvSpPr>
            <p:nvPr/>
          </p:nvSpPr>
          <p:spPr bwMode="auto">
            <a:xfrm>
              <a:off x="5565775" y="2797175"/>
              <a:ext cx="44450"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20" name="AutoShape 41">
              <a:extLst>
                <a:ext uri="{FF2B5EF4-FFF2-40B4-BE49-F238E27FC236}">
                  <a16:creationId xmlns="" xmlns:a16="http://schemas.microsoft.com/office/drawing/2014/main" id="{9E04ABE0-3D2C-4993-81B4-8517C7757810}"/>
                </a:ext>
              </a:extLst>
            </p:cNvPr>
            <p:cNvSpPr>
              <a:spLocks/>
            </p:cNvSpPr>
            <p:nvPr/>
          </p:nvSpPr>
          <p:spPr bwMode="auto">
            <a:xfrm>
              <a:off x="5610225" y="2873375"/>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21" name="AutoShape 42">
              <a:extLst>
                <a:ext uri="{FF2B5EF4-FFF2-40B4-BE49-F238E27FC236}">
                  <a16:creationId xmlns="" xmlns:a16="http://schemas.microsoft.com/office/drawing/2014/main" id="{BE0171F6-B5CA-405D-856B-F1792EFD7360}"/>
                </a:ext>
              </a:extLst>
            </p:cNvPr>
            <p:cNvSpPr>
              <a:spLocks/>
            </p:cNvSpPr>
            <p:nvPr/>
          </p:nvSpPr>
          <p:spPr bwMode="auto">
            <a:xfrm>
              <a:off x="5786438" y="2708275"/>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grpSp>
      <p:grpSp>
        <p:nvGrpSpPr>
          <p:cNvPr id="22" name="组合 21">
            <a:extLst>
              <a:ext uri="{FF2B5EF4-FFF2-40B4-BE49-F238E27FC236}">
                <a16:creationId xmlns="" xmlns:a16="http://schemas.microsoft.com/office/drawing/2014/main" id="{98DDF874-B6D1-40B8-A5E4-3C20E4EB3E4B}"/>
              </a:ext>
            </a:extLst>
          </p:cNvPr>
          <p:cNvGrpSpPr/>
          <p:nvPr/>
        </p:nvGrpSpPr>
        <p:grpSpPr>
          <a:xfrm>
            <a:off x="642570" y="2774455"/>
            <a:ext cx="353134" cy="353134"/>
            <a:chOff x="2473104" y="2145028"/>
            <a:chExt cx="359165" cy="359165"/>
          </a:xfrm>
          <a:solidFill>
            <a:sysClr val="window" lastClr="FFFFFF"/>
          </a:solidFill>
        </p:grpSpPr>
        <p:sp>
          <p:nvSpPr>
            <p:cNvPr id="23" name="AutoShape 126">
              <a:extLst>
                <a:ext uri="{FF2B5EF4-FFF2-40B4-BE49-F238E27FC236}">
                  <a16:creationId xmlns="" xmlns:a16="http://schemas.microsoft.com/office/drawing/2014/main" id="{71F646CD-26AC-4D3A-B93A-02FF060A0AC8}"/>
                </a:ext>
              </a:extLst>
            </p:cNvPr>
            <p:cNvSpPr>
              <a:spLocks/>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24" name="AutoShape 127">
              <a:extLst>
                <a:ext uri="{FF2B5EF4-FFF2-40B4-BE49-F238E27FC236}">
                  <a16:creationId xmlns="" xmlns:a16="http://schemas.microsoft.com/office/drawing/2014/main" id="{BFE64607-A965-47A3-89DF-E49FCB736D25}"/>
                </a:ext>
              </a:extLst>
            </p:cNvPr>
            <p:cNvSpPr>
              <a:spLocks/>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grpSp>
      <p:pic>
        <p:nvPicPr>
          <p:cNvPr id="2" name="圖片 1"/>
          <p:cNvPicPr>
            <a:picLocks noChangeAspect="1"/>
          </p:cNvPicPr>
          <p:nvPr/>
        </p:nvPicPr>
        <p:blipFill rotWithShape="1">
          <a:blip r:embed="rId3"/>
          <a:srcRect l="20469" t="2822" r="22896"/>
          <a:stretch/>
        </p:blipFill>
        <p:spPr>
          <a:xfrm>
            <a:off x="5954857" y="1385492"/>
            <a:ext cx="2434442" cy="3213401"/>
          </a:xfrm>
          <a:prstGeom prst="rect">
            <a:avLst/>
          </a:prstGeom>
        </p:spPr>
      </p:pic>
      <p:pic>
        <p:nvPicPr>
          <p:cNvPr id="25" name="图片 24">
            <a:extLst>
              <a:ext uri="{FF2B5EF4-FFF2-40B4-BE49-F238E27FC236}">
                <a16:creationId xmlns="" xmlns:a16="http://schemas.microsoft.com/office/drawing/2014/main" id="{73D54D65-F68A-4145-AAEA-8CD320E0F3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19615" y="991021"/>
            <a:ext cx="2789695" cy="3920002"/>
          </a:xfrm>
          <a:prstGeom prst="rect">
            <a:avLst/>
          </a:prstGeom>
        </p:spPr>
      </p:pic>
    </p:spTree>
    <p:extLst>
      <p:ext uri="{BB962C8B-B14F-4D97-AF65-F5344CB8AC3E}">
        <p14:creationId xmlns:p14="http://schemas.microsoft.com/office/powerpoint/2010/main" val="13084091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 xmlns:a16="http://schemas.microsoft.com/office/drawing/2014/main" id="{27845620-1BD2-4CB4-A849-1D6F71C83D3D}"/>
              </a:ext>
            </a:extLst>
          </p:cNvPr>
          <p:cNvSpPr/>
          <p:nvPr/>
        </p:nvSpPr>
        <p:spPr>
          <a:xfrm>
            <a:off x="508307" y="543198"/>
            <a:ext cx="8046720" cy="4098798"/>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 xmlns:a16="http://schemas.microsoft.com/office/drawing/2014/main" id="{256BF839-5984-4814-99D1-E3F91C6B186D}"/>
              </a:ext>
            </a:extLst>
          </p:cNvPr>
          <p:cNvSpPr/>
          <p:nvPr/>
        </p:nvSpPr>
        <p:spPr>
          <a:xfrm>
            <a:off x="821338" y="756954"/>
            <a:ext cx="2685992" cy="646331"/>
          </a:xfrm>
          <a:prstGeom prst="rect">
            <a:avLst/>
          </a:prstGeom>
        </p:spPr>
        <p:txBody>
          <a:bodyPr wrap="none">
            <a:spAutoFit/>
          </a:bodyPr>
          <a:lstStyle/>
          <a:p>
            <a:pPr>
              <a:spcAft>
                <a:spcPts val="0"/>
              </a:spcAft>
            </a:pPr>
            <a:r>
              <a:rPr lang="en-US" altLang="zh-TW" sz="3600" b="1" dirty="0" smtClean="0"/>
              <a:t>Game</a:t>
            </a:r>
            <a:r>
              <a:rPr lang="zh-TW" altLang="en-US" sz="3600" b="1" dirty="0" smtClean="0"/>
              <a:t> </a:t>
            </a:r>
            <a:r>
              <a:rPr lang="en-US" altLang="zh-TW" sz="3600" b="1" dirty="0"/>
              <a:t>T</a:t>
            </a:r>
            <a:r>
              <a:rPr lang="en-US" altLang="zh-TW" sz="3600" b="1" dirty="0" smtClean="0"/>
              <a:t>heory</a:t>
            </a:r>
            <a:endParaRPr lang="zh-CN" altLang="en-US" sz="3600" b="1" kern="100" dirty="0">
              <a:solidFill>
                <a:schemeClr val="accent1"/>
              </a:solidFill>
              <a:latin typeface="+mn-ea"/>
              <a:cs typeface="Times New Roman" panose="02020603050405020304" pitchFamily="18" charset="0"/>
            </a:endParaRPr>
          </a:p>
        </p:txBody>
      </p:sp>
      <p:sp>
        <p:nvSpPr>
          <p:cNvPr id="30" name="矩形 29">
            <a:extLst>
              <a:ext uri="{FF2B5EF4-FFF2-40B4-BE49-F238E27FC236}">
                <a16:creationId xmlns="" xmlns:a16="http://schemas.microsoft.com/office/drawing/2014/main" id="{108EDB90-29AC-41EE-8404-B98F5C9941E8}"/>
              </a:ext>
            </a:extLst>
          </p:cNvPr>
          <p:cNvSpPr/>
          <p:nvPr/>
        </p:nvSpPr>
        <p:spPr>
          <a:xfrm>
            <a:off x="944892" y="1524739"/>
            <a:ext cx="5747664" cy="461665"/>
          </a:xfrm>
          <a:prstGeom prst="rect">
            <a:avLst/>
          </a:prstGeom>
        </p:spPr>
        <p:txBody>
          <a:bodyPr wrap="none">
            <a:spAutoFit/>
          </a:bodyPr>
          <a:lstStyle/>
          <a:p>
            <a:pPr>
              <a:spcAft>
                <a:spcPts val="0"/>
              </a:spcAft>
            </a:pPr>
            <a:r>
              <a:rPr lang="en-US" altLang="zh-CN" sz="2400" kern="100" dirty="0">
                <a:solidFill>
                  <a:schemeClr val="accent1"/>
                </a:solidFill>
                <a:latin typeface="+mj-lt"/>
                <a:cs typeface="Times New Roman" panose="02020603050405020304" pitchFamily="18" charset="0"/>
              </a:rPr>
              <a:t>MCS </a:t>
            </a:r>
            <a:r>
              <a:rPr lang="en-US" altLang="zh-CN" sz="2400" kern="100" dirty="0" smtClean="0">
                <a:solidFill>
                  <a:schemeClr val="accent1"/>
                </a:solidFill>
                <a:latin typeface="+mj-lt"/>
                <a:cs typeface="Times New Roman" panose="02020603050405020304" pitchFamily="18" charset="0"/>
              </a:rPr>
              <a:t>Server   V</a:t>
            </a:r>
            <a:r>
              <a:rPr lang="en-US" altLang="zh-CN" sz="2400" kern="100" dirty="0" smtClean="0">
                <a:solidFill>
                  <a:schemeClr val="accent1"/>
                </a:solidFill>
                <a:latin typeface="+mj-lt"/>
                <a:cs typeface="Times New Roman" panose="02020603050405020304" pitchFamily="18" charset="0"/>
              </a:rPr>
              <a:t>.S</a:t>
            </a:r>
            <a:r>
              <a:rPr lang="en-US" altLang="zh-CN" sz="2400" kern="100" dirty="0" smtClean="0">
                <a:solidFill>
                  <a:schemeClr val="accent1"/>
                </a:solidFill>
                <a:latin typeface="+mj-lt"/>
                <a:cs typeface="Times New Roman" panose="02020603050405020304" pitchFamily="18" charset="0"/>
              </a:rPr>
              <a:t>.  Self-interested users </a:t>
            </a:r>
            <a:endParaRPr lang="en-US" altLang="zh-CN" sz="2400" kern="100" dirty="0">
              <a:solidFill>
                <a:schemeClr val="accent1"/>
              </a:solidFill>
              <a:latin typeface="+mj-lt"/>
              <a:cs typeface="Times New Roman" panose="02020603050405020304" pitchFamily="18" charset="0"/>
            </a:endParaRPr>
          </a:p>
        </p:txBody>
      </p:sp>
      <p:sp>
        <p:nvSpPr>
          <p:cNvPr id="2" name="文字方塊 1"/>
          <p:cNvSpPr txBox="1"/>
          <p:nvPr/>
        </p:nvSpPr>
        <p:spPr>
          <a:xfrm>
            <a:off x="944892" y="2450463"/>
            <a:ext cx="4589009" cy="369332"/>
          </a:xfrm>
          <a:prstGeom prst="rect">
            <a:avLst/>
          </a:prstGeom>
          <a:noFill/>
        </p:spPr>
        <p:txBody>
          <a:bodyPr wrap="square" rtlCol="0">
            <a:spAutoFit/>
          </a:bodyPr>
          <a:lstStyle/>
          <a:p>
            <a:r>
              <a:rPr lang="en-US" altLang="zh-TW" dirty="0" smtClean="0"/>
              <a:t>Based on </a:t>
            </a:r>
            <a:r>
              <a:rPr lang="en-US" altLang="zh-TW" b="1" dirty="0" err="1" smtClean="0"/>
              <a:t>Stackelberg</a:t>
            </a:r>
            <a:r>
              <a:rPr lang="en-US" altLang="zh-TW" b="1" dirty="0" smtClean="0"/>
              <a:t> model</a:t>
            </a:r>
            <a:endParaRPr lang="zh-TW" altLang="en-US" dirty="0"/>
          </a:p>
        </p:txBody>
      </p:sp>
    </p:spTree>
    <p:extLst>
      <p:ext uri="{BB962C8B-B14F-4D97-AF65-F5344CB8AC3E}">
        <p14:creationId xmlns:p14="http://schemas.microsoft.com/office/powerpoint/2010/main" val="25689973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B1EF227F-F971-46C4-8C83-D820A502B67B}"/>
              </a:ext>
            </a:extLst>
          </p:cNvPr>
          <p:cNvSpPr/>
          <p:nvPr/>
        </p:nvSpPr>
        <p:spPr>
          <a:xfrm>
            <a:off x="388823" y="375240"/>
            <a:ext cx="3986028" cy="400110"/>
          </a:xfrm>
          <a:prstGeom prst="rect">
            <a:avLst/>
          </a:prstGeom>
        </p:spPr>
        <p:txBody>
          <a:bodyPr wrap="none">
            <a:spAutoFit/>
          </a:bodyPr>
          <a:lstStyle/>
          <a:p>
            <a:pPr>
              <a:spcAft>
                <a:spcPts val="0"/>
              </a:spcAft>
            </a:pPr>
            <a:r>
              <a:rPr lang="en-US" altLang="zh-CN" sz="2000" b="1" kern="100" dirty="0" smtClean="0">
                <a:solidFill>
                  <a:schemeClr val="accent1"/>
                </a:solidFill>
                <a:latin typeface="+mn-ea"/>
                <a:cs typeface="Times New Roman" panose="02020603050405020304" pitchFamily="18" charset="0"/>
              </a:rPr>
              <a:t>Mobile </a:t>
            </a:r>
            <a:r>
              <a:rPr lang="en-US" altLang="zh-CN" sz="2000" b="1" kern="100" dirty="0" err="1" smtClean="0">
                <a:solidFill>
                  <a:schemeClr val="accent1"/>
                </a:solidFill>
                <a:latin typeface="+mn-ea"/>
                <a:cs typeface="Times New Roman" panose="02020603050405020304" pitchFamily="18" charset="0"/>
              </a:rPr>
              <a:t>Crowdsensing</a:t>
            </a:r>
            <a:r>
              <a:rPr lang="en-US" altLang="zh-CN" sz="2000" b="1" kern="100" dirty="0" smtClean="0">
                <a:solidFill>
                  <a:schemeClr val="accent1"/>
                </a:solidFill>
                <a:latin typeface="+mn-ea"/>
                <a:cs typeface="Times New Roman" panose="02020603050405020304" pitchFamily="18" charset="0"/>
              </a:rPr>
              <a:t> System</a:t>
            </a:r>
            <a:endParaRPr lang="zh-CN" altLang="en-US" sz="2000" b="1" kern="100" dirty="0">
              <a:solidFill>
                <a:schemeClr val="accent1"/>
              </a:solidFill>
              <a:latin typeface="+mn-ea"/>
              <a:cs typeface="Times New Roman" panose="02020603050405020304" pitchFamily="18" charset="0"/>
            </a:endParaRPr>
          </a:p>
        </p:txBody>
      </p:sp>
      <p:pic>
        <p:nvPicPr>
          <p:cNvPr id="2" name="圖片 1"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625" y="1246909"/>
            <a:ext cx="7048452" cy="3229957"/>
          </a:xfrm>
          <a:prstGeom prst="rect">
            <a:avLst/>
          </a:prstGeom>
        </p:spPr>
      </p:pic>
    </p:spTree>
    <p:extLst>
      <p:ext uri="{BB962C8B-B14F-4D97-AF65-F5344CB8AC3E}">
        <p14:creationId xmlns:p14="http://schemas.microsoft.com/office/powerpoint/2010/main" val="12212179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593766" y="1258784"/>
            <a:ext cx="7635834" cy="646331"/>
          </a:xfrm>
          <a:prstGeom prst="rect">
            <a:avLst/>
          </a:prstGeom>
          <a:noFill/>
        </p:spPr>
        <p:txBody>
          <a:bodyPr wrap="square" rtlCol="0">
            <a:spAutoFit/>
          </a:bodyPr>
          <a:lstStyle/>
          <a:p>
            <a:r>
              <a:rPr lang="en-US" altLang="zh-TW" smtClean="0"/>
              <a:t>In general, a higher payment stimulates more smartphone users to contribute to the mobile crowdsensing application and suppresses faked sensing attacks.</a:t>
            </a:r>
            <a:endParaRPr lang="zh-TW" altLang="en-US" dirty="0"/>
          </a:p>
        </p:txBody>
      </p:sp>
      <p:sp>
        <p:nvSpPr>
          <p:cNvPr id="5" name="文字方塊 4"/>
          <p:cNvSpPr txBox="1"/>
          <p:nvPr/>
        </p:nvSpPr>
        <p:spPr>
          <a:xfrm>
            <a:off x="593766" y="2683824"/>
            <a:ext cx="7635834" cy="646331"/>
          </a:xfrm>
          <a:prstGeom prst="rect">
            <a:avLst/>
          </a:prstGeom>
          <a:noFill/>
        </p:spPr>
        <p:txBody>
          <a:bodyPr wrap="square" rtlCol="0">
            <a:spAutoFit/>
          </a:bodyPr>
          <a:lstStyle/>
          <a:p>
            <a:r>
              <a:rPr lang="en-US" altLang="zh-TW" dirty="0"/>
              <a:t>However, the over-payment leads to over-sensing and sometimes results in network congestion, thus decreasing the utility of the server. </a:t>
            </a:r>
            <a:endParaRPr lang="zh-TW" altLang="en-US" dirty="0"/>
          </a:p>
        </p:txBody>
      </p:sp>
      <p:sp>
        <p:nvSpPr>
          <p:cNvPr id="6" name="向下箭號 5"/>
          <p:cNvSpPr/>
          <p:nvPr/>
        </p:nvSpPr>
        <p:spPr>
          <a:xfrm>
            <a:off x="4132613" y="2045087"/>
            <a:ext cx="368135" cy="498764"/>
          </a:xfrm>
          <a:prstGeom prst="down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TW" altLang="en-US"/>
          </a:p>
        </p:txBody>
      </p:sp>
      <p:sp>
        <p:nvSpPr>
          <p:cNvPr id="7" name="文字方塊 6"/>
          <p:cNvSpPr txBox="1"/>
          <p:nvPr/>
        </p:nvSpPr>
        <p:spPr>
          <a:xfrm>
            <a:off x="593766" y="498764"/>
            <a:ext cx="2826328" cy="523220"/>
          </a:xfrm>
          <a:prstGeom prst="rect">
            <a:avLst/>
          </a:prstGeom>
          <a:noFill/>
        </p:spPr>
        <p:txBody>
          <a:bodyPr wrap="square" rtlCol="0">
            <a:spAutoFit/>
          </a:bodyPr>
          <a:lstStyle/>
          <a:p>
            <a:r>
              <a:rPr lang="en-US" altLang="zh-TW" sz="2800" b="1" dirty="0" smtClean="0"/>
              <a:t>Basic Concept</a:t>
            </a:r>
            <a:endParaRPr lang="zh-TW" altLang="en-US" sz="2800" b="1" dirty="0"/>
          </a:p>
        </p:txBody>
      </p:sp>
    </p:spTree>
    <p:extLst>
      <p:ext uri="{BB962C8B-B14F-4D97-AF65-F5344CB8AC3E}">
        <p14:creationId xmlns:p14="http://schemas.microsoft.com/office/powerpoint/2010/main" val="42056126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 xmlns:a16="http://schemas.microsoft.com/office/drawing/2014/main" id="{27845620-1BD2-4CB4-A849-1D6F71C83D3D}"/>
              </a:ext>
            </a:extLst>
          </p:cNvPr>
          <p:cNvSpPr/>
          <p:nvPr/>
        </p:nvSpPr>
        <p:spPr>
          <a:xfrm>
            <a:off x="818267" y="540904"/>
            <a:ext cx="8046720" cy="4098798"/>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 xmlns:a16="http://schemas.microsoft.com/office/drawing/2014/main" id="{84E5A175-3149-405F-9145-7535715A381B}"/>
              </a:ext>
            </a:extLst>
          </p:cNvPr>
          <p:cNvSpPr/>
          <p:nvPr/>
        </p:nvSpPr>
        <p:spPr>
          <a:xfrm>
            <a:off x="1059299" y="1588576"/>
            <a:ext cx="1796181" cy="1796181"/>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3" name="矩形 22">
            <a:extLst>
              <a:ext uri="{FF2B5EF4-FFF2-40B4-BE49-F238E27FC236}">
                <a16:creationId xmlns="" xmlns:a16="http://schemas.microsoft.com/office/drawing/2014/main" id="{256BF839-5984-4814-99D1-E3F91C6B186D}"/>
              </a:ext>
            </a:extLst>
          </p:cNvPr>
          <p:cNvSpPr/>
          <p:nvPr/>
        </p:nvSpPr>
        <p:spPr>
          <a:xfrm>
            <a:off x="3085528" y="1808833"/>
            <a:ext cx="3196388" cy="646331"/>
          </a:xfrm>
          <a:prstGeom prst="rect">
            <a:avLst/>
          </a:prstGeom>
        </p:spPr>
        <p:txBody>
          <a:bodyPr wrap="none">
            <a:spAutoFit/>
          </a:bodyPr>
          <a:lstStyle/>
          <a:p>
            <a:r>
              <a:rPr lang="en-US" altLang="ko-KR" sz="3600" b="1" dirty="0">
                <a:solidFill>
                  <a:schemeClr val="tx1">
                    <a:lumMod val="85000"/>
                    <a:lumOff val="15000"/>
                  </a:schemeClr>
                </a:solidFill>
                <a:cs typeface="Arial" pitchFamily="34" charset="0"/>
              </a:rPr>
              <a:t>SYSTEM MODEL </a:t>
            </a:r>
            <a:endParaRPr lang="ko-KR" altLang="en-US" sz="3600" b="1" dirty="0">
              <a:solidFill>
                <a:schemeClr val="tx1">
                  <a:lumMod val="85000"/>
                  <a:lumOff val="15000"/>
                </a:schemeClr>
              </a:solidFill>
              <a:cs typeface="Arial" pitchFamily="34" charset="0"/>
            </a:endParaRPr>
          </a:p>
        </p:txBody>
      </p:sp>
      <p:grpSp>
        <p:nvGrpSpPr>
          <p:cNvPr id="31" name="Group 13">
            <a:extLst>
              <a:ext uri="{FF2B5EF4-FFF2-40B4-BE49-F238E27FC236}">
                <a16:creationId xmlns="" xmlns:a16="http://schemas.microsoft.com/office/drawing/2014/main" id="{7B266607-1E24-446A-AA08-188900624FAB}"/>
              </a:ext>
            </a:extLst>
          </p:cNvPr>
          <p:cNvGrpSpPr>
            <a:grpSpLocks noChangeAspect="1"/>
          </p:cNvGrpSpPr>
          <p:nvPr/>
        </p:nvGrpSpPr>
        <p:grpSpPr bwMode="auto">
          <a:xfrm>
            <a:off x="3254170" y="2514299"/>
            <a:ext cx="246137" cy="245552"/>
            <a:chOff x="3665" y="2074"/>
            <a:chExt cx="421" cy="420"/>
          </a:xfrm>
          <a:solidFill>
            <a:schemeClr val="accent1"/>
          </a:solidFill>
        </p:grpSpPr>
        <p:sp>
          <p:nvSpPr>
            <p:cNvPr id="32" name="Freeform 14">
              <a:extLst>
                <a:ext uri="{FF2B5EF4-FFF2-40B4-BE49-F238E27FC236}">
                  <a16:creationId xmlns="" xmlns:a16="http://schemas.microsoft.com/office/drawing/2014/main" id="{A141E591-87D0-4A9D-84EA-6C3EEEDD2AC2}"/>
                </a:ext>
              </a:extLst>
            </p:cNvPr>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5">
              <a:extLst>
                <a:ext uri="{FF2B5EF4-FFF2-40B4-BE49-F238E27FC236}">
                  <a16:creationId xmlns="" xmlns:a16="http://schemas.microsoft.com/office/drawing/2014/main" id="{AE3A265A-B4ED-4C0D-8793-0E1E83881147}"/>
                </a:ext>
              </a:extLst>
            </p:cNvPr>
            <p:cNvSpPr>
              <a:spLocks/>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4" name="矩形 33">
            <a:extLst>
              <a:ext uri="{FF2B5EF4-FFF2-40B4-BE49-F238E27FC236}">
                <a16:creationId xmlns="" xmlns:a16="http://schemas.microsoft.com/office/drawing/2014/main" id="{F2B290E5-515A-4DB8-9472-33B1686A97FA}"/>
              </a:ext>
            </a:extLst>
          </p:cNvPr>
          <p:cNvSpPr/>
          <p:nvPr/>
        </p:nvSpPr>
        <p:spPr>
          <a:xfrm>
            <a:off x="3516008" y="2422518"/>
            <a:ext cx="1423531" cy="369332"/>
          </a:xfrm>
          <a:prstGeom prst="rect">
            <a:avLst/>
          </a:prstGeom>
        </p:spPr>
        <p:txBody>
          <a:bodyPr wrap="none">
            <a:spAutoFit/>
          </a:bodyPr>
          <a:lstStyle/>
          <a:p>
            <a:pPr>
              <a:spcAft>
                <a:spcPts val="0"/>
              </a:spcAft>
            </a:pPr>
            <a:r>
              <a:rPr lang="en-US" altLang="zh-CN" kern="100" dirty="0" smtClean="0">
                <a:solidFill>
                  <a:schemeClr val="accent1"/>
                </a:solidFill>
                <a:latin typeface="+mn-ea"/>
                <a:cs typeface="Times New Roman" panose="02020603050405020304" pitchFamily="18" charset="0"/>
              </a:rPr>
              <a:t>Parameters</a:t>
            </a:r>
            <a:endParaRPr lang="zh-CN" altLang="en-US" kern="100" dirty="0">
              <a:solidFill>
                <a:schemeClr val="accent1"/>
              </a:solidFill>
              <a:latin typeface="+mn-ea"/>
              <a:cs typeface="Times New Roman" panose="02020603050405020304" pitchFamily="18" charset="0"/>
            </a:endParaRPr>
          </a:p>
        </p:txBody>
      </p:sp>
      <p:grpSp>
        <p:nvGrpSpPr>
          <p:cNvPr id="35" name="Group 13">
            <a:extLst>
              <a:ext uri="{FF2B5EF4-FFF2-40B4-BE49-F238E27FC236}">
                <a16:creationId xmlns="" xmlns:a16="http://schemas.microsoft.com/office/drawing/2014/main" id="{693906BC-7735-4725-8309-72D620A681DF}"/>
              </a:ext>
            </a:extLst>
          </p:cNvPr>
          <p:cNvGrpSpPr>
            <a:grpSpLocks noChangeAspect="1"/>
          </p:cNvGrpSpPr>
          <p:nvPr/>
        </p:nvGrpSpPr>
        <p:grpSpPr bwMode="auto">
          <a:xfrm>
            <a:off x="3254169" y="3036045"/>
            <a:ext cx="246137" cy="245552"/>
            <a:chOff x="3665" y="2074"/>
            <a:chExt cx="421" cy="420"/>
          </a:xfrm>
          <a:solidFill>
            <a:schemeClr val="accent1"/>
          </a:solidFill>
        </p:grpSpPr>
        <p:sp>
          <p:nvSpPr>
            <p:cNvPr id="36" name="Freeform 14">
              <a:extLst>
                <a:ext uri="{FF2B5EF4-FFF2-40B4-BE49-F238E27FC236}">
                  <a16:creationId xmlns="" xmlns:a16="http://schemas.microsoft.com/office/drawing/2014/main" id="{5A080266-FD71-491A-94E3-45981DDCAB35}"/>
                </a:ext>
              </a:extLst>
            </p:cNvPr>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5">
              <a:extLst>
                <a:ext uri="{FF2B5EF4-FFF2-40B4-BE49-F238E27FC236}">
                  <a16:creationId xmlns="" xmlns:a16="http://schemas.microsoft.com/office/drawing/2014/main" id="{06855B9F-A534-49BD-8C81-1FC504DFE9C7}"/>
                </a:ext>
              </a:extLst>
            </p:cNvPr>
            <p:cNvSpPr>
              <a:spLocks/>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8" name="矩形 37">
            <a:extLst>
              <a:ext uri="{FF2B5EF4-FFF2-40B4-BE49-F238E27FC236}">
                <a16:creationId xmlns="" xmlns:a16="http://schemas.microsoft.com/office/drawing/2014/main" id="{9C36F1F9-0132-4F64-A577-185FEC85B26A}"/>
              </a:ext>
            </a:extLst>
          </p:cNvPr>
          <p:cNvSpPr/>
          <p:nvPr/>
        </p:nvSpPr>
        <p:spPr>
          <a:xfrm>
            <a:off x="3555263" y="3025023"/>
            <a:ext cx="1494255" cy="369332"/>
          </a:xfrm>
          <a:prstGeom prst="rect">
            <a:avLst/>
          </a:prstGeom>
        </p:spPr>
        <p:txBody>
          <a:bodyPr wrap="none">
            <a:spAutoFit/>
          </a:bodyPr>
          <a:lstStyle/>
          <a:p>
            <a:pPr>
              <a:spcAft>
                <a:spcPts val="0"/>
              </a:spcAft>
            </a:pPr>
            <a:r>
              <a:rPr lang="en-US" altLang="zh-CN" kern="100" dirty="0" smtClean="0">
                <a:solidFill>
                  <a:schemeClr val="accent1"/>
                </a:solidFill>
                <a:latin typeface="+mn-ea"/>
                <a:cs typeface="Times New Roman" panose="02020603050405020304" pitchFamily="18" charset="0"/>
              </a:rPr>
              <a:t>DQN-based</a:t>
            </a:r>
            <a:endParaRPr lang="en-US" altLang="zh-CN" kern="100" dirty="0">
              <a:solidFill>
                <a:schemeClr val="accent1"/>
              </a:solidFill>
              <a:latin typeface="+mn-ea"/>
              <a:cs typeface="Times New Roman" panose="02020603050405020304" pitchFamily="18" charset="0"/>
            </a:endParaRPr>
          </a:p>
        </p:txBody>
      </p:sp>
      <p:grpSp>
        <p:nvGrpSpPr>
          <p:cNvPr id="14" name="组合 13">
            <a:extLst>
              <a:ext uri="{FF2B5EF4-FFF2-40B4-BE49-F238E27FC236}">
                <a16:creationId xmlns="" xmlns:a16="http://schemas.microsoft.com/office/drawing/2014/main" id="{4CB2E6AC-6FF4-4346-BF16-1B8A8397BE74}"/>
              </a:ext>
            </a:extLst>
          </p:cNvPr>
          <p:cNvGrpSpPr/>
          <p:nvPr/>
        </p:nvGrpSpPr>
        <p:grpSpPr>
          <a:xfrm>
            <a:off x="1548407" y="2075842"/>
            <a:ext cx="817965" cy="821648"/>
            <a:chOff x="5478463" y="2630488"/>
            <a:chExt cx="352425" cy="354012"/>
          </a:xfrm>
        </p:grpSpPr>
        <p:sp>
          <p:nvSpPr>
            <p:cNvPr id="16" name="AutoShape 37">
              <a:extLst>
                <a:ext uri="{FF2B5EF4-FFF2-40B4-BE49-F238E27FC236}">
                  <a16:creationId xmlns="" xmlns:a16="http://schemas.microsoft.com/office/drawing/2014/main" id="{BEF2943C-F723-43ED-953B-E9EA2D3D9CD5}"/>
                </a:ext>
              </a:extLst>
            </p:cNvPr>
            <p:cNvSpPr>
              <a:spLocks/>
            </p:cNvSpPr>
            <p:nvPr/>
          </p:nvSpPr>
          <p:spPr bwMode="auto">
            <a:xfrm>
              <a:off x="5478463" y="2663825"/>
              <a:ext cx="320675" cy="320675"/>
            </a:xfrm>
            <a:custGeom>
              <a:avLst/>
              <a:gdLst>
                <a:gd name="T0" fmla="+- 0 10849 98"/>
                <a:gd name="T1" fmla="*/ T0 w 21502"/>
                <a:gd name="T2" fmla="*/ 10800 h 21600"/>
                <a:gd name="T3" fmla="+- 0 10849 98"/>
                <a:gd name="T4" fmla="*/ T3 w 21502"/>
                <a:gd name="T5" fmla="*/ 10800 h 21600"/>
                <a:gd name="T6" fmla="+- 0 10849 98"/>
                <a:gd name="T7" fmla="*/ T6 w 21502"/>
                <a:gd name="T8" fmla="*/ 10800 h 21600"/>
                <a:gd name="T9" fmla="+- 0 10849 98"/>
                <a:gd name="T10" fmla="*/ T9 w 21502"/>
                <a:gd name="T11" fmla="*/ 10800 h 21600"/>
              </a:gdLst>
              <a:ahLst/>
              <a:cxnLst>
                <a:cxn ang="0">
                  <a:pos x="T1" y="T2"/>
                </a:cxn>
                <a:cxn ang="0">
                  <a:pos x="T4" y="T5"/>
                </a:cxn>
                <a:cxn ang="0">
                  <a:pos x="T7" y="T8"/>
                </a:cxn>
                <a:cxn ang="0">
                  <a:pos x="T10" y="T11"/>
                </a:cxn>
              </a:cxnLst>
              <a:rect l="0" t="0" r="r" b="b"/>
              <a:pathLst>
                <a:path w="21502" h="21600">
                  <a:moveTo>
                    <a:pt x="19917" y="7880"/>
                  </a:moveTo>
                  <a:lnTo>
                    <a:pt x="18875" y="8932"/>
                  </a:lnTo>
                  <a:cubicBezTo>
                    <a:pt x="18730" y="9079"/>
                    <a:pt x="18497" y="9079"/>
                    <a:pt x="18353" y="8932"/>
                  </a:cubicBezTo>
                  <a:lnTo>
                    <a:pt x="17048" y="7617"/>
                  </a:lnTo>
                  <a:lnTo>
                    <a:pt x="15991" y="10290"/>
                  </a:lnTo>
                  <a:lnTo>
                    <a:pt x="16080" y="10064"/>
                  </a:lnTo>
                  <a:cubicBezTo>
                    <a:pt x="13859" y="7826"/>
                    <a:pt x="11601" y="7544"/>
                    <a:pt x="9565" y="7291"/>
                  </a:cubicBezTo>
                  <a:cubicBezTo>
                    <a:pt x="8910" y="7210"/>
                    <a:pt x="8276" y="7126"/>
                    <a:pt x="7652" y="6990"/>
                  </a:cubicBezTo>
                  <a:lnTo>
                    <a:pt x="13918" y="4456"/>
                  </a:lnTo>
                  <a:lnTo>
                    <a:pt x="12652" y="3179"/>
                  </a:lnTo>
                  <a:cubicBezTo>
                    <a:pt x="12508" y="3033"/>
                    <a:pt x="12508" y="2798"/>
                    <a:pt x="12652" y="2652"/>
                  </a:cubicBezTo>
                  <a:lnTo>
                    <a:pt x="13695" y="1598"/>
                  </a:lnTo>
                  <a:cubicBezTo>
                    <a:pt x="13840" y="1453"/>
                    <a:pt x="14073" y="1453"/>
                    <a:pt x="14217" y="1598"/>
                  </a:cubicBezTo>
                  <a:lnTo>
                    <a:pt x="19917" y="7353"/>
                  </a:lnTo>
                  <a:cubicBezTo>
                    <a:pt x="20062" y="7499"/>
                    <a:pt x="20062" y="7734"/>
                    <a:pt x="19917" y="7880"/>
                  </a:cubicBezTo>
                  <a:moveTo>
                    <a:pt x="12292" y="19639"/>
                  </a:moveTo>
                  <a:cubicBezTo>
                    <a:pt x="12200" y="19872"/>
                    <a:pt x="11999" y="20044"/>
                    <a:pt x="11756" y="20095"/>
                  </a:cubicBezTo>
                  <a:cubicBezTo>
                    <a:pt x="11700" y="20106"/>
                    <a:pt x="11643" y="20111"/>
                    <a:pt x="11587" y="20110"/>
                  </a:cubicBezTo>
                  <a:cubicBezTo>
                    <a:pt x="11400" y="20105"/>
                    <a:pt x="11219" y="20030"/>
                    <a:pt x="11084" y="19892"/>
                  </a:cubicBezTo>
                  <a:lnTo>
                    <a:pt x="1692" y="10517"/>
                  </a:lnTo>
                  <a:cubicBezTo>
                    <a:pt x="1519" y="10343"/>
                    <a:pt x="1443" y="10094"/>
                    <a:pt x="1488" y="9852"/>
                  </a:cubicBezTo>
                  <a:cubicBezTo>
                    <a:pt x="1533" y="9610"/>
                    <a:pt x="1695" y="9407"/>
                    <a:pt x="1917" y="9308"/>
                  </a:cubicBezTo>
                  <a:lnTo>
                    <a:pt x="6505" y="7453"/>
                  </a:lnTo>
                  <a:cubicBezTo>
                    <a:pt x="9597" y="8490"/>
                    <a:pt x="12689" y="7491"/>
                    <a:pt x="15781" y="10821"/>
                  </a:cubicBezTo>
                  <a:cubicBezTo>
                    <a:pt x="15781" y="10821"/>
                    <a:pt x="12292" y="19639"/>
                    <a:pt x="12292" y="19639"/>
                  </a:cubicBezTo>
                  <a:close/>
                  <a:moveTo>
                    <a:pt x="15260" y="545"/>
                  </a:moveTo>
                  <a:cubicBezTo>
                    <a:pt x="14912" y="193"/>
                    <a:pt x="14449" y="0"/>
                    <a:pt x="13956" y="0"/>
                  </a:cubicBezTo>
                  <a:cubicBezTo>
                    <a:pt x="13463" y="0"/>
                    <a:pt x="13000" y="193"/>
                    <a:pt x="12651" y="546"/>
                  </a:cubicBezTo>
                  <a:lnTo>
                    <a:pt x="11610" y="1598"/>
                  </a:lnTo>
                  <a:cubicBezTo>
                    <a:pt x="11261" y="1949"/>
                    <a:pt x="11068" y="2417"/>
                    <a:pt x="11068" y="2915"/>
                  </a:cubicBezTo>
                  <a:cubicBezTo>
                    <a:pt x="11068" y="3265"/>
                    <a:pt x="11164" y="3601"/>
                    <a:pt x="11342" y="3893"/>
                  </a:cubicBezTo>
                  <a:lnTo>
                    <a:pt x="1324" y="7944"/>
                  </a:lnTo>
                  <a:cubicBezTo>
                    <a:pt x="654" y="8241"/>
                    <a:pt x="173" y="8851"/>
                    <a:pt x="38" y="9575"/>
                  </a:cubicBezTo>
                  <a:cubicBezTo>
                    <a:pt x="-98" y="10302"/>
                    <a:pt x="130" y="11048"/>
                    <a:pt x="654" y="11576"/>
                  </a:cubicBezTo>
                  <a:lnTo>
                    <a:pt x="10041" y="20946"/>
                  </a:lnTo>
                  <a:cubicBezTo>
                    <a:pt x="10445" y="21354"/>
                    <a:pt x="10982" y="21586"/>
                    <a:pt x="11549" y="21599"/>
                  </a:cubicBezTo>
                  <a:cubicBezTo>
                    <a:pt x="11562" y="21599"/>
                    <a:pt x="11593" y="21599"/>
                    <a:pt x="11605" y="21599"/>
                  </a:cubicBezTo>
                  <a:cubicBezTo>
                    <a:pt x="11754" y="21599"/>
                    <a:pt x="11906" y="21584"/>
                    <a:pt x="12056" y="21553"/>
                  </a:cubicBezTo>
                  <a:cubicBezTo>
                    <a:pt x="12789" y="21399"/>
                    <a:pt x="13390" y="20888"/>
                    <a:pt x="13662" y="20191"/>
                  </a:cubicBezTo>
                  <a:lnTo>
                    <a:pt x="17604" y="10229"/>
                  </a:lnTo>
                  <a:cubicBezTo>
                    <a:pt x="17902" y="10426"/>
                    <a:pt x="18250" y="10532"/>
                    <a:pt x="18613" y="10532"/>
                  </a:cubicBezTo>
                  <a:cubicBezTo>
                    <a:pt x="19107" y="10532"/>
                    <a:pt x="19570" y="10338"/>
                    <a:pt x="19918" y="9986"/>
                  </a:cubicBezTo>
                  <a:lnTo>
                    <a:pt x="20957" y="8937"/>
                  </a:lnTo>
                  <a:cubicBezTo>
                    <a:pt x="21308" y="8585"/>
                    <a:pt x="21502" y="8116"/>
                    <a:pt x="21502" y="7617"/>
                  </a:cubicBezTo>
                  <a:cubicBezTo>
                    <a:pt x="21502" y="7117"/>
                    <a:pt x="21308" y="6648"/>
                    <a:pt x="20961" y="6300"/>
                  </a:cubicBezTo>
                  <a:cubicBezTo>
                    <a:pt x="20961" y="6300"/>
                    <a:pt x="15260" y="545"/>
                    <a:pt x="15260" y="545"/>
                  </a:cubicBezTo>
                  <a:close/>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17" name="AutoShape 38">
              <a:extLst>
                <a:ext uri="{FF2B5EF4-FFF2-40B4-BE49-F238E27FC236}">
                  <a16:creationId xmlns="" xmlns:a16="http://schemas.microsoft.com/office/drawing/2014/main" id="{B140BC38-64A4-40FE-ABDB-5A79EE08BADE}"/>
                </a:ext>
              </a:extLst>
            </p:cNvPr>
            <p:cNvSpPr>
              <a:spLocks/>
            </p:cNvSpPr>
            <p:nvPr/>
          </p:nvSpPr>
          <p:spPr bwMode="auto">
            <a:xfrm>
              <a:off x="5632450" y="2808288"/>
              <a:ext cx="53975" cy="5397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4320"/>
                  </a:moveTo>
                  <a:cubicBezTo>
                    <a:pt x="14381" y="4320"/>
                    <a:pt x="17279" y="7222"/>
                    <a:pt x="17279" y="10800"/>
                  </a:cubicBezTo>
                  <a:cubicBezTo>
                    <a:pt x="17279" y="14377"/>
                    <a:pt x="14381" y="17279"/>
                    <a:pt x="10800" y="17279"/>
                  </a:cubicBezTo>
                  <a:cubicBezTo>
                    <a:pt x="7218" y="17279"/>
                    <a:pt x="4319" y="14377"/>
                    <a:pt x="4319" y="10800"/>
                  </a:cubicBezTo>
                  <a:cubicBezTo>
                    <a:pt x="4319" y="7222"/>
                    <a:pt x="7218" y="4320"/>
                    <a:pt x="10800" y="4320"/>
                  </a:cubicBezTo>
                  <a:moveTo>
                    <a:pt x="10800" y="21599"/>
                  </a:moveTo>
                  <a:cubicBezTo>
                    <a:pt x="16752" y="21599"/>
                    <a:pt x="21600" y="16756"/>
                    <a:pt x="21600" y="10800"/>
                  </a:cubicBezTo>
                  <a:cubicBezTo>
                    <a:pt x="21600" y="4843"/>
                    <a:pt x="16752" y="0"/>
                    <a:pt x="10800" y="0"/>
                  </a:cubicBezTo>
                  <a:cubicBezTo>
                    <a:pt x="4847" y="0"/>
                    <a:pt x="0" y="4843"/>
                    <a:pt x="0" y="10800"/>
                  </a:cubicBezTo>
                  <a:cubicBezTo>
                    <a:pt x="0" y="16756"/>
                    <a:pt x="4847" y="21599"/>
                    <a:pt x="10800" y="21599"/>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18" name="AutoShape 39">
              <a:extLst>
                <a:ext uri="{FF2B5EF4-FFF2-40B4-BE49-F238E27FC236}">
                  <a16:creationId xmlns="" xmlns:a16="http://schemas.microsoft.com/office/drawing/2014/main" id="{5FAA2FD2-DA69-4B62-87A3-7F4E881A3B32}"/>
                </a:ext>
              </a:extLst>
            </p:cNvPr>
            <p:cNvSpPr>
              <a:spLocks/>
            </p:cNvSpPr>
            <p:nvPr/>
          </p:nvSpPr>
          <p:spPr bwMode="auto">
            <a:xfrm>
              <a:off x="5775325" y="2630488"/>
              <a:ext cx="55563" cy="5556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7279"/>
                  </a:moveTo>
                  <a:cubicBezTo>
                    <a:pt x="7218" y="17279"/>
                    <a:pt x="4320" y="14377"/>
                    <a:pt x="4320" y="10800"/>
                  </a:cubicBezTo>
                  <a:cubicBezTo>
                    <a:pt x="4320" y="7222"/>
                    <a:pt x="7218" y="4320"/>
                    <a:pt x="10800" y="4320"/>
                  </a:cubicBezTo>
                  <a:cubicBezTo>
                    <a:pt x="14381" y="4320"/>
                    <a:pt x="17280" y="7222"/>
                    <a:pt x="17280" y="10800"/>
                  </a:cubicBezTo>
                  <a:cubicBezTo>
                    <a:pt x="17280" y="14377"/>
                    <a:pt x="14381" y="17279"/>
                    <a:pt x="10800" y="17279"/>
                  </a:cubicBezTo>
                  <a:moveTo>
                    <a:pt x="10800" y="0"/>
                  </a:moveTo>
                  <a:cubicBezTo>
                    <a:pt x="4847" y="0"/>
                    <a:pt x="0" y="4843"/>
                    <a:pt x="0" y="10800"/>
                  </a:cubicBezTo>
                  <a:cubicBezTo>
                    <a:pt x="0" y="16756"/>
                    <a:pt x="4847" y="21599"/>
                    <a:pt x="10800" y="21599"/>
                  </a:cubicBezTo>
                  <a:cubicBezTo>
                    <a:pt x="16752" y="21599"/>
                    <a:pt x="21600" y="16756"/>
                    <a:pt x="21600" y="10800"/>
                  </a:cubicBezTo>
                  <a:cubicBezTo>
                    <a:pt x="21600" y="4843"/>
                    <a:pt x="16752" y="0"/>
                    <a:pt x="10800" y="0"/>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19" name="AutoShape 40">
              <a:extLst>
                <a:ext uri="{FF2B5EF4-FFF2-40B4-BE49-F238E27FC236}">
                  <a16:creationId xmlns="" xmlns:a16="http://schemas.microsoft.com/office/drawing/2014/main" id="{2C527C80-D330-45B8-83F5-C20387E9514A}"/>
                </a:ext>
              </a:extLst>
            </p:cNvPr>
            <p:cNvSpPr>
              <a:spLocks/>
            </p:cNvSpPr>
            <p:nvPr/>
          </p:nvSpPr>
          <p:spPr bwMode="auto">
            <a:xfrm>
              <a:off x="5565775" y="2797175"/>
              <a:ext cx="44450" cy="444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5400"/>
                  </a:moveTo>
                  <a:cubicBezTo>
                    <a:pt x="13779" y="5400"/>
                    <a:pt x="16199" y="7815"/>
                    <a:pt x="16199" y="10800"/>
                  </a:cubicBezTo>
                  <a:cubicBezTo>
                    <a:pt x="16199" y="13784"/>
                    <a:pt x="13779" y="16200"/>
                    <a:pt x="10800" y="16200"/>
                  </a:cubicBezTo>
                  <a:cubicBezTo>
                    <a:pt x="7820" y="16200"/>
                    <a:pt x="5399" y="13784"/>
                    <a:pt x="5399" y="10800"/>
                  </a:cubicBezTo>
                  <a:cubicBezTo>
                    <a:pt x="5399" y="7815"/>
                    <a:pt x="7820" y="5400"/>
                    <a:pt x="10800" y="5400"/>
                  </a:cubicBezTo>
                  <a:moveTo>
                    <a:pt x="0" y="10800"/>
                  </a:moveTo>
                  <a:cubicBezTo>
                    <a:pt x="0" y="16753"/>
                    <a:pt x="4843" y="21599"/>
                    <a:pt x="10800" y="21599"/>
                  </a:cubicBezTo>
                  <a:cubicBezTo>
                    <a:pt x="16756" y="21599"/>
                    <a:pt x="21600" y="16753"/>
                    <a:pt x="21600" y="10800"/>
                  </a:cubicBezTo>
                  <a:cubicBezTo>
                    <a:pt x="21600" y="4846"/>
                    <a:pt x="16756" y="0"/>
                    <a:pt x="10800" y="0"/>
                  </a:cubicBezTo>
                  <a:cubicBezTo>
                    <a:pt x="4843" y="0"/>
                    <a:pt x="0" y="4846"/>
                    <a:pt x="0" y="10800"/>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20" name="AutoShape 41">
              <a:extLst>
                <a:ext uri="{FF2B5EF4-FFF2-40B4-BE49-F238E27FC236}">
                  <a16:creationId xmlns="" xmlns:a16="http://schemas.microsoft.com/office/drawing/2014/main" id="{4BAD4E87-877A-445E-9151-0AE7681EF557}"/>
                </a:ext>
              </a:extLst>
            </p:cNvPr>
            <p:cNvSpPr>
              <a:spLocks/>
            </p:cNvSpPr>
            <p:nvPr/>
          </p:nvSpPr>
          <p:spPr bwMode="auto">
            <a:xfrm>
              <a:off x="5610225" y="2873375"/>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58" y="21599"/>
                    <a:pt x="21600" y="16769"/>
                    <a:pt x="21600" y="10800"/>
                  </a:cubicBezTo>
                  <a:cubicBezTo>
                    <a:pt x="21600" y="4830"/>
                    <a:pt x="16758" y="0"/>
                    <a:pt x="10800" y="0"/>
                  </a:cubicBezTo>
                  <a:cubicBezTo>
                    <a:pt x="4841" y="0"/>
                    <a:pt x="0" y="4830"/>
                    <a:pt x="0" y="10800"/>
                  </a:cubicBezTo>
                  <a:cubicBezTo>
                    <a:pt x="0" y="16769"/>
                    <a:pt x="4841" y="21599"/>
                    <a:pt x="10800" y="21599"/>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
          <p:nvSpPr>
            <p:cNvPr id="21" name="AutoShape 42">
              <a:extLst>
                <a:ext uri="{FF2B5EF4-FFF2-40B4-BE49-F238E27FC236}">
                  <a16:creationId xmlns="" xmlns:a16="http://schemas.microsoft.com/office/drawing/2014/main" id="{D69DBD67-18A2-4608-9A3E-E9F2B913A9F5}"/>
                </a:ext>
              </a:extLst>
            </p:cNvPr>
            <p:cNvSpPr>
              <a:spLocks/>
            </p:cNvSpPr>
            <p:nvPr/>
          </p:nvSpPr>
          <p:spPr bwMode="auto">
            <a:xfrm>
              <a:off x="5786438" y="2708275"/>
              <a:ext cx="22225" cy="222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0"/>
                  </a:moveTo>
                  <a:cubicBezTo>
                    <a:pt x="4841" y="0"/>
                    <a:pt x="0" y="4830"/>
                    <a:pt x="0" y="10800"/>
                  </a:cubicBezTo>
                  <a:cubicBezTo>
                    <a:pt x="0" y="16769"/>
                    <a:pt x="4841" y="21599"/>
                    <a:pt x="10800" y="21599"/>
                  </a:cubicBezTo>
                  <a:cubicBezTo>
                    <a:pt x="16758" y="21599"/>
                    <a:pt x="21600" y="16769"/>
                    <a:pt x="21600" y="10800"/>
                  </a:cubicBezTo>
                  <a:cubicBezTo>
                    <a:pt x="21600" y="4830"/>
                    <a:pt x="16758" y="0"/>
                    <a:pt x="10800" y="0"/>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grpSp>
    </p:spTree>
    <p:extLst>
      <p:ext uri="{BB962C8B-B14F-4D97-AF65-F5344CB8AC3E}">
        <p14:creationId xmlns:p14="http://schemas.microsoft.com/office/powerpoint/2010/main" val="13018364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B1EF227F-F971-46C4-8C83-D820A502B67B}"/>
              </a:ext>
            </a:extLst>
          </p:cNvPr>
          <p:cNvSpPr/>
          <p:nvPr/>
        </p:nvSpPr>
        <p:spPr>
          <a:xfrm>
            <a:off x="388823" y="458367"/>
            <a:ext cx="1831207" cy="461665"/>
          </a:xfrm>
          <a:prstGeom prst="rect">
            <a:avLst/>
          </a:prstGeom>
        </p:spPr>
        <p:txBody>
          <a:bodyPr wrap="none">
            <a:spAutoFit/>
          </a:bodyPr>
          <a:lstStyle/>
          <a:p>
            <a:pPr>
              <a:spcAft>
                <a:spcPts val="0"/>
              </a:spcAft>
            </a:pPr>
            <a:r>
              <a:rPr lang="en-US" altLang="zh-CN" sz="2400" kern="100" dirty="0">
                <a:solidFill>
                  <a:schemeClr val="accent1"/>
                </a:solidFill>
                <a:latin typeface="+mn-ea"/>
                <a:cs typeface="Times New Roman" panose="02020603050405020304" pitchFamily="18" charset="0"/>
              </a:rPr>
              <a:t>Parameters</a:t>
            </a:r>
            <a:endParaRPr lang="zh-CN" altLang="en-US" sz="2400" b="1" kern="100" dirty="0">
              <a:solidFill>
                <a:schemeClr val="accent1"/>
              </a:solidFill>
              <a:latin typeface="+mn-ea"/>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矩形 1"/>
              <p:cNvSpPr/>
              <p:nvPr/>
            </p:nvSpPr>
            <p:spPr>
              <a:xfrm>
                <a:off x="388823" y="1425183"/>
                <a:ext cx="8344336" cy="2447337"/>
              </a:xfrm>
              <a:prstGeom prst="rect">
                <a:avLst/>
              </a:prstGeom>
            </p:spPr>
            <p:txBody>
              <a:bodyPr wrap="none">
                <a:spAutoFit/>
              </a:bodyPr>
              <a:lstStyle/>
              <a:p>
                <a:pPr marL="342900" indent="-342900">
                  <a:buFont typeface="Arial" panose="020B0604020202020204" pitchFamily="34" charset="0"/>
                  <a:buChar char="•"/>
                </a:pPr>
                <a:r>
                  <a:rPr lang="en-US" altLang="zh-TW" sz="2000" dirty="0" smtClean="0"/>
                  <a:t>sensing accuracy level : {-1, 0 , … L}, thus we have L+1 levels, expressed as</a:t>
                </a:r>
                <a14:m>
                  <m:oMath xmlns:m="http://schemas.openxmlformats.org/officeDocument/2006/math">
                    <m:sSub>
                      <m:sSubPr>
                        <m:ctrlPr>
                          <a:rPr lang="en-US" altLang="zh-TW" sz="2000" b="1" i="1" smtClean="0">
                            <a:latin typeface="Cambria Math" panose="02040503050406030204" pitchFamily="18" charset="0"/>
                          </a:rPr>
                        </m:ctrlPr>
                      </m:sSubPr>
                      <m:e>
                        <m:r>
                          <a:rPr lang="en-US" altLang="zh-TW" sz="2000" b="1" i="1" smtClean="0">
                            <a:latin typeface="Cambria Math" panose="02040503050406030204" pitchFamily="18" charset="0"/>
                          </a:rPr>
                          <m:t> </m:t>
                        </m:r>
                        <m:r>
                          <a:rPr lang="en-US" altLang="zh-TW" sz="2000" b="1" i="1" smtClean="0">
                            <a:latin typeface="Cambria Math" panose="02040503050406030204" pitchFamily="18" charset="0"/>
                          </a:rPr>
                          <m:t>𝒙</m:t>
                        </m:r>
                      </m:e>
                      <m:sub>
                        <m:r>
                          <a:rPr lang="en-US" altLang="zh-TW" sz="2000" b="1" i="1" smtClean="0">
                            <a:latin typeface="Cambria Math" panose="02040503050406030204" pitchFamily="18" charset="0"/>
                          </a:rPr>
                          <m:t>𝒋</m:t>
                        </m:r>
                      </m:sub>
                    </m:sSub>
                  </m:oMath>
                </a14:m>
                <a:endParaRPr lang="en-US" altLang="zh-TW" sz="2000" b="1" dirty="0" smtClean="0"/>
              </a:p>
              <a:p>
                <a:pPr marL="342900" indent="-342900">
                  <a:buFont typeface="Arial" panose="020B0604020202020204" pitchFamily="34" charset="0"/>
                  <a:buChar char="•"/>
                </a:pPr>
                <a:r>
                  <a:rPr lang="en-US" altLang="zh-TW" sz="2000" dirty="0" smtClean="0"/>
                  <a:t>Payment policy at time k :</a:t>
                </a:r>
                <a:r>
                  <a:rPr lang="en-US" altLang="zh-TW" sz="2000" b="1" dirty="0" smtClean="0"/>
                  <a:t> </a:t>
                </a:r>
                <a14:m>
                  <m:oMath xmlns:m="http://schemas.openxmlformats.org/officeDocument/2006/math">
                    <m:sSup>
                      <m:sSupPr>
                        <m:ctrlPr>
                          <a:rPr lang="en-US" altLang="zh-TW" sz="2000" b="1" i="1" smtClean="0">
                            <a:latin typeface="Cambria Math" panose="02040503050406030204" pitchFamily="18" charset="0"/>
                          </a:rPr>
                        </m:ctrlPr>
                      </m:sSupPr>
                      <m:e>
                        <m:r>
                          <a:rPr lang="en-US" altLang="zh-TW" sz="2000" b="1" i="1" smtClean="0">
                            <a:latin typeface="Cambria Math" panose="02040503050406030204" pitchFamily="18" charset="0"/>
                          </a:rPr>
                          <m:t>𝒚</m:t>
                        </m:r>
                      </m:e>
                      <m:sup>
                        <m:r>
                          <a:rPr lang="en-US" altLang="zh-TW" sz="2000" b="1" i="1" smtClean="0">
                            <a:latin typeface="Cambria Math" panose="02040503050406030204" pitchFamily="18" charset="0"/>
                          </a:rPr>
                          <m:t>𝒌</m:t>
                        </m:r>
                      </m:sup>
                    </m:sSup>
                  </m:oMath>
                </a14:m>
                <a:endParaRPr lang="en-US" altLang="zh-TW" sz="2000" b="1" dirty="0" smtClean="0"/>
              </a:p>
              <a:p>
                <a:pPr marL="342900" indent="-342900">
                  <a:buFont typeface="Arial" panose="020B0604020202020204" pitchFamily="34" charset="0"/>
                  <a:buChar char="•"/>
                </a:pPr>
                <a:r>
                  <a:rPr lang="en-US" altLang="zh-TW" sz="2000" dirty="0" smtClean="0"/>
                  <a:t>User Mobility: </a:t>
                </a:r>
                <a14:m>
                  <m:oMath xmlns:m="http://schemas.openxmlformats.org/officeDocument/2006/math">
                    <m:sSub>
                      <m:sSubPr>
                        <m:ctrlPr>
                          <a:rPr lang="en-US" altLang="zh-TW" sz="2000" b="1" i="1" smtClean="0">
                            <a:latin typeface="Cambria Math" panose="02040503050406030204" pitchFamily="18" charset="0"/>
                          </a:rPr>
                        </m:ctrlPr>
                      </m:sSubPr>
                      <m:e>
                        <m:r>
                          <a:rPr lang="en-US" altLang="zh-TW" sz="2000" b="1" i="1" smtClean="0">
                            <a:latin typeface="Cambria Math" panose="02040503050406030204" pitchFamily="18" charset="0"/>
                          </a:rPr>
                          <m:t>𝒑</m:t>
                        </m:r>
                      </m:e>
                      <m:sub>
                        <m:r>
                          <a:rPr lang="en-US" altLang="zh-TW" sz="2000" b="1" i="1" smtClean="0">
                            <a:latin typeface="Cambria Math" panose="02040503050406030204" pitchFamily="18" charset="0"/>
                          </a:rPr>
                          <m:t>𝒋</m:t>
                        </m:r>
                      </m:sub>
                    </m:sSub>
                  </m:oMath>
                </a14:m>
                <a:endParaRPr lang="en-US" altLang="zh-TW" sz="2000" b="1" dirty="0" smtClean="0"/>
              </a:p>
              <a:p>
                <a:pPr marL="342900" indent="-342900">
                  <a:buFont typeface="Arial" panose="020B0604020202020204" pitchFamily="34" charset="0"/>
                  <a:buChar char="•"/>
                </a:pPr>
                <a:r>
                  <a:rPr lang="en-US" altLang="zh-TW" sz="2000" dirty="0" smtClean="0"/>
                  <a:t>Sensing Cost of User j with sensing accuracy level </a:t>
                </a:r>
                <a:r>
                  <a:rPr lang="en-US" altLang="zh-TW" sz="2000" dirty="0" err="1" smtClean="0"/>
                  <a:t>i</a:t>
                </a:r>
                <a:r>
                  <a:rPr lang="en-US" altLang="zh-TW" sz="2000" dirty="0" smtClean="0"/>
                  <a:t> : </a:t>
                </a:r>
                <a14:m>
                  <m:oMath xmlns:m="http://schemas.openxmlformats.org/officeDocument/2006/math">
                    <m:sSubSup>
                      <m:sSubSupPr>
                        <m:ctrlPr>
                          <a:rPr lang="en-US" altLang="zh-TW" sz="2000" b="1" i="1" smtClean="0">
                            <a:latin typeface="Cambria Math" panose="02040503050406030204" pitchFamily="18" charset="0"/>
                          </a:rPr>
                        </m:ctrlPr>
                      </m:sSubSupPr>
                      <m:e>
                        <m:r>
                          <a:rPr lang="en-US" altLang="zh-TW" sz="2000" b="1" i="1" smtClean="0">
                            <a:latin typeface="Cambria Math" panose="02040503050406030204" pitchFamily="18" charset="0"/>
                          </a:rPr>
                          <m:t>𝑪</m:t>
                        </m:r>
                      </m:e>
                      <m:sub>
                        <m:r>
                          <a:rPr lang="en-US" altLang="zh-TW" sz="2000" b="1" i="1" smtClean="0">
                            <a:latin typeface="Cambria Math" panose="02040503050406030204" pitchFamily="18" charset="0"/>
                          </a:rPr>
                          <m:t>𝒋</m:t>
                        </m:r>
                      </m:sub>
                      <m:sup>
                        <m:r>
                          <a:rPr lang="en-US" altLang="zh-TW" sz="2000" b="1" i="1" smtClean="0">
                            <a:latin typeface="Cambria Math" panose="02040503050406030204" pitchFamily="18" charset="0"/>
                          </a:rPr>
                          <m:t>𝒊</m:t>
                        </m:r>
                      </m:sup>
                    </m:sSubSup>
                  </m:oMath>
                </a14:m>
                <a:endParaRPr lang="en-US" altLang="zh-TW" sz="2000" b="1" dirty="0" smtClean="0"/>
              </a:p>
              <a:p>
                <a:pPr marL="342900" indent="-342900">
                  <a:buFont typeface="Arial" panose="020B0604020202020204" pitchFamily="34" charset="0"/>
                  <a:buChar char="•"/>
                </a:pPr>
                <a:r>
                  <a:rPr lang="en-US" altLang="zh-TW" sz="2000" dirty="0" smtClean="0"/>
                  <a:t>Utility of user j / server : </a:t>
                </a:r>
                <a14:m>
                  <m:oMath xmlns:m="http://schemas.openxmlformats.org/officeDocument/2006/math">
                    <m:sSub>
                      <m:sSubPr>
                        <m:ctrlPr>
                          <a:rPr lang="en-US" altLang="zh-TW" sz="2000" b="1" i="1" smtClean="0">
                            <a:latin typeface="Cambria Math" panose="02040503050406030204" pitchFamily="18" charset="0"/>
                          </a:rPr>
                        </m:ctrlPr>
                      </m:sSubPr>
                      <m:e>
                        <m:r>
                          <a:rPr lang="en-US" altLang="zh-TW" sz="2000" b="1" i="1" smtClean="0">
                            <a:latin typeface="Cambria Math" panose="02040503050406030204" pitchFamily="18" charset="0"/>
                          </a:rPr>
                          <m:t>𝒖</m:t>
                        </m:r>
                      </m:e>
                      <m:sub>
                        <m:r>
                          <a:rPr lang="en-US" altLang="zh-TW" sz="2000" b="1" i="1" smtClean="0">
                            <a:latin typeface="Cambria Math" panose="02040503050406030204" pitchFamily="18" charset="0"/>
                          </a:rPr>
                          <m:t>𝒋</m:t>
                        </m:r>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𝒔</m:t>
                        </m:r>
                      </m:sub>
                    </m:sSub>
                  </m:oMath>
                </a14:m>
                <a:endParaRPr lang="en-US" altLang="zh-TW" sz="2000" b="1" dirty="0" smtClean="0"/>
              </a:p>
              <a:p>
                <a:pPr marL="342900" indent="-342900">
                  <a:buFont typeface="Arial" panose="020B0604020202020204" pitchFamily="34" charset="0"/>
                  <a:buChar char="•"/>
                </a:pPr>
                <a:r>
                  <a:rPr lang="en-US" altLang="zh-TW" sz="2000" dirty="0" smtClean="0"/>
                  <a:t>System Gain from a report of accuracy </a:t>
                </a:r>
                <a:r>
                  <a:rPr lang="en-US" altLang="zh-TW" sz="2000" dirty="0" err="1" smtClean="0"/>
                  <a:t>i</a:t>
                </a:r>
                <a:r>
                  <a:rPr lang="en-US" altLang="zh-TW" sz="2000" dirty="0" smtClean="0"/>
                  <a:t> : </a:t>
                </a:r>
                <a14:m>
                  <m:oMath xmlns:m="http://schemas.openxmlformats.org/officeDocument/2006/math">
                    <m:sSup>
                      <m:sSupPr>
                        <m:ctrlPr>
                          <a:rPr lang="en-US" altLang="zh-TW" sz="2000" b="1" i="1" smtClean="0">
                            <a:latin typeface="Cambria Math" panose="02040503050406030204" pitchFamily="18" charset="0"/>
                          </a:rPr>
                        </m:ctrlPr>
                      </m:sSupPr>
                      <m:e>
                        <m:r>
                          <a:rPr lang="en-US" altLang="zh-TW" sz="2000" b="1" i="1" smtClean="0">
                            <a:latin typeface="Cambria Math" panose="02040503050406030204" pitchFamily="18" charset="0"/>
                          </a:rPr>
                          <m:t>𝑮</m:t>
                        </m:r>
                      </m:e>
                      <m:sup>
                        <m:r>
                          <a:rPr lang="en-US" altLang="zh-TW" sz="2000" b="1" i="1" smtClean="0">
                            <a:latin typeface="Cambria Math" panose="02040503050406030204" pitchFamily="18" charset="0"/>
                          </a:rPr>
                          <m:t>(</m:t>
                        </m:r>
                        <m:r>
                          <a:rPr lang="en-US" altLang="zh-TW" sz="2000" b="1" i="1" smtClean="0">
                            <a:latin typeface="Cambria Math" panose="02040503050406030204" pitchFamily="18" charset="0"/>
                          </a:rPr>
                          <m:t>𝒊</m:t>
                        </m:r>
                        <m:r>
                          <a:rPr lang="en-US" altLang="zh-TW" sz="2000" b="1" i="1" smtClean="0">
                            <a:latin typeface="Cambria Math" panose="02040503050406030204" pitchFamily="18" charset="0"/>
                          </a:rPr>
                          <m:t>)</m:t>
                        </m:r>
                      </m:sup>
                    </m:sSup>
                  </m:oMath>
                </a14:m>
                <a:endParaRPr lang="en-US" altLang="zh-TW" sz="2000" b="1" dirty="0" smtClean="0"/>
              </a:p>
              <a:p>
                <a:pPr marL="342900" indent="-342900">
                  <a:buFont typeface="Arial" panose="020B0604020202020204" pitchFamily="34" charset="0"/>
                  <a:buChar char="•"/>
                </a:pPr>
                <a:r>
                  <a:rPr lang="en-US" altLang="zh-TW" sz="2000" dirty="0"/>
                  <a:t>Contribution coefficient of user </a:t>
                </a:r>
                <a:r>
                  <a:rPr lang="en-US" altLang="zh-TW" sz="2000" dirty="0" smtClean="0"/>
                  <a:t>j :  </a:t>
                </a:r>
                <a14:m>
                  <m:oMath xmlns:m="http://schemas.openxmlformats.org/officeDocument/2006/math">
                    <m:sSub>
                      <m:sSubPr>
                        <m:ctrlPr>
                          <a:rPr lang="en-US" altLang="zh-TW" sz="2000" i="1" smtClean="0">
                            <a:latin typeface="Cambria Math" panose="02040503050406030204" pitchFamily="18" charset="0"/>
                          </a:rPr>
                        </m:ctrlPr>
                      </m:sSubPr>
                      <m:e>
                        <m:r>
                          <m:rPr>
                            <m:nor/>
                          </m:rPr>
                          <a:rPr lang="el-GR" altLang="zh-TW" sz="2000" i="1" dirty="0"/>
                          <m:t>λ</m:t>
                        </m:r>
                      </m:e>
                      <m:sub>
                        <m:r>
                          <a:rPr lang="en-US" altLang="zh-TW" sz="2000" b="0" i="1" smtClean="0">
                            <a:latin typeface="Cambria Math" panose="02040503050406030204" pitchFamily="18" charset="0"/>
                          </a:rPr>
                          <m:t>𝑗</m:t>
                        </m:r>
                      </m:sub>
                    </m:sSub>
                  </m:oMath>
                </a14:m>
                <a:endParaRPr lang="zh-TW" altLang="en-US" sz="2000" dirty="0"/>
              </a:p>
            </p:txBody>
          </p:sp>
        </mc:Choice>
        <mc:Fallback>
          <p:sp>
            <p:nvSpPr>
              <p:cNvPr id="2" name="矩形 1"/>
              <p:cNvSpPr>
                <a:spLocks noRot="1" noChangeAspect="1" noMove="1" noResize="1" noEditPoints="1" noAdjustHandles="1" noChangeArrowheads="1" noChangeShapeType="1" noTextEdit="1"/>
              </p:cNvSpPr>
              <p:nvPr/>
            </p:nvSpPr>
            <p:spPr>
              <a:xfrm>
                <a:off x="388823" y="1425183"/>
                <a:ext cx="8344336" cy="2447337"/>
              </a:xfrm>
              <a:prstGeom prst="rect">
                <a:avLst/>
              </a:prstGeom>
              <a:blipFill rotWithShape="0">
                <a:blip r:embed="rId3"/>
                <a:stretch>
                  <a:fillRect l="-657" t="-1247" b="-27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342770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18457" y="1037577"/>
            <a:ext cx="7309262" cy="3754874"/>
          </a:xfrm>
          <a:prstGeom prst="rect">
            <a:avLst/>
          </a:prstGeom>
        </p:spPr>
        <p:txBody>
          <a:bodyPr wrap="square">
            <a:spAutoFit/>
          </a:bodyPr>
          <a:lstStyle/>
          <a:p>
            <a:r>
              <a:rPr lang="en-US" altLang="zh-TW" sz="2000" b="1" dirty="0"/>
              <a:t>The sensing effort of a mobile user has an impact on the contribution of another user. </a:t>
            </a:r>
            <a:endParaRPr lang="en-US" altLang="zh-TW" sz="2000" b="1" dirty="0" smtClean="0"/>
          </a:p>
          <a:p>
            <a:endParaRPr lang="en-US" altLang="zh-TW" dirty="0" smtClean="0"/>
          </a:p>
          <a:p>
            <a:r>
              <a:rPr lang="en-US" altLang="zh-TW" dirty="0" smtClean="0"/>
              <a:t>	For </a:t>
            </a:r>
            <a:r>
              <a:rPr lang="en-US" altLang="zh-TW" dirty="0"/>
              <a:t>instance, if user A has already sent an accurate sensing report to the MCS server, the second report sent by user B will have a much lower impact and thus the server is motivated to give user B a lower payment, even if user B applies the same sensing effort</a:t>
            </a:r>
            <a:r>
              <a:rPr lang="en-US" altLang="zh-TW" dirty="0" smtClean="0"/>
              <a:t>.</a:t>
            </a:r>
          </a:p>
          <a:p>
            <a:endParaRPr lang="en-US" altLang="zh-TW" dirty="0"/>
          </a:p>
          <a:p>
            <a:endParaRPr lang="en-US" altLang="zh-TW" dirty="0" smtClean="0"/>
          </a:p>
          <a:p>
            <a:r>
              <a:rPr lang="en-US" altLang="zh-TW" dirty="0" smtClean="0"/>
              <a:t>	In </a:t>
            </a:r>
            <a:r>
              <a:rPr lang="en-US" altLang="zh-TW" dirty="0"/>
              <a:t>addition, due to the transmission cost, a smartphone has to expend effort to send a faked </a:t>
            </a:r>
            <a:r>
              <a:rPr lang="en-US" altLang="zh-TW" dirty="0" smtClean="0"/>
              <a:t>report.</a:t>
            </a:r>
          </a:p>
          <a:p>
            <a:endParaRPr lang="en-US" altLang="zh-TW" dirty="0"/>
          </a:p>
          <a:p>
            <a:endParaRPr lang="zh-TW" altLang="en-US" dirty="0"/>
          </a:p>
        </p:txBody>
      </p:sp>
      <mc:AlternateContent xmlns:mc="http://schemas.openxmlformats.org/markup-compatibility/2006">
        <mc:Choice xmlns:a14="http://schemas.microsoft.com/office/drawing/2010/main" Requires="a14">
          <p:sp>
            <p:nvSpPr>
              <p:cNvPr id="3" name="矩形 2"/>
              <p:cNvSpPr/>
              <p:nvPr/>
            </p:nvSpPr>
            <p:spPr>
              <a:xfrm>
                <a:off x="570840" y="487751"/>
                <a:ext cx="3516091" cy="395621"/>
              </a:xfrm>
              <a:prstGeom prst="rect">
                <a:avLst/>
              </a:prstGeom>
            </p:spPr>
            <p:txBody>
              <a:bodyPr wrap="none">
                <a:spAutoFit/>
              </a:bodyPr>
              <a:lstStyle/>
              <a:p>
                <a:r>
                  <a:rPr lang="en-US" altLang="zh-TW" b="1" dirty="0"/>
                  <a:t>Contribution coefficient of user j :  </a:t>
                </a:r>
                <a14:m>
                  <m:oMath xmlns:m="http://schemas.openxmlformats.org/officeDocument/2006/math">
                    <m:sSub>
                      <m:sSubPr>
                        <m:ctrlPr>
                          <a:rPr lang="en-US" altLang="zh-TW" b="1" i="1">
                            <a:latin typeface="Cambria Math" panose="02040503050406030204" pitchFamily="18" charset="0"/>
                          </a:rPr>
                        </m:ctrlPr>
                      </m:sSubPr>
                      <m:e>
                        <m:r>
                          <m:rPr>
                            <m:nor/>
                          </m:rPr>
                          <a:rPr lang="el-GR" altLang="zh-TW" b="1" i="1" dirty="0"/>
                          <m:t>λ</m:t>
                        </m:r>
                      </m:e>
                      <m:sub>
                        <m:r>
                          <a:rPr lang="en-US" altLang="zh-TW" b="1" i="1">
                            <a:latin typeface="Cambria Math" panose="02040503050406030204" pitchFamily="18" charset="0"/>
                          </a:rPr>
                          <m:t>𝒋</m:t>
                        </m:r>
                      </m:sub>
                    </m:sSub>
                  </m:oMath>
                </a14:m>
                <a:endParaRPr lang="zh-TW" altLang="en-US" b="1" dirty="0"/>
              </a:p>
            </p:txBody>
          </p:sp>
        </mc:Choice>
        <mc:Fallback>
          <p:sp>
            <p:nvSpPr>
              <p:cNvPr id="3" name="矩形 2"/>
              <p:cNvSpPr>
                <a:spLocks noRot="1" noChangeAspect="1" noMove="1" noResize="1" noEditPoints="1" noAdjustHandles="1" noChangeArrowheads="1" noChangeShapeType="1" noTextEdit="1"/>
              </p:cNvSpPr>
              <p:nvPr/>
            </p:nvSpPr>
            <p:spPr>
              <a:xfrm>
                <a:off x="570840" y="487751"/>
                <a:ext cx="3516091" cy="395621"/>
              </a:xfrm>
              <a:prstGeom prst="rect">
                <a:avLst/>
              </a:prstGeom>
              <a:blipFill rotWithShape="0">
                <a:blip r:embed="rId3"/>
                <a:stretch>
                  <a:fillRect l="-1563" t="-6154" b="-1846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963130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73293" y="487032"/>
            <a:ext cx="2737481" cy="400110"/>
          </a:xfrm>
          <a:prstGeom prst="rect">
            <a:avLst/>
          </a:prstGeom>
        </p:spPr>
        <p:txBody>
          <a:bodyPr wrap="none">
            <a:spAutoFit/>
          </a:bodyPr>
          <a:lstStyle/>
          <a:p>
            <a:r>
              <a:rPr lang="en-US" altLang="zh-TW" sz="2000" b="1" dirty="0" smtClean="0"/>
              <a:t>Sensing Accuracy Level</a:t>
            </a:r>
            <a:r>
              <a:rPr lang="zh-TW" altLang="en-US" sz="2000" b="1" dirty="0" smtClean="0"/>
              <a:t> </a:t>
            </a:r>
            <a:r>
              <a:rPr lang="en-US" altLang="zh-TW" sz="2000" b="1" dirty="0" smtClean="0"/>
              <a:t>:</a:t>
            </a:r>
            <a:r>
              <a:rPr lang="zh-TW" altLang="en-US" sz="2000" b="1" dirty="0" smtClean="0"/>
              <a:t> </a:t>
            </a:r>
            <a:r>
              <a:rPr lang="en-US" altLang="zh-TW" sz="2000" b="1" dirty="0" smtClean="0"/>
              <a:t> </a:t>
            </a:r>
            <a:endParaRPr lang="zh-TW" altLang="en-US" sz="2000" b="1" dirty="0"/>
          </a:p>
        </p:txBody>
      </p:sp>
      <p:pic>
        <p:nvPicPr>
          <p:cNvPr id="3" name="圖片 2"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3" y="887142"/>
            <a:ext cx="7276297" cy="2067213"/>
          </a:xfrm>
          <a:prstGeom prst="rect">
            <a:avLst/>
          </a:prstGeom>
        </p:spPr>
      </p:pic>
      <p:pic>
        <p:nvPicPr>
          <p:cNvPr id="4" name="圖片 3" descr="畫面剪輯"/>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1274" y="3060380"/>
            <a:ext cx="4611401" cy="1678155"/>
          </a:xfrm>
          <a:prstGeom prst="rect">
            <a:avLst/>
          </a:prstGeom>
        </p:spPr>
      </p:pic>
    </p:spTree>
    <p:extLst>
      <p:ext uri="{BB962C8B-B14F-4D97-AF65-F5344CB8AC3E}">
        <p14:creationId xmlns:p14="http://schemas.microsoft.com/office/powerpoint/2010/main" val="18251728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31598" y="498907"/>
            <a:ext cx="3447354" cy="461665"/>
          </a:xfrm>
          <a:prstGeom prst="rect">
            <a:avLst/>
          </a:prstGeom>
        </p:spPr>
        <p:txBody>
          <a:bodyPr wrap="none">
            <a:spAutoFit/>
          </a:bodyPr>
          <a:lstStyle/>
          <a:p>
            <a:r>
              <a:rPr lang="en-US" altLang="zh-TW" sz="2400" b="1" dirty="0" smtClean="0"/>
              <a:t>Overall Utility </a:t>
            </a:r>
            <a:r>
              <a:rPr lang="en-US" altLang="zh-TW" sz="2400" b="1" dirty="0"/>
              <a:t>of the </a:t>
            </a:r>
            <a:r>
              <a:rPr lang="en-US" altLang="zh-TW" sz="2400" b="1" dirty="0" smtClean="0"/>
              <a:t>Server</a:t>
            </a:r>
            <a:endParaRPr lang="zh-TW" altLang="en-US" sz="2400" b="1" dirty="0"/>
          </a:p>
        </p:txBody>
      </p:sp>
      <p:pic>
        <p:nvPicPr>
          <p:cNvPr id="3" name="圖片 2"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598" y="2823287"/>
            <a:ext cx="5182323" cy="1895740"/>
          </a:xfrm>
          <a:prstGeom prst="rect">
            <a:avLst/>
          </a:prstGeom>
        </p:spPr>
      </p:pic>
      <p:pic>
        <p:nvPicPr>
          <p:cNvPr id="4" name="圖片 3" descr="畫面剪輯"/>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378" y="1027146"/>
            <a:ext cx="2819794" cy="533474"/>
          </a:xfrm>
          <a:prstGeom prst="rect">
            <a:avLst/>
          </a:prstGeom>
        </p:spPr>
      </p:pic>
      <p:pic>
        <p:nvPicPr>
          <p:cNvPr id="5" name="圖片 4" descr="畫面剪輯"/>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8505" y="1649008"/>
            <a:ext cx="3172268" cy="485843"/>
          </a:xfrm>
          <a:prstGeom prst="rect">
            <a:avLst/>
          </a:prstGeom>
        </p:spPr>
      </p:pic>
    </p:spTree>
    <p:extLst>
      <p:ext uri="{BB962C8B-B14F-4D97-AF65-F5344CB8AC3E}">
        <p14:creationId xmlns:p14="http://schemas.microsoft.com/office/powerpoint/2010/main" val="15989889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0360" y="1435246"/>
            <a:ext cx="5792008" cy="2629267"/>
          </a:xfrm>
          <a:prstGeom prst="rect">
            <a:avLst/>
          </a:prstGeom>
        </p:spPr>
      </p:pic>
      <p:sp>
        <p:nvSpPr>
          <p:cNvPr id="3" name="矩形 2"/>
          <p:cNvSpPr/>
          <p:nvPr/>
        </p:nvSpPr>
        <p:spPr>
          <a:xfrm>
            <a:off x="541543" y="463281"/>
            <a:ext cx="2671309" cy="461665"/>
          </a:xfrm>
          <a:prstGeom prst="rect">
            <a:avLst/>
          </a:prstGeom>
        </p:spPr>
        <p:txBody>
          <a:bodyPr wrap="none">
            <a:spAutoFit/>
          </a:bodyPr>
          <a:lstStyle/>
          <a:p>
            <a:r>
              <a:rPr lang="en-US" altLang="zh-TW" sz="2400" dirty="0" smtClean="0"/>
              <a:t>Optimal Payment </a:t>
            </a:r>
            <a:r>
              <a:rPr lang="en-US" altLang="zh-TW" sz="2400" dirty="0"/>
              <a:t>y∗</a:t>
            </a:r>
            <a:endParaRPr lang="zh-TW" altLang="en-US" sz="2400" dirty="0"/>
          </a:p>
        </p:txBody>
      </p:sp>
    </p:spTree>
    <p:extLst>
      <p:ext uri="{BB962C8B-B14F-4D97-AF65-F5344CB8AC3E}">
        <p14:creationId xmlns:p14="http://schemas.microsoft.com/office/powerpoint/2010/main" val="16229037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100" y="344385"/>
            <a:ext cx="4912355" cy="4193474"/>
          </a:xfrm>
          <a:prstGeom prst="rect">
            <a:avLst/>
          </a:prstGeom>
        </p:spPr>
      </p:pic>
      <p:sp>
        <p:nvSpPr>
          <p:cNvPr id="3" name="矩形 2"/>
          <p:cNvSpPr/>
          <p:nvPr/>
        </p:nvSpPr>
        <p:spPr>
          <a:xfrm>
            <a:off x="5985163" y="3032356"/>
            <a:ext cx="2369128" cy="923330"/>
          </a:xfrm>
          <a:prstGeom prst="rect">
            <a:avLst/>
          </a:prstGeom>
        </p:spPr>
        <p:txBody>
          <a:bodyPr wrap="square">
            <a:spAutoFit/>
          </a:bodyPr>
          <a:lstStyle/>
          <a:p>
            <a:r>
              <a:rPr lang="en-US" altLang="zh-TW" dirty="0"/>
              <a:t>user j ∗ has the lowest sensing cost and payment expectation</a:t>
            </a:r>
          </a:p>
        </p:txBody>
      </p:sp>
    </p:spTree>
    <p:extLst>
      <p:ext uri="{BB962C8B-B14F-4D97-AF65-F5344CB8AC3E}">
        <p14:creationId xmlns:p14="http://schemas.microsoft.com/office/powerpoint/2010/main" val="36969333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0663" y="907643"/>
            <a:ext cx="6658904" cy="2876951"/>
          </a:xfrm>
          <a:prstGeom prst="rect">
            <a:avLst/>
          </a:prstGeom>
        </p:spPr>
      </p:pic>
    </p:spTree>
    <p:extLst>
      <p:ext uri="{BB962C8B-B14F-4D97-AF65-F5344CB8AC3E}">
        <p14:creationId xmlns:p14="http://schemas.microsoft.com/office/powerpoint/2010/main" val="152756946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 xmlns:a16="http://schemas.microsoft.com/office/drawing/2014/main" id="{27845620-1BD2-4CB4-A849-1D6F71C83D3D}"/>
              </a:ext>
            </a:extLst>
          </p:cNvPr>
          <p:cNvSpPr/>
          <p:nvPr/>
        </p:nvSpPr>
        <p:spPr>
          <a:xfrm>
            <a:off x="548640" y="581980"/>
            <a:ext cx="8046720" cy="4098798"/>
          </a:xfrm>
          <a:prstGeom prst="rect">
            <a:avLst/>
          </a:prstGeom>
          <a:solidFill>
            <a:schemeClr val="bg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 xmlns:a16="http://schemas.microsoft.com/office/drawing/2014/main" id="{84E5A175-3149-405F-9145-7535715A381B}"/>
              </a:ext>
            </a:extLst>
          </p:cNvPr>
          <p:cNvSpPr/>
          <p:nvPr/>
        </p:nvSpPr>
        <p:spPr>
          <a:xfrm>
            <a:off x="1059299" y="1588576"/>
            <a:ext cx="1796181" cy="1796181"/>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3" name="矩形 22">
            <a:extLst>
              <a:ext uri="{FF2B5EF4-FFF2-40B4-BE49-F238E27FC236}">
                <a16:creationId xmlns="" xmlns:a16="http://schemas.microsoft.com/office/drawing/2014/main" id="{256BF839-5984-4814-99D1-E3F91C6B186D}"/>
              </a:ext>
            </a:extLst>
          </p:cNvPr>
          <p:cNvSpPr/>
          <p:nvPr/>
        </p:nvSpPr>
        <p:spPr>
          <a:xfrm>
            <a:off x="3144264" y="2110758"/>
            <a:ext cx="4889480" cy="646331"/>
          </a:xfrm>
          <a:prstGeom prst="rect">
            <a:avLst/>
          </a:prstGeom>
        </p:spPr>
        <p:txBody>
          <a:bodyPr wrap="none">
            <a:spAutoFit/>
          </a:bodyPr>
          <a:lstStyle/>
          <a:p>
            <a:pPr>
              <a:spcAft>
                <a:spcPts val="0"/>
              </a:spcAft>
            </a:pPr>
            <a:r>
              <a:rPr lang="en-US" altLang="zh-CN" sz="3600" b="1" kern="100" dirty="0" smtClean="0">
                <a:solidFill>
                  <a:schemeClr val="accent1"/>
                </a:solidFill>
                <a:latin typeface="+mn-ea"/>
                <a:cs typeface="Times New Roman" panose="02020603050405020304" pitchFamily="18" charset="0"/>
              </a:rPr>
              <a:t>Dynamic MCS Game</a:t>
            </a:r>
            <a:endParaRPr lang="zh-CN" altLang="en-US" sz="3600" b="1" kern="100" dirty="0">
              <a:solidFill>
                <a:schemeClr val="accent1"/>
              </a:solidFill>
              <a:latin typeface="+mn-ea"/>
              <a:cs typeface="Times New Roman" panose="02020603050405020304" pitchFamily="18" charset="0"/>
            </a:endParaRPr>
          </a:p>
        </p:txBody>
      </p:sp>
      <p:sp>
        <p:nvSpPr>
          <p:cNvPr id="6" name="AutoShape 59">
            <a:extLst>
              <a:ext uri="{FF2B5EF4-FFF2-40B4-BE49-F238E27FC236}">
                <a16:creationId xmlns="" xmlns:a16="http://schemas.microsoft.com/office/drawing/2014/main" id="{65296ADF-6826-4E74-AAC1-75AE73C7BE4D}"/>
              </a:ext>
            </a:extLst>
          </p:cNvPr>
          <p:cNvSpPr>
            <a:spLocks/>
          </p:cNvSpPr>
          <p:nvPr/>
        </p:nvSpPr>
        <p:spPr bwMode="auto">
          <a:xfrm>
            <a:off x="1518296" y="2047541"/>
            <a:ext cx="779757" cy="772764"/>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ysClr val="window" lastClr="FFFFFF"/>
          </a:solidFill>
          <a:ln>
            <a:noFill/>
          </a:ln>
          <a:effectLst/>
          <a:extLst>
            <a:ext uri="{91240B29-F687-4f45-9708-019B960494DF}"/>
            <a:ext uri="{AF507438-7753-43e0-B8FC-AC1667EBCBE1}"/>
          </a:extLst>
        </p:spPr>
        <p:txBody>
          <a:bodyPr lIns="19050" tIns="19050" rIns="19050" bIns="19050" anchor="ctr"/>
          <a:lstStyle/>
          <a:p>
            <a:pPr algn="ctr" defTabSz="228600" fontAlgn="base" hangingPunct="0">
              <a:spcBef>
                <a:spcPct val="0"/>
              </a:spcBef>
              <a:spcAft>
                <a:spcPct val="0"/>
              </a:spcAft>
              <a:defRPr/>
            </a:pPr>
            <a:endParaRPr lang="en-US" sz="1500" kern="0">
              <a:solidFill>
                <a:srgbClr val="FFFFFF"/>
              </a:solidFill>
              <a:effectLst>
                <a:outerShdw blurRad="38100" dist="38100" dir="2700000" algn="tl">
                  <a:srgbClr val="000000"/>
                </a:outerShdw>
              </a:effectLst>
              <a:latin typeface="Gill Sans" charset="0"/>
              <a:ea typeface="宋体"/>
              <a:sym typeface="Gill Sans" charset="0"/>
            </a:endParaRPr>
          </a:p>
        </p:txBody>
      </p:sp>
    </p:spTree>
    <p:extLst>
      <p:ext uri="{BB962C8B-B14F-4D97-AF65-F5344CB8AC3E}">
        <p14:creationId xmlns:p14="http://schemas.microsoft.com/office/powerpoint/2010/main" val="19345624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99702" y="1322447"/>
            <a:ext cx="7451767" cy="923330"/>
          </a:xfrm>
          <a:prstGeom prst="rect">
            <a:avLst/>
          </a:prstGeom>
        </p:spPr>
        <p:txBody>
          <a:bodyPr wrap="square">
            <a:spAutoFit/>
          </a:bodyPr>
          <a:lstStyle/>
          <a:p>
            <a:r>
              <a:rPr lang="en-US" altLang="zh-TW" dirty="0" smtClean="0"/>
              <a:t>	In </a:t>
            </a:r>
            <a:r>
              <a:rPr lang="en-US" altLang="zh-TW" dirty="0"/>
              <a:t>general, a high payment for an accurate sensing report decreases the server’s immediate utility, but it also </a:t>
            </a:r>
            <a:r>
              <a:rPr lang="en-US" altLang="zh-TW" dirty="0">
                <a:solidFill>
                  <a:srgbClr val="FF0000"/>
                </a:solidFill>
              </a:rPr>
              <a:t>stimulates more users </a:t>
            </a:r>
            <a:r>
              <a:rPr lang="en-US" altLang="zh-TW" dirty="0"/>
              <a:t>to participate in the MCS task in the future.</a:t>
            </a:r>
            <a:endParaRPr lang="zh-TW" altLang="en-US" dirty="0"/>
          </a:p>
        </p:txBody>
      </p:sp>
      <p:sp>
        <p:nvSpPr>
          <p:cNvPr id="3" name="矩形 2"/>
          <p:cNvSpPr/>
          <p:nvPr/>
        </p:nvSpPr>
        <p:spPr>
          <a:xfrm>
            <a:off x="599703" y="451405"/>
            <a:ext cx="3288849" cy="523220"/>
          </a:xfrm>
          <a:prstGeom prst="rect">
            <a:avLst/>
          </a:prstGeom>
        </p:spPr>
        <p:txBody>
          <a:bodyPr wrap="none">
            <a:spAutoFit/>
          </a:bodyPr>
          <a:lstStyle/>
          <a:p>
            <a:r>
              <a:rPr lang="en-US" altLang="zh-TW" sz="2800" b="1" dirty="0" smtClean="0"/>
              <a:t>Repeated Interactions</a:t>
            </a:r>
            <a:endParaRPr lang="zh-TW" altLang="en-US" sz="2800" b="1" dirty="0"/>
          </a:p>
        </p:txBody>
      </p:sp>
      <p:sp>
        <p:nvSpPr>
          <p:cNvPr id="4" name="矩形 3"/>
          <p:cNvSpPr/>
          <p:nvPr/>
        </p:nvSpPr>
        <p:spPr>
          <a:xfrm>
            <a:off x="599701" y="2327521"/>
            <a:ext cx="7879280" cy="646331"/>
          </a:xfrm>
          <a:prstGeom prst="rect">
            <a:avLst/>
          </a:prstGeom>
        </p:spPr>
        <p:txBody>
          <a:bodyPr wrap="square">
            <a:spAutoFit/>
          </a:bodyPr>
          <a:lstStyle/>
          <a:p>
            <a:r>
              <a:rPr lang="en-US" altLang="zh-TW" dirty="0" smtClean="0"/>
              <a:t>	On </a:t>
            </a:r>
            <a:r>
              <a:rPr lang="en-US" altLang="zh-TW" dirty="0"/>
              <a:t>the other hand, an under-paid policy usually causes under-sensing or even a failed sensing task.</a:t>
            </a:r>
            <a:endParaRPr lang="zh-TW" altLang="en-US" dirty="0"/>
          </a:p>
        </p:txBody>
      </p:sp>
      <p:sp>
        <p:nvSpPr>
          <p:cNvPr id="5" name="矩形 4"/>
          <p:cNvSpPr/>
          <p:nvPr/>
        </p:nvSpPr>
        <p:spPr>
          <a:xfrm>
            <a:off x="599702" y="3055596"/>
            <a:ext cx="7451767" cy="923330"/>
          </a:xfrm>
          <a:prstGeom prst="rect">
            <a:avLst/>
          </a:prstGeom>
        </p:spPr>
        <p:txBody>
          <a:bodyPr wrap="square">
            <a:spAutoFit/>
          </a:bodyPr>
          <a:lstStyle/>
          <a:p>
            <a:r>
              <a:rPr lang="en-US" altLang="zh-TW" dirty="0"/>
              <a:t>In addition, a mobile user usually chooses its sensing effort based on the MCS </a:t>
            </a:r>
            <a:r>
              <a:rPr lang="en-US" altLang="zh-TW" dirty="0">
                <a:solidFill>
                  <a:srgbClr val="FF0000"/>
                </a:solidFill>
              </a:rPr>
              <a:t>payment history</a:t>
            </a:r>
            <a:r>
              <a:rPr lang="en-US" altLang="zh-TW" dirty="0"/>
              <a:t>, because an under-paid sensing experience indicates a server with inaccurate sensing evaluation</a:t>
            </a:r>
            <a:endParaRPr lang="zh-TW" altLang="en-US" dirty="0"/>
          </a:p>
        </p:txBody>
      </p:sp>
      <p:sp>
        <p:nvSpPr>
          <p:cNvPr id="6" name="矩形 5"/>
          <p:cNvSpPr/>
          <p:nvPr/>
        </p:nvSpPr>
        <p:spPr>
          <a:xfrm>
            <a:off x="599701" y="4122762"/>
            <a:ext cx="7772403" cy="646331"/>
          </a:xfrm>
          <a:prstGeom prst="rect">
            <a:avLst/>
          </a:prstGeom>
        </p:spPr>
        <p:txBody>
          <a:bodyPr wrap="square">
            <a:spAutoFit/>
          </a:bodyPr>
          <a:lstStyle/>
          <a:p>
            <a:r>
              <a:rPr lang="en-US" altLang="zh-TW" dirty="0"/>
              <a:t>Therefore, the payment policy of an MCS server impacts the </a:t>
            </a:r>
            <a:r>
              <a:rPr lang="en-US" altLang="zh-TW" dirty="0">
                <a:solidFill>
                  <a:srgbClr val="FF0000"/>
                </a:solidFill>
              </a:rPr>
              <a:t>future sensing results </a:t>
            </a:r>
            <a:r>
              <a:rPr lang="en-US" altLang="zh-TW" dirty="0"/>
              <a:t>and the </a:t>
            </a:r>
            <a:r>
              <a:rPr lang="en-US" altLang="zh-TW" dirty="0">
                <a:solidFill>
                  <a:srgbClr val="FF0000"/>
                </a:solidFill>
              </a:rPr>
              <a:t>future reward</a:t>
            </a:r>
            <a:r>
              <a:rPr lang="en-US" altLang="zh-TW" dirty="0"/>
              <a:t>.</a:t>
            </a:r>
            <a:endParaRPr lang="zh-TW" altLang="en-US" dirty="0"/>
          </a:p>
        </p:txBody>
      </p:sp>
    </p:spTree>
    <p:extLst>
      <p:ext uri="{BB962C8B-B14F-4D97-AF65-F5344CB8AC3E}">
        <p14:creationId xmlns:p14="http://schemas.microsoft.com/office/powerpoint/2010/main" val="13544194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31583" y="498908"/>
            <a:ext cx="4068999" cy="461665"/>
          </a:xfrm>
          <a:prstGeom prst="rect">
            <a:avLst/>
          </a:prstGeom>
        </p:spPr>
        <p:txBody>
          <a:bodyPr wrap="none">
            <a:spAutoFit/>
          </a:bodyPr>
          <a:lstStyle/>
          <a:p>
            <a:r>
              <a:rPr lang="en-US" altLang="zh-TW" sz="2400" b="1" smtClean="0"/>
              <a:t>Q-Learning Based MCS Payment</a:t>
            </a:r>
            <a:endParaRPr lang="zh-TW" altLang="en-US" sz="2400" b="1" dirty="0"/>
          </a:p>
        </p:txBody>
      </p:sp>
      <p:sp>
        <p:nvSpPr>
          <p:cNvPr id="3" name="矩形 2"/>
          <p:cNvSpPr/>
          <p:nvPr/>
        </p:nvSpPr>
        <p:spPr>
          <a:xfrm>
            <a:off x="631583" y="2133698"/>
            <a:ext cx="3548215" cy="369332"/>
          </a:xfrm>
          <a:prstGeom prst="rect">
            <a:avLst/>
          </a:prstGeom>
        </p:spPr>
        <p:txBody>
          <a:bodyPr wrap="none">
            <a:spAutoFit/>
          </a:bodyPr>
          <a:lstStyle/>
          <a:p>
            <a:r>
              <a:rPr lang="en-US" altLang="zh-TW" dirty="0"/>
              <a:t>without knowing the sensing model </a:t>
            </a:r>
            <a:endParaRPr lang="zh-TW" altLang="en-US" dirty="0"/>
          </a:p>
        </p:txBody>
      </p:sp>
      <p:sp>
        <p:nvSpPr>
          <p:cNvPr id="5" name="矩形 4"/>
          <p:cNvSpPr/>
          <p:nvPr/>
        </p:nvSpPr>
        <p:spPr>
          <a:xfrm>
            <a:off x="631583" y="1223970"/>
            <a:ext cx="7313875" cy="646331"/>
          </a:xfrm>
          <a:prstGeom prst="rect">
            <a:avLst/>
          </a:prstGeom>
        </p:spPr>
        <p:txBody>
          <a:bodyPr wrap="square">
            <a:spAutoFit/>
          </a:bodyPr>
          <a:lstStyle/>
          <a:p>
            <a:r>
              <a:rPr lang="en-US" altLang="zh-TW" dirty="0" smtClean="0"/>
              <a:t>(Assumed </a:t>
            </a:r>
            <a:r>
              <a:rPr lang="en-US" altLang="zh-TW" dirty="0"/>
              <a:t>that the server applies high quality data mining </a:t>
            </a:r>
            <a:r>
              <a:rPr lang="en-US" altLang="zh-TW" dirty="0" smtClean="0"/>
              <a:t>algorithms </a:t>
            </a:r>
            <a:r>
              <a:rPr lang="en-US" altLang="zh-TW" dirty="0"/>
              <a:t>which </a:t>
            </a:r>
            <a:r>
              <a:rPr lang="en-US" altLang="zh-TW" dirty="0" smtClean="0"/>
              <a:t>are effective.)</a:t>
            </a:r>
            <a:endParaRPr lang="zh-TW" altLang="en-US" dirty="0"/>
          </a:p>
        </p:txBody>
      </p:sp>
      <p:pic>
        <p:nvPicPr>
          <p:cNvPr id="6" name="圖片 5"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583" y="2978644"/>
            <a:ext cx="5134692" cy="1181265"/>
          </a:xfrm>
          <a:prstGeom prst="rect">
            <a:avLst/>
          </a:prstGeom>
        </p:spPr>
      </p:pic>
    </p:spTree>
    <p:extLst>
      <p:ext uri="{BB962C8B-B14F-4D97-AF65-F5344CB8AC3E}">
        <p14:creationId xmlns:p14="http://schemas.microsoft.com/office/powerpoint/2010/main" val="3757947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504700" y="1464813"/>
                <a:ext cx="8033657" cy="946991"/>
              </a:xfrm>
              <a:prstGeom prst="rect">
                <a:avLst/>
              </a:prstGeom>
            </p:spPr>
            <p:txBody>
              <a:bodyPr wrap="square">
                <a:spAutoFit/>
              </a:bodyPr>
              <a:lstStyle/>
              <a:p>
                <a:r>
                  <a:rPr lang="en-US" altLang="zh-TW" dirty="0" smtClean="0"/>
                  <a:t>The Q-learning based payment is chosen based on the system state, </a:t>
                </a:r>
              </a:p>
              <a:p>
                <a:endParaRPr lang="en-US" altLang="zh-TW" dirty="0" smtClean="0"/>
              </a:p>
              <a:p>
                <a:r>
                  <a:rPr lang="en-US" altLang="zh-TW" dirty="0" smtClean="0"/>
                  <a:t>denoted by</a:t>
                </a:r>
                <a14:m>
                  <m:oMath xmlns:m="http://schemas.openxmlformats.org/officeDocument/2006/math">
                    <m:sSup>
                      <m:sSupPr>
                        <m:ctrlPr>
                          <a:rPr lang="en-US" altLang="zh-TW" i="1" smtClean="0">
                            <a:latin typeface="Cambria Math" panose="02040503050406030204" pitchFamily="18" charset="0"/>
                          </a:rPr>
                        </m:ctrlPr>
                      </m:sSupPr>
                      <m:e>
                        <m:r>
                          <a:rPr lang="en-US" altLang="zh-TW" b="0" i="1" smtClean="0">
                            <a:latin typeface="Cambria Math" panose="02040503050406030204" pitchFamily="18" charset="0"/>
                          </a:rPr>
                          <m:t>  </m:t>
                        </m:r>
                        <m:r>
                          <a:rPr lang="en-US" altLang="zh-TW" b="0" i="1" smtClean="0">
                            <a:latin typeface="Cambria Math" panose="02040503050406030204" pitchFamily="18" charset="0"/>
                          </a:rPr>
                          <m:t>𝑠</m:t>
                        </m:r>
                      </m:e>
                      <m:sup>
                        <m:r>
                          <a:rPr lang="en-US" altLang="zh-TW" b="0" i="1" smtClean="0">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rPr>
                          <m:t>)</m:t>
                        </m:r>
                      </m:sup>
                    </m:sSup>
                  </m:oMath>
                </a14:m>
                <a:r>
                  <a:rPr lang="en-US" altLang="zh-TW" dirty="0" smtClean="0"/>
                  <a:t>, </a:t>
                </a:r>
                <a:r>
                  <a:rPr lang="es-ES" altLang="zh-TW" dirty="0" smtClean="0"/>
                  <a:t>=</a:t>
                </a:r>
                <a:endParaRPr lang="zh-TW" altLang="en-US" dirty="0"/>
              </a:p>
            </p:txBody>
          </p:sp>
        </mc:Choice>
        <mc:Fallback>
          <p:sp>
            <p:nvSpPr>
              <p:cNvPr id="2" name="矩形 1"/>
              <p:cNvSpPr>
                <a:spLocks noRot="1" noChangeAspect="1" noMove="1" noResize="1" noEditPoints="1" noAdjustHandles="1" noChangeArrowheads="1" noChangeShapeType="1" noTextEdit="1"/>
              </p:cNvSpPr>
              <p:nvPr/>
            </p:nvSpPr>
            <p:spPr>
              <a:xfrm>
                <a:off x="504700" y="1464813"/>
                <a:ext cx="8033657" cy="946991"/>
              </a:xfrm>
              <a:prstGeom prst="rect">
                <a:avLst/>
              </a:prstGeom>
              <a:blipFill rotWithShape="0">
                <a:blip r:embed="rId3"/>
                <a:stretch>
                  <a:fillRect l="-683" t="-3205" b="-7692"/>
                </a:stretch>
              </a:blipFill>
            </p:spPr>
            <p:txBody>
              <a:bodyPr/>
              <a:lstStyle/>
              <a:p>
                <a:r>
                  <a:rPr lang="zh-TW" altLang="en-US">
                    <a:noFill/>
                  </a:rPr>
                  <a:t> </a:t>
                </a:r>
              </a:p>
            </p:txBody>
          </p:sp>
        </mc:Fallback>
      </mc:AlternateContent>
      <p:pic>
        <p:nvPicPr>
          <p:cNvPr id="3" name="圖片 2" descr="畫面剪輯"/>
          <p:cNvPicPr>
            <a:picLocks noChangeAspect="1"/>
          </p:cNvPicPr>
          <p:nvPr/>
        </p:nvPicPr>
        <p:blipFill rotWithShape="1">
          <a:blip r:embed="rId4">
            <a:extLst>
              <a:ext uri="{28A0092B-C50C-407E-A947-70E740481C1C}">
                <a14:useLocalDpi xmlns:a14="http://schemas.microsoft.com/office/drawing/2010/main" val="0"/>
              </a:ext>
            </a:extLst>
          </a:blip>
          <a:srcRect t="6706" r="2781"/>
          <a:stretch/>
        </p:blipFill>
        <p:spPr>
          <a:xfrm>
            <a:off x="2388250" y="1787978"/>
            <a:ext cx="2445008" cy="782098"/>
          </a:xfrm>
          <a:prstGeom prst="rect">
            <a:avLst/>
          </a:prstGeom>
        </p:spPr>
      </p:pic>
      <p:sp>
        <p:nvSpPr>
          <p:cNvPr id="4" name="矩形 3"/>
          <p:cNvSpPr/>
          <p:nvPr/>
        </p:nvSpPr>
        <p:spPr>
          <a:xfrm>
            <a:off x="385948" y="2893241"/>
            <a:ext cx="7273636" cy="369332"/>
          </a:xfrm>
          <a:prstGeom prst="rect">
            <a:avLst/>
          </a:prstGeom>
        </p:spPr>
        <p:txBody>
          <a:bodyPr wrap="square">
            <a:spAutoFit/>
          </a:bodyPr>
          <a:lstStyle/>
          <a:p>
            <a:r>
              <a:rPr lang="en-US" altLang="zh-TW" dirty="0" smtClean="0"/>
              <a:t>, </a:t>
            </a:r>
            <a:r>
              <a:rPr lang="en-US" altLang="zh-TW" dirty="0"/>
              <a:t>which consists of the previous sensing quality and the payment </a:t>
            </a:r>
            <a:r>
              <a:rPr lang="en-US" altLang="zh-TW" dirty="0" smtClean="0"/>
              <a:t>policy.</a:t>
            </a:r>
            <a:endParaRPr lang="zh-TW" altLang="en-US" dirty="0"/>
          </a:p>
        </p:txBody>
      </p:sp>
    </p:spTree>
    <p:extLst>
      <p:ext uri="{BB962C8B-B14F-4D97-AF65-F5344CB8AC3E}">
        <p14:creationId xmlns:p14="http://schemas.microsoft.com/office/powerpoint/2010/main" val="21870435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9696" y="1451426"/>
            <a:ext cx="6268325" cy="1219370"/>
          </a:xfrm>
          <a:prstGeom prst="rect">
            <a:avLst/>
          </a:prstGeom>
        </p:spPr>
      </p:pic>
      <p:sp>
        <p:nvSpPr>
          <p:cNvPr id="4" name="矩形 3"/>
          <p:cNvSpPr/>
          <p:nvPr/>
        </p:nvSpPr>
        <p:spPr>
          <a:xfrm>
            <a:off x="677487" y="487032"/>
            <a:ext cx="2944487" cy="523220"/>
          </a:xfrm>
          <a:prstGeom prst="rect">
            <a:avLst/>
          </a:prstGeom>
        </p:spPr>
        <p:txBody>
          <a:bodyPr wrap="square">
            <a:spAutoFit/>
          </a:bodyPr>
          <a:lstStyle/>
          <a:p>
            <a:r>
              <a:rPr lang="en-US" altLang="zh-TW" sz="2800" b="1" dirty="0" smtClean="0"/>
              <a:t>Utility </a:t>
            </a:r>
            <a:r>
              <a:rPr lang="en-US" altLang="zh-TW" sz="2800" b="1" dirty="0"/>
              <a:t>of the server</a:t>
            </a:r>
            <a:endParaRPr lang="zh-TW" altLang="en-US" sz="2800" b="1" dirty="0"/>
          </a:p>
        </p:txBody>
      </p:sp>
      <p:sp>
        <p:nvSpPr>
          <p:cNvPr id="5" name="矩形 4"/>
          <p:cNvSpPr/>
          <p:nvPr/>
        </p:nvSpPr>
        <p:spPr>
          <a:xfrm>
            <a:off x="677487" y="2927304"/>
            <a:ext cx="1681871" cy="523220"/>
          </a:xfrm>
          <a:prstGeom prst="rect">
            <a:avLst/>
          </a:prstGeom>
        </p:spPr>
        <p:txBody>
          <a:bodyPr wrap="none">
            <a:spAutoFit/>
          </a:bodyPr>
          <a:lstStyle/>
          <a:p>
            <a:r>
              <a:rPr lang="en-US" altLang="zh-TW" sz="2800" b="1" dirty="0"/>
              <a:t>Q function</a:t>
            </a:r>
            <a:endParaRPr lang="zh-TW" altLang="en-US" sz="2800" b="1" dirty="0"/>
          </a:p>
        </p:txBody>
      </p:sp>
      <p:pic>
        <p:nvPicPr>
          <p:cNvPr id="6" name="圖片 5" descr="畫面剪輯"/>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9696" y="3450524"/>
            <a:ext cx="6554115" cy="1295581"/>
          </a:xfrm>
          <a:prstGeom prst="rect">
            <a:avLst/>
          </a:prstGeom>
        </p:spPr>
      </p:pic>
    </p:spTree>
    <p:extLst>
      <p:ext uri="{BB962C8B-B14F-4D97-AF65-F5344CB8AC3E}">
        <p14:creationId xmlns:p14="http://schemas.microsoft.com/office/powerpoint/2010/main" val="5477586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82024" y="534534"/>
            <a:ext cx="2304862" cy="461665"/>
          </a:xfrm>
          <a:prstGeom prst="rect">
            <a:avLst/>
          </a:prstGeom>
        </p:spPr>
        <p:txBody>
          <a:bodyPr wrap="none">
            <a:spAutoFit/>
          </a:bodyPr>
          <a:lstStyle/>
          <a:p>
            <a:r>
              <a:rPr lang="en-US" altLang="zh-TW" sz="2400" b="1" dirty="0" smtClean="0"/>
              <a:t>Payment Strategy</a:t>
            </a:r>
            <a:endParaRPr lang="zh-TW" altLang="en-US" sz="2400" b="1" dirty="0"/>
          </a:p>
        </p:txBody>
      </p:sp>
      <p:sp>
        <p:nvSpPr>
          <p:cNvPr id="3" name="矩形 2"/>
          <p:cNvSpPr/>
          <p:nvPr/>
        </p:nvSpPr>
        <p:spPr>
          <a:xfrm>
            <a:off x="682024" y="1342053"/>
            <a:ext cx="6375740" cy="369332"/>
          </a:xfrm>
          <a:prstGeom prst="rect">
            <a:avLst/>
          </a:prstGeom>
        </p:spPr>
        <p:txBody>
          <a:bodyPr wrap="square">
            <a:spAutoFit/>
          </a:bodyPr>
          <a:lstStyle/>
          <a:p>
            <a:r>
              <a:rPr lang="en-US" altLang="zh-TW" dirty="0" smtClean="0"/>
              <a:t>Use </a:t>
            </a:r>
            <a:r>
              <a:rPr lang="el-GR" altLang="zh-TW" dirty="0" smtClean="0"/>
              <a:t>ϵ </a:t>
            </a:r>
            <a:r>
              <a:rPr lang="en-US" altLang="zh-TW" dirty="0" smtClean="0"/>
              <a:t>-</a:t>
            </a:r>
            <a:r>
              <a:rPr lang="en-US" altLang="zh-TW" dirty="0"/>
              <a:t>greedy algorithm to avoid staying in the local </a:t>
            </a:r>
            <a:r>
              <a:rPr lang="en-US" altLang="zh-TW" dirty="0" smtClean="0"/>
              <a:t>maxima.</a:t>
            </a:r>
            <a:endParaRPr lang="zh-TW" altLang="en-US" dirty="0"/>
          </a:p>
        </p:txBody>
      </p:sp>
      <p:pic>
        <p:nvPicPr>
          <p:cNvPr id="1026" name="Picture 2" descr="「e greedy」的圖片搜尋結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4455" y="2057239"/>
            <a:ext cx="3543300" cy="1971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9621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874" y="332508"/>
            <a:ext cx="4997963" cy="4490357"/>
          </a:xfrm>
          <a:prstGeom prst="rect">
            <a:avLst/>
          </a:prstGeom>
        </p:spPr>
      </p:pic>
    </p:spTree>
    <p:extLst>
      <p:ext uri="{BB962C8B-B14F-4D97-AF65-F5344CB8AC3E}">
        <p14:creationId xmlns:p14="http://schemas.microsoft.com/office/powerpoint/2010/main" val="38169455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10772" y="1195684"/>
            <a:ext cx="6846932" cy="646331"/>
          </a:xfrm>
          <a:prstGeom prst="rect">
            <a:avLst/>
          </a:prstGeom>
        </p:spPr>
        <p:txBody>
          <a:bodyPr wrap="square">
            <a:spAutoFit/>
          </a:bodyPr>
          <a:lstStyle/>
          <a:p>
            <a:r>
              <a:rPr lang="en-US" altLang="zh-TW" dirty="0"/>
              <a:t>The convergence time of the Q-learning based MCS strategy depends on the size of the state space</a:t>
            </a:r>
            <a:endParaRPr lang="zh-TW" altLang="en-US" dirty="0"/>
          </a:p>
        </p:txBody>
      </p:sp>
      <p:sp>
        <p:nvSpPr>
          <p:cNvPr id="3" name="矩形 2"/>
          <p:cNvSpPr/>
          <p:nvPr/>
        </p:nvSpPr>
        <p:spPr>
          <a:xfrm>
            <a:off x="610772" y="480498"/>
            <a:ext cx="2304862" cy="461665"/>
          </a:xfrm>
          <a:prstGeom prst="rect">
            <a:avLst/>
          </a:prstGeom>
        </p:spPr>
        <p:txBody>
          <a:bodyPr wrap="square">
            <a:spAutoFit/>
          </a:bodyPr>
          <a:lstStyle/>
          <a:p>
            <a:r>
              <a:rPr lang="en-US" altLang="zh-TW" sz="2400" b="1" dirty="0" smtClean="0"/>
              <a:t>Convergence</a:t>
            </a:r>
            <a:endParaRPr lang="zh-TW" altLang="en-US" sz="2400" b="1" dirty="0"/>
          </a:p>
        </p:txBody>
      </p:sp>
    </p:spTree>
    <p:extLst>
      <p:ext uri="{BB962C8B-B14F-4D97-AF65-F5344CB8AC3E}">
        <p14:creationId xmlns:p14="http://schemas.microsoft.com/office/powerpoint/2010/main" val="23036696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41381" y="439531"/>
            <a:ext cx="3853171" cy="523220"/>
          </a:xfrm>
          <a:prstGeom prst="rect">
            <a:avLst/>
          </a:prstGeom>
        </p:spPr>
        <p:txBody>
          <a:bodyPr wrap="none">
            <a:spAutoFit/>
          </a:bodyPr>
          <a:lstStyle/>
          <a:p>
            <a:r>
              <a:rPr lang="en-US" altLang="zh-TW" sz="2800" b="1" dirty="0"/>
              <a:t>DQN-Based MCS Payment</a:t>
            </a:r>
            <a:endParaRPr lang="zh-TW" altLang="en-US" sz="2800" b="1" dirty="0"/>
          </a:p>
        </p:txBody>
      </p:sp>
      <p:pic>
        <p:nvPicPr>
          <p:cNvPr id="3" name="圖片 2"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381" y="1214375"/>
            <a:ext cx="4563112" cy="885949"/>
          </a:xfrm>
          <a:prstGeom prst="rect">
            <a:avLst/>
          </a:prstGeom>
        </p:spPr>
      </p:pic>
      <p:sp>
        <p:nvSpPr>
          <p:cNvPr id="4" name="矩形 3"/>
          <p:cNvSpPr/>
          <p:nvPr/>
        </p:nvSpPr>
        <p:spPr>
          <a:xfrm>
            <a:off x="632493" y="2628732"/>
            <a:ext cx="7478354" cy="923330"/>
          </a:xfrm>
          <a:prstGeom prst="rect">
            <a:avLst/>
          </a:prstGeom>
        </p:spPr>
        <p:txBody>
          <a:bodyPr wrap="square">
            <a:spAutoFit/>
          </a:bodyPr>
          <a:lstStyle/>
          <a:p>
            <a:r>
              <a:rPr lang="en-US" altLang="zh-TW" dirty="0" smtClean="0"/>
              <a:t>	The </a:t>
            </a:r>
            <a:r>
              <a:rPr lang="en-US" altLang="zh-TW" dirty="0"/>
              <a:t>deep Q-network technique accelerates the learning speed of Q-learning by using a nonlinear neural network function </a:t>
            </a:r>
            <a:r>
              <a:rPr lang="en-US" altLang="zh-TW" dirty="0" err="1"/>
              <a:t>approximator</a:t>
            </a:r>
            <a:r>
              <a:rPr lang="en-US" altLang="zh-TW" dirty="0"/>
              <a:t> to estimate the values of the </a:t>
            </a:r>
            <a:r>
              <a:rPr lang="en-US" altLang="zh-TW" dirty="0" smtClean="0"/>
              <a:t>Q-function.</a:t>
            </a:r>
            <a:endParaRPr lang="zh-TW" altLang="en-US" dirty="0"/>
          </a:p>
        </p:txBody>
      </p:sp>
    </p:spTree>
    <p:extLst>
      <p:ext uri="{BB962C8B-B14F-4D97-AF65-F5344CB8AC3E}">
        <p14:creationId xmlns:p14="http://schemas.microsoft.com/office/powerpoint/2010/main" val="396592130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610" y="287863"/>
            <a:ext cx="7307236" cy="4582504"/>
          </a:xfrm>
          <a:prstGeom prst="rect">
            <a:avLst/>
          </a:prstGeom>
        </p:spPr>
      </p:pic>
    </p:spTree>
    <p:extLst>
      <p:ext uri="{BB962C8B-B14F-4D97-AF65-F5344CB8AC3E}">
        <p14:creationId xmlns:p14="http://schemas.microsoft.com/office/powerpoint/2010/main" val="29441335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348" y="225630"/>
            <a:ext cx="5013660" cy="4549733"/>
          </a:xfrm>
          <a:prstGeom prst="rect">
            <a:avLst/>
          </a:prstGeom>
        </p:spPr>
      </p:pic>
      <p:pic>
        <p:nvPicPr>
          <p:cNvPr id="7" name="圖片 6" descr="畫面剪輯"/>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9129" y="1887069"/>
            <a:ext cx="3947992" cy="2888294"/>
          </a:xfrm>
          <a:prstGeom prst="rect">
            <a:avLst/>
          </a:prstGeom>
        </p:spPr>
      </p:pic>
    </p:spTree>
    <p:extLst>
      <p:ext uri="{BB962C8B-B14F-4D97-AF65-F5344CB8AC3E}">
        <p14:creationId xmlns:p14="http://schemas.microsoft.com/office/powerpoint/2010/main" val="7694310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673" y="1093015"/>
            <a:ext cx="4237202" cy="3346362"/>
          </a:xfrm>
          <a:prstGeom prst="rect">
            <a:avLst/>
          </a:prstGeom>
        </p:spPr>
      </p:pic>
      <p:pic>
        <p:nvPicPr>
          <p:cNvPr id="3" name="圖片 2" descr="畫面剪輯"/>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83875" y="1093015"/>
            <a:ext cx="4227616" cy="3351303"/>
          </a:xfrm>
          <a:prstGeom prst="rect">
            <a:avLst/>
          </a:prstGeom>
        </p:spPr>
      </p:pic>
    </p:spTree>
    <p:extLst>
      <p:ext uri="{BB962C8B-B14F-4D97-AF65-F5344CB8AC3E}">
        <p14:creationId xmlns:p14="http://schemas.microsoft.com/office/powerpoint/2010/main" val="42815500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descr="畫面剪輯"/>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935" y="1062217"/>
            <a:ext cx="3258005" cy="2734057"/>
          </a:xfrm>
          <a:prstGeom prst="rect">
            <a:avLst/>
          </a:prstGeom>
        </p:spPr>
      </p:pic>
    </p:spTree>
    <p:extLst>
      <p:ext uri="{BB962C8B-B14F-4D97-AF65-F5344CB8AC3E}">
        <p14:creationId xmlns:p14="http://schemas.microsoft.com/office/powerpoint/2010/main" val="30220220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 xmlns:a16="http://schemas.microsoft.com/office/drawing/2014/main" id="{B1EF227F-F971-46C4-8C83-D820A502B67B}"/>
              </a:ext>
            </a:extLst>
          </p:cNvPr>
          <p:cNvSpPr/>
          <p:nvPr/>
        </p:nvSpPr>
        <p:spPr>
          <a:xfrm>
            <a:off x="388823" y="375240"/>
            <a:ext cx="1604927" cy="400110"/>
          </a:xfrm>
          <a:prstGeom prst="rect">
            <a:avLst/>
          </a:prstGeom>
        </p:spPr>
        <p:txBody>
          <a:bodyPr wrap="none">
            <a:spAutoFit/>
          </a:bodyPr>
          <a:lstStyle/>
          <a:p>
            <a:pPr>
              <a:spcAft>
                <a:spcPts val="0"/>
              </a:spcAft>
            </a:pPr>
            <a:r>
              <a:rPr lang="en-US" altLang="zh-CN" sz="2000" b="1" kern="100" dirty="0" smtClean="0">
                <a:solidFill>
                  <a:schemeClr val="accent1"/>
                </a:solidFill>
                <a:latin typeface="+mn-ea"/>
                <a:cs typeface="Times New Roman" panose="02020603050405020304" pitchFamily="18" charset="0"/>
              </a:rPr>
              <a:t>Conclusion</a:t>
            </a:r>
            <a:endParaRPr lang="zh-CN" altLang="en-US" sz="2000" b="1" kern="100" dirty="0">
              <a:solidFill>
                <a:schemeClr val="accent1"/>
              </a:solidFill>
              <a:latin typeface="+mn-ea"/>
              <a:cs typeface="Times New Roman" panose="02020603050405020304" pitchFamily="18" charset="0"/>
            </a:endParaRPr>
          </a:p>
        </p:txBody>
      </p:sp>
      <p:sp>
        <p:nvSpPr>
          <p:cNvPr id="36" name="矩形 35">
            <a:extLst>
              <a:ext uri="{FF2B5EF4-FFF2-40B4-BE49-F238E27FC236}">
                <a16:creationId xmlns="" xmlns:a16="http://schemas.microsoft.com/office/drawing/2014/main" id="{DDDD06C2-0A95-4B14-9E09-89CC4B302BB0}"/>
              </a:ext>
            </a:extLst>
          </p:cNvPr>
          <p:cNvSpPr/>
          <p:nvPr/>
        </p:nvSpPr>
        <p:spPr>
          <a:xfrm>
            <a:off x="656877" y="1127288"/>
            <a:ext cx="4698894" cy="400110"/>
          </a:xfrm>
          <a:prstGeom prst="rect">
            <a:avLst/>
          </a:prstGeom>
          <a:solidFill>
            <a:schemeClr val="accent1"/>
          </a:solidFill>
        </p:spPr>
        <p:txBody>
          <a:bodyPr wrap="square">
            <a:spAutoFit/>
          </a:bodyPr>
          <a:lstStyle/>
          <a:p>
            <a:pPr algn="ctr">
              <a:spcAft>
                <a:spcPts val="0"/>
              </a:spcAft>
            </a:pPr>
            <a:r>
              <a:rPr lang="en-US" altLang="zh-CN" sz="2000" kern="100" dirty="0" smtClean="0">
                <a:solidFill>
                  <a:schemeClr val="bg1"/>
                </a:solidFill>
                <a:latin typeface="+mj-lt"/>
                <a:cs typeface="Times New Roman" panose="02020603050405020304" pitchFamily="18" charset="0"/>
              </a:rPr>
              <a:t>Suppress </a:t>
            </a:r>
            <a:r>
              <a:rPr lang="en-US" altLang="zh-CN" sz="2000" kern="100" dirty="0">
                <a:solidFill>
                  <a:schemeClr val="bg1"/>
                </a:solidFill>
                <a:latin typeface="+mj-lt"/>
                <a:cs typeface="Times New Roman" panose="02020603050405020304" pitchFamily="18" charset="0"/>
              </a:rPr>
              <a:t>faked sensing attacks</a:t>
            </a:r>
            <a:endParaRPr lang="en-US" altLang="zh-CN" sz="2000" kern="100" dirty="0">
              <a:solidFill>
                <a:schemeClr val="bg1"/>
              </a:solidFill>
              <a:latin typeface="+mj-lt"/>
              <a:cs typeface="Times New Roman" panose="02020603050405020304" pitchFamily="18" charset="0"/>
            </a:endParaRPr>
          </a:p>
        </p:txBody>
      </p:sp>
      <p:sp>
        <p:nvSpPr>
          <p:cNvPr id="63" name="矩形 62">
            <a:extLst>
              <a:ext uri="{FF2B5EF4-FFF2-40B4-BE49-F238E27FC236}">
                <a16:creationId xmlns="" xmlns:a16="http://schemas.microsoft.com/office/drawing/2014/main" id="{DCED1CF3-02E4-407A-8884-FCB793328894}"/>
              </a:ext>
            </a:extLst>
          </p:cNvPr>
          <p:cNvSpPr/>
          <p:nvPr/>
        </p:nvSpPr>
        <p:spPr>
          <a:xfrm>
            <a:off x="656876" y="2160316"/>
            <a:ext cx="4698895" cy="707886"/>
          </a:xfrm>
          <a:prstGeom prst="rect">
            <a:avLst/>
          </a:prstGeom>
          <a:solidFill>
            <a:schemeClr val="accent1"/>
          </a:solidFill>
        </p:spPr>
        <p:txBody>
          <a:bodyPr wrap="square">
            <a:spAutoFit/>
          </a:bodyPr>
          <a:lstStyle/>
          <a:p>
            <a:pPr algn="ctr">
              <a:spcAft>
                <a:spcPts val="0"/>
              </a:spcAft>
            </a:pPr>
            <a:r>
              <a:rPr lang="en-US" altLang="zh-CN" sz="2000" kern="100" dirty="0" smtClean="0">
                <a:solidFill>
                  <a:schemeClr val="bg1"/>
                </a:solidFill>
                <a:latin typeface="+mj-lt"/>
                <a:cs typeface="Times New Roman" panose="02020603050405020304" pitchFamily="18" charset="0"/>
              </a:rPr>
              <a:t>Without</a:t>
            </a:r>
            <a:endParaRPr lang="en-US" altLang="zh-CN" sz="2000" kern="100" dirty="0">
              <a:solidFill>
                <a:schemeClr val="bg1"/>
              </a:solidFill>
              <a:latin typeface="+mj-lt"/>
              <a:cs typeface="Times New Roman" panose="02020603050405020304" pitchFamily="18" charset="0"/>
            </a:endParaRPr>
          </a:p>
          <a:p>
            <a:pPr algn="ctr">
              <a:spcAft>
                <a:spcPts val="0"/>
              </a:spcAft>
            </a:pPr>
            <a:r>
              <a:rPr lang="en-US" altLang="zh-CN" sz="2000" kern="100" dirty="0">
                <a:solidFill>
                  <a:schemeClr val="bg1"/>
                </a:solidFill>
                <a:latin typeface="+mj-lt"/>
                <a:cs typeface="Times New Roman" panose="02020603050405020304" pitchFamily="18" charset="0"/>
              </a:rPr>
              <a:t>knowing the sensing model</a:t>
            </a:r>
            <a:endParaRPr lang="en-US" altLang="zh-CN" sz="2000" kern="100" dirty="0">
              <a:solidFill>
                <a:schemeClr val="bg1"/>
              </a:solidFill>
              <a:latin typeface="+mj-lt"/>
              <a:cs typeface="Times New Roman" panose="02020603050405020304" pitchFamily="18" charset="0"/>
            </a:endParaRPr>
          </a:p>
        </p:txBody>
      </p:sp>
      <p:sp>
        <p:nvSpPr>
          <p:cNvPr id="66" name="矩形 65">
            <a:extLst>
              <a:ext uri="{FF2B5EF4-FFF2-40B4-BE49-F238E27FC236}">
                <a16:creationId xmlns="" xmlns:a16="http://schemas.microsoft.com/office/drawing/2014/main" id="{D83C1B47-D9F8-463A-B46A-5CDACDCC81F4}"/>
              </a:ext>
            </a:extLst>
          </p:cNvPr>
          <p:cNvSpPr/>
          <p:nvPr/>
        </p:nvSpPr>
        <p:spPr>
          <a:xfrm>
            <a:off x="656877" y="3501120"/>
            <a:ext cx="4698894" cy="400110"/>
          </a:xfrm>
          <a:prstGeom prst="rect">
            <a:avLst/>
          </a:prstGeom>
          <a:solidFill>
            <a:schemeClr val="accent1"/>
          </a:solidFill>
        </p:spPr>
        <p:txBody>
          <a:bodyPr wrap="square">
            <a:spAutoFit/>
          </a:bodyPr>
          <a:lstStyle/>
          <a:p>
            <a:pPr algn="ctr">
              <a:spcAft>
                <a:spcPts val="0"/>
              </a:spcAft>
            </a:pPr>
            <a:r>
              <a:rPr lang="en-US" altLang="zh-CN" sz="2000" kern="100" dirty="0" smtClean="0">
                <a:solidFill>
                  <a:schemeClr val="bg1"/>
                </a:solidFill>
                <a:latin typeface="+mj-lt"/>
                <a:cs typeface="Times New Roman" panose="02020603050405020304" pitchFamily="18" charset="0"/>
              </a:rPr>
              <a:t>Higher </a:t>
            </a:r>
            <a:r>
              <a:rPr lang="en-US" altLang="zh-CN" sz="2000" kern="100" dirty="0">
                <a:solidFill>
                  <a:schemeClr val="bg1"/>
                </a:solidFill>
                <a:latin typeface="+mj-lt"/>
                <a:cs typeface="Times New Roman" panose="02020603050405020304" pitchFamily="18" charset="0"/>
              </a:rPr>
              <a:t>utility of the server</a:t>
            </a:r>
            <a:endParaRPr lang="en-US" altLang="zh-CN" sz="2000" kern="100" dirty="0">
              <a:solidFill>
                <a:schemeClr val="bg1"/>
              </a:solidFill>
              <a:latin typeface="+mj-lt"/>
              <a:cs typeface="Times New Roman" panose="02020603050405020304" pitchFamily="18" charset="0"/>
            </a:endParaRPr>
          </a:p>
        </p:txBody>
      </p:sp>
    </p:spTree>
    <p:extLst>
      <p:ext uri="{BB962C8B-B14F-4D97-AF65-F5344CB8AC3E}">
        <p14:creationId xmlns:p14="http://schemas.microsoft.com/office/powerpoint/2010/main" val="29197256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沉稳简约1">
      <a:dk1>
        <a:sysClr val="windowText" lastClr="000000"/>
      </a:dk1>
      <a:lt1>
        <a:sysClr val="window" lastClr="FFFFFF"/>
      </a:lt1>
      <a:dk2>
        <a:srgbClr val="44546A"/>
      </a:dk2>
      <a:lt2>
        <a:srgbClr val="E7E6E6"/>
      </a:lt2>
      <a:accent1>
        <a:srgbClr val="222B34"/>
      </a:accent1>
      <a:accent2>
        <a:srgbClr val="F6F4F7"/>
      </a:accent2>
      <a:accent3>
        <a:srgbClr val="A5A5A5"/>
      </a:accent3>
      <a:accent4>
        <a:srgbClr val="FFC000"/>
      </a:accent4>
      <a:accent5>
        <a:srgbClr val="5B9BD5"/>
      </a:accent5>
      <a:accent6>
        <a:srgbClr val="70AD47"/>
      </a:accent6>
      <a:hlink>
        <a:srgbClr val="000000"/>
      </a:hlink>
      <a:folHlink>
        <a:srgbClr val="954F72"/>
      </a:folHlink>
    </a:clrScheme>
    <a:fontScheme name="自定义 1">
      <a:majorFont>
        <a:latin typeface="Arial"/>
        <a:ea typeface="微软雅黑"/>
        <a:cs typeface=""/>
      </a:majorFont>
      <a:minorFont>
        <a:latin typeface="Calibri Light"/>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697</TotalTime>
  <Words>1620</Words>
  <Application>Microsoft Office PowerPoint</Application>
  <PresentationFormat>如螢幕大小 (16:9)</PresentationFormat>
  <Paragraphs>153</Paragraphs>
  <Slides>29</Slides>
  <Notes>24</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29</vt:i4>
      </vt:variant>
    </vt:vector>
  </HeadingPairs>
  <TitlesOfParts>
    <vt:vector size="39" baseType="lpstr">
      <vt:lpstr>Gill Sans</vt:lpstr>
      <vt:lpstr>微软雅黑</vt:lpstr>
      <vt:lpstr>宋体</vt:lpstr>
      <vt:lpstr>新細明體</vt:lpstr>
      <vt:lpstr>Arial</vt:lpstr>
      <vt:lpstr>Calibri</vt:lpstr>
      <vt:lpstr>Calibri Light</vt:lpstr>
      <vt:lpstr>Cambria Math</vt:lpstr>
      <vt:lpstr>Times New Roman</vt:lpstr>
      <vt:lpstr>Office 主题​​</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祺淵 黃</cp:lastModifiedBy>
  <cp:revision>152</cp:revision>
  <dcterms:created xsi:type="dcterms:W3CDTF">2017-10-30T02:36:03Z</dcterms:created>
  <dcterms:modified xsi:type="dcterms:W3CDTF">2019-10-03T23:00:08Z</dcterms:modified>
</cp:coreProperties>
</file>