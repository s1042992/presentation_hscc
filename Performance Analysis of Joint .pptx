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0"/>
  </p:notesMasterIdLst>
  <p:sldIdLst>
    <p:sldId id="256" r:id="rId2"/>
    <p:sldId id="260" r:id="rId3"/>
    <p:sldId id="257" r:id="rId4"/>
    <p:sldId id="307" r:id="rId5"/>
    <p:sldId id="308" r:id="rId6"/>
    <p:sldId id="309" r:id="rId7"/>
    <p:sldId id="310" r:id="rId8"/>
    <p:sldId id="258" r:id="rId9"/>
    <p:sldId id="311" r:id="rId10"/>
    <p:sldId id="312" r:id="rId11"/>
    <p:sldId id="313" r:id="rId12"/>
    <p:sldId id="314" r:id="rId13"/>
    <p:sldId id="315" r:id="rId14"/>
    <p:sldId id="316" r:id="rId15"/>
    <p:sldId id="261" r:id="rId16"/>
    <p:sldId id="317" r:id="rId17"/>
    <p:sldId id="318" r:id="rId18"/>
    <p:sldId id="320" r:id="rId19"/>
    <p:sldId id="321" r:id="rId20"/>
    <p:sldId id="322" r:id="rId21"/>
    <p:sldId id="323" r:id="rId22"/>
    <p:sldId id="324" r:id="rId23"/>
    <p:sldId id="325" r:id="rId24"/>
    <p:sldId id="330" r:id="rId25"/>
    <p:sldId id="326" r:id="rId26"/>
    <p:sldId id="327" r:id="rId27"/>
    <p:sldId id="328" r:id="rId28"/>
    <p:sldId id="329" r:id="rId29"/>
  </p:sldIdLst>
  <p:sldSz cx="9144000" cy="5143500" type="screen16x9"/>
  <p:notesSz cx="6858000" cy="9144000"/>
  <p:embeddedFontLst>
    <p:embeddedFont>
      <p:font typeface="Cambria Math" panose="02040503050406030204" pitchFamily="18" charset="0"/>
      <p:regular r:id="rId31"/>
    </p:embeddedFont>
    <p:embeddedFont>
      <p:font typeface="Catamaran" panose="020B0604020202020204" charset="0"/>
      <p:regular r:id="rId32"/>
      <p:bold r:id="rId33"/>
    </p:embeddedFont>
    <p:embeddedFont>
      <p:font typeface="Architects Daughter" panose="020B0604020202020204"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5E4ECD-61D7-4BE4-A7D3-DAFEBAC46537}">
  <a:tblStyle styleId="{565E4ECD-61D7-4BE4-A7D3-DAFEBAC4653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941" autoAdjust="0"/>
  </p:normalViewPr>
  <p:slideViewPr>
    <p:cSldViewPr snapToGrid="0">
      <p:cViewPr varScale="1">
        <p:scale>
          <a:sx n="115" d="100"/>
          <a:sy n="115" d="100"/>
        </p:scale>
        <p:origin x="14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9116404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這篇論文是</a:t>
            </a:r>
            <a:r>
              <a:rPr lang="en-US" altLang="zh-TW" dirty="0"/>
              <a:t>multibeam satellite system</a:t>
            </a:r>
            <a:r>
              <a:rPr lang="zh-TW" altLang="en-US" dirty="0"/>
              <a:t>在使用</a:t>
            </a:r>
            <a:r>
              <a:rPr lang="en-US" altLang="zh-TW" dirty="0"/>
              <a:t>joint precoding </a:t>
            </a:r>
            <a:r>
              <a:rPr lang="zh-TW" altLang="en-US" dirty="0"/>
              <a:t>以及</a:t>
            </a:r>
            <a:r>
              <a:rPr lang="en-US" altLang="zh-TW" dirty="0"/>
              <a:t>MUD</a:t>
            </a:r>
            <a:r>
              <a:rPr lang="zh-TW" altLang="en-US" dirty="0"/>
              <a:t>的分析</a:t>
            </a:r>
            <a:endParaRPr dirty="0"/>
          </a:p>
        </p:txBody>
      </p:sp>
    </p:spTree>
    <p:extLst>
      <p:ext uri="{BB962C8B-B14F-4D97-AF65-F5344CB8AC3E}">
        <p14:creationId xmlns:p14="http://schemas.microsoft.com/office/powerpoint/2010/main" val="1851551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7348ee11bb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7348ee11bb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9682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7395e1ec2a_0_167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7395e1ec2a_0_167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ubiquitous connectivity (</a:t>
            </a:r>
            <a:r>
              <a:rPr lang="zh-TW" altLang="en-US" dirty="0"/>
              <a:t>中文翻作</a:t>
            </a:r>
            <a:r>
              <a:rPr lang="en-US" altLang="zh-TW" dirty="0"/>
              <a:t>”</a:t>
            </a:r>
            <a:r>
              <a:rPr lang="zh-TW" altLang="en-US" dirty="0"/>
              <a:t>無所不在的連結</a:t>
            </a:r>
            <a:r>
              <a:rPr lang="en-US" altLang="zh-TW" dirty="0"/>
              <a:t>”)</a:t>
            </a:r>
            <a:r>
              <a:rPr lang="zh-TW" altLang="en-US" dirty="0"/>
              <a:t> 是</a:t>
            </a:r>
            <a:r>
              <a:rPr lang="en-US" altLang="zh-TW" dirty="0"/>
              <a:t>5G</a:t>
            </a:r>
            <a:r>
              <a:rPr lang="zh-TW" altLang="en-US" dirty="0"/>
              <a:t>通訊很重要的一個需求，隨時隨地提供</a:t>
            </a:r>
            <a:r>
              <a:rPr lang="en-US" altLang="zh-TW" dirty="0"/>
              <a:t>large data rate (50Mbit/s- 1 G bits/s)</a:t>
            </a:r>
            <a:r>
              <a:rPr lang="zh-TW" altLang="en-US" dirty="0"/>
              <a:t>在未來是一個很具有挑戰的特點。在此背景下，並考慮到在人口稠密地區部署</a:t>
            </a:r>
            <a:r>
              <a:rPr lang="en-US" altLang="zh-TW" dirty="0"/>
              <a:t>backhaul networks</a:t>
            </a:r>
            <a:r>
              <a:rPr lang="zh-TW" altLang="en-US" dirty="0"/>
              <a:t>的資本支出增加的</a:t>
            </a:r>
            <a:r>
              <a:rPr lang="zh-TW" altLang="en-US" dirty="0" smtClean="0"/>
              <a:t>情況下，</a:t>
            </a:r>
            <a:r>
              <a:rPr lang="zh-TW" altLang="en-US" dirty="0"/>
              <a:t>使用</a:t>
            </a:r>
            <a:r>
              <a:rPr lang="en-US" altLang="zh-TW" dirty="0"/>
              <a:t>5G</a:t>
            </a:r>
            <a:r>
              <a:rPr lang="zh-TW" altLang="en-US" dirty="0"/>
              <a:t>衛星變得有吸引力。學術界和工業界都在研究新穎的方法來構想能夠以每秒</a:t>
            </a:r>
            <a:r>
              <a:rPr lang="en-US" altLang="zh-TW" dirty="0"/>
              <a:t>Terabit</a:t>
            </a:r>
            <a:r>
              <a:rPr lang="zh-TW" altLang="en-US" dirty="0"/>
              <a:t>的</a:t>
            </a:r>
            <a:r>
              <a:rPr lang="en-US" altLang="zh-TW" dirty="0"/>
              <a:t>forward link</a:t>
            </a:r>
            <a:r>
              <a:rPr lang="zh-TW" altLang="en-US" dirty="0"/>
              <a:t> </a:t>
            </a:r>
            <a:r>
              <a:rPr lang="en-US" altLang="zh-TW" dirty="0"/>
              <a:t>capacity</a:t>
            </a:r>
            <a:r>
              <a:rPr lang="zh-TW" altLang="en-US" dirty="0"/>
              <a:t>的衛星系統，</a:t>
            </a:r>
            <a:r>
              <a:rPr lang="zh-TW" altLang="en-US" dirty="0" smtClean="0"/>
              <a:t>以便同時為大量用戶</a:t>
            </a:r>
            <a:r>
              <a:rPr lang="zh-TW" altLang="en-US" dirty="0"/>
              <a:t>提供服務。 實際上，只有在提供到用戶的</a:t>
            </a:r>
            <a:r>
              <a:rPr lang="zh-TW" altLang="en-US" dirty="0" smtClean="0"/>
              <a:t>不同</a:t>
            </a:r>
            <a:r>
              <a:rPr lang="en-US" altLang="zh-TW" dirty="0" smtClean="0"/>
              <a:t>beam</a:t>
            </a:r>
            <a:r>
              <a:rPr lang="zh-TW" altLang="en-US" dirty="0" smtClean="0"/>
              <a:t>共享</a:t>
            </a:r>
            <a:r>
              <a:rPr lang="zh-TW" altLang="en-US" dirty="0"/>
              <a:t>所有可用頻寬的情況</a:t>
            </a:r>
            <a:r>
              <a:rPr lang="zh-TW" altLang="en-US" dirty="0" smtClean="0"/>
              <a:t>下，也就是</a:t>
            </a:r>
            <a:r>
              <a:rPr lang="en-US" altLang="zh-TW" dirty="0" smtClean="0"/>
              <a:t>frequency reuse</a:t>
            </a:r>
            <a:r>
              <a:rPr lang="zh-TW" altLang="en-US" dirty="0" smtClean="0"/>
              <a:t>，</a:t>
            </a:r>
            <a:r>
              <a:rPr lang="zh-TW" altLang="en-US" dirty="0"/>
              <a:t>才能做到這一點。這種積極的</a:t>
            </a:r>
            <a:r>
              <a:rPr lang="en-US" altLang="zh-TW" dirty="0"/>
              <a:t>frequency reuse</a:t>
            </a:r>
            <a:r>
              <a:rPr lang="zh-TW" altLang="en-US" dirty="0"/>
              <a:t>方式導致波束間干擾的大量增加，從而使</a:t>
            </a:r>
            <a:r>
              <a:rPr lang="en-US" altLang="zh-TW" dirty="0"/>
              <a:t>interference</a:t>
            </a:r>
            <a:r>
              <a:rPr lang="zh-TW" altLang="en-US" dirty="0"/>
              <a:t> </a:t>
            </a:r>
            <a:r>
              <a:rPr lang="en-US" altLang="zh-TW" dirty="0"/>
              <a:t>mitigation</a:t>
            </a:r>
            <a:r>
              <a:rPr lang="zh-TW" altLang="en-US" dirty="0"/>
              <a:t>（</a:t>
            </a:r>
            <a:r>
              <a:rPr lang="en-US" altLang="zh-TW" dirty="0"/>
              <a:t>IM</a:t>
            </a:r>
            <a:r>
              <a:rPr lang="zh-TW" altLang="en-US" dirty="0"/>
              <a:t>）技術成為必要措施。</a:t>
            </a:r>
            <a:endParaRPr lang="en-US" altLang="zh-TW" dirty="0"/>
          </a:p>
        </p:txBody>
      </p:sp>
    </p:spTree>
    <p:extLst>
      <p:ext uri="{BB962C8B-B14F-4D97-AF65-F5344CB8AC3E}">
        <p14:creationId xmlns:p14="http://schemas.microsoft.com/office/powerpoint/2010/main" val="3043571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en-US" altLang="zh-TW" dirty="0"/>
              <a:t>beam</a:t>
            </a:r>
            <a:r>
              <a:rPr lang="zh-TW" altLang="en-US" dirty="0"/>
              <a:t>之間的干擾 可以在</a:t>
            </a:r>
            <a:r>
              <a:rPr lang="en-US" altLang="zh-TW" dirty="0"/>
              <a:t>receiver</a:t>
            </a:r>
            <a:r>
              <a:rPr lang="zh-TW" altLang="en-US" dirty="0"/>
              <a:t>端 或者是在</a:t>
            </a:r>
            <a:r>
              <a:rPr lang="en-US" altLang="zh-TW" dirty="0" err="1"/>
              <a:t>trasmitter</a:t>
            </a:r>
            <a:r>
              <a:rPr lang="zh-TW" altLang="en-US" dirty="0"/>
              <a:t>端來減少，</a:t>
            </a:r>
            <a:r>
              <a:rPr lang="en-US" altLang="zh-TW" dirty="0"/>
              <a:t>Receiver based</a:t>
            </a:r>
            <a:r>
              <a:rPr lang="zh-TW" altLang="en-US" dirty="0"/>
              <a:t>的</a:t>
            </a:r>
            <a:r>
              <a:rPr lang="en-US" altLang="zh-TW" dirty="0"/>
              <a:t>IM</a:t>
            </a:r>
            <a:r>
              <a:rPr lang="zh-TW" altLang="en-US" dirty="0"/>
              <a:t>也就是</a:t>
            </a:r>
            <a:r>
              <a:rPr lang="en-US" altLang="zh-TW" dirty="0"/>
              <a:t>multiuser detection,</a:t>
            </a:r>
            <a:r>
              <a:rPr lang="zh-TW" altLang="en-US" dirty="0"/>
              <a:t>會增加用戶設備的複雜性與成本，但基於 </a:t>
            </a:r>
            <a:r>
              <a:rPr lang="en-US" altLang="zh-TW" dirty="0"/>
              <a:t>transmitter</a:t>
            </a:r>
            <a:r>
              <a:rPr lang="zh-TW" altLang="en-US" dirty="0"/>
              <a:t> </a:t>
            </a:r>
            <a:r>
              <a:rPr lang="en-US" altLang="zh-TW" dirty="0"/>
              <a:t>based</a:t>
            </a:r>
            <a:r>
              <a:rPr lang="zh-TW" altLang="en-US" dirty="0"/>
              <a:t>的</a:t>
            </a:r>
            <a:r>
              <a:rPr lang="en-US" altLang="zh-TW" dirty="0"/>
              <a:t>IM(</a:t>
            </a:r>
            <a:r>
              <a:rPr lang="zh-TW" altLang="en-US" dirty="0"/>
              <a:t>就是做</a:t>
            </a:r>
            <a:r>
              <a:rPr lang="en-US" altLang="zh-TW" dirty="0"/>
              <a:t>precoding), </a:t>
            </a:r>
            <a:r>
              <a:rPr lang="zh-TW" altLang="en-US" dirty="0"/>
              <a:t>可以大大</a:t>
            </a:r>
            <a:r>
              <a:rPr lang="zh-TW" altLang="en-US" dirty="0" smtClean="0"/>
              <a:t>減少</a:t>
            </a:r>
            <a:r>
              <a:rPr lang="en-US" altLang="zh-TW" dirty="0" err="1" smtClean="0"/>
              <a:t>recevier</a:t>
            </a:r>
            <a:r>
              <a:rPr lang="zh-TW" altLang="en-US" dirty="0" smtClean="0"/>
              <a:t>的</a:t>
            </a:r>
            <a:r>
              <a:rPr lang="zh-TW" altLang="en-US" dirty="0"/>
              <a:t>複雜性。</a:t>
            </a:r>
            <a:endParaRPr lang="en-US" altLang="zh-TW" dirty="0"/>
          </a:p>
          <a:p>
            <a:pPr marL="158750" indent="0">
              <a:buNone/>
            </a:pPr>
            <a:r>
              <a:rPr lang="zh-TW" altLang="en-US" dirty="0"/>
              <a:t>但是</a:t>
            </a:r>
            <a:r>
              <a:rPr lang="en-US" altLang="zh-TW" dirty="0"/>
              <a:t>precoding</a:t>
            </a:r>
            <a:r>
              <a:rPr lang="zh-TW" altLang="en-US" dirty="0"/>
              <a:t>需要浪費通道資源將通道狀況回傳給</a:t>
            </a:r>
            <a:r>
              <a:rPr lang="en-US" altLang="zh-TW" dirty="0"/>
              <a:t>gateway</a:t>
            </a:r>
            <a:r>
              <a:rPr lang="zh-TW" altLang="en-US" dirty="0"/>
              <a:t>，並且就算</a:t>
            </a:r>
            <a:r>
              <a:rPr lang="en-US" altLang="zh-TW" dirty="0"/>
              <a:t>transmitter</a:t>
            </a:r>
            <a:r>
              <a:rPr lang="zh-TW" altLang="en-US" dirty="0"/>
              <a:t>有正確的通道狀況，由於衛星標準的多傳播以及其他損失，真正的</a:t>
            </a:r>
            <a:r>
              <a:rPr lang="en-US" altLang="zh-TW" dirty="0"/>
              <a:t>data</a:t>
            </a:r>
            <a:r>
              <a:rPr lang="zh-TW" altLang="en-US" dirty="0"/>
              <a:t> </a:t>
            </a:r>
            <a:r>
              <a:rPr lang="en-US" altLang="zh-TW" dirty="0"/>
              <a:t>rate</a:t>
            </a:r>
            <a:r>
              <a:rPr lang="zh-TW" altLang="en-US" dirty="0"/>
              <a:t>也會有所損失。</a:t>
            </a:r>
          </a:p>
        </p:txBody>
      </p:sp>
    </p:spTree>
    <p:extLst>
      <p:ext uri="{BB962C8B-B14F-4D97-AF65-F5344CB8AC3E}">
        <p14:creationId xmlns:p14="http://schemas.microsoft.com/office/powerpoint/2010/main" val="130044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通常，選擇在接收器處還是在發送器處執行</a:t>
            </a:r>
            <a:r>
              <a:rPr lang="en-US" altLang="zh-TW" dirty="0"/>
              <a:t>IM</a:t>
            </a:r>
            <a:r>
              <a:rPr lang="zh-TW" altLang="en-US" dirty="0"/>
              <a:t>需要考慮特定覆蓋區域的特殊性，進行深入的性價比分析。 但是，對於多用戶檢測（</a:t>
            </a:r>
            <a:r>
              <a:rPr lang="en-US" altLang="zh-TW" dirty="0"/>
              <a:t>MUD</a:t>
            </a:r>
            <a:r>
              <a:rPr lang="zh-TW" altLang="en-US" dirty="0"/>
              <a:t>）情況，很明顯，由於復雜度的指數增加，接收器無法同時檢測到兩個以上的信號。若要檢測兩個以上的信號，則會合併其他訊號，因此</a:t>
            </a:r>
            <a:r>
              <a:rPr lang="en-US" altLang="zh-TW" dirty="0"/>
              <a:t>receiver based</a:t>
            </a:r>
            <a:r>
              <a:rPr lang="zh-TW" altLang="en-US" dirty="0"/>
              <a:t> 的</a:t>
            </a:r>
            <a:r>
              <a:rPr lang="en-US" altLang="zh-TW" dirty="0"/>
              <a:t>IM</a:t>
            </a:r>
            <a:r>
              <a:rPr lang="zh-TW" altLang="en-US" dirty="0"/>
              <a:t> 只能消除最大的干擾訊號，導致</a:t>
            </a:r>
            <a:r>
              <a:rPr lang="en-US" altLang="zh-TW" dirty="0"/>
              <a:t>SINR</a:t>
            </a:r>
            <a:r>
              <a:rPr lang="zh-TW" altLang="en-US" dirty="0"/>
              <a:t>不太大，這會限制</a:t>
            </a:r>
            <a:r>
              <a:rPr lang="en-US" altLang="zh-TW" dirty="0"/>
              <a:t>beams</a:t>
            </a:r>
            <a:r>
              <a:rPr lang="zh-TW" altLang="en-US" dirty="0"/>
              <a:t>之間的</a:t>
            </a:r>
            <a:r>
              <a:rPr lang="en-US" altLang="zh-TW" dirty="0"/>
              <a:t>frequency reuse</a:t>
            </a:r>
            <a:r>
              <a:rPr lang="zh-TW" altLang="en-US" dirty="0"/>
              <a:t>，限制了系統的</a:t>
            </a:r>
            <a:r>
              <a:rPr lang="en-US" altLang="zh-TW" dirty="0"/>
              <a:t>throughput</a:t>
            </a:r>
            <a:r>
              <a:rPr lang="zh-TW" altLang="en-US" dirty="0"/>
              <a:t>。</a:t>
            </a:r>
          </a:p>
        </p:txBody>
      </p:sp>
    </p:spTree>
    <p:extLst>
      <p:ext uri="{BB962C8B-B14F-4D97-AF65-F5344CB8AC3E}">
        <p14:creationId xmlns:p14="http://schemas.microsoft.com/office/powerpoint/2010/main" val="1965273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此外，</a:t>
            </a:r>
            <a:r>
              <a:rPr lang="en-US" altLang="zh-TW" dirty="0"/>
              <a:t>precoding</a:t>
            </a:r>
            <a:r>
              <a:rPr lang="zh-TW" altLang="en-US" dirty="0"/>
              <a:t>還受到其他的限制，最主要的挑戰是</a:t>
            </a:r>
            <a:r>
              <a:rPr lang="en-US" altLang="zh-TW" dirty="0"/>
              <a:t>feeder link</a:t>
            </a:r>
            <a:r>
              <a:rPr lang="zh-TW" altLang="en-US" dirty="0"/>
              <a:t> 對於整個</a:t>
            </a:r>
            <a:r>
              <a:rPr lang="en-US" altLang="zh-TW" dirty="0"/>
              <a:t>traffic</a:t>
            </a:r>
            <a:r>
              <a:rPr lang="zh-TW" altLang="en-US" dirty="0"/>
              <a:t>的過量需求，因為他必須從</a:t>
            </a:r>
            <a:r>
              <a:rPr lang="en-US" altLang="zh-TW" dirty="0"/>
              <a:t>gateway</a:t>
            </a:r>
            <a:r>
              <a:rPr lang="zh-TW" altLang="en-US" dirty="0"/>
              <a:t>傳輸</a:t>
            </a:r>
            <a:r>
              <a:rPr lang="zh-TW" altLang="en-US" dirty="0" smtClean="0"/>
              <a:t>所有</a:t>
            </a:r>
            <a:r>
              <a:rPr lang="en-US" altLang="zh-TW" dirty="0" err="1" smtClean="0"/>
              <a:t>precoding</a:t>
            </a:r>
            <a:r>
              <a:rPr lang="zh-TW" altLang="en-US" dirty="0" smtClean="0"/>
              <a:t>後</a:t>
            </a:r>
            <a:r>
              <a:rPr lang="zh-TW" altLang="en-US" dirty="0"/>
              <a:t>的資料到</a:t>
            </a:r>
            <a:r>
              <a:rPr lang="en-US" altLang="zh-TW" dirty="0"/>
              <a:t>satellite payload</a:t>
            </a:r>
            <a:r>
              <a:rPr lang="zh-TW" altLang="en-US" dirty="0"/>
              <a:t>， 就算是使用</a:t>
            </a:r>
            <a:r>
              <a:rPr lang="en-US" altLang="zh-TW" dirty="0"/>
              <a:t>Q/V band</a:t>
            </a:r>
            <a:r>
              <a:rPr lang="zh-TW" altLang="en-US" dirty="0"/>
              <a:t>，也需要多個</a:t>
            </a:r>
            <a:r>
              <a:rPr lang="en-US" altLang="zh-TW" dirty="0"/>
              <a:t>gateway</a:t>
            </a:r>
            <a:r>
              <a:rPr lang="zh-TW" altLang="en-US" dirty="0"/>
              <a:t>，並且因為不同地理位置的</a:t>
            </a:r>
            <a:r>
              <a:rPr lang="en-US" altLang="zh-TW" dirty="0"/>
              <a:t>gateway</a:t>
            </a:r>
            <a:r>
              <a:rPr lang="zh-TW" altLang="en-US" dirty="0"/>
              <a:t>，所以</a:t>
            </a:r>
            <a:r>
              <a:rPr lang="en-US" altLang="zh-TW" dirty="0"/>
              <a:t>precoding</a:t>
            </a:r>
            <a:r>
              <a:rPr lang="zh-TW" altLang="en-US" dirty="0"/>
              <a:t>的方法也要考慮，就算互相交換了所有通道狀況</a:t>
            </a:r>
            <a:r>
              <a:rPr lang="zh-TW" altLang="en-US" dirty="0" smtClean="0"/>
              <a:t>，彼此間也會受到影響，效果</a:t>
            </a:r>
            <a:r>
              <a:rPr lang="zh-TW" altLang="en-US" dirty="0"/>
              <a:t>也會受到限制。</a:t>
            </a:r>
            <a:endParaRPr lang="en-US" altLang="zh-TW" dirty="0"/>
          </a:p>
          <a:p>
            <a:pPr marL="158750" indent="0">
              <a:buNone/>
            </a:pPr>
            <a:endParaRPr lang="en-US" altLang="zh-TW" dirty="0"/>
          </a:p>
          <a:p>
            <a:pPr marL="158750" indent="0">
              <a:buNone/>
            </a:pPr>
            <a:endParaRPr lang="zh-TW" altLang="en-US" dirty="0"/>
          </a:p>
        </p:txBody>
      </p:sp>
    </p:spTree>
    <p:extLst>
      <p:ext uri="{BB962C8B-B14F-4D97-AF65-F5344CB8AC3E}">
        <p14:creationId xmlns:p14="http://schemas.microsoft.com/office/powerpoint/2010/main" val="1979508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鑑於以上討論，本文通過考慮能夠執行</a:t>
            </a:r>
            <a:r>
              <a:rPr lang="en-US" altLang="zh-TW" dirty="0"/>
              <a:t>MUD</a:t>
            </a:r>
            <a:r>
              <a:rPr lang="zh-TW" altLang="en-US" dirty="0"/>
              <a:t>的接收器來研究如何改善當前</a:t>
            </a:r>
            <a:r>
              <a:rPr lang="zh-TW" altLang="en-US" dirty="0" smtClean="0"/>
              <a:t>的</a:t>
            </a:r>
            <a:r>
              <a:rPr lang="en-US" altLang="zh-TW" dirty="0" err="1" smtClean="0"/>
              <a:t>precoding</a:t>
            </a:r>
            <a:r>
              <a:rPr lang="zh-TW" altLang="en-US" dirty="0" smtClean="0"/>
              <a:t>限制</a:t>
            </a:r>
            <a:r>
              <a:rPr lang="en-US" altLang="zh-TW" dirty="0"/>
              <a:t>[4]</a:t>
            </a:r>
            <a:r>
              <a:rPr lang="zh-TW" altLang="en-US" dirty="0"/>
              <a:t>。 與考慮單個用戶檢測的情況相比，</a:t>
            </a:r>
            <a:r>
              <a:rPr lang="en-US" altLang="zh-TW" dirty="0" err="1"/>
              <a:t>receviers</a:t>
            </a:r>
            <a:r>
              <a:rPr lang="zh-TW" altLang="en-US" dirty="0"/>
              <a:t>可以通過對來自其相鄰</a:t>
            </a:r>
            <a:r>
              <a:rPr lang="en-US" altLang="zh-TW" dirty="0"/>
              <a:t>beam</a:t>
            </a:r>
            <a:r>
              <a:rPr lang="zh-TW" altLang="en-US" dirty="0"/>
              <a:t>的信號進行解碼來提高其可達到的</a:t>
            </a:r>
            <a:r>
              <a:rPr lang="en-US" altLang="zh-TW" dirty="0"/>
              <a:t>data rate</a:t>
            </a:r>
            <a:r>
              <a:rPr lang="zh-TW" altLang="en-US" dirty="0"/>
              <a:t>。 在這項工作中，對容量進行了初步評估。 為了簡化分析，考慮了單播衛星傳輸（每幀一個用戶服務）以及完美的通道狀況信息和單個</a:t>
            </a:r>
            <a:r>
              <a:rPr lang="en-US" altLang="zh-TW" dirty="0"/>
              <a:t>gateway</a:t>
            </a:r>
            <a:r>
              <a:rPr lang="zh-TW" altLang="en-US" dirty="0"/>
              <a:t>結構。</a:t>
            </a:r>
            <a:endParaRPr lang="en-US" altLang="zh-TW" dirty="0"/>
          </a:p>
          <a:p>
            <a:r>
              <a:rPr lang="zh-TW" altLang="en-US" dirty="0"/>
              <a:t>本文在應用不同的</a:t>
            </a:r>
            <a:r>
              <a:rPr lang="en-US" altLang="zh-TW" dirty="0"/>
              <a:t>decoding</a:t>
            </a:r>
            <a:r>
              <a:rPr lang="zh-TW" altLang="en-US" dirty="0"/>
              <a:t>策略和</a:t>
            </a:r>
            <a:r>
              <a:rPr lang="en-US" altLang="zh-TW" dirty="0"/>
              <a:t>precoding</a:t>
            </a:r>
            <a:r>
              <a:rPr lang="zh-TW" altLang="en-US" dirty="0"/>
              <a:t>技術時進行容量分析。 在接收器端結合使用</a:t>
            </a:r>
            <a:r>
              <a:rPr lang="en-US" altLang="zh-TW" dirty="0"/>
              <a:t>IM</a:t>
            </a:r>
            <a:r>
              <a:rPr lang="zh-TW" altLang="en-US" dirty="0"/>
              <a:t>和當前的</a:t>
            </a:r>
            <a:r>
              <a:rPr lang="en-US" altLang="zh-TW" dirty="0"/>
              <a:t>precoding</a:t>
            </a:r>
            <a:r>
              <a:rPr lang="zh-TW" altLang="en-US" dirty="0"/>
              <a:t>技術可以大大提高</a:t>
            </a:r>
            <a:r>
              <a:rPr lang="zh-TW" altLang="en-US" dirty="0" smtClean="0"/>
              <a:t>整體</a:t>
            </a:r>
            <a:r>
              <a:rPr lang="en-US" altLang="zh-TW" dirty="0" smtClean="0"/>
              <a:t>throughput</a:t>
            </a:r>
            <a:r>
              <a:rPr lang="zh-TW" altLang="en-US" dirty="0" smtClean="0"/>
              <a:t>。 </a:t>
            </a:r>
            <a:r>
              <a:rPr lang="zh-TW" altLang="en-US" dirty="0"/>
              <a:t>本文的貢獻有兩個。 首先，我們評估了不使用</a:t>
            </a:r>
            <a:r>
              <a:rPr lang="en-US" altLang="zh-TW" dirty="0"/>
              <a:t>precoding</a:t>
            </a:r>
            <a:r>
              <a:rPr lang="zh-TW" altLang="en-US" dirty="0"/>
              <a:t>的不同接收器策略； 在後面，我們展示了</a:t>
            </a:r>
            <a:r>
              <a:rPr lang="en-US" altLang="zh-TW" dirty="0"/>
              <a:t>precoding</a:t>
            </a:r>
            <a:r>
              <a:rPr lang="zh-TW" altLang="en-US" dirty="0"/>
              <a:t>如何增加系統可達到的</a:t>
            </a:r>
            <a:r>
              <a:rPr lang="en-US" altLang="zh-TW" dirty="0"/>
              <a:t>data rate</a:t>
            </a:r>
            <a:r>
              <a:rPr lang="zh-TW" altLang="en-US" dirty="0"/>
              <a:t>。 此外，首先針對多波束衛星系統評估了一種新穎的預編碼技術，並且發現與現有技術相比，可以獲得更大</a:t>
            </a:r>
            <a:r>
              <a:rPr lang="zh-TW" altLang="en-US" dirty="0" smtClean="0"/>
              <a:t>的</a:t>
            </a:r>
            <a:r>
              <a:rPr lang="en-US" altLang="zh-TW" dirty="0" smtClean="0"/>
              <a:t>throughput</a:t>
            </a:r>
            <a:r>
              <a:rPr lang="zh-TW" altLang="en-US" dirty="0" smtClean="0"/>
              <a:t>。</a:t>
            </a:r>
            <a:endParaRPr lang="en-US" altLang="zh-TW" dirty="0"/>
          </a:p>
          <a:p>
            <a:endParaRPr lang="zh-TW" altLang="en-US" dirty="0"/>
          </a:p>
        </p:txBody>
      </p:sp>
    </p:spTree>
    <p:extLst>
      <p:ext uri="{BB962C8B-B14F-4D97-AF65-F5344CB8AC3E}">
        <p14:creationId xmlns:p14="http://schemas.microsoft.com/office/powerpoint/2010/main" val="294088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7395e1ec2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7395e1ec2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2735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作者考慮了一個</a:t>
            </a:r>
            <a:r>
              <a:rPr lang="en-US" altLang="zh-TW" dirty="0"/>
              <a:t>multibeam satellite system </a:t>
            </a:r>
            <a:r>
              <a:rPr lang="zh-TW" altLang="en-US" dirty="0"/>
              <a:t>且</a:t>
            </a:r>
            <a:r>
              <a:rPr lang="en-US" altLang="zh-TW" dirty="0"/>
              <a:t>satellite</a:t>
            </a:r>
            <a:r>
              <a:rPr lang="zh-TW" altLang="en-US" dirty="0"/>
              <a:t>配有陣列饋電反射器天線， </a:t>
            </a:r>
            <a:r>
              <a:rPr lang="en-US" altLang="zh-TW" dirty="0"/>
              <a:t>feeds</a:t>
            </a:r>
            <a:r>
              <a:rPr lang="zh-TW" altLang="en-US" dirty="0"/>
              <a:t>數為</a:t>
            </a:r>
            <a:r>
              <a:rPr lang="en-US" altLang="zh-TW" dirty="0"/>
              <a:t>N</a:t>
            </a:r>
            <a:r>
              <a:rPr lang="zh-TW" altLang="en-US" dirty="0"/>
              <a:t>，這些</a:t>
            </a:r>
            <a:r>
              <a:rPr lang="en-US" altLang="zh-TW" dirty="0"/>
              <a:t>feed signal</a:t>
            </a:r>
            <a:r>
              <a:rPr lang="zh-TW" altLang="en-US" dirty="0"/>
              <a:t>會合併並產生一個</a:t>
            </a:r>
            <a:r>
              <a:rPr lang="en-US" altLang="zh-TW" dirty="0"/>
              <a:t>beam radiation pattern </a:t>
            </a:r>
            <a:r>
              <a:rPr lang="zh-TW" altLang="en-US" dirty="0"/>
              <a:t>，</a:t>
            </a:r>
            <a:r>
              <a:rPr lang="en-US" altLang="zh-TW" dirty="0"/>
              <a:t>Beam</a:t>
            </a:r>
            <a:r>
              <a:rPr lang="zh-TW" altLang="en-US" dirty="0"/>
              <a:t>的總數為</a:t>
            </a:r>
            <a:r>
              <a:rPr lang="en-US" altLang="zh-TW" dirty="0"/>
              <a:t>K</a:t>
            </a:r>
            <a:r>
              <a:rPr lang="zh-TW" altLang="en-US" dirty="0"/>
              <a:t>。</a:t>
            </a:r>
            <a:endParaRPr lang="en-US" altLang="zh-TW" dirty="0"/>
          </a:p>
          <a:p>
            <a:pPr marL="158750" indent="0">
              <a:buNone/>
            </a:pPr>
            <a:r>
              <a:rPr lang="zh-TW" altLang="en-US" sz="1100" b="0" i="0" u="none" strike="noStrike" cap="none" dirty="0">
                <a:solidFill>
                  <a:srgbClr val="000000"/>
                </a:solidFill>
                <a:latin typeface="Arial"/>
                <a:ea typeface="Arial"/>
                <a:cs typeface="Arial"/>
                <a:sym typeface="Arial"/>
              </a:rPr>
              <a:t>為了解決</a:t>
            </a:r>
            <a:r>
              <a:rPr lang="en-US" altLang="zh-TW" sz="1100" b="0" i="0" u="none" strike="noStrike" cap="none" dirty="0">
                <a:solidFill>
                  <a:srgbClr val="000000"/>
                </a:solidFill>
                <a:latin typeface="Arial"/>
                <a:ea typeface="Arial"/>
                <a:cs typeface="Arial"/>
                <a:sym typeface="Arial"/>
              </a:rPr>
              <a:t>beam</a:t>
            </a:r>
            <a:r>
              <a:rPr lang="zh-TW" altLang="en-US" sz="1100" b="0" i="0" u="none" strike="noStrike" cap="none" dirty="0">
                <a:solidFill>
                  <a:srgbClr val="000000"/>
                </a:solidFill>
                <a:latin typeface="Arial"/>
                <a:ea typeface="Arial"/>
                <a:cs typeface="Arial"/>
                <a:sym typeface="Arial"/>
              </a:rPr>
              <a:t>之間互相干擾問題</a:t>
            </a:r>
            <a:r>
              <a:rPr lang="zh-TW" altLang="en-US" sz="1100" b="0" i="0" u="none" strike="noStrike" cap="none" dirty="0" smtClean="0">
                <a:solidFill>
                  <a:srgbClr val="000000"/>
                </a:solidFill>
                <a:latin typeface="Arial"/>
                <a:ea typeface="Arial"/>
                <a:cs typeface="Arial"/>
                <a:sym typeface="Arial"/>
              </a:rPr>
              <a:t>，一般來說系統</a:t>
            </a:r>
            <a:r>
              <a:rPr lang="zh-TW" altLang="en-US" sz="1100" b="0" i="0" u="none" strike="noStrike" cap="none" dirty="0">
                <a:solidFill>
                  <a:srgbClr val="000000"/>
                </a:solidFill>
                <a:latin typeface="Arial"/>
                <a:ea typeface="Arial"/>
                <a:cs typeface="Arial"/>
                <a:sym typeface="Arial"/>
              </a:rPr>
              <a:t>設計者可以為每個波束分配不同的頻帶，從而以減少可用頻寬為代價，大大降低了乾擾，但如果系統設計人員以更大</a:t>
            </a:r>
            <a:r>
              <a:rPr lang="zh-TW" altLang="en-US" sz="1100" b="0" i="0" u="none" strike="noStrike" cap="none" dirty="0" smtClean="0">
                <a:solidFill>
                  <a:srgbClr val="000000"/>
                </a:solidFill>
                <a:latin typeface="Arial"/>
                <a:ea typeface="Arial"/>
                <a:cs typeface="Arial"/>
                <a:sym typeface="Arial"/>
              </a:rPr>
              <a:t>的</a:t>
            </a:r>
            <a:r>
              <a:rPr lang="en-US" altLang="zh-TW" dirty="0" smtClean="0"/>
              <a:t>throughput</a:t>
            </a:r>
            <a:r>
              <a:rPr lang="zh-TW" altLang="en-US" sz="1100" b="0" i="0" u="none" strike="noStrike" cap="none" dirty="0" smtClean="0">
                <a:solidFill>
                  <a:srgbClr val="000000"/>
                </a:solidFill>
                <a:latin typeface="Arial"/>
                <a:ea typeface="Arial"/>
                <a:cs typeface="Arial"/>
                <a:sym typeface="Arial"/>
              </a:rPr>
              <a:t>為</a:t>
            </a:r>
            <a:r>
              <a:rPr lang="zh-TW" altLang="en-US" sz="1100" b="0" i="0" u="none" strike="noStrike" cap="none" dirty="0">
                <a:solidFill>
                  <a:srgbClr val="000000"/>
                </a:solidFill>
                <a:latin typeface="Arial"/>
                <a:ea typeface="Arial"/>
                <a:cs typeface="Arial"/>
                <a:sym typeface="Arial"/>
              </a:rPr>
              <a:t>目標，</a:t>
            </a:r>
            <a:r>
              <a:rPr lang="zh-TW" altLang="en-US" sz="1100" b="0" i="0" u="none" strike="noStrike" cap="none" dirty="0" smtClean="0">
                <a:solidFill>
                  <a:srgbClr val="000000"/>
                </a:solidFill>
                <a:latin typeface="Arial"/>
                <a:ea typeface="Arial"/>
                <a:cs typeface="Arial"/>
                <a:sym typeface="Arial"/>
              </a:rPr>
              <a:t>則</a:t>
            </a:r>
            <a:r>
              <a:rPr lang="en-US" altLang="zh-TW" sz="1100" b="0" i="0" u="none" strike="noStrike" cap="none" dirty="0" smtClean="0">
                <a:solidFill>
                  <a:srgbClr val="000000"/>
                </a:solidFill>
                <a:latin typeface="Arial"/>
                <a:ea typeface="Arial"/>
                <a:cs typeface="Arial"/>
                <a:sym typeface="Arial"/>
              </a:rPr>
              <a:t>beam</a:t>
            </a:r>
            <a:r>
              <a:rPr lang="zh-TW" altLang="en-US" sz="1100" b="0" i="0" u="none" strike="noStrike" cap="none" dirty="0" smtClean="0">
                <a:solidFill>
                  <a:srgbClr val="000000"/>
                </a:solidFill>
                <a:latin typeface="Arial"/>
                <a:ea typeface="Arial"/>
                <a:cs typeface="Arial"/>
                <a:sym typeface="Arial"/>
              </a:rPr>
              <a:t>之間</a:t>
            </a:r>
            <a:r>
              <a:rPr lang="zh-TW" altLang="en-US" sz="1100" b="0" i="0" u="none" strike="noStrike" cap="none" dirty="0" smtClean="0">
                <a:solidFill>
                  <a:srgbClr val="000000"/>
                </a:solidFill>
                <a:latin typeface="Arial"/>
                <a:ea typeface="Arial"/>
                <a:cs typeface="Arial"/>
                <a:sym typeface="Arial"/>
              </a:rPr>
              <a:t>的</a:t>
            </a:r>
            <a:r>
              <a:rPr lang="en-US" altLang="zh-TW" sz="1100" b="0" i="0" u="none" strike="noStrike" cap="none" dirty="0" smtClean="0">
                <a:solidFill>
                  <a:srgbClr val="000000"/>
                </a:solidFill>
                <a:latin typeface="Arial"/>
                <a:ea typeface="Arial"/>
                <a:cs typeface="Arial"/>
                <a:sym typeface="Arial"/>
              </a:rPr>
              <a:t>frequency reuse</a:t>
            </a:r>
            <a:r>
              <a:rPr lang="zh-TW" altLang="en-US" sz="1100" b="0" i="0" u="none" strike="noStrike" cap="none" dirty="0" smtClean="0">
                <a:solidFill>
                  <a:srgbClr val="000000"/>
                </a:solidFill>
                <a:latin typeface="Arial"/>
                <a:ea typeface="Arial"/>
                <a:cs typeface="Arial"/>
                <a:sym typeface="Arial"/>
              </a:rPr>
              <a:t>是</a:t>
            </a:r>
            <a:r>
              <a:rPr lang="zh-TW" altLang="en-US" sz="1100" b="0" i="0" u="none" strike="noStrike" cap="none" dirty="0">
                <a:solidFill>
                  <a:srgbClr val="000000"/>
                </a:solidFill>
                <a:latin typeface="Arial"/>
                <a:ea typeface="Arial"/>
                <a:cs typeface="Arial"/>
                <a:sym typeface="Arial"/>
              </a:rPr>
              <a:t>強制性的，因此可以在用戶終端（</a:t>
            </a:r>
            <a:r>
              <a:rPr lang="en-US" altLang="zh-TW" sz="1100" b="0" i="0" u="none" strike="noStrike" cap="none" dirty="0">
                <a:solidFill>
                  <a:srgbClr val="000000"/>
                </a:solidFill>
                <a:latin typeface="Arial"/>
                <a:ea typeface="Arial"/>
                <a:cs typeface="Arial"/>
                <a:sym typeface="Arial"/>
              </a:rPr>
              <a:t>MUD</a:t>
            </a:r>
            <a:r>
              <a:rPr lang="zh-TW" altLang="en-US" sz="1100" b="0" i="0" u="none" strike="noStrike" cap="none" dirty="0">
                <a:solidFill>
                  <a:srgbClr val="000000"/>
                </a:solidFill>
                <a:latin typeface="Arial"/>
                <a:ea typeface="Arial"/>
                <a:cs typeface="Arial"/>
                <a:sym typeface="Arial"/>
              </a:rPr>
              <a:t>）或在發送端（預編碼）</a:t>
            </a:r>
            <a:r>
              <a:rPr lang="zh-TW" altLang="en-US" sz="1100" b="0" i="0" u="none" strike="noStrike" cap="none" dirty="0" smtClean="0">
                <a:solidFill>
                  <a:srgbClr val="000000"/>
                </a:solidFill>
                <a:latin typeface="Arial"/>
                <a:ea typeface="Arial"/>
                <a:cs typeface="Arial"/>
                <a:sym typeface="Arial"/>
              </a:rPr>
              <a:t>使用</a:t>
            </a:r>
            <a:r>
              <a:rPr lang="en-US" altLang="zh-TW" sz="1100" b="0" i="0" u="none" strike="noStrike" cap="none" dirty="0" smtClean="0">
                <a:solidFill>
                  <a:srgbClr val="000000"/>
                </a:solidFill>
                <a:latin typeface="Arial"/>
                <a:ea typeface="Arial"/>
                <a:cs typeface="Arial"/>
                <a:sym typeface="Arial"/>
              </a:rPr>
              <a:t>IM</a:t>
            </a:r>
            <a:r>
              <a:rPr lang="zh-TW" altLang="en-US" sz="1100" b="0" i="0" u="none" strike="noStrike" cap="none" dirty="0" smtClean="0">
                <a:solidFill>
                  <a:srgbClr val="000000"/>
                </a:solidFill>
                <a:latin typeface="Arial"/>
                <a:ea typeface="Arial"/>
                <a:cs typeface="Arial"/>
                <a:sym typeface="Arial"/>
              </a:rPr>
              <a:t>技術</a:t>
            </a:r>
            <a:r>
              <a:rPr lang="zh-TW" altLang="en-US" sz="1100" b="0" i="0" u="none" strike="noStrike" cap="none" dirty="0">
                <a:solidFill>
                  <a:srgbClr val="000000"/>
                </a:solidFill>
                <a:latin typeface="Arial"/>
                <a:ea typeface="Arial"/>
                <a:cs typeface="Arial"/>
                <a:sym typeface="Arial"/>
              </a:rPr>
              <a:t>。</a:t>
            </a:r>
          </a:p>
          <a:p>
            <a:pPr marL="158750" indent="0">
              <a:buNone/>
            </a:pPr>
            <a:r>
              <a:rPr lang="zh-TW" altLang="en-US" sz="1100" b="0" i="0" u="none" strike="noStrike" cap="none" dirty="0">
                <a:solidFill>
                  <a:srgbClr val="000000"/>
                </a:solidFill>
                <a:latin typeface="Arial"/>
                <a:ea typeface="Arial"/>
                <a:cs typeface="Arial"/>
                <a:sym typeface="Arial"/>
              </a:rPr>
              <a:t>本文著重於兩者的結合。</a:t>
            </a:r>
            <a:endParaRPr lang="en-US" altLang="zh-TW" dirty="0"/>
          </a:p>
        </p:txBody>
      </p:sp>
    </p:spTree>
    <p:extLst>
      <p:ext uri="{BB962C8B-B14F-4D97-AF65-F5344CB8AC3E}">
        <p14:creationId xmlns:p14="http://schemas.microsoft.com/office/powerpoint/2010/main" val="3866728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7395e1ec2a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7395e1ec2a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假設所有的</a:t>
            </a:r>
            <a:r>
              <a:rPr lang="en-US" altLang="zh-TW" dirty="0" smtClean="0"/>
              <a:t>beam</a:t>
            </a:r>
            <a:r>
              <a:rPr lang="zh-TW" altLang="en-US" dirty="0" smtClean="0"/>
              <a:t>都使用同一格頻帶，接收到德訊號可以用第一個式子表示。</a:t>
            </a:r>
            <a:endParaRPr lang="en-US" altLang="zh-TW" dirty="0" smtClean="0"/>
          </a:p>
          <a:p>
            <a:pPr marL="0" lvl="0" indent="0" algn="l" rtl="0">
              <a:spcBef>
                <a:spcPts val="0"/>
              </a:spcBef>
              <a:spcAft>
                <a:spcPts val="0"/>
              </a:spcAft>
              <a:buNone/>
            </a:pPr>
            <a:r>
              <a:rPr lang="en-US" dirty="0" smtClean="0"/>
              <a:t>Y</a:t>
            </a:r>
            <a:r>
              <a:rPr lang="zh-TW" altLang="en-US" dirty="0" smtClean="0"/>
              <a:t>代表的是每個</a:t>
            </a:r>
            <a:r>
              <a:rPr lang="en-US" altLang="zh-TW" dirty="0" smtClean="0"/>
              <a:t>user</a:t>
            </a:r>
            <a:r>
              <a:rPr lang="zh-TW" altLang="en-US" dirty="0" smtClean="0"/>
              <a:t>收到的訊號，</a:t>
            </a:r>
            <a:r>
              <a:rPr lang="en-US" altLang="zh-TW" dirty="0" smtClean="0"/>
              <a:t>n</a:t>
            </a:r>
            <a:r>
              <a:rPr lang="zh-TW" altLang="en-US" dirty="0" smtClean="0"/>
              <a:t>代表的是雜訊</a:t>
            </a:r>
            <a:endParaRPr lang="en-US" altLang="zh-TW" dirty="0" smtClean="0"/>
          </a:p>
          <a:p>
            <a:pPr marL="0" lvl="0" indent="0" algn="l" rtl="0">
              <a:spcBef>
                <a:spcPts val="0"/>
              </a:spcBef>
              <a:spcAft>
                <a:spcPts val="0"/>
              </a:spcAft>
              <a:buNone/>
            </a:pPr>
            <a:r>
              <a:rPr lang="en-US" dirty="0" smtClean="0"/>
              <a:t>X</a:t>
            </a:r>
            <a:r>
              <a:rPr lang="zh-TW" altLang="en-US" dirty="0" smtClean="0"/>
              <a:t>代表打出去的訊號，</a:t>
            </a:r>
            <a:endParaRPr lang="en-US" altLang="zh-TW" dirty="0" smtClean="0"/>
          </a:p>
          <a:p>
            <a:pPr marL="0" lvl="0" indent="0" algn="l" rtl="0">
              <a:spcBef>
                <a:spcPts val="0"/>
              </a:spcBef>
              <a:spcAft>
                <a:spcPts val="0"/>
              </a:spcAft>
              <a:buNone/>
            </a:pPr>
            <a:r>
              <a:rPr lang="en-US" altLang="zh-TW" dirty="0" smtClean="0"/>
              <a:t>H</a:t>
            </a:r>
            <a:r>
              <a:rPr lang="zh-TW" altLang="en-US" dirty="0" smtClean="0"/>
              <a:t>代表的是</a:t>
            </a:r>
            <a:r>
              <a:rPr lang="en-US" altLang="zh-TW" dirty="0" smtClean="0"/>
              <a:t>channel</a:t>
            </a:r>
            <a:r>
              <a:rPr lang="en-US" altLang="zh-TW" baseline="0" dirty="0" smtClean="0"/>
              <a:t> matrix</a:t>
            </a:r>
            <a:r>
              <a:rPr lang="zh-TW" altLang="en-US" baseline="0" dirty="0" smtClean="0"/>
              <a:t>， 由式子</a:t>
            </a:r>
            <a:r>
              <a:rPr lang="en-US" altLang="zh-TW" baseline="0" dirty="0" smtClean="0"/>
              <a:t>2</a:t>
            </a:r>
            <a:r>
              <a:rPr lang="zh-TW" altLang="en-US" baseline="0" dirty="0" smtClean="0"/>
              <a:t>表示 </a:t>
            </a:r>
            <a:endParaRPr lang="en-US" altLang="zh-TW" baseline="0" dirty="0" smtClean="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TW" baseline="0" dirty="0" smtClean="0"/>
              <a:t>A</a:t>
            </a:r>
            <a:r>
              <a:rPr lang="zh-TW" altLang="en-US" baseline="0" dirty="0" smtClean="0"/>
              <a:t>代表大氣中的衰弱因子，</a:t>
            </a:r>
            <a:r>
              <a:rPr lang="en-US" altLang="zh-TW" sz="1100" b="0" i="0" u="none" strike="noStrike" cap="none" baseline="0" dirty="0" smtClean="0">
                <a:solidFill>
                  <a:srgbClr val="000000"/>
                </a:solidFill>
                <a:latin typeface="Arial"/>
                <a:ea typeface="Arial"/>
                <a:cs typeface="Arial"/>
                <a:sym typeface="Arial"/>
              </a:rPr>
              <a:t>G </a:t>
            </a:r>
            <a:r>
              <a:rPr lang="zh-TW" altLang="en-US" sz="1100" b="0" i="0" u="none" strike="noStrike" cap="none" baseline="0" dirty="0" smtClean="0">
                <a:solidFill>
                  <a:srgbClr val="000000"/>
                </a:solidFill>
                <a:latin typeface="Arial"/>
                <a:ea typeface="Arial"/>
                <a:cs typeface="Arial"/>
                <a:sym typeface="Arial"/>
              </a:rPr>
              <a:t>表示剩下的</a:t>
            </a:r>
            <a:r>
              <a:rPr lang="en-US" altLang="zh-TW" sz="1100" b="0" i="0" u="none" strike="noStrike" cap="none" baseline="0" dirty="0" smtClean="0">
                <a:solidFill>
                  <a:srgbClr val="000000"/>
                </a:solidFill>
                <a:latin typeface="Arial"/>
                <a:ea typeface="Arial"/>
                <a:cs typeface="Arial"/>
                <a:sym typeface="Arial"/>
              </a:rPr>
              <a:t> gain </a:t>
            </a:r>
            <a:r>
              <a:rPr lang="zh-TW" altLang="en-US" sz="1100" b="0" i="0" u="none" strike="noStrike" cap="none" baseline="0" dirty="0" smtClean="0">
                <a:solidFill>
                  <a:srgbClr val="000000"/>
                </a:solidFill>
                <a:latin typeface="Arial"/>
                <a:ea typeface="Arial"/>
                <a:cs typeface="Arial"/>
                <a:sym typeface="Arial"/>
              </a:rPr>
              <a:t>與 </a:t>
            </a:r>
            <a:r>
              <a:rPr lang="en-US" altLang="zh-TW" sz="1100" b="0" i="0" u="none" strike="noStrike" cap="none" baseline="0" dirty="0" smtClean="0">
                <a:solidFill>
                  <a:srgbClr val="000000"/>
                </a:solidFill>
                <a:latin typeface="Arial"/>
                <a:ea typeface="Arial"/>
                <a:cs typeface="Arial"/>
                <a:sym typeface="Arial"/>
              </a:rPr>
              <a:t>loss factors</a:t>
            </a:r>
            <a:endParaRPr lang="en-US" altLang="zh-TW" sz="1100" b="0" i="1" u="none" strike="noStrike" cap="none" baseline="0" dirty="0" smtClean="0">
              <a:solidFill>
                <a:srgbClr val="000000"/>
              </a:solidFill>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173618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sz="1100" b="0" i="0" u="none" strike="noStrike" cap="none" baseline="0" dirty="0" smtClean="0">
                    <a:solidFill>
                      <a:srgbClr val="000000"/>
                    </a:solidFill>
                    <a:latin typeface="Arial"/>
                    <a:ea typeface="Arial"/>
                    <a:cs typeface="Arial"/>
                    <a:sym typeface="Arial"/>
                  </a:rPr>
                  <a:t>G </a:t>
                </a:r>
                <a:r>
                  <a:rPr lang="zh-TW" altLang="en-US" sz="1100" b="0" i="0" u="none" strike="noStrike" cap="none" baseline="0" dirty="0" smtClean="0">
                    <a:solidFill>
                      <a:srgbClr val="000000"/>
                    </a:solidFill>
                    <a:latin typeface="Arial"/>
                    <a:ea typeface="Arial"/>
                    <a:cs typeface="Arial"/>
                    <a:sym typeface="Arial"/>
                  </a:rPr>
                  <a:t>表示剩下的</a:t>
                </a:r>
                <a:r>
                  <a:rPr lang="en-US" altLang="zh-TW" sz="1100" b="0" i="0" u="none" strike="noStrike" cap="none" baseline="0" dirty="0" smtClean="0">
                    <a:solidFill>
                      <a:srgbClr val="000000"/>
                    </a:solidFill>
                    <a:latin typeface="Arial"/>
                    <a:ea typeface="Arial"/>
                    <a:cs typeface="Arial"/>
                    <a:sym typeface="Arial"/>
                  </a:rPr>
                  <a:t> gain </a:t>
                </a:r>
                <a:r>
                  <a:rPr lang="zh-TW" altLang="en-US" sz="1100" b="0" i="0" u="none" strike="noStrike" cap="none" baseline="0" dirty="0" smtClean="0">
                    <a:solidFill>
                      <a:srgbClr val="000000"/>
                    </a:solidFill>
                    <a:latin typeface="Arial"/>
                    <a:ea typeface="Arial"/>
                    <a:cs typeface="Arial"/>
                    <a:sym typeface="Arial"/>
                  </a:rPr>
                  <a:t>與 </a:t>
                </a:r>
                <a:r>
                  <a:rPr lang="en-US" altLang="zh-TW" sz="1100" b="0" i="0" u="none" strike="noStrike" cap="none" baseline="0" dirty="0" smtClean="0">
                    <a:solidFill>
                      <a:srgbClr val="000000"/>
                    </a:solidFill>
                    <a:latin typeface="Arial"/>
                    <a:ea typeface="Arial"/>
                    <a:cs typeface="Arial"/>
                    <a:sym typeface="Arial"/>
                  </a:rPr>
                  <a:t>loss factors</a:t>
                </a:r>
                <a:endParaRPr lang="en-US" altLang="zh-TW" sz="1100" b="0" i="1" u="none" strike="noStrike" cap="none" baseline="0" dirty="0" smtClean="0">
                  <a:solidFill>
                    <a:srgbClr val="000000"/>
                  </a:solidFill>
                  <a:latin typeface="Arial"/>
                  <a:ea typeface="Arial"/>
                  <a:cs typeface="Arial"/>
                  <a:sym typeface="Arial"/>
                </a:endParaRPr>
              </a:p>
              <a:p>
                <a:r>
                  <a:rPr lang="zh-TW" altLang="en-US" sz="1100" b="0" i="1" u="none" strike="noStrike" cap="none" baseline="0" dirty="0" smtClean="0">
                    <a:solidFill>
                      <a:srgbClr val="000000"/>
                    </a:solidFill>
                    <a:latin typeface="Arial"/>
                    <a:ea typeface="Arial"/>
                    <a:cs typeface="Arial"/>
                    <a:sym typeface="Arial"/>
                  </a:rPr>
                  <a:t>𝜆 </a:t>
                </a:r>
                <a:r>
                  <a:rPr lang="en-US" altLang="zh-TW" sz="1100" b="0" i="0" u="none" strike="noStrike" cap="none" baseline="0" dirty="0" smtClean="0">
                    <a:solidFill>
                      <a:srgbClr val="000000"/>
                    </a:solidFill>
                    <a:latin typeface="Arial"/>
                    <a:ea typeface="Arial"/>
                    <a:cs typeface="Arial"/>
                    <a:sym typeface="Arial"/>
                  </a:rPr>
                  <a:t>is the carrier wavelength</a:t>
                </a:r>
              </a:p>
              <a:p>
                <a14:m>
                  <m:oMath xmlns:m="http://schemas.openxmlformats.org/officeDocument/2006/math">
                    <m:r>
                      <a:rPr lang="en-US" altLang="zh-TW" sz="1100" b="0" i="1" smtClean="0">
                        <a:latin typeface="Cambria Math" panose="02040503050406030204" pitchFamily="18" charset="0"/>
                      </a:rPr>
                      <m:t>𝑑</m:t>
                    </m:r>
                    <m:r>
                      <a:rPr lang="en-US" altLang="zh-TW" sz="1100" b="0" i="1" smtClean="0">
                        <a:latin typeface="Cambria Math" panose="02040503050406030204" pitchFamily="18" charset="0"/>
                      </a:rPr>
                      <m:t>﷮</m:t>
                    </m:r>
                    <m:r>
                      <a:rPr lang="en-US" altLang="zh-TW" sz="1100" b="0" i="1" smtClean="0">
                        <a:latin typeface="Cambria Math" panose="02040503050406030204" pitchFamily="18" charset="0"/>
                      </a:rPr>
                      <m:t>𝑘</m:t>
                    </m:r>
                  </m:oMath>
                </a14:m>
                <a:r>
                  <a:rPr lang="en-US" altLang="zh-TW" sz="1100" b="0" i="0" u="none" strike="noStrike" cap="none" baseline="0" dirty="0" smtClean="0">
                    <a:solidFill>
                      <a:srgbClr val="000000"/>
                    </a:solidFill>
                    <a:latin typeface="Arial"/>
                    <a:ea typeface="Arial"/>
                    <a:cs typeface="Arial"/>
                    <a:sym typeface="Arial"/>
                  </a:rPr>
                  <a:t>the distance between the </a:t>
                </a:r>
                <a:r>
                  <a:rPr lang="zh-TW" altLang="en-US" sz="1100" b="0" i="1" u="none" strike="noStrike" cap="none" baseline="0" dirty="0" smtClean="0">
                    <a:solidFill>
                      <a:srgbClr val="000000"/>
                    </a:solidFill>
                    <a:latin typeface="Arial"/>
                    <a:ea typeface="Arial"/>
                    <a:cs typeface="Arial"/>
                    <a:sym typeface="Arial"/>
                  </a:rPr>
                  <a:t>𝑘</a:t>
                </a:r>
                <a:r>
                  <a:rPr lang="en-US" altLang="zh-TW" sz="1100" b="0" i="0" u="none" strike="noStrike" cap="none" baseline="0" dirty="0" smtClean="0">
                    <a:solidFill>
                      <a:srgbClr val="000000"/>
                    </a:solidFill>
                    <a:latin typeface="Arial"/>
                    <a:ea typeface="Arial"/>
                    <a:cs typeface="Arial"/>
                    <a:sym typeface="Arial"/>
                  </a:rPr>
                  <a:t>-</a:t>
                </a:r>
                <a:r>
                  <a:rPr lang="en-US" altLang="zh-TW" sz="1100" b="0" i="0" u="none" strike="noStrike" cap="none" baseline="0" dirty="0" err="1" smtClean="0">
                    <a:solidFill>
                      <a:srgbClr val="000000"/>
                    </a:solidFill>
                    <a:latin typeface="Arial"/>
                    <a:ea typeface="Arial"/>
                    <a:cs typeface="Arial"/>
                    <a:sym typeface="Arial"/>
                  </a:rPr>
                  <a:t>th</a:t>
                </a:r>
                <a:r>
                  <a:rPr lang="en-US" altLang="zh-TW" sz="1100" b="0" i="0" u="none" strike="noStrike" cap="none" baseline="0" dirty="0" smtClean="0">
                    <a:solidFill>
                      <a:srgbClr val="000000"/>
                    </a:solidFill>
                    <a:latin typeface="Arial"/>
                    <a:ea typeface="Arial"/>
                    <a:cs typeface="Arial"/>
                    <a:sym typeface="Arial"/>
                  </a:rPr>
                  <a:t> user terminal and the satellite.</a:t>
                </a:r>
              </a:p>
              <a:p>
                <a14:m>
                  <m:oMath xmlns:m="http://schemas.openxmlformats.org/officeDocument/2006/math">
                    <m:sSubSup>
                      <m:sSubSupPr>
                        <m:ctrlPr>
                          <a:rPr lang="en-US" altLang="zh-TW" sz="1100" i="1" smtClean="0">
                            <a:latin typeface="Cambria Math" panose="02040503050406030204" pitchFamily="18" charset="0"/>
                          </a:rPr>
                        </m:ctrlPr>
                      </m:sSubSupPr>
                      <m:e>
                        <m:r>
                          <a:rPr lang="en-US" altLang="zh-TW" sz="1100" i="1">
                            <a:latin typeface="Cambria Math" panose="02040503050406030204" pitchFamily="18" charset="0"/>
                          </a:rPr>
                          <m:t>𝐾</m:t>
                        </m:r>
                      </m:e>
                      <m:sub>
                        <m:r>
                          <a:rPr lang="en-US" altLang="zh-TW" sz="1100" i="1">
                            <a:latin typeface="Cambria Math" panose="02040503050406030204" pitchFamily="18" charset="0"/>
                          </a:rPr>
                          <m:t>𝐵</m:t>
                        </m:r>
                      </m:sub>
                      <m:sup/>
                    </m:sSubSup>
                  </m:oMath>
                </a14:m>
                <a:r>
                  <a:rPr lang="en-US" altLang="zh-TW" sz="1100" b="0" i="0" u="none" strike="noStrike" cap="none" baseline="0" dirty="0" smtClean="0">
                    <a:solidFill>
                      <a:srgbClr val="000000"/>
                    </a:solidFill>
                    <a:latin typeface="Arial"/>
                    <a:ea typeface="Arial"/>
                    <a:cs typeface="Arial"/>
                    <a:sym typeface="Arial"/>
                  </a:rPr>
                  <a:t>is the Boltzmann constant,</a:t>
                </a:r>
              </a:p>
              <a:p>
                <a:r>
                  <a:rPr lang="zh-TW" altLang="en-US" sz="1100" b="0" i="1" u="none" strike="noStrike" cap="none" baseline="0" dirty="0" smtClean="0">
                    <a:solidFill>
                      <a:srgbClr val="000000"/>
                    </a:solidFill>
                    <a:latin typeface="Arial"/>
                    <a:ea typeface="Arial"/>
                    <a:cs typeface="Arial"/>
                    <a:sym typeface="Arial"/>
                  </a:rPr>
                  <a:t>𝐵𝑊 </a:t>
                </a:r>
                <a:r>
                  <a:rPr lang="en-US" altLang="zh-TW" sz="1100" b="0" i="0" u="none" strike="noStrike" cap="none" baseline="0" dirty="0" smtClean="0">
                    <a:solidFill>
                      <a:srgbClr val="000000"/>
                    </a:solidFill>
                    <a:latin typeface="Arial"/>
                    <a:ea typeface="Arial"/>
                    <a:cs typeface="Arial"/>
                    <a:sym typeface="Arial"/>
                  </a:rPr>
                  <a:t>is the carrier </a:t>
                </a:r>
                <a:r>
                  <a:rPr lang="en-US" altLang="zh-TW" sz="1100" b="0" i="0" u="none" strike="noStrike" cap="none" baseline="0" dirty="0" smtClean="0">
                    <a:solidFill>
                      <a:srgbClr val="000000"/>
                    </a:solidFill>
                    <a:latin typeface="Arial"/>
                    <a:ea typeface="Arial"/>
                    <a:cs typeface="Arial"/>
                    <a:sym typeface="Arial"/>
                  </a:rPr>
                  <a:t>bandwidth</a:t>
                </a:r>
                <a:endParaRPr lang="en-US" altLang="zh-TW" dirty="0" smtClean="0"/>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sz="1100" b="0" i="1" u="none" strike="noStrike" cap="none" baseline="0" dirty="0" smtClean="0">
                    <a:solidFill>
                      <a:srgbClr val="000000"/>
                    </a:solidFill>
                    <a:latin typeface="Arial"/>
                    <a:ea typeface="Arial"/>
                    <a:cs typeface="Arial"/>
                    <a:sym typeface="Arial"/>
                  </a:rPr>
                  <a:t>𝑇𝑅 </a:t>
                </a:r>
                <a:r>
                  <a:rPr lang="en-US" altLang="zh-TW" sz="1100" b="0" i="0" u="none" strike="noStrike" cap="none" baseline="0" dirty="0" smtClean="0">
                    <a:solidFill>
                      <a:srgbClr val="000000"/>
                    </a:solidFill>
                    <a:latin typeface="Arial"/>
                    <a:ea typeface="Arial"/>
                    <a:cs typeface="Arial"/>
                    <a:sym typeface="Arial"/>
                  </a:rPr>
                  <a:t>the receiver noise temperature</a:t>
                </a:r>
              </a:p>
              <a:p>
                <a:r>
                  <a:rPr lang="zh-TW" altLang="en-US" sz="1100" b="0" i="1" u="none" strike="noStrike" cap="none" baseline="0" dirty="0" smtClean="0">
                    <a:solidFill>
                      <a:srgbClr val="000000"/>
                    </a:solidFill>
                    <a:latin typeface="Arial"/>
                    <a:ea typeface="Arial"/>
                    <a:cs typeface="Arial"/>
                    <a:sym typeface="Arial"/>
                  </a:rPr>
                  <a:t>𝐺</a:t>
                </a:r>
                <a:r>
                  <a:rPr lang="zh-TW" altLang="en-US" sz="1100" b="0" i="1" u="none" strike="noStrike" cap="none" baseline="0" dirty="0" smtClean="0">
                    <a:solidFill>
                      <a:srgbClr val="000000"/>
                    </a:solidFill>
                    <a:latin typeface="Arial"/>
                    <a:ea typeface="Arial"/>
                    <a:cs typeface="Arial"/>
                    <a:sym typeface="Arial"/>
                  </a:rPr>
                  <a:t>𝑅 </a:t>
                </a:r>
                <a:r>
                  <a:rPr lang="en-US" altLang="zh-TW" sz="1100" b="0" i="0" u="none" strike="noStrike" cap="none" baseline="0" dirty="0" smtClean="0">
                    <a:solidFill>
                      <a:srgbClr val="000000"/>
                    </a:solidFill>
                    <a:latin typeface="Arial"/>
                    <a:ea typeface="Arial"/>
                    <a:cs typeface="Arial"/>
                    <a:sym typeface="Arial"/>
                  </a:rPr>
                  <a:t>the user terminal receive antenna gain</a:t>
                </a:r>
              </a:p>
              <a:p>
                <a:r>
                  <a:rPr lang="zh-TW" altLang="en-US" sz="1100" b="0" i="1" u="none" strike="noStrike" cap="none" baseline="0" dirty="0" smtClean="0">
                    <a:solidFill>
                      <a:srgbClr val="000000"/>
                    </a:solidFill>
                    <a:latin typeface="Arial"/>
                    <a:ea typeface="Arial"/>
                    <a:cs typeface="Arial"/>
                    <a:sym typeface="Arial"/>
                  </a:rPr>
                  <a:t>𝑎</a:t>
                </a:r>
                <a:r>
                  <a:rPr lang="zh-TW" altLang="en-US" sz="1100" b="0" i="1" u="none" strike="noStrike" cap="none" baseline="0" dirty="0" smtClean="0">
                    <a:solidFill>
                      <a:srgbClr val="000000"/>
                    </a:solidFill>
                    <a:latin typeface="Arial"/>
                    <a:ea typeface="Arial"/>
                    <a:cs typeface="Arial"/>
                    <a:sym typeface="Arial"/>
                  </a:rPr>
                  <a:t>𝑘𝑛 </a:t>
                </a:r>
                <a:r>
                  <a:rPr lang="en-US" altLang="zh-TW" sz="1100" b="0" i="0" u="none" strike="noStrike" cap="none" baseline="0" dirty="0" smtClean="0">
                    <a:solidFill>
                      <a:srgbClr val="000000"/>
                    </a:solidFill>
                    <a:latin typeface="Arial"/>
                    <a:ea typeface="Arial"/>
                    <a:cs typeface="Arial"/>
                    <a:sym typeface="Arial"/>
                  </a:rPr>
                  <a:t>refers to the gain from the </a:t>
                </a:r>
                <a:r>
                  <a:rPr lang="zh-TW" altLang="en-US" sz="1100" b="0" i="1" u="none" strike="noStrike" cap="none" baseline="0" dirty="0" smtClean="0">
                    <a:solidFill>
                      <a:srgbClr val="000000"/>
                    </a:solidFill>
                    <a:latin typeface="Arial"/>
                    <a:ea typeface="Arial"/>
                    <a:cs typeface="Arial"/>
                    <a:sym typeface="Arial"/>
                  </a:rPr>
                  <a:t>𝑛</a:t>
                </a:r>
                <a:r>
                  <a:rPr lang="en-US" altLang="zh-TW" sz="1100" b="0" i="0" u="none" strike="noStrike" cap="none" baseline="0" dirty="0" smtClean="0">
                    <a:solidFill>
                      <a:srgbClr val="000000"/>
                    </a:solidFill>
                    <a:latin typeface="Arial"/>
                    <a:ea typeface="Arial"/>
                    <a:cs typeface="Arial"/>
                    <a:sym typeface="Arial"/>
                  </a:rPr>
                  <a:t>-</a:t>
                </a:r>
                <a:r>
                  <a:rPr lang="en-US" altLang="zh-TW" sz="1100" b="0" i="0" u="none" strike="noStrike" cap="none" baseline="0" dirty="0" err="1" smtClean="0">
                    <a:solidFill>
                      <a:srgbClr val="000000"/>
                    </a:solidFill>
                    <a:latin typeface="Arial"/>
                    <a:ea typeface="Arial"/>
                    <a:cs typeface="Arial"/>
                    <a:sym typeface="Arial"/>
                  </a:rPr>
                  <a:t>th</a:t>
                </a:r>
                <a:r>
                  <a:rPr lang="en-US" altLang="zh-TW" sz="1100" b="0" i="0" u="none" strike="noStrike" cap="none" baseline="0" dirty="0" smtClean="0">
                    <a:solidFill>
                      <a:srgbClr val="000000"/>
                    </a:solidFill>
                    <a:latin typeface="Arial"/>
                    <a:ea typeface="Arial"/>
                    <a:cs typeface="Arial"/>
                    <a:sym typeface="Arial"/>
                  </a:rPr>
                  <a:t> feed to the </a:t>
                </a:r>
                <a:r>
                  <a:rPr lang="zh-TW" altLang="en-US" sz="1100" b="0" i="1" u="none" strike="noStrike" cap="none" baseline="0" dirty="0" smtClean="0">
                    <a:solidFill>
                      <a:srgbClr val="000000"/>
                    </a:solidFill>
                    <a:latin typeface="Arial"/>
                    <a:ea typeface="Arial"/>
                    <a:cs typeface="Arial"/>
                    <a:sym typeface="Arial"/>
                  </a:rPr>
                  <a:t>𝑘</a:t>
                </a:r>
                <a:r>
                  <a:rPr lang="en-US" altLang="zh-TW" sz="1100" b="0" i="0" u="none" strike="noStrike" cap="none" baseline="0" dirty="0" smtClean="0">
                    <a:solidFill>
                      <a:srgbClr val="000000"/>
                    </a:solidFill>
                    <a:latin typeface="Arial"/>
                    <a:ea typeface="Arial"/>
                    <a:cs typeface="Arial"/>
                    <a:sym typeface="Arial"/>
                  </a:rPr>
                  <a:t>-</a:t>
                </a:r>
                <a:r>
                  <a:rPr lang="en-US" altLang="zh-TW" sz="1100" b="0" i="0" u="none" strike="noStrike" cap="none" baseline="0" dirty="0" err="1" smtClean="0">
                    <a:solidFill>
                      <a:srgbClr val="000000"/>
                    </a:solidFill>
                    <a:latin typeface="Arial"/>
                    <a:ea typeface="Arial"/>
                    <a:cs typeface="Arial"/>
                    <a:sym typeface="Arial"/>
                  </a:rPr>
                  <a:t>th</a:t>
                </a:r>
                <a:r>
                  <a:rPr lang="en-US" altLang="zh-TW" sz="1100" b="0" i="0" u="none" strike="noStrike" cap="none" baseline="0" dirty="0" smtClean="0">
                    <a:solidFill>
                      <a:srgbClr val="000000"/>
                    </a:solidFill>
                    <a:latin typeface="Arial"/>
                    <a:ea typeface="Arial"/>
                    <a:cs typeface="Arial"/>
                    <a:sym typeface="Arial"/>
                  </a:rPr>
                  <a:t> user.</a:t>
                </a:r>
              </a:p>
              <a:p>
                <a:endParaRPr lang="en-US" altLang="zh-TW" sz="1100" b="0" i="0" u="none" strike="noStrike" cap="none" baseline="0" dirty="0" smtClean="0">
                  <a:solidFill>
                    <a:srgbClr val="000000"/>
                  </a:solidFill>
                  <a:latin typeface="Arial"/>
                  <a:cs typeface="Arial"/>
                  <a:sym typeface="Arial"/>
                </a:endParaRPr>
              </a:p>
              <a:p>
                <a:endParaRPr lang="zh-TW" altLang="en-US" dirty="0"/>
              </a:p>
            </p:txBody>
          </p:sp>
        </mc:Choice>
        <mc:Fallback xmlns="">
          <p:sp>
            <p:nvSpPr>
              <p:cNvPr id="3" name="備忘稿版面配置區 2"/>
              <p:cNvSpPr>
                <a:spLocks noGrp="1"/>
              </p:cNvSpPr>
              <p:nvPr>
                <p:ph type="body" idx="1"/>
              </p:nvPr>
            </p:nvSpPr>
            <p:spPr/>
            <p:txBody>
              <a:bodyPr/>
              <a:lstStyle/>
              <a:p>
                <a:r>
                  <a:rPr lang="en-US" altLang="zh-TW" sz="1100" b="0" i="0" u="none" strike="noStrike" cap="none" baseline="0" dirty="0" smtClean="0">
                    <a:solidFill>
                      <a:srgbClr val="000000"/>
                    </a:solidFill>
                    <a:latin typeface="Arial"/>
                    <a:ea typeface="Arial"/>
                    <a:cs typeface="Arial"/>
                    <a:sym typeface="Arial"/>
                  </a:rPr>
                  <a:t>G </a:t>
                </a:r>
                <a:r>
                  <a:rPr lang="zh-TW" altLang="en-US" sz="1100" b="0" i="0" u="none" strike="noStrike" cap="none" baseline="0" dirty="0" smtClean="0">
                    <a:solidFill>
                      <a:srgbClr val="000000"/>
                    </a:solidFill>
                    <a:latin typeface="Arial"/>
                    <a:ea typeface="Arial"/>
                    <a:cs typeface="Arial"/>
                    <a:sym typeface="Arial"/>
                  </a:rPr>
                  <a:t>表示剩下的</a:t>
                </a:r>
                <a:r>
                  <a:rPr lang="en-US" altLang="zh-TW" sz="1100" b="0" i="0" u="none" strike="noStrike" cap="none" baseline="0" dirty="0" smtClean="0">
                    <a:solidFill>
                      <a:srgbClr val="000000"/>
                    </a:solidFill>
                    <a:latin typeface="Arial"/>
                    <a:ea typeface="Arial"/>
                    <a:cs typeface="Arial"/>
                    <a:sym typeface="Arial"/>
                  </a:rPr>
                  <a:t> gain </a:t>
                </a:r>
                <a:r>
                  <a:rPr lang="zh-TW" altLang="en-US" sz="1100" b="0" i="0" u="none" strike="noStrike" cap="none" baseline="0" dirty="0" smtClean="0">
                    <a:solidFill>
                      <a:srgbClr val="000000"/>
                    </a:solidFill>
                    <a:latin typeface="Arial"/>
                    <a:ea typeface="Arial"/>
                    <a:cs typeface="Arial"/>
                    <a:sym typeface="Arial"/>
                  </a:rPr>
                  <a:t>與 </a:t>
                </a:r>
                <a:r>
                  <a:rPr lang="en-US" altLang="zh-TW" sz="1100" b="0" i="0" u="none" strike="noStrike" cap="none" baseline="0" dirty="0" smtClean="0">
                    <a:solidFill>
                      <a:srgbClr val="000000"/>
                    </a:solidFill>
                    <a:latin typeface="Arial"/>
                    <a:ea typeface="Arial"/>
                    <a:cs typeface="Arial"/>
                    <a:sym typeface="Arial"/>
                  </a:rPr>
                  <a:t>loss factors</a:t>
                </a:r>
                <a:endParaRPr lang="en-US" altLang="zh-TW" sz="1100" b="0" i="1" u="none" strike="noStrike" cap="none" baseline="0" dirty="0" smtClean="0">
                  <a:solidFill>
                    <a:srgbClr val="000000"/>
                  </a:solidFill>
                  <a:latin typeface="Arial"/>
                  <a:ea typeface="Arial"/>
                  <a:cs typeface="Arial"/>
                  <a:sym typeface="Arial"/>
                </a:endParaRPr>
              </a:p>
              <a:p>
                <a:r>
                  <a:rPr lang="zh-TW" altLang="en-US" sz="1100" b="0" i="1" u="none" strike="noStrike" cap="none" baseline="0" dirty="0" smtClean="0">
                    <a:solidFill>
                      <a:srgbClr val="000000"/>
                    </a:solidFill>
                    <a:latin typeface="Arial"/>
                    <a:ea typeface="Arial"/>
                    <a:cs typeface="Arial"/>
                    <a:sym typeface="Arial"/>
                  </a:rPr>
                  <a:t>𝜆 </a:t>
                </a:r>
                <a:r>
                  <a:rPr lang="en-US" altLang="zh-TW" sz="1100" b="0" i="0" u="none" strike="noStrike" cap="none" baseline="0" dirty="0" smtClean="0">
                    <a:solidFill>
                      <a:srgbClr val="000000"/>
                    </a:solidFill>
                    <a:latin typeface="Arial"/>
                    <a:ea typeface="Arial"/>
                    <a:cs typeface="Arial"/>
                    <a:sym typeface="Arial"/>
                  </a:rPr>
                  <a:t>is the carrier wavelength</a:t>
                </a:r>
              </a:p>
              <a:p>
                <a:r>
                  <a:rPr lang="en-US" altLang="zh-TW" sz="1100" b="0" i="0" smtClean="0">
                    <a:latin typeface="Cambria Math" panose="02040503050406030204" pitchFamily="18" charset="0"/>
                  </a:rPr>
                  <a:t>𝑑﷮𝑘</a:t>
                </a:r>
                <a:r>
                  <a:rPr lang="en-US" altLang="zh-TW" sz="1100" b="0" i="0" u="none" strike="noStrike" cap="none" baseline="0" dirty="0" smtClean="0">
                    <a:solidFill>
                      <a:srgbClr val="000000"/>
                    </a:solidFill>
                    <a:latin typeface="Arial"/>
                    <a:ea typeface="Arial"/>
                    <a:cs typeface="Arial"/>
                    <a:sym typeface="Arial"/>
                  </a:rPr>
                  <a:t>the distance between the </a:t>
                </a:r>
                <a:r>
                  <a:rPr lang="zh-TW" altLang="en-US" sz="1100" b="0" i="1" u="none" strike="noStrike" cap="none" baseline="0" dirty="0" smtClean="0">
                    <a:solidFill>
                      <a:srgbClr val="000000"/>
                    </a:solidFill>
                    <a:latin typeface="Arial"/>
                    <a:ea typeface="Arial"/>
                    <a:cs typeface="Arial"/>
                    <a:sym typeface="Arial"/>
                  </a:rPr>
                  <a:t>𝑘</a:t>
                </a:r>
                <a:r>
                  <a:rPr lang="en-US" altLang="zh-TW" sz="1100" b="0" i="0" u="none" strike="noStrike" cap="none" baseline="0" dirty="0" smtClean="0">
                    <a:solidFill>
                      <a:srgbClr val="000000"/>
                    </a:solidFill>
                    <a:latin typeface="Arial"/>
                    <a:ea typeface="Arial"/>
                    <a:cs typeface="Arial"/>
                    <a:sym typeface="Arial"/>
                  </a:rPr>
                  <a:t>-</a:t>
                </a:r>
                <a:r>
                  <a:rPr lang="en-US" altLang="zh-TW" sz="1100" b="0" i="0" u="none" strike="noStrike" cap="none" baseline="0" dirty="0" err="1" smtClean="0">
                    <a:solidFill>
                      <a:srgbClr val="000000"/>
                    </a:solidFill>
                    <a:latin typeface="Arial"/>
                    <a:ea typeface="Arial"/>
                    <a:cs typeface="Arial"/>
                    <a:sym typeface="Arial"/>
                  </a:rPr>
                  <a:t>th</a:t>
                </a:r>
                <a:r>
                  <a:rPr lang="en-US" altLang="zh-TW" sz="1100" b="0" i="0" u="none" strike="noStrike" cap="none" baseline="0" dirty="0" smtClean="0">
                    <a:solidFill>
                      <a:srgbClr val="000000"/>
                    </a:solidFill>
                    <a:latin typeface="Arial"/>
                    <a:ea typeface="Arial"/>
                    <a:cs typeface="Arial"/>
                    <a:sym typeface="Arial"/>
                  </a:rPr>
                  <a:t> user terminal and the satellite.</a:t>
                </a:r>
              </a:p>
              <a:p>
                <a:r>
                  <a:rPr lang="en-US" altLang="zh-TW" sz="1100" i="0">
                    <a:latin typeface="Cambria Math" panose="02040503050406030204" pitchFamily="18" charset="0"/>
                  </a:rPr>
                  <a:t>𝐾</a:t>
                </a:r>
                <a:r>
                  <a:rPr lang="en-US" altLang="zh-TW" sz="1100" i="0" smtClean="0">
                    <a:latin typeface="Cambria Math" panose="02040503050406030204" pitchFamily="18" charset="0"/>
                  </a:rPr>
                  <a:t>_</a:t>
                </a:r>
                <a:r>
                  <a:rPr lang="en-US" altLang="zh-TW" sz="1100" i="0">
                    <a:latin typeface="Cambria Math" panose="02040503050406030204" pitchFamily="18" charset="0"/>
                  </a:rPr>
                  <a:t>𝐵^ </a:t>
                </a:r>
                <a:r>
                  <a:rPr lang="en-US" altLang="zh-TW" sz="1100" b="0" i="0" u="none" strike="noStrike" cap="none" baseline="0" dirty="0" smtClean="0">
                    <a:solidFill>
                      <a:srgbClr val="000000"/>
                    </a:solidFill>
                    <a:latin typeface="Arial"/>
                    <a:ea typeface="Arial"/>
                    <a:cs typeface="Arial"/>
                    <a:sym typeface="Arial"/>
                  </a:rPr>
                  <a:t>is the Boltzmann constant,</a:t>
                </a:r>
              </a:p>
              <a:p>
                <a:r>
                  <a:rPr lang="zh-TW" altLang="en-US" sz="1100" b="0" i="1" u="none" strike="noStrike" cap="none" baseline="0" dirty="0" smtClean="0">
                    <a:solidFill>
                      <a:srgbClr val="000000"/>
                    </a:solidFill>
                    <a:latin typeface="Arial"/>
                    <a:ea typeface="Arial"/>
                    <a:cs typeface="Arial"/>
                    <a:sym typeface="Arial"/>
                  </a:rPr>
                  <a:t>𝐵𝑊 </a:t>
                </a:r>
                <a:r>
                  <a:rPr lang="en-US" altLang="zh-TW" sz="1100" b="0" i="0" u="none" strike="noStrike" cap="none" baseline="0" dirty="0" smtClean="0">
                    <a:solidFill>
                      <a:srgbClr val="000000"/>
                    </a:solidFill>
                    <a:latin typeface="Arial"/>
                    <a:ea typeface="Arial"/>
                    <a:cs typeface="Arial"/>
                    <a:sym typeface="Arial"/>
                  </a:rPr>
                  <a:t>is the carrier bandwidth</a:t>
                </a:r>
                <a:endParaRPr lang="en-US" altLang="zh-TW" dirty="0"/>
              </a:p>
              <a:p>
                <a:r>
                  <a:rPr lang="zh-TW" altLang="en-US" sz="1100" b="0" i="1" u="none" strike="noStrike" cap="none" baseline="0" dirty="0" smtClean="0">
                    <a:solidFill>
                      <a:srgbClr val="000000"/>
                    </a:solidFill>
                    <a:latin typeface="Arial"/>
                    <a:ea typeface="Arial"/>
                    <a:cs typeface="Arial"/>
                    <a:sym typeface="Arial"/>
                  </a:rPr>
                  <a:t>𝐺𝑅 </a:t>
                </a:r>
                <a:r>
                  <a:rPr lang="en-US" altLang="zh-TW" sz="1100" b="0" i="0" u="none" strike="noStrike" cap="none" baseline="0" dirty="0" smtClean="0">
                    <a:solidFill>
                      <a:srgbClr val="000000"/>
                    </a:solidFill>
                    <a:latin typeface="Arial"/>
                    <a:ea typeface="Arial"/>
                    <a:cs typeface="Arial"/>
                    <a:sym typeface="Arial"/>
                  </a:rPr>
                  <a:t>the user terminal receive antenna gain</a:t>
                </a:r>
              </a:p>
              <a:p>
                <a:r>
                  <a:rPr lang="zh-TW" altLang="en-US" sz="1100" b="0" i="1" u="none" strike="noStrike" cap="none" baseline="0" dirty="0" smtClean="0">
                    <a:solidFill>
                      <a:srgbClr val="000000"/>
                    </a:solidFill>
                    <a:latin typeface="Arial"/>
                    <a:ea typeface="Arial"/>
                    <a:cs typeface="Arial"/>
                    <a:sym typeface="Arial"/>
                  </a:rPr>
                  <a:t>𝑇𝑅 </a:t>
                </a:r>
                <a:r>
                  <a:rPr lang="en-US" altLang="zh-TW" sz="1100" b="0" i="0" u="none" strike="noStrike" cap="none" baseline="0" dirty="0" smtClean="0">
                    <a:solidFill>
                      <a:srgbClr val="000000"/>
                    </a:solidFill>
                    <a:latin typeface="Arial"/>
                    <a:ea typeface="Arial"/>
                    <a:cs typeface="Arial"/>
                    <a:sym typeface="Arial"/>
                  </a:rPr>
                  <a:t>the receiver noise temperature</a:t>
                </a:r>
              </a:p>
              <a:p>
                <a:r>
                  <a:rPr lang="zh-TW" altLang="en-US" sz="1100" b="0" i="1" u="none" strike="noStrike" cap="none" baseline="0" dirty="0" smtClean="0">
                    <a:solidFill>
                      <a:srgbClr val="000000"/>
                    </a:solidFill>
                    <a:latin typeface="Arial"/>
                    <a:ea typeface="Arial"/>
                    <a:cs typeface="Arial"/>
                    <a:sym typeface="Arial"/>
                  </a:rPr>
                  <a:t>𝑎𝑘𝑛 </a:t>
                </a:r>
                <a:r>
                  <a:rPr lang="en-US" altLang="zh-TW" sz="1100" b="0" i="0" u="none" strike="noStrike" cap="none" baseline="0" dirty="0" smtClean="0">
                    <a:solidFill>
                      <a:srgbClr val="000000"/>
                    </a:solidFill>
                    <a:latin typeface="Arial"/>
                    <a:ea typeface="Arial"/>
                    <a:cs typeface="Arial"/>
                    <a:sym typeface="Arial"/>
                  </a:rPr>
                  <a:t>refers to the gain from the </a:t>
                </a:r>
                <a:r>
                  <a:rPr lang="zh-TW" altLang="en-US" sz="1100" b="0" i="1" u="none" strike="noStrike" cap="none" baseline="0" dirty="0" smtClean="0">
                    <a:solidFill>
                      <a:srgbClr val="000000"/>
                    </a:solidFill>
                    <a:latin typeface="Arial"/>
                    <a:ea typeface="Arial"/>
                    <a:cs typeface="Arial"/>
                    <a:sym typeface="Arial"/>
                  </a:rPr>
                  <a:t>𝑛</a:t>
                </a:r>
                <a:r>
                  <a:rPr lang="en-US" altLang="zh-TW" sz="1100" b="0" i="0" u="none" strike="noStrike" cap="none" baseline="0" dirty="0" smtClean="0">
                    <a:solidFill>
                      <a:srgbClr val="000000"/>
                    </a:solidFill>
                    <a:latin typeface="Arial"/>
                    <a:ea typeface="Arial"/>
                    <a:cs typeface="Arial"/>
                    <a:sym typeface="Arial"/>
                  </a:rPr>
                  <a:t>-</a:t>
                </a:r>
                <a:r>
                  <a:rPr lang="en-US" altLang="zh-TW" sz="1100" b="0" i="0" u="none" strike="noStrike" cap="none" baseline="0" dirty="0" err="1" smtClean="0">
                    <a:solidFill>
                      <a:srgbClr val="000000"/>
                    </a:solidFill>
                    <a:latin typeface="Arial"/>
                    <a:ea typeface="Arial"/>
                    <a:cs typeface="Arial"/>
                    <a:sym typeface="Arial"/>
                  </a:rPr>
                  <a:t>th</a:t>
                </a:r>
                <a:r>
                  <a:rPr lang="en-US" altLang="zh-TW" sz="1100" b="0" i="0" u="none" strike="noStrike" cap="none" baseline="0" dirty="0" smtClean="0">
                    <a:solidFill>
                      <a:srgbClr val="000000"/>
                    </a:solidFill>
                    <a:latin typeface="Arial"/>
                    <a:ea typeface="Arial"/>
                    <a:cs typeface="Arial"/>
                    <a:sym typeface="Arial"/>
                  </a:rPr>
                  <a:t> feed to the </a:t>
                </a:r>
                <a:r>
                  <a:rPr lang="zh-TW" altLang="en-US" sz="1100" b="0" i="1" u="none" strike="noStrike" cap="none" baseline="0" dirty="0" smtClean="0">
                    <a:solidFill>
                      <a:srgbClr val="000000"/>
                    </a:solidFill>
                    <a:latin typeface="Arial"/>
                    <a:ea typeface="Arial"/>
                    <a:cs typeface="Arial"/>
                    <a:sym typeface="Arial"/>
                  </a:rPr>
                  <a:t>𝑘</a:t>
                </a:r>
                <a:r>
                  <a:rPr lang="en-US" altLang="zh-TW" sz="1100" b="0" i="0" u="none" strike="noStrike" cap="none" baseline="0" dirty="0" smtClean="0">
                    <a:solidFill>
                      <a:srgbClr val="000000"/>
                    </a:solidFill>
                    <a:latin typeface="Arial"/>
                    <a:ea typeface="Arial"/>
                    <a:cs typeface="Arial"/>
                    <a:sym typeface="Arial"/>
                  </a:rPr>
                  <a:t>-</a:t>
                </a:r>
                <a:r>
                  <a:rPr lang="en-US" altLang="zh-TW" sz="1100" b="0" i="0" u="none" strike="noStrike" cap="none" baseline="0" dirty="0" err="1" smtClean="0">
                    <a:solidFill>
                      <a:srgbClr val="000000"/>
                    </a:solidFill>
                    <a:latin typeface="Arial"/>
                    <a:ea typeface="Arial"/>
                    <a:cs typeface="Arial"/>
                    <a:sym typeface="Arial"/>
                  </a:rPr>
                  <a:t>th</a:t>
                </a:r>
                <a:r>
                  <a:rPr lang="en-US" altLang="zh-TW" sz="1100" b="0" i="0" u="none" strike="noStrike" cap="none" baseline="0" dirty="0" smtClean="0">
                    <a:solidFill>
                      <a:srgbClr val="000000"/>
                    </a:solidFill>
                    <a:latin typeface="Arial"/>
                    <a:ea typeface="Arial"/>
                    <a:cs typeface="Arial"/>
                    <a:sym typeface="Arial"/>
                  </a:rPr>
                  <a:t> user.</a:t>
                </a:r>
              </a:p>
              <a:p>
                <a:endParaRPr lang="en-US" altLang="zh-TW" sz="1100" b="0" i="0" u="none" strike="noStrike" cap="none" baseline="0" dirty="0" smtClean="0">
                  <a:solidFill>
                    <a:srgbClr val="000000"/>
                  </a:solidFill>
                  <a:latin typeface="Arial"/>
                  <a:cs typeface="Arial"/>
                  <a:sym typeface="Arial"/>
                </a:endParaRPr>
              </a:p>
              <a:p>
                <a:r>
                  <a:rPr lang="en-US" altLang="zh-TW" sz="1100" b="0" i="0" u="none" strike="noStrike" cap="none" baseline="0" dirty="0" smtClean="0">
                    <a:solidFill>
                      <a:srgbClr val="000000"/>
                    </a:solidFill>
                    <a:latin typeface="Arial"/>
                    <a:ea typeface="Arial"/>
                    <a:cs typeface="Arial"/>
                    <a:sym typeface="Arial"/>
                  </a:rPr>
                  <a:t> </a:t>
                </a:r>
                <a:r>
                  <a:rPr lang="en-US" altLang="zh-TW" sz="1100" b="1" i="0" u="none" strike="noStrike" cap="none" baseline="0" dirty="0" smtClean="0">
                    <a:solidFill>
                      <a:srgbClr val="000000"/>
                    </a:solidFill>
                    <a:latin typeface="Arial"/>
                    <a:ea typeface="Arial"/>
                    <a:cs typeface="Arial"/>
                    <a:sym typeface="Arial"/>
                  </a:rPr>
                  <a:t>H = </a:t>
                </a:r>
                <a:r>
                  <a:rPr lang="en-US" altLang="zh-TW" sz="1100" b="0" i="0" u="none" strike="noStrike" cap="none" baseline="0" dirty="0" smtClean="0">
                    <a:solidFill>
                      <a:srgbClr val="000000"/>
                    </a:solidFill>
                    <a:latin typeface="Arial"/>
                    <a:ea typeface="Arial"/>
                    <a:cs typeface="Arial"/>
                    <a:sym typeface="Arial"/>
                  </a:rPr>
                  <a:t>channel matrix </a:t>
                </a:r>
              </a:p>
              <a:p>
                <a:r>
                  <a:rPr lang="en-US" altLang="zh-TW" sz="1100" b="1" i="0" u="none" strike="noStrike" cap="none" baseline="0" dirty="0" smtClean="0">
                    <a:solidFill>
                      <a:srgbClr val="000000"/>
                    </a:solidFill>
                    <a:latin typeface="Arial"/>
                    <a:ea typeface="Arial"/>
                    <a:cs typeface="Arial"/>
                    <a:sym typeface="Arial"/>
                  </a:rPr>
                  <a:t>h</a:t>
                </a:r>
                <a:r>
                  <a:rPr lang="zh-TW" altLang="en-US" sz="1100" b="0" i="1" u="none" strike="noStrike" cap="none" baseline="0" dirty="0" smtClean="0">
                    <a:solidFill>
                      <a:srgbClr val="000000"/>
                    </a:solidFill>
                    <a:latin typeface="Arial"/>
                    <a:ea typeface="Arial"/>
                    <a:cs typeface="Arial"/>
                    <a:sym typeface="Arial"/>
                  </a:rPr>
                  <a:t>𝑖 </a:t>
                </a:r>
                <a:r>
                  <a:rPr lang="en-US" altLang="zh-TW" sz="1100" b="0" i="1" u="none" strike="noStrike" cap="none" baseline="0" dirty="0" smtClean="0">
                    <a:solidFill>
                      <a:srgbClr val="000000"/>
                    </a:solidFill>
                    <a:latin typeface="Arial"/>
                    <a:ea typeface="Arial"/>
                    <a:cs typeface="Arial"/>
                    <a:sym typeface="Arial"/>
                  </a:rPr>
                  <a:t>∈ </a:t>
                </a:r>
                <a:r>
                  <a:rPr lang="en-US" altLang="zh-TW" sz="1100" b="0" i="0" u="none" strike="noStrike" cap="none" baseline="0" dirty="0" smtClean="0">
                    <a:solidFill>
                      <a:srgbClr val="000000"/>
                    </a:solidFill>
                    <a:latin typeface="Arial"/>
                    <a:ea typeface="Arial"/>
                    <a:cs typeface="Arial"/>
                    <a:sym typeface="Arial"/>
                  </a:rPr>
                  <a:t>ℂ1</a:t>
                </a:r>
                <a:r>
                  <a:rPr lang="en-US" altLang="zh-TW" sz="1100" b="0" i="1" u="none" strike="noStrike" cap="none" baseline="0" dirty="0" smtClean="0">
                    <a:solidFill>
                      <a:srgbClr val="000000"/>
                    </a:solidFill>
                    <a:latin typeface="Arial"/>
                    <a:ea typeface="Arial"/>
                    <a:cs typeface="Arial"/>
                    <a:sym typeface="Arial"/>
                  </a:rPr>
                  <a:t>×</a:t>
                </a:r>
                <a:r>
                  <a:rPr lang="zh-TW" altLang="en-US" sz="1100" b="0" i="1" u="none" strike="noStrike" cap="none" baseline="0" dirty="0" smtClean="0">
                    <a:solidFill>
                      <a:srgbClr val="000000"/>
                    </a:solidFill>
                    <a:latin typeface="Arial"/>
                    <a:ea typeface="Arial"/>
                    <a:cs typeface="Arial"/>
                    <a:sym typeface="Arial"/>
                  </a:rPr>
                  <a:t>𝑁 </a:t>
                </a:r>
                <a:r>
                  <a:rPr lang="en-US" altLang="zh-TW" sz="1100" b="0" i="0" u="none" strike="noStrike" cap="none" baseline="0" dirty="0" smtClean="0">
                    <a:solidFill>
                      <a:srgbClr val="000000"/>
                    </a:solidFill>
                    <a:latin typeface="Arial"/>
                    <a:ea typeface="Arial"/>
                    <a:cs typeface="Arial"/>
                    <a:sym typeface="Arial"/>
                  </a:rPr>
                  <a:t>refers to the channel vector of the </a:t>
                </a:r>
                <a:r>
                  <a:rPr lang="zh-TW" altLang="en-US" sz="1100" b="0" i="1" u="none" strike="noStrike" cap="none" baseline="0" dirty="0" smtClean="0">
                    <a:solidFill>
                      <a:srgbClr val="000000"/>
                    </a:solidFill>
                    <a:latin typeface="Arial"/>
                    <a:ea typeface="Arial"/>
                    <a:cs typeface="Arial"/>
                    <a:sym typeface="Arial"/>
                  </a:rPr>
                  <a:t>𝑖</a:t>
                </a:r>
                <a:r>
                  <a:rPr lang="en-US" altLang="zh-TW" sz="1100" b="0" i="0" u="none" strike="noStrike" cap="none" baseline="0" dirty="0" smtClean="0">
                    <a:solidFill>
                      <a:srgbClr val="000000"/>
                    </a:solidFill>
                    <a:latin typeface="Arial"/>
                    <a:ea typeface="Arial"/>
                    <a:cs typeface="Arial"/>
                    <a:sym typeface="Arial"/>
                  </a:rPr>
                  <a:t>-</a:t>
                </a:r>
                <a:r>
                  <a:rPr lang="en-US" altLang="zh-TW" sz="1100" b="0" i="0" u="none" strike="noStrike" cap="none" baseline="0" dirty="0" err="1" smtClean="0">
                    <a:solidFill>
                      <a:srgbClr val="000000"/>
                    </a:solidFill>
                    <a:latin typeface="Arial"/>
                    <a:ea typeface="Arial"/>
                    <a:cs typeface="Arial"/>
                    <a:sym typeface="Arial"/>
                  </a:rPr>
                  <a:t>th</a:t>
                </a:r>
                <a:r>
                  <a:rPr lang="en-US" altLang="zh-TW" sz="1100" b="0" i="0" u="none" strike="noStrike" cap="none" baseline="0" dirty="0" smtClean="0">
                    <a:solidFill>
                      <a:srgbClr val="000000"/>
                    </a:solidFill>
                    <a:latin typeface="Arial"/>
                    <a:ea typeface="Arial"/>
                    <a:cs typeface="Arial"/>
                    <a:sym typeface="Arial"/>
                  </a:rPr>
                  <a:t> user.</a:t>
                </a:r>
              </a:p>
              <a:p>
                <a:endParaRPr lang="zh-TW" altLang="en-US" dirty="0"/>
              </a:p>
            </p:txBody>
          </p:sp>
        </mc:Fallback>
      </mc:AlternateContent>
    </p:spTree>
    <p:extLst>
      <p:ext uri="{BB962C8B-B14F-4D97-AF65-F5344CB8AC3E}">
        <p14:creationId xmlns:p14="http://schemas.microsoft.com/office/powerpoint/2010/main" val="1269976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smtClean="0"/>
              <a:t>為了最大程度地減少由</a:t>
            </a:r>
            <a:r>
              <a:rPr lang="en-US" altLang="zh-TW" dirty="0" smtClean="0"/>
              <a:t>full frequency</a:t>
            </a:r>
            <a:r>
              <a:rPr lang="en-US" altLang="zh-TW" baseline="0" dirty="0" smtClean="0"/>
              <a:t> reuse</a:t>
            </a:r>
            <a:r>
              <a:rPr lang="zh-TW" altLang="en-US" dirty="0" smtClean="0"/>
              <a:t>和</a:t>
            </a:r>
            <a:r>
              <a:rPr lang="en-US" altLang="zh-TW" dirty="0" err="1" smtClean="0"/>
              <a:t>beamforming</a:t>
            </a:r>
            <a:r>
              <a:rPr lang="zh-TW" altLang="en-US" dirty="0" smtClean="0"/>
              <a:t>產生的多用戶干擾，作者考慮</a:t>
            </a:r>
            <a:r>
              <a:rPr lang="en-US" altLang="zh-TW" sz="1100" b="0" i="0" u="none" strike="noStrike" cap="none" baseline="0" dirty="0" err="1" smtClean="0">
                <a:solidFill>
                  <a:srgbClr val="000000"/>
                </a:solidFill>
                <a:latin typeface="Arial"/>
                <a:ea typeface="Arial"/>
                <a:cs typeface="Arial"/>
                <a:sym typeface="Arial"/>
              </a:rPr>
              <a:t>precoding</a:t>
            </a:r>
            <a:r>
              <a:rPr lang="en-US" altLang="zh-TW" sz="1100" b="0" i="0" u="none" strike="noStrike" cap="none" baseline="0" dirty="0" smtClean="0">
                <a:solidFill>
                  <a:srgbClr val="000000"/>
                </a:solidFill>
                <a:latin typeface="Arial"/>
                <a:ea typeface="Arial"/>
                <a:cs typeface="Arial"/>
                <a:sym typeface="Arial"/>
              </a:rPr>
              <a:t> </a:t>
            </a:r>
          </a:p>
          <a:p>
            <a:pPr marL="158750" indent="0">
              <a:buNone/>
            </a:pPr>
            <a:r>
              <a:rPr lang="zh-TW" altLang="en-US" sz="1100" b="0" i="0" u="none" strike="noStrike" cap="none" baseline="0" dirty="0" smtClean="0">
                <a:solidFill>
                  <a:srgbClr val="000000"/>
                </a:solidFill>
                <a:latin typeface="Arial"/>
                <a:ea typeface="Arial"/>
                <a:cs typeface="Arial"/>
                <a:sym typeface="Arial"/>
              </a:rPr>
              <a:t>第五式子代表的是</a:t>
            </a:r>
            <a:r>
              <a:rPr lang="en-US" altLang="zh-TW" sz="1100" b="0" i="0" u="none" strike="noStrike" cap="none" baseline="0" dirty="0" smtClean="0">
                <a:solidFill>
                  <a:srgbClr val="000000"/>
                </a:solidFill>
                <a:latin typeface="Arial"/>
                <a:ea typeface="Arial"/>
                <a:cs typeface="Arial"/>
                <a:sym typeface="Arial"/>
              </a:rPr>
              <a:t>transmitted symbol vector</a:t>
            </a:r>
          </a:p>
          <a:p>
            <a:r>
              <a:rPr lang="en-US" altLang="zh-TW" sz="1100" b="1" i="0" u="none" strike="noStrike" cap="none" baseline="0" dirty="0" smtClean="0">
                <a:solidFill>
                  <a:srgbClr val="000000"/>
                </a:solidFill>
                <a:latin typeface="Arial"/>
                <a:ea typeface="Arial"/>
                <a:cs typeface="Arial"/>
                <a:sym typeface="Arial"/>
              </a:rPr>
              <a:t>s </a:t>
            </a:r>
            <a:r>
              <a:rPr lang="en-US" altLang="zh-TW" sz="1100" b="0" i="0" u="none" strike="noStrike" cap="none" baseline="0" dirty="0" smtClean="0">
                <a:solidFill>
                  <a:srgbClr val="000000"/>
                </a:solidFill>
                <a:latin typeface="Arial"/>
                <a:ea typeface="Arial"/>
                <a:cs typeface="Arial"/>
                <a:sym typeface="Arial"/>
              </a:rPr>
              <a:t>is a vector that contains the transmitted symbols</a:t>
            </a:r>
          </a:p>
          <a:p>
            <a:r>
              <a:rPr lang="en-US" altLang="zh-TW" sz="1100" b="0" i="0" u="none" strike="noStrike" cap="none" baseline="0" dirty="0" smtClean="0">
                <a:solidFill>
                  <a:srgbClr val="000000"/>
                </a:solidFill>
                <a:latin typeface="Arial"/>
                <a:ea typeface="Arial"/>
                <a:cs typeface="Arial"/>
                <a:sym typeface="Arial"/>
              </a:rPr>
              <a:t>matrix </a:t>
            </a:r>
            <a:r>
              <a:rPr lang="en-US" altLang="zh-TW" sz="1100" b="1" i="0" u="none" strike="noStrike" cap="none" baseline="0" dirty="0" smtClean="0">
                <a:solidFill>
                  <a:srgbClr val="000000"/>
                </a:solidFill>
                <a:latin typeface="Arial"/>
                <a:ea typeface="Arial"/>
                <a:cs typeface="Arial"/>
                <a:sym typeface="Arial"/>
              </a:rPr>
              <a:t>W </a:t>
            </a:r>
            <a:r>
              <a:rPr lang="en-US" altLang="zh-TW" sz="1100" b="0" i="0" u="none" strike="noStrike" cap="none" baseline="0" dirty="0" smtClean="0">
                <a:solidFill>
                  <a:srgbClr val="000000"/>
                </a:solidFill>
                <a:latin typeface="Arial"/>
                <a:ea typeface="Arial"/>
                <a:cs typeface="Arial"/>
                <a:sym typeface="Arial"/>
              </a:rPr>
              <a:t>is the linear </a:t>
            </a:r>
            <a:r>
              <a:rPr lang="en-US" altLang="zh-TW" sz="1100" b="0" i="0" u="none" strike="noStrike" cap="none" baseline="0" dirty="0" err="1" smtClean="0">
                <a:solidFill>
                  <a:srgbClr val="000000"/>
                </a:solidFill>
                <a:latin typeface="Arial"/>
                <a:ea typeface="Arial"/>
                <a:cs typeface="Arial"/>
                <a:sym typeface="Arial"/>
              </a:rPr>
              <a:t>precoding</a:t>
            </a:r>
            <a:r>
              <a:rPr lang="en-US" altLang="zh-TW" sz="1100" b="0" i="0" u="none" strike="noStrike" cap="none" baseline="0" dirty="0" smtClean="0">
                <a:solidFill>
                  <a:srgbClr val="000000"/>
                </a:solidFill>
                <a:latin typeface="Arial"/>
                <a:ea typeface="Arial"/>
                <a:cs typeface="Arial"/>
                <a:sym typeface="Arial"/>
              </a:rPr>
              <a:t> matrix to be designed.</a:t>
            </a:r>
          </a:p>
          <a:p>
            <a:endParaRPr lang="en-US" altLang="zh-TW" sz="1100" b="0" i="0" u="none" strike="noStrike" cap="none" baseline="0" dirty="0" smtClean="0">
              <a:solidFill>
                <a:srgbClr val="000000"/>
              </a:solidFill>
              <a:latin typeface="Arial"/>
              <a:cs typeface="Arial"/>
              <a:sym typeface="Arial"/>
            </a:endParaRPr>
          </a:p>
          <a:p>
            <a:pPr marL="158750" indent="0">
              <a:buNone/>
            </a:pPr>
            <a:r>
              <a:rPr lang="en-US" altLang="zh-TW" sz="1100" b="1" i="0" u="none" strike="noStrike" cap="none" baseline="0" dirty="0" smtClean="0">
                <a:solidFill>
                  <a:srgbClr val="000000"/>
                </a:solidFill>
                <a:latin typeface="Arial"/>
                <a:ea typeface="Arial"/>
                <a:cs typeface="Arial"/>
                <a:sym typeface="Arial"/>
              </a:rPr>
              <a:t>w </a:t>
            </a:r>
            <a:r>
              <a:rPr lang="en-US" altLang="zh-TW" sz="1100" b="0" i="0" u="none" strike="noStrike" cap="none" baseline="0" dirty="0" smtClean="0">
                <a:solidFill>
                  <a:srgbClr val="000000"/>
                </a:solidFill>
                <a:latin typeface="Arial"/>
                <a:ea typeface="Arial"/>
                <a:cs typeface="Arial"/>
                <a:sym typeface="Arial"/>
              </a:rPr>
              <a:t>is the </a:t>
            </a:r>
            <a:r>
              <a:rPr lang="en-US" altLang="zh-TW" sz="1100" b="0" i="0" u="none" strike="noStrike" cap="none" baseline="0" dirty="0" err="1" smtClean="0">
                <a:solidFill>
                  <a:srgbClr val="000000"/>
                </a:solidFill>
                <a:latin typeface="Arial"/>
                <a:ea typeface="Arial"/>
                <a:cs typeface="Arial"/>
                <a:sym typeface="Arial"/>
              </a:rPr>
              <a:t>precoding</a:t>
            </a:r>
            <a:r>
              <a:rPr lang="en-US" altLang="zh-TW" sz="1100" b="0" i="0" u="none" strike="noStrike" cap="none" baseline="0" dirty="0" smtClean="0">
                <a:solidFill>
                  <a:srgbClr val="000000"/>
                </a:solidFill>
                <a:latin typeface="Arial"/>
                <a:ea typeface="Arial"/>
                <a:cs typeface="Arial"/>
                <a:sym typeface="Arial"/>
              </a:rPr>
              <a:t> vector for the </a:t>
            </a:r>
            <a:r>
              <a:rPr lang="zh-TW" altLang="en-US" sz="1100" b="0" i="1" u="none" strike="noStrike" cap="none" baseline="0" dirty="0" smtClean="0">
                <a:solidFill>
                  <a:srgbClr val="000000"/>
                </a:solidFill>
                <a:latin typeface="Arial"/>
                <a:ea typeface="Arial"/>
                <a:cs typeface="Arial"/>
                <a:sym typeface="Arial"/>
              </a:rPr>
              <a:t>𝑖</a:t>
            </a:r>
            <a:r>
              <a:rPr lang="en-US" altLang="zh-TW" sz="1100" b="0" i="0" u="none" strike="noStrike" cap="none" baseline="0" dirty="0" smtClean="0">
                <a:solidFill>
                  <a:srgbClr val="000000"/>
                </a:solidFill>
                <a:latin typeface="Arial"/>
                <a:ea typeface="Arial"/>
                <a:cs typeface="Arial"/>
                <a:sym typeface="Arial"/>
              </a:rPr>
              <a:t>-</a:t>
            </a:r>
            <a:r>
              <a:rPr lang="en-US" altLang="zh-TW" sz="1100" b="0" i="0" u="none" strike="noStrike" cap="none" baseline="0" dirty="0" err="1" smtClean="0">
                <a:solidFill>
                  <a:srgbClr val="000000"/>
                </a:solidFill>
                <a:latin typeface="Arial"/>
                <a:ea typeface="Arial"/>
                <a:cs typeface="Arial"/>
                <a:sym typeface="Arial"/>
              </a:rPr>
              <a:t>th</a:t>
            </a:r>
            <a:r>
              <a:rPr lang="en-US" altLang="zh-TW" sz="1100" b="0" i="0" u="none" strike="noStrike" cap="none" baseline="0" dirty="0" smtClean="0">
                <a:solidFill>
                  <a:srgbClr val="000000"/>
                </a:solidFill>
                <a:latin typeface="Arial"/>
                <a:ea typeface="Arial"/>
                <a:cs typeface="Arial"/>
                <a:sym typeface="Arial"/>
              </a:rPr>
              <a:t> user.</a:t>
            </a:r>
            <a:endParaRPr lang="zh-TW" altLang="en-US" dirty="0"/>
          </a:p>
        </p:txBody>
      </p:sp>
    </p:spTree>
    <p:extLst>
      <p:ext uri="{BB962C8B-B14F-4D97-AF65-F5344CB8AC3E}">
        <p14:creationId xmlns:p14="http://schemas.microsoft.com/office/powerpoint/2010/main" val="3955202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7395e1ec2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7395e1ec2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b="0" i="0" u="none" strike="noStrike" cap="none" dirty="0" err="1" smtClean="0">
                <a:solidFill>
                  <a:srgbClr val="000000"/>
                </a:solidFill>
                <a:latin typeface="Arial"/>
                <a:ea typeface="Arial"/>
                <a:cs typeface="Arial"/>
                <a:sym typeface="Arial"/>
              </a:rPr>
              <a:t>Precoding</a:t>
            </a:r>
            <a:r>
              <a:rPr lang="zh-TW" altLang="en-US" sz="1100" b="0" i="0" u="none" strike="noStrike" cap="none" dirty="0" smtClean="0">
                <a:solidFill>
                  <a:srgbClr val="000000"/>
                </a:solidFill>
                <a:latin typeface="Arial"/>
                <a:ea typeface="Arial"/>
                <a:cs typeface="Arial"/>
                <a:sym typeface="Arial"/>
              </a:rPr>
              <a:t>用在減輕波束間干擾，同時保持所需的信噪比（</a:t>
            </a:r>
            <a:r>
              <a:rPr lang="en-US" altLang="zh-TW" sz="1100" b="0" i="0" u="none" strike="noStrike" cap="none" dirty="0" smtClean="0">
                <a:solidFill>
                  <a:srgbClr val="000000"/>
                </a:solidFill>
                <a:latin typeface="Arial"/>
                <a:ea typeface="Arial"/>
                <a:cs typeface="Arial"/>
                <a:sym typeface="Arial"/>
              </a:rPr>
              <a:t>SNR</a:t>
            </a:r>
            <a:r>
              <a:rPr lang="zh-TW" altLang="en-US" sz="1100" b="0" i="0" u="none" strike="noStrike" cap="none" dirty="0" smtClean="0">
                <a:solidFill>
                  <a:srgbClr val="000000"/>
                </a:solidFill>
                <a:latin typeface="Arial"/>
                <a:ea typeface="Arial"/>
                <a:cs typeface="Arial"/>
                <a:sym typeface="Arial"/>
              </a:rPr>
              <a:t>）高。</a:t>
            </a:r>
            <a:endParaRPr dirty="0"/>
          </a:p>
        </p:txBody>
      </p:sp>
    </p:spTree>
    <p:extLst>
      <p:ext uri="{BB962C8B-B14F-4D97-AF65-F5344CB8AC3E}">
        <p14:creationId xmlns:p14="http://schemas.microsoft.com/office/powerpoint/2010/main" val="1486100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7395e1ec2a_0_159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7395e1ec2a_0_159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考慮到性能計算複雜性的折衷，適當的預編碼方案</a:t>
            </a:r>
            <a:r>
              <a:rPr lang="zh-TW" altLang="en-US" sz="1100" dirty="0" smtClean="0"/>
              <a:t>零抑制等化器</a:t>
            </a:r>
            <a:r>
              <a:rPr lang="zh-TW" altLang="en-US" dirty="0" smtClean="0"/>
              <a:t>（</a:t>
            </a:r>
            <a:r>
              <a:rPr lang="en-US" altLang="zh-TW" dirty="0" smtClean="0"/>
              <a:t>ZF</a:t>
            </a:r>
            <a:r>
              <a:rPr lang="zh-TW" altLang="en-US" dirty="0" smtClean="0"/>
              <a:t>）和最小均方誤差（</a:t>
            </a:r>
            <a:r>
              <a:rPr lang="en-US" altLang="zh-TW" dirty="0" smtClean="0"/>
              <a:t>MMSE</a:t>
            </a:r>
            <a:r>
              <a:rPr lang="zh-TW" altLang="en-US" dirty="0" smtClean="0"/>
              <a:t>）。</a:t>
            </a:r>
            <a:endParaRPr dirty="0"/>
          </a:p>
        </p:txBody>
      </p:sp>
    </p:spTree>
    <p:extLst>
      <p:ext uri="{BB962C8B-B14F-4D97-AF65-F5344CB8AC3E}">
        <p14:creationId xmlns:p14="http://schemas.microsoft.com/office/powerpoint/2010/main" val="454173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en-US" altLang="zh-TW" sz="1100" b="0" i="0" u="none" strike="noStrike" cap="none" baseline="0" dirty="0" smtClean="0">
              <a:solidFill>
                <a:srgbClr val="000000"/>
              </a:solidFill>
              <a:latin typeface="Arial"/>
              <a:ea typeface="Arial"/>
              <a:cs typeface="Arial"/>
              <a:sym typeface="Arial"/>
            </a:endParaRPr>
          </a:p>
          <a:p>
            <a:r>
              <a:rPr lang="zh-TW" altLang="en-US" sz="1100" b="0" i="1" u="none" strike="noStrike" cap="none" baseline="0" dirty="0" smtClean="0">
                <a:solidFill>
                  <a:srgbClr val="000000"/>
                </a:solidFill>
                <a:latin typeface="Arial"/>
                <a:ea typeface="Arial"/>
                <a:cs typeface="Arial"/>
                <a:sym typeface="Arial"/>
              </a:rPr>
              <a:t>𝛾</a:t>
            </a:r>
            <a:r>
              <a:rPr lang="en-US" altLang="zh-TW" sz="1100" b="0" i="0" u="none" strike="noStrike" cap="none" baseline="0" dirty="0" smtClean="0">
                <a:solidFill>
                  <a:srgbClr val="000000"/>
                </a:solidFill>
                <a:latin typeface="Arial"/>
                <a:ea typeface="Arial"/>
                <a:cs typeface="Arial"/>
                <a:sym typeface="Arial"/>
              </a:rPr>
              <a:t>ZF controls the transmit power</a:t>
            </a:r>
          </a:p>
          <a:p>
            <a:r>
              <a:rPr lang="zh-TW" altLang="en-US" sz="1100" b="0" i="0" u="none" strike="noStrike" cap="none" dirty="0" smtClean="0">
                <a:solidFill>
                  <a:srgbClr val="000000"/>
                </a:solidFill>
                <a:latin typeface="Arial"/>
                <a:ea typeface="Arial"/>
                <a:cs typeface="Arial"/>
                <a:sym typeface="Arial"/>
              </a:rPr>
              <a:t>如果有效載荷配備了靈活的多端口放大器，其中總功率由它們共享</a:t>
            </a:r>
            <a:endParaRPr lang="en-US" altLang="zh-TW" sz="1100" b="0" i="0" u="none" strike="noStrike" cap="none" baseline="0" dirty="0" smtClean="0">
              <a:solidFill>
                <a:srgbClr val="000000"/>
              </a:solidFill>
              <a:latin typeface="Arial"/>
              <a:ea typeface="Arial"/>
              <a:cs typeface="Arial"/>
              <a:sym typeface="Arial"/>
            </a:endParaRPr>
          </a:p>
          <a:p>
            <a:r>
              <a:rPr lang="en-US" altLang="zh-TW" sz="1100" b="0" i="0" u="none" strike="noStrike" cap="none" baseline="0" dirty="0" smtClean="0">
                <a:solidFill>
                  <a:srgbClr val="000000"/>
                </a:solidFill>
                <a:latin typeface="Arial"/>
                <a:ea typeface="Arial"/>
                <a:cs typeface="Arial"/>
                <a:sym typeface="Arial"/>
              </a:rPr>
              <a:t>SPC refers to sum-power constraints</a:t>
            </a:r>
          </a:p>
          <a:p>
            <a:r>
              <a:rPr lang="zh-TW" altLang="en-US" sz="1100" b="0" i="1" u="none" strike="noStrike" cap="none" baseline="0" dirty="0" smtClean="0">
                <a:solidFill>
                  <a:srgbClr val="000000"/>
                </a:solidFill>
                <a:latin typeface="Arial"/>
                <a:ea typeface="Arial"/>
                <a:cs typeface="Arial"/>
                <a:sym typeface="Arial"/>
              </a:rPr>
              <a:t>𝑃</a:t>
            </a:r>
            <a:r>
              <a:rPr lang="en-US" altLang="zh-TW" sz="1100" b="0" i="0" u="none" strike="noStrike" cap="none" baseline="0" dirty="0" smtClean="0">
                <a:solidFill>
                  <a:srgbClr val="000000"/>
                </a:solidFill>
                <a:latin typeface="Arial"/>
                <a:ea typeface="Arial"/>
                <a:cs typeface="Arial"/>
                <a:sym typeface="Arial"/>
              </a:rPr>
              <a:t>max is the maximum transmit power.</a:t>
            </a:r>
          </a:p>
          <a:p>
            <a:endParaRPr lang="en-US" altLang="zh-TW" sz="1100" b="0" i="0" u="none" strike="noStrike" cap="none" baseline="0" dirty="0" smtClean="0">
              <a:solidFill>
                <a:srgbClr val="000000"/>
              </a:solidFill>
              <a:latin typeface="Arial"/>
              <a:ea typeface="Arial"/>
              <a:cs typeface="Arial"/>
              <a:sym typeface="Arial"/>
            </a:endParaRP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sz="1100" b="0" i="0" u="none" strike="noStrike" cap="none" dirty="0" smtClean="0">
                <a:solidFill>
                  <a:srgbClr val="000000"/>
                </a:solidFill>
                <a:latin typeface="Arial"/>
                <a:ea typeface="Arial"/>
                <a:cs typeface="Arial"/>
                <a:sym typeface="Arial"/>
              </a:rPr>
              <a:t>如果不存在上述提要之間的功率共享，並且每個提要都有其唯一的功率預算， 則會變成如下</a:t>
            </a:r>
            <a:endParaRPr lang="en-US" altLang="zh-TW" sz="1100" b="0" i="0" u="none" strike="noStrike" cap="none" dirty="0" smtClean="0">
              <a:solidFill>
                <a:srgbClr val="000000"/>
              </a:solidFill>
              <a:latin typeface="Arial"/>
              <a:ea typeface="Arial"/>
              <a:cs typeface="Arial"/>
              <a:sym typeface="Arial"/>
            </a:endParaRP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TW" sz="1100" b="0" i="0" u="none" strike="noStrike" cap="none" baseline="0" dirty="0" smtClean="0">
                <a:solidFill>
                  <a:srgbClr val="000000"/>
                </a:solidFill>
                <a:latin typeface="Arial"/>
                <a:ea typeface="Arial"/>
                <a:cs typeface="Arial"/>
                <a:sym typeface="Arial"/>
              </a:rPr>
              <a:t>PFC stands for per-feed power constraints</a:t>
            </a: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sz="1100" b="0" i="0" u="none" strike="noStrike" cap="none" baseline="0" dirty="0" smtClean="0">
                <a:solidFill>
                  <a:srgbClr val="000000"/>
                </a:solidFill>
                <a:latin typeface="Arial"/>
                <a:ea typeface="Arial"/>
                <a:cs typeface="Arial"/>
                <a:sym typeface="Arial"/>
              </a:rPr>
              <a:t>每個</a:t>
            </a:r>
            <a:r>
              <a:rPr lang="en-US" altLang="zh-TW" sz="1100" b="0" i="0" u="none" strike="noStrike" cap="none" baseline="0" dirty="0" smtClean="0">
                <a:solidFill>
                  <a:srgbClr val="000000"/>
                </a:solidFill>
                <a:latin typeface="Arial"/>
                <a:ea typeface="Arial"/>
                <a:cs typeface="Arial"/>
                <a:sym typeface="Arial"/>
              </a:rPr>
              <a:t>feed</a:t>
            </a:r>
            <a:r>
              <a:rPr lang="zh-TW" altLang="en-US" sz="1100" b="0" i="0" u="none" strike="noStrike" cap="none" baseline="0" dirty="0" smtClean="0">
                <a:solidFill>
                  <a:srgbClr val="000000"/>
                </a:solidFill>
                <a:latin typeface="Arial"/>
                <a:ea typeface="Arial"/>
                <a:cs typeface="Arial"/>
                <a:sym typeface="Arial"/>
              </a:rPr>
              <a:t>的</a:t>
            </a:r>
            <a:r>
              <a:rPr lang="en-US" altLang="zh-TW" sz="1100" b="0" i="0" u="none" strike="noStrike" cap="none" baseline="0" dirty="0" smtClean="0">
                <a:solidFill>
                  <a:srgbClr val="000000"/>
                </a:solidFill>
                <a:latin typeface="Arial"/>
                <a:ea typeface="Arial"/>
                <a:cs typeface="Arial"/>
                <a:sym typeface="Arial"/>
              </a:rPr>
              <a:t>power constraint is </a:t>
            </a:r>
            <a:r>
              <a:rPr lang="en-US" altLang="zh-TW" sz="1100" b="0" i="0" u="none" strike="noStrike" cap="none" baseline="0" dirty="0" err="1" smtClean="0">
                <a:solidFill>
                  <a:srgbClr val="000000"/>
                </a:solidFill>
                <a:latin typeface="Arial"/>
                <a:ea typeface="Arial"/>
                <a:cs typeface="Arial"/>
                <a:sym typeface="Arial"/>
              </a:rPr>
              <a:t>Pmax</a:t>
            </a:r>
            <a:r>
              <a:rPr lang="en-US" altLang="zh-TW" sz="1100" b="0" i="0" u="none" strike="noStrike" cap="none" baseline="0" dirty="0" smtClean="0">
                <a:solidFill>
                  <a:srgbClr val="000000"/>
                </a:solidFill>
                <a:latin typeface="Arial"/>
                <a:ea typeface="Arial"/>
                <a:cs typeface="Arial"/>
                <a:sym typeface="Arial"/>
              </a:rPr>
              <a:t>/N.</a:t>
            </a: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0" i="0" u="none" strike="noStrike" cap="none" dirty="0" smtClean="0">
              <a:solidFill>
                <a:srgbClr val="000000"/>
              </a:solidFill>
              <a:latin typeface="Arial"/>
              <a:ea typeface="Arial"/>
              <a:cs typeface="Arial"/>
              <a:sym typeface="Arial"/>
            </a:endParaRP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0" i="0" u="none" strike="noStrike" cap="none" dirty="0" smtClean="0">
              <a:solidFill>
                <a:srgbClr val="000000"/>
              </a:solidFill>
              <a:latin typeface="Arial"/>
              <a:ea typeface="Arial"/>
              <a:cs typeface="Arial"/>
              <a:sym typeface="Arial"/>
            </a:endParaRP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zh-TW" altLang="en-US" sz="1100" b="0" i="0" u="none" strike="noStrike" cap="none" dirty="0" smtClean="0">
              <a:solidFill>
                <a:srgbClr val="000000"/>
              </a:solidFill>
              <a:latin typeface="Arial"/>
              <a:ea typeface="Arial"/>
              <a:cs typeface="Arial"/>
              <a:sym typeface="Arial"/>
            </a:endParaRPr>
          </a:p>
          <a:p>
            <a:endParaRPr lang="en-US" altLang="zh-TW" sz="1100" b="0" i="0" u="none" strike="noStrike" cap="none" baseline="0" dirty="0" smtClean="0">
              <a:solidFill>
                <a:srgbClr val="000000"/>
              </a:solidFill>
              <a:latin typeface="Arial"/>
              <a:ea typeface="Arial"/>
              <a:cs typeface="Arial"/>
              <a:sym typeface="Arial"/>
            </a:endParaRPr>
          </a:p>
          <a:p>
            <a:endParaRPr lang="zh-TW" altLang="en-US" dirty="0"/>
          </a:p>
        </p:txBody>
      </p:sp>
    </p:spTree>
    <p:extLst>
      <p:ext uri="{BB962C8B-B14F-4D97-AF65-F5344CB8AC3E}">
        <p14:creationId xmlns:p14="http://schemas.microsoft.com/office/powerpoint/2010/main" val="257961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en-US" altLang="zh-TW" sz="1100" b="0" i="0" u="none" strike="noStrike" cap="none" dirty="0" smtClean="0">
                <a:solidFill>
                  <a:srgbClr val="000000"/>
                </a:solidFill>
                <a:latin typeface="Arial"/>
                <a:ea typeface="Arial"/>
                <a:cs typeface="Arial"/>
                <a:sym typeface="Arial"/>
              </a:rPr>
              <a:t>ZF </a:t>
            </a:r>
            <a:r>
              <a:rPr lang="zh-TW" altLang="en-US" sz="1100" b="0" i="0" u="none" strike="noStrike" cap="none" dirty="0" smtClean="0">
                <a:solidFill>
                  <a:srgbClr val="000000"/>
                </a:solidFill>
                <a:latin typeface="Arial"/>
                <a:ea typeface="Arial"/>
                <a:cs typeface="Arial"/>
                <a:sym typeface="Arial"/>
              </a:rPr>
              <a:t>雖然可以完全消除</a:t>
            </a:r>
            <a:r>
              <a:rPr lang="en-US" altLang="zh-TW" sz="1100" b="0" i="0" u="none" strike="noStrike" cap="none" dirty="0" smtClean="0">
                <a:solidFill>
                  <a:srgbClr val="000000"/>
                </a:solidFill>
                <a:latin typeface="Arial"/>
                <a:ea typeface="Arial"/>
                <a:cs typeface="Arial"/>
                <a:sym typeface="Arial"/>
              </a:rPr>
              <a:t>inter beams</a:t>
            </a:r>
            <a:r>
              <a:rPr lang="zh-TW" altLang="en-US" sz="1100" b="0" i="0" u="none" strike="noStrike" cap="none" dirty="0" smtClean="0">
                <a:solidFill>
                  <a:srgbClr val="000000"/>
                </a:solidFill>
                <a:latin typeface="Arial"/>
                <a:ea typeface="Arial"/>
                <a:cs typeface="Arial"/>
                <a:sym typeface="Arial"/>
              </a:rPr>
              <a:t>的干擾，但會產生高斯白雜訊，降低</a:t>
            </a:r>
            <a:r>
              <a:rPr lang="en-US" altLang="zh-TW" sz="1100" b="0" i="0" u="none" strike="noStrike" cap="none" dirty="0" smtClean="0">
                <a:solidFill>
                  <a:srgbClr val="000000"/>
                </a:solidFill>
                <a:latin typeface="Arial"/>
                <a:ea typeface="Arial"/>
                <a:cs typeface="Arial"/>
                <a:sym typeface="Arial"/>
              </a:rPr>
              <a:t>SNR</a:t>
            </a:r>
          </a:p>
          <a:p>
            <a:endParaRPr lang="en-US" altLang="zh-TW" sz="1100" b="0" i="0" u="none" strike="noStrike" cap="none" dirty="0" smtClean="0">
              <a:solidFill>
                <a:srgbClr val="000000"/>
              </a:solidFill>
              <a:latin typeface="Arial"/>
              <a:ea typeface="Arial"/>
              <a:cs typeface="Arial"/>
              <a:sym typeface="Arial"/>
            </a:endParaRPr>
          </a:p>
          <a:p>
            <a:r>
              <a:rPr lang="en-US" altLang="zh-TW" sz="1100" b="0" i="0" u="none" strike="noStrike" cap="none" dirty="0" smtClean="0">
                <a:solidFill>
                  <a:srgbClr val="000000"/>
                </a:solidFill>
                <a:latin typeface="Arial"/>
                <a:ea typeface="Arial"/>
                <a:cs typeface="Arial"/>
                <a:sym typeface="Arial"/>
              </a:rPr>
              <a:t>MMSE</a:t>
            </a:r>
            <a:r>
              <a:rPr lang="zh-TW" altLang="en-US" sz="1100" b="0" i="0" u="none" strike="noStrike" cap="none" dirty="0" smtClean="0">
                <a:solidFill>
                  <a:srgbClr val="000000"/>
                </a:solidFill>
                <a:latin typeface="Arial"/>
                <a:ea typeface="Arial"/>
                <a:cs typeface="Arial"/>
                <a:sym typeface="Arial"/>
              </a:rPr>
              <a:t>設計則留有一定的干擾，目的是提高所需信號的</a:t>
            </a:r>
            <a:r>
              <a:rPr lang="en-US" altLang="zh-TW" sz="1100" b="0" i="0" u="none" strike="noStrike" cap="none" dirty="0" smtClean="0">
                <a:solidFill>
                  <a:srgbClr val="000000"/>
                </a:solidFill>
                <a:latin typeface="Arial"/>
                <a:ea typeface="Arial"/>
                <a:cs typeface="Arial"/>
                <a:sym typeface="Arial"/>
              </a:rPr>
              <a:t>SNR</a:t>
            </a:r>
            <a:r>
              <a:rPr lang="zh-TW" altLang="en-US" sz="1100" b="0" i="0" u="none" strike="noStrike" cap="none" dirty="0" smtClean="0">
                <a:solidFill>
                  <a:srgbClr val="000000"/>
                </a:solidFill>
                <a:latin typeface="Arial"/>
                <a:ea typeface="Arial"/>
                <a:cs typeface="Arial"/>
                <a:sym typeface="Arial"/>
              </a:rPr>
              <a:t>。 </a:t>
            </a: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0" i="0" u="none" strike="noStrike" cap="none" dirty="0" smtClean="0">
              <a:solidFill>
                <a:srgbClr val="000000"/>
              </a:solidFill>
              <a:latin typeface="Arial"/>
              <a:ea typeface="Arial"/>
              <a:cs typeface="Arial"/>
              <a:sym typeface="Arial"/>
            </a:endParaRP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0" i="0" u="none" strike="noStrike" cap="none" dirty="0" smtClean="0">
              <a:solidFill>
                <a:srgbClr val="000000"/>
              </a:solidFill>
              <a:latin typeface="Arial"/>
              <a:ea typeface="Arial"/>
              <a:cs typeface="Arial"/>
              <a:sym typeface="Arial"/>
            </a:endParaRP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zh-TW" altLang="en-US" sz="1100" b="0" i="0" u="none" strike="noStrike" cap="none" dirty="0" smtClean="0">
              <a:solidFill>
                <a:srgbClr val="000000"/>
              </a:solidFill>
              <a:latin typeface="Arial"/>
              <a:ea typeface="Arial"/>
              <a:cs typeface="Arial"/>
              <a:sym typeface="Arial"/>
            </a:endParaRPr>
          </a:p>
          <a:p>
            <a:endParaRPr lang="en-US" altLang="zh-TW" sz="1100" b="0" i="0" u="none" strike="noStrike" cap="none" baseline="0" dirty="0" smtClean="0">
              <a:solidFill>
                <a:srgbClr val="000000"/>
              </a:solidFill>
              <a:latin typeface="Arial"/>
              <a:ea typeface="Arial"/>
              <a:cs typeface="Arial"/>
              <a:sym typeface="Arial"/>
            </a:endParaRPr>
          </a:p>
          <a:p>
            <a:endParaRPr lang="zh-TW" altLang="en-US" dirty="0"/>
          </a:p>
        </p:txBody>
      </p:sp>
    </p:spTree>
    <p:extLst>
      <p:ext uri="{BB962C8B-B14F-4D97-AF65-F5344CB8AC3E}">
        <p14:creationId xmlns:p14="http://schemas.microsoft.com/office/powerpoint/2010/main" val="511215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sz="1100" b="0" i="0" u="none" strike="noStrike" cap="none" dirty="0" smtClean="0">
                <a:solidFill>
                  <a:srgbClr val="000000"/>
                </a:solidFill>
                <a:latin typeface="Arial"/>
                <a:ea typeface="Arial"/>
                <a:cs typeface="Arial"/>
                <a:sym typeface="Arial"/>
              </a:rPr>
              <a:t>在本篇論文也額外評估基於信號洩漏干擾優化的預編碼設計。一開始提出是為了針對</a:t>
            </a:r>
            <a:r>
              <a:rPr lang="en-US" altLang="zh-TW" sz="1100" b="0" i="0" u="none" strike="noStrike" cap="none" dirty="0" smtClean="0">
                <a:solidFill>
                  <a:srgbClr val="000000"/>
                </a:solidFill>
                <a:latin typeface="Arial"/>
                <a:ea typeface="Arial"/>
                <a:cs typeface="Arial"/>
                <a:sym typeface="Arial"/>
              </a:rPr>
              <a:t>MIMO</a:t>
            </a:r>
            <a:r>
              <a:rPr lang="zh-TW" altLang="en-US" sz="1100" b="0" i="0" u="none" strike="noStrike" cap="none" dirty="0" smtClean="0">
                <a:solidFill>
                  <a:srgbClr val="000000"/>
                </a:solidFill>
                <a:latin typeface="Arial"/>
                <a:ea typeface="Arial"/>
                <a:cs typeface="Arial"/>
                <a:sym typeface="Arial"/>
              </a:rPr>
              <a:t>，這種</a:t>
            </a:r>
            <a:r>
              <a:rPr lang="en-US" altLang="zh-TW" sz="1100" b="0" i="0" u="none" strike="noStrike" cap="none" dirty="0" err="1" smtClean="0">
                <a:solidFill>
                  <a:srgbClr val="000000"/>
                </a:solidFill>
                <a:latin typeface="Arial"/>
                <a:ea typeface="Arial"/>
                <a:cs typeface="Arial"/>
                <a:sym typeface="Arial"/>
              </a:rPr>
              <a:t>precoding</a:t>
            </a:r>
            <a:r>
              <a:rPr lang="zh-TW" altLang="en-US" sz="1100" b="0" i="0" u="none" strike="noStrike" cap="none" dirty="0" smtClean="0">
                <a:solidFill>
                  <a:srgbClr val="000000"/>
                </a:solidFill>
                <a:latin typeface="Arial"/>
                <a:ea typeface="Arial"/>
                <a:cs typeface="Arial"/>
                <a:sym typeface="Arial"/>
              </a:rPr>
              <a:t>方法可以依序獲得最佳的</a:t>
            </a:r>
            <a:r>
              <a:rPr lang="en-US" altLang="zh-TW" sz="1100" b="0" i="0" u="none" strike="noStrike" cap="none" dirty="0" err="1" smtClean="0">
                <a:solidFill>
                  <a:srgbClr val="000000"/>
                </a:solidFill>
                <a:latin typeface="Arial"/>
                <a:ea typeface="Arial"/>
                <a:cs typeface="Arial"/>
                <a:sym typeface="Arial"/>
              </a:rPr>
              <a:t>precoding</a:t>
            </a:r>
            <a:r>
              <a:rPr lang="en-US" altLang="zh-TW" sz="1100" b="0" i="0" u="none" strike="noStrike" cap="none" dirty="0" smtClean="0">
                <a:solidFill>
                  <a:srgbClr val="000000"/>
                </a:solidFill>
                <a:latin typeface="Arial"/>
                <a:ea typeface="Arial"/>
                <a:cs typeface="Arial"/>
                <a:sym typeface="Arial"/>
              </a:rPr>
              <a:t> vector</a:t>
            </a: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0" i="0" u="none" strike="noStrike" cap="none" dirty="0" smtClean="0">
              <a:solidFill>
                <a:srgbClr val="000000"/>
              </a:solidFill>
              <a:latin typeface="Arial"/>
              <a:ea typeface="Arial"/>
              <a:cs typeface="Arial"/>
              <a:sym typeface="Arial"/>
            </a:endParaRPr>
          </a:p>
          <a:p>
            <a:pPr rtl="0"/>
            <a:r>
              <a:rPr lang="zh-TW" altLang="en-US" sz="1100" b="0" i="0" u="none" strike="noStrike" cap="none" dirty="0" smtClean="0">
                <a:solidFill>
                  <a:srgbClr val="000000"/>
                </a:solidFill>
                <a:effectLst/>
                <a:latin typeface="Arial"/>
                <a:ea typeface="Arial"/>
                <a:cs typeface="Arial"/>
                <a:sym typeface="Arial"/>
              </a:rPr>
              <a:t>除了</a:t>
            </a:r>
            <a:r>
              <a:rPr lang="en-US" altLang="zh-TW" sz="1100" b="0" i="0" u="none" strike="noStrike" cap="none" dirty="0" smtClean="0">
                <a:solidFill>
                  <a:srgbClr val="000000"/>
                </a:solidFill>
                <a:effectLst/>
                <a:latin typeface="Arial"/>
                <a:ea typeface="Arial"/>
                <a:cs typeface="Arial"/>
                <a:sym typeface="Arial"/>
              </a:rPr>
              <a:t>ZF</a:t>
            </a:r>
            <a:r>
              <a:rPr lang="zh-TW" altLang="en-US" sz="1100" b="0" i="0" u="none" strike="noStrike" cap="none" dirty="0" smtClean="0">
                <a:solidFill>
                  <a:srgbClr val="000000"/>
                </a:solidFill>
                <a:effectLst/>
                <a:latin typeface="Arial"/>
                <a:ea typeface="Arial"/>
                <a:cs typeface="Arial"/>
                <a:sym typeface="Arial"/>
              </a:rPr>
              <a:t>之外，為了增加</a:t>
            </a:r>
            <a:r>
              <a:rPr lang="en-US" altLang="zh-TW" sz="1100" b="0" i="0" u="none" strike="noStrike" cap="none" dirty="0" smtClean="0">
                <a:solidFill>
                  <a:srgbClr val="000000"/>
                </a:solidFill>
                <a:effectLst/>
                <a:latin typeface="Arial"/>
                <a:ea typeface="Arial"/>
                <a:cs typeface="Arial"/>
                <a:sym typeface="Arial"/>
              </a:rPr>
              <a:t>SNR</a:t>
            </a:r>
            <a:r>
              <a:rPr lang="zh-TW" altLang="en-US" sz="1100" b="0" i="0" u="none" strike="noStrike" cap="none" dirty="0" smtClean="0">
                <a:solidFill>
                  <a:srgbClr val="000000"/>
                </a:solidFill>
                <a:effectLst/>
                <a:latin typeface="Arial"/>
                <a:ea typeface="Arial"/>
                <a:cs typeface="Arial"/>
                <a:sym typeface="Arial"/>
              </a:rPr>
              <a:t>，</a:t>
            </a:r>
            <a:r>
              <a:rPr lang="en-US" altLang="zh-TW" sz="1100" b="0" i="0" u="none" strike="noStrike" cap="none" dirty="0" smtClean="0">
                <a:solidFill>
                  <a:srgbClr val="000000"/>
                </a:solidFill>
                <a:effectLst/>
                <a:latin typeface="Arial"/>
                <a:ea typeface="Arial"/>
                <a:cs typeface="Arial"/>
                <a:sym typeface="Arial"/>
              </a:rPr>
              <a:t>MMSE</a:t>
            </a:r>
            <a:r>
              <a:rPr lang="zh-TW" altLang="en-US" sz="1100" b="0" i="0" u="none" strike="noStrike" cap="none" dirty="0" smtClean="0">
                <a:solidFill>
                  <a:srgbClr val="000000"/>
                </a:solidFill>
                <a:effectLst/>
                <a:latin typeface="Arial"/>
                <a:ea typeface="Arial"/>
                <a:cs typeface="Arial"/>
                <a:sym typeface="Arial"/>
              </a:rPr>
              <a:t>和</a:t>
            </a:r>
            <a:r>
              <a:rPr lang="en-US" altLang="zh-TW" sz="1100" b="0" i="0" u="none" strike="noStrike" cap="none" dirty="0" smtClean="0">
                <a:solidFill>
                  <a:srgbClr val="000000"/>
                </a:solidFill>
                <a:effectLst/>
                <a:latin typeface="Arial"/>
                <a:ea typeface="Arial"/>
                <a:cs typeface="Arial"/>
                <a:sym typeface="Arial"/>
              </a:rPr>
              <a:t>SLNR</a:t>
            </a:r>
            <a:r>
              <a:rPr lang="zh-TW" altLang="en-US" sz="1100" b="0" i="0" u="none" strike="noStrike" cap="none" dirty="0" smtClean="0">
                <a:solidFill>
                  <a:srgbClr val="000000"/>
                </a:solidFill>
                <a:effectLst/>
                <a:latin typeface="Arial"/>
                <a:ea typeface="Arial"/>
                <a:cs typeface="Arial"/>
                <a:sym typeface="Arial"/>
              </a:rPr>
              <a:t>都沒有完全消除乾擾。 下一節將介紹如何通過不同的</a:t>
            </a:r>
            <a:r>
              <a:rPr lang="en-US" altLang="zh-TW" sz="1100" b="0" i="0" u="none" strike="noStrike" cap="none" dirty="0" smtClean="0">
                <a:solidFill>
                  <a:srgbClr val="000000"/>
                </a:solidFill>
                <a:effectLst/>
                <a:latin typeface="Arial"/>
                <a:ea typeface="Arial"/>
                <a:cs typeface="Arial"/>
                <a:sym typeface="Arial"/>
              </a:rPr>
              <a:t>decoding</a:t>
            </a:r>
            <a:r>
              <a:rPr lang="zh-TW" altLang="en-US" sz="1100" b="0" i="0" u="none" strike="noStrike" cap="none" dirty="0" smtClean="0">
                <a:solidFill>
                  <a:srgbClr val="000000"/>
                </a:solidFill>
                <a:effectLst/>
                <a:latin typeface="Arial"/>
                <a:ea typeface="Arial"/>
                <a:cs typeface="Arial"/>
                <a:sym typeface="Arial"/>
              </a:rPr>
              <a:t> </a:t>
            </a:r>
            <a:r>
              <a:rPr lang="en-US" altLang="zh-TW" sz="1100" b="0" i="0" u="none" strike="noStrike" cap="none" dirty="0" smtClean="0">
                <a:solidFill>
                  <a:srgbClr val="000000"/>
                </a:solidFill>
                <a:effectLst/>
                <a:latin typeface="Arial"/>
                <a:ea typeface="Arial"/>
                <a:cs typeface="Arial"/>
                <a:sym typeface="Arial"/>
              </a:rPr>
              <a:t>scheme</a:t>
            </a:r>
            <a:r>
              <a:rPr lang="zh-TW" altLang="en-US" sz="1100" b="0" i="0" u="none" strike="noStrike" cap="none" dirty="0" smtClean="0">
                <a:solidFill>
                  <a:srgbClr val="000000"/>
                </a:solidFill>
                <a:effectLst/>
                <a:latin typeface="Arial"/>
                <a:ea typeface="Arial"/>
                <a:cs typeface="Arial"/>
                <a:sym typeface="Arial"/>
              </a:rPr>
              <a:t>將這些剩餘的干擾信號用於提高可達到的速率。</a:t>
            </a: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0" i="0" u="none" strike="noStrike" cap="none" dirty="0" smtClean="0">
              <a:solidFill>
                <a:srgbClr val="000000"/>
              </a:solidFill>
              <a:latin typeface="Arial"/>
              <a:ea typeface="Arial"/>
              <a:cs typeface="Arial"/>
              <a:sym typeface="Arial"/>
            </a:endParaRP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zh-TW" altLang="en-US" sz="1100" b="0" i="0" u="none" strike="noStrike" cap="none" dirty="0" smtClean="0">
              <a:solidFill>
                <a:srgbClr val="000000"/>
              </a:solidFill>
              <a:latin typeface="Arial"/>
              <a:ea typeface="Arial"/>
              <a:cs typeface="Arial"/>
              <a:sym typeface="Arial"/>
            </a:endParaRPr>
          </a:p>
          <a:p>
            <a:endParaRPr lang="en-US" altLang="zh-TW" sz="1100" b="0" i="0" u="none" strike="noStrike" cap="none" baseline="0" dirty="0" smtClean="0">
              <a:solidFill>
                <a:srgbClr val="000000"/>
              </a:solidFill>
              <a:latin typeface="Arial"/>
              <a:ea typeface="Arial"/>
              <a:cs typeface="Arial"/>
              <a:sym typeface="Arial"/>
            </a:endParaRPr>
          </a:p>
          <a:p>
            <a:endParaRPr lang="zh-TW" altLang="en-US" dirty="0"/>
          </a:p>
        </p:txBody>
      </p:sp>
    </p:spTree>
    <p:extLst>
      <p:ext uri="{BB962C8B-B14F-4D97-AF65-F5344CB8AC3E}">
        <p14:creationId xmlns:p14="http://schemas.microsoft.com/office/powerpoint/2010/main" val="1252821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7395e1ec2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7395e1ec2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b="0" i="0" u="none" strike="noStrike" cap="none" dirty="0" err="1" smtClean="0">
                <a:solidFill>
                  <a:srgbClr val="000000"/>
                </a:solidFill>
                <a:latin typeface="Arial"/>
                <a:ea typeface="Arial"/>
                <a:cs typeface="Arial"/>
                <a:sym typeface="Arial"/>
              </a:rPr>
              <a:t>Precoding</a:t>
            </a:r>
            <a:r>
              <a:rPr lang="zh-TW" altLang="en-US" sz="1100" b="0" i="0" u="none" strike="noStrike" cap="none" dirty="0" smtClean="0">
                <a:solidFill>
                  <a:srgbClr val="000000"/>
                </a:solidFill>
                <a:latin typeface="Arial"/>
                <a:ea typeface="Arial"/>
                <a:cs typeface="Arial"/>
                <a:sym typeface="Arial"/>
              </a:rPr>
              <a:t>用在減輕波束間干擾，同時保持所需的信噪比（</a:t>
            </a:r>
            <a:r>
              <a:rPr lang="en-US" altLang="zh-TW" sz="1100" b="0" i="0" u="none" strike="noStrike" cap="none" dirty="0" smtClean="0">
                <a:solidFill>
                  <a:srgbClr val="000000"/>
                </a:solidFill>
                <a:latin typeface="Arial"/>
                <a:ea typeface="Arial"/>
                <a:cs typeface="Arial"/>
                <a:sym typeface="Arial"/>
              </a:rPr>
              <a:t>SNR</a:t>
            </a:r>
            <a:r>
              <a:rPr lang="zh-TW" altLang="en-US" sz="1100" b="0" i="0" u="none" strike="noStrike" cap="none" dirty="0" smtClean="0">
                <a:solidFill>
                  <a:srgbClr val="000000"/>
                </a:solidFill>
                <a:latin typeface="Arial"/>
                <a:ea typeface="Arial"/>
                <a:cs typeface="Arial"/>
                <a:sym typeface="Arial"/>
              </a:rPr>
              <a:t>）高。</a:t>
            </a:r>
            <a:endParaRPr dirty="0"/>
          </a:p>
        </p:txBody>
      </p:sp>
    </p:spTree>
    <p:extLst>
      <p:ext uri="{BB962C8B-B14F-4D97-AF65-F5344CB8AC3E}">
        <p14:creationId xmlns:p14="http://schemas.microsoft.com/office/powerpoint/2010/main" val="2607561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158750" indent="0">
                  <a:buNone/>
                </a:pPr>
                <a:r>
                  <a:rPr lang="zh-TW" altLang="en-US" dirty="0" smtClean="0"/>
                  <a:t>當對發送的數據</a:t>
                </a:r>
                <a:r>
                  <a:rPr lang="zh-TW" altLang="en-US" dirty="0" smtClean="0"/>
                  <a:t>進行</a:t>
                </a:r>
                <a:r>
                  <a:rPr lang="en-US" altLang="zh-TW" dirty="0" smtClean="0"/>
                  <a:t>linear </a:t>
                </a:r>
                <a:r>
                  <a:rPr lang="en-US" altLang="zh-TW" dirty="0" err="1" smtClean="0"/>
                  <a:t>precoding</a:t>
                </a:r>
                <a:r>
                  <a:rPr lang="zh-TW" altLang="en-US" dirty="0" smtClean="0"/>
                  <a:t>時</a:t>
                </a:r>
                <a:r>
                  <a:rPr lang="zh-TW" altLang="en-US" dirty="0" smtClean="0"/>
                  <a:t>，第</a:t>
                </a:r>
                <a:r>
                  <a:rPr lang="en-US" altLang="zh-TW" dirty="0" err="1" smtClean="0"/>
                  <a:t>i</a:t>
                </a:r>
                <a:r>
                  <a:rPr lang="zh-TW" altLang="en-US" dirty="0" smtClean="0"/>
                  <a:t>個用戶接收的信號可以表示為下</a:t>
                </a:r>
                <a:endParaRPr lang="en-US" altLang="zh-TW" dirty="0" smtClean="0"/>
              </a:p>
              <a:p>
                <a:pPr marL="158750" indent="0">
                  <a:buNone/>
                </a:pPr>
                <a:r>
                  <a:rPr lang="zh-TW" altLang="en-US" dirty="0" smtClean="0"/>
                  <a:t>令𝛾表示控制發射功率的</a:t>
                </a:r>
                <a:r>
                  <a:rPr lang="en-US" altLang="zh-TW" dirty="0" err="1" smtClean="0"/>
                  <a:t>precoding</a:t>
                </a:r>
                <a:r>
                  <a:rPr lang="zh-TW" altLang="en-US" dirty="0" smtClean="0"/>
                  <a:t>正規化因子。</a:t>
                </a:r>
                <a:endParaRPr lang="en-US" altLang="zh-TW" dirty="0" smtClean="0"/>
              </a:p>
              <a:p>
                <a:pPr marL="158750" indent="0">
                  <a:buNone/>
                </a:pPr>
                <a:r>
                  <a:rPr lang="zh-TW" altLang="en-US" dirty="0" smtClean="0"/>
                  <a:t>在（</a:t>
                </a:r>
                <a:r>
                  <a:rPr lang="en-US" altLang="zh-TW" dirty="0" smtClean="0"/>
                  <a:t>14</a:t>
                </a:r>
                <a:r>
                  <a:rPr lang="zh-TW" altLang="en-US" dirty="0" smtClean="0"/>
                  <a:t>）的基礎上，本節的其餘部分專門為不同的解碼策略提供速率範圍</a:t>
                </a:r>
                <a:endParaRPr lang="en-US" altLang="zh-TW" dirty="0" smtClean="0"/>
              </a:p>
              <a:p>
                <a:pPr marL="158750" indent="0">
                  <a:buNone/>
                </a:pPr>
                <a:r>
                  <a:rPr lang="zh-TW" altLang="en-US" dirty="0" smtClean="0"/>
                  <a:t>會</a:t>
                </a:r>
                <a14:m>
                  <m:oMath xmlns:m="http://schemas.openxmlformats.org/officeDocument/2006/math">
                    <m:r>
                      <a:rPr lang="zh-TW" altLang="en-US" sz="1100" i="1" dirty="0" smtClean="0">
                        <a:latin typeface="Cambria Math" panose="02040503050406030204" pitchFamily="18" charset="0"/>
                      </a:rPr>
                      <m:t>用</m:t>
                    </m:r>
                    <m:sSubSup>
                      <m:sSubSupPr>
                        <m:ctrlPr>
                          <a:rPr lang="en-US" altLang="zh-TW" sz="1100" i="1" smtClean="0">
                            <a:latin typeface="Cambria Math" panose="02040503050406030204" pitchFamily="18" charset="0"/>
                          </a:rPr>
                        </m:ctrlPr>
                      </m:sSubSupPr>
                      <m:e>
                        <m:r>
                          <m:rPr>
                            <m:nor/>
                          </m:rPr>
                          <a:rPr lang="zh-TW" altLang="en-US" sz="1100" i="1"/>
                          <m:t>𝛽</m:t>
                        </m:r>
                      </m:e>
                      <m:sub>
                        <m:r>
                          <a:rPr lang="en-US" altLang="zh-TW" sz="1100" b="0" i="1" smtClean="0">
                            <a:latin typeface="Cambria Math" panose="02040503050406030204" pitchFamily="18" charset="0"/>
                          </a:rPr>
                          <m:t>𝑖</m:t>
                        </m:r>
                        <m:r>
                          <a:rPr lang="en-US" altLang="zh-TW" sz="1100" i="1">
                            <a:latin typeface="Cambria Math" panose="02040503050406030204" pitchFamily="18" charset="0"/>
                          </a:rPr>
                          <m:t>,</m:t>
                        </m:r>
                        <m:r>
                          <a:rPr lang="en-US" altLang="zh-TW" sz="1100" b="0" i="1" smtClean="0">
                            <a:latin typeface="Cambria Math" panose="02040503050406030204" pitchFamily="18" charset="0"/>
                          </a:rPr>
                          <m:t>𝑙</m:t>
                        </m:r>
                      </m:sub>
                      <m:sup/>
                    </m:sSubSup>
                    <m:r>
                      <a:rPr lang="zh-TW" altLang="en-US" sz="1100" b="0" i="1" smtClean="0">
                        <a:latin typeface="Cambria Math" panose="02040503050406030204" pitchFamily="18" charset="0"/>
                      </a:rPr>
                      <m:t>來代表</m:t>
                    </m:r>
                  </m:oMath>
                </a14:m>
                <a:r>
                  <a:rPr lang="en-US" altLang="zh-TW" dirty="0" smtClean="0"/>
                  <a:t>channel quality metrics</a:t>
                </a:r>
              </a:p>
              <a:p>
                <a:pPr marL="158750" indent="0">
                  <a:buNone/>
                </a:pPr>
                <a:endParaRPr lang="en-US" altLang="zh-TW" dirty="0" smtClean="0"/>
              </a:p>
              <a:p>
                <a:pPr marL="158750" indent="0">
                  <a:buNone/>
                </a:pPr>
                <a:endParaRPr lang="zh-TW" altLang="en-US" dirty="0" smtClean="0"/>
              </a:p>
              <a:p>
                <a:pPr marL="158750" indent="0">
                  <a:buNone/>
                </a:pPr>
                <a:endParaRPr lang="zh-TW" altLang="en-US" dirty="0"/>
              </a:p>
            </p:txBody>
          </p:sp>
        </mc:Choice>
        <mc:Fallback xmlns="">
          <p:sp>
            <p:nvSpPr>
              <p:cNvPr id="3" name="備忘稿版面配置區 2"/>
              <p:cNvSpPr>
                <a:spLocks noGrp="1"/>
              </p:cNvSpPr>
              <p:nvPr>
                <p:ph type="body" idx="1"/>
              </p:nvPr>
            </p:nvSpPr>
            <p:spPr/>
            <p:txBody>
              <a:bodyPr/>
              <a:lstStyle/>
              <a:p>
                <a:pPr marL="158750" indent="0">
                  <a:buNone/>
                </a:pPr>
                <a:r>
                  <a:rPr lang="zh-TW" altLang="en-US" dirty="0" smtClean="0"/>
                  <a:t>當對發送的數據進行線性預編碼時，第</a:t>
                </a:r>
                <a:r>
                  <a:rPr lang="en-US" altLang="zh-TW" dirty="0" err="1" smtClean="0"/>
                  <a:t>i</a:t>
                </a:r>
                <a:r>
                  <a:rPr lang="zh-TW" altLang="en-US" dirty="0" smtClean="0"/>
                  <a:t>個用戶接收的信號可以表示為下</a:t>
                </a:r>
                <a:endParaRPr lang="en-US" altLang="zh-TW" dirty="0" smtClean="0"/>
              </a:p>
              <a:p>
                <a:pPr marL="158750" indent="0">
                  <a:buNone/>
                </a:pPr>
                <a:r>
                  <a:rPr lang="zh-TW" altLang="en-US" dirty="0" smtClean="0"/>
                  <a:t>令𝛾表示控制發射功率的</a:t>
                </a:r>
                <a:r>
                  <a:rPr lang="en-US" altLang="zh-TW" dirty="0" err="1" smtClean="0"/>
                  <a:t>precoding</a:t>
                </a:r>
                <a:r>
                  <a:rPr lang="zh-TW" altLang="en-US" dirty="0" smtClean="0"/>
                  <a:t>正規化因子。</a:t>
                </a:r>
                <a:endParaRPr lang="en-US" altLang="zh-TW" dirty="0" smtClean="0"/>
              </a:p>
              <a:p>
                <a:pPr marL="158750" indent="0">
                  <a:buNone/>
                </a:pPr>
                <a:r>
                  <a:rPr lang="zh-TW" altLang="en-US" dirty="0" smtClean="0"/>
                  <a:t>在（</a:t>
                </a:r>
                <a:r>
                  <a:rPr lang="en-US" altLang="zh-TW" dirty="0" smtClean="0"/>
                  <a:t>14</a:t>
                </a:r>
                <a:r>
                  <a:rPr lang="zh-TW" altLang="en-US" dirty="0" smtClean="0"/>
                  <a:t>）的基礎上，本節的其餘部分專門為不同的解碼策略提供速率範圍</a:t>
                </a:r>
                <a:endParaRPr lang="en-US" altLang="zh-TW" dirty="0" smtClean="0"/>
              </a:p>
              <a:p>
                <a:pPr marL="158750" indent="0">
                  <a:buNone/>
                </a:pPr>
                <a:r>
                  <a:rPr lang="zh-TW" altLang="en-US" dirty="0" smtClean="0"/>
                  <a:t>會</a:t>
                </a:r>
                <a:r>
                  <a:rPr lang="zh-TW" altLang="en-US" sz="1100" i="0" dirty="0" smtClean="0">
                    <a:latin typeface="Cambria Math" panose="02040503050406030204" pitchFamily="18" charset="0"/>
                  </a:rPr>
                  <a:t>用</a:t>
                </a:r>
                <a:r>
                  <a:rPr lang="zh-TW" altLang="en-US" sz="1100" i="0"/>
                  <a:t>"𝛽</a:t>
                </a:r>
                <a:r>
                  <a:rPr lang="zh-TW" altLang="en-US" sz="1100" i="0">
                    <a:latin typeface="Cambria Math" panose="02040503050406030204" pitchFamily="18" charset="0"/>
                  </a:rPr>
                  <a:t>" </a:t>
                </a:r>
                <a:r>
                  <a:rPr lang="en-US" altLang="zh-TW" sz="1100" i="0" smtClean="0">
                    <a:latin typeface="Cambria Math" panose="02040503050406030204" pitchFamily="18" charset="0"/>
                  </a:rPr>
                  <a:t>_(</a:t>
                </a:r>
                <a:r>
                  <a:rPr lang="en-US" altLang="zh-TW" sz="1100" b="0" i="0" smtClean="0">
                    <a:latin typeface="Cambria Math" panose="02040503050406030204" pitchFamily="18" charset="0"/>
                  </a:rPr>
                  <a:t>𝑖</a:t>
                </a:r>
                <a:r>
                  <a:rPr lang="en-US" altLang="zh-TW" sz="1100" i="0">
                    <a:latin typeface="Cambria Math" panose="02040503050406030204" pitchFamily="18" charset="0"/>
                  </a:rPr>
                  <a:t>,</a:t>
                </a:r>
                <a:r>
                  <a:rPr lang="en-US" altLang="zh-TW" sz="1100" b="0" i="0" smtClean="0">
                    <a:latin typeface="Cambria Math" panose="02040503050406030204" pitchFamily="18" charset="0"/>
                  </a:rPr>
                  <a:t>𝑙</a:t>
                </a:r>
                <a:r>
                  <a:rPr lang="en-US" altLang="zh-TW" sz="1100" b="0" i="0" smtClean="0">
                    <a:latin typeface="Cambria Math" panose="02040503050406030204" pitchFamily="18" charset="0"/>
                  </a:rPr>
                  <a:t>)^ </a:t>
                </a:r>
                <a:r>
                  <a:rPr lang="zh-TW" altLang="en-US" sz="1100" b="0" i="0" smtClean="0">
                    <a:latin typeface="Cambria Math" panose="02040503050406030204" pitchFamily="18" charset="0"/>
                  </a:rPr>
                  <a:t> 來代表</a:t>
                </a:r>
                <a:r>
                  <a:rPr lang="en-US" altLang="zh-TW" dirty="0" smtClean="0"/>
                  <a:t>channel quality metrics</a:t>
                </a:r>
              </a:p>
              <a:p>
                <a:pPr marL="158750" indent="0">
                  <a:buNone/>
                </a:pPr>
                <a:endParaRPr lang="en-US" altLang="zh-TW" dirty="0" smtClean="0"/>
              </a:p>
              <a:p>
                <a:pPr marL="158750" indent="0">
                  <a:buNone/>
                </a:pPr>
                <a:endParaRPr lang="zh-TW" altLang="en-US" dirty="0" smtClean="0"/>
              </a:p>
              <a:p>
                <a:pPr marL="158750" indent="0">
                  <a:buNone/>
                </a:pPr>
                <a:endParaRPr lang="zh-TW" altLang="en-US" dirty="0"/>
              </a:p>
            </p:txBody>
          </p:sp>
        </mc:Fallback>
      </mc:AlternateContent>
    </p:spTree>
    <p:extLst>
      <p:ext uri="{BB962C8B-B14F-4D97-AF65-F5344CB8AC3E}">
        <p14:creationId xmlns:p14="http://schemas.microsoft.com/office/powerpoint/2010/main" val="1387544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依靠這種接收器結構，來自相鄰波束的干擾信號被視為噪聲。 在</a:t>
            </a:r>
            <a:r>
              <a:rPr lang="en-US" altLang="zh-TW" dirty="0" smtClean="0"/>
              <a:t>Gaussian signaling</a:t>
            </a:r>
            <a:r>
              <a:rPr lang="zh-TW" altLang="en-US" dirty="0" smtClean="0"/>
              <a:t>假設下，最大可實現速率變為</a:t>
            </a:r>
            <a:r>
              <a:rPr lang="en-US" altLang="zh-TW" dirty="0" smtClean="0"/>
              <a:t>:</a:t>
            </a:r>
            <a:endParaRPr lang="zh-TW" altLang="en-US" dirty="0"/>
          </a:p>
        </p:txBody>
      </p:sp>
    </p:spTree>
    <p:extLst>
      <p:ext uri="{BB962C8B-B14F-4D97-AF65-F5344CB8AC3E}">
        <p14:creationId xmlns:p14="http://schemas.microsoft.com/office/powerpoint/2010/main" val="699581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單用戶檢測器方案的優點在於，接收器的實現非常簡單。這是因為</a:t>
            </a:r>
            <a:r>
              <a:rPr lang="en-US" altLang="zh-TW" dirty="0" smtClean="0"/>
              <a:t>stream</a:t>
            </a:r>
            <a:r>
              <a:rPr lang="zh-TW" altLang="en-US" dirty="0" smtClean="0"/>
              <a:t>可以被獨立地解碼，因此，複雜度不會隨著</a:t>
            </a:r>
            <a:r>
              <a:rPr lang="en-US" altLang="zh-TW" dirty="0" smtClean="0"/>
              <a:t>beam</a:t>
            </a:r>
            <a:r>
              <a:rPr lang="zh-TW" altLang="en-US" dirty="0" smtClean="0"/>
              <a:t>的數量而增加。但是，如果非所需信號和所需信號的大小相似，則系統會受到干擾的限制，因此容量會大大降低。 為了克服這個問題，有必要考慮干擾的結構，而不是將其視為噪聲。</a:t>
            </a:r>
            <a:endParaRPr lang="en-US" altLang="zh-TW" dirty="0" smtClean="0"/>
          </a:p>
          <a:p>
            <a:endParaRPr lang="en-US" altLang="zh-TW" dirty="0" smtClean="0"/>
          </a:p>
          <a:p>
            <a:r>
              <a:rPr lang="zh-TW" altLang="en-US" dirty="0" smtClean="0"/>
              <a:t>作者建議將</a:t>
            </a:r>
            <a:r>
              <a:rPr lang="en-US" altLang="zh-TW" dirty="0" smtClean="0"/>
              <a:t>beam</a:t>
            </a:r>
            <a:r>
              <a:rPr lang="zh-TW" altLang="en-US" dirty="0" smtClean="0"/>
              <a:t>成對分組 使不交集的數量為</a:t>
            </a:r>
            <a:r>
              <a:rPr lang="en-US" altLang="zh-TW" dirty="0" smtClean="0"/>
              <a:t>k/2</a:t>
            </a:r>
            <a:r>
              <a:rPr lang="zh-TW" altLang="en-US" dirty="0" smtClean="0"/>
              <a:t> 可以表示為下面的樣子</a:t>
            </a:r>
            <a:endParaRPr lang="en-US" altLang="zh-TW" dirty="0" smtClean="0"/>
          </a:p>
          <a:p>
            <a:endParaRPr lang="en-US" altLang="zh-TW" dirty="0" smtClean="0"/>
          </a:p>
          <a:p>
            <a:r>
              <a:rPr lang="zh-TW" altLang="en-US" dirty="0" smtClean="0"/>
              <a:t>通過觀察（</a:t>
            </a:r>
            <a:r>
              <a:rPr lang="en-US" altLang="zh-TW" dirty="0" smtClean="0"/>
              <a:t>16</a:t>
            </a:r>
            <a:r>
              <a:rPr lang="zh-TW" altLang="en-US" dirty="0" smtClean="0"/>
              <a:t>），可以推斷出我們應該選擇相互干擾最大的最近</a:t>
            </a:r>
            <a:r>
              <a:rPr lang="en-US" altLang="zh-TW" dirty="0" smtClean="0"/>
              <a:t>beam</a:t>
            </a:r>
            <a:r>
              <a:rPr lang="zh-TW" altLang="en-US" dirty="0" smtClean="0"/>
              <a:t>。</a:t>
            </a:r>
            <a:endParaRPr lang="en-US" altLang="zh-TW" dirty="0" smtClean="0"/>
          </a:p>
          <a:p>
            <a:r>
              <a:rPr lang="zh-TW" altLang="en-US" dirty="0" smtClean="0"/>
              <a:t>然後，剩下</a:t>
            </a:r>
            <a:r>
              <a:rPr lang="zh-TW" altLang="en-US" dirty="0" smtClean="0"/>
              <a:t>干擾會被</a:t>
            </a:r>
            <a:r>
              <a:rPr lang="zh-TW" altLang="en-US" dirty="0" smtClean="0"/>
              <a:t>最小</a:t>
            </a:r>
            <a:r>
              <a:rPr lang="zh-TW" altLang="en-US" dirty="0" smtClean="0"/>
              <a:t>化</a:t>
            </a:r>
            <a:endParaRPr lang="zh-TW" altLang="en-US" dirty="0"/>
          </a:p>
        </p:txBody>
      </p:sp>
    </p:spTree>
    <p:extLst>
      <p:ext uri="{BB962C8B-B14F-4D97-AF65-F5344CB8AC3E}">
        <p14:creationId xmlns:p14="http://schemas.microsoft.com/office/powerpoint/2010/main" val="37246514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sz="1100" b="0" i="0" u="none" strike="noStrike" cap="none" dirty="0" smtClean="0">
                <a:solidFill>
                  <a:srgbClr val="000000"/>
                </a:solidFill>
                <a:latin typeface="Arial"/>
                <a:ea typeface="Arial"/>
                <a:cs typeface="Arial"/>
                <a:sym typeface="Arial"/>
              </a:rPr>
              <a:t>在這個場景下，</a:t>
            </a:r>
            <a:r>
              <a:rPr lang="en-US" altLang="zh-TW" sz="1100" b="0" i="0" u="none" strike="noStrike" cap="none" dirty="0" smtClean="0">
                <a:solidFill>
                  <a:srgbClr val="000000"/>
                </a:solidFill>
                <a:latin typeface="Arial"/>
                <a:ea typeface="Arial"/>
                <a:cs typeface="Arial"/>
                <a:sym typeface="Arial"/>
              </a:rPr>
              <a:t>SND</a:t>
            </a:r>
            <a:r>
              <a:rPr lang="zh-TW" altLang="en-US" sz="1100" b="0" i="0" u="none" strike="noStrike" cap="none" dirty="0" smtClean="0">
                <a:solidFill>
                  <a:srgbClr val="000000"/>
                </a:solidFill>
                <a:latin typeface="Arial"/>
                <a:ea typeface="Arial"/>
                <a:cs typeface="Arial"/>
                <a:sym typeface="Arial"/>
              </a:rPr>
              <a:t>被認為是最好的</a:t>
            </a:r>
            <a:r>
              <a:rPr lang="en-US" altLang="zh-TW" sz="1100" b="0" i="0" u="none" strike="noStrike" cap="none" dirty="0" smtClean="0">
                <a:solidFill>
                  <a:srgbClr val="000000"/>
                </a:solidFill>
                <a:latin typeface="Arial"/>
                <a:ea typeface="Arial"/>
                <a:cs typeface="Arial"/>
                <a:sym typeface="Arial"/>
              </a:rPr>
              <a:t>decoding</a:t>
            </a:r>
            <a:r>
              <a:rPr lang="en-US" altLang="zh-TW" sz="1100" b="0" i="0" u="none" strike="noStrike" cap="none" baseline="0" dirty="0" smtClean="0">
                <a:solidFill>
                  <a:srgbClr val="000000"/>
                </a:solidFill>
                <a:latin typeface="Arial"/>
                <a:ea typeface="Arial"/>
                <a:cs typeface="Arial"/>
                <a:sym typeface="Arial"/>
              </a:rPr>
              <a:t> scheme</a:t>
            </a:r>
          </a:p>
          <a:p>
            <a:pPr marL="457200" marR="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sz="1100" b="0" i="0" u="none" strike="noStrike" cap="none" dirty="0" smtClean="0">
                <a:solidFill>
                  <a:srgbClr val="000000"/>
                </a:solidFill>
                <a:latin typeface="Arial"/>
                <a:ea typeface="Arial"/>
                <a:cs typeface="Arial"/>
                <a:sym typeface="Arial"/>
              </a:rPr>
              <a:t>每個接收者嘗試從其預期的發送者中恢復唯一</a:t>
            </a:r>
            <a:r>
              <a:rPr lang="zh-TW" altLang="en-US" sz="1100" b="0" i="0" u="none" strike="noStrike" cap="none" dirty="0" smtClean="0">
                <a:solidFill>
                  <a:srgbClr val="000000"/>
                </a:solidFill>
                <a:latin typeface="Arial"/>
                <a:ea typeface="Arial"/>
                <a:cs typeface="Arial"/>
                <a:sym typeface="Arial"/>
              </a:rPr>
              <a:t>的</a:t>
            </a:r>
            <a:r>
              <a:rPr lang="en-US" altLang="zh-TW" sz="1100" b="0" i="0" u="none" strike="noStrike" cap="none" dirty="0" smtClean="0">
                <a:solidFill>
                  <a:srgbClr val="000000"/>
                </a:solidFill>
                <a:latin typeface="Arial"/>
                <a:ea typeface="Arial"/>
                <a:cs typeface="Arial"/>
                <a:sym typeface="Arial"/>
              </a:rPr>
              <a:t>symbol</a:t>
            </a:r>
            <a:r>
              <a:rPr lang="zh-TW" altLang="en-US" sz="1100" b="0" i="0" u="none" strike="noStrike" cap="none" dirty="0" smtClean="0">
                <a:solidFill>
                  <a:srgbClr val="000000"/>
                </a:solidFill>
                <a:latin typeface="Arial"/>
                <a:ea typeface="Arial"/>
                <a:cs typeface="Arial"/>
                <a:sym typeface="Arial"/>
              </a:rPr>
              <a:t>，</a:t>
            </a:r>
            <a:r>
              <a:rPr lang="zh-TW" altLang="en-US" sz="1100" b="0" i="0" u="none" strike="noStrike" cap="none" dirty="0" smtClean="0">
                <a:solidFill>
                  <a:srgbClr val="000000"/>
                </a:solidFill>
                <a:latin typeface="Arial"/>
                <a:ea typeface="Arial"/>
                <a:cs typeface="Arial"/>
                <a:sym typeface="Arial"/>
              </a:rPr>
              <a:t>並從乾擾的發送者中</a:t>
            </a:r>
            <a:r>
              <a:rPr lang="zh-TW" altLang="en-US" sz="1100" b="0" i="0" u="none" strike="noStrike" cap="none" dirty="0" smtClean="0">
                <a:solidFill>
                  <a:srgbClr val="000000"/>
                </a:solidFill>
                <a:latin typeface="Arial"/>
                <a:ea typeface="Arial"/>
                <a:cs typeface="Arial"/>
                <a:sym typeface="Arial"/>
              </a:rPr>
              <a:t>恢復</a:t>
            </a:r>
            <a:r>
              <a:rPr lang="en-US" altLang="zh-TW" sz="1100" b="0" i="0" u="none" strike="noStrike" cap="none" dirty="0" smtClean="0">
                <a:solidFill>
                  <a:srgbClr val="000000"/>
                </a:solidFill>
                <a:latin typeface="Arial"/>
                <a:ea typeface="Arial"/>
                <a:cs typeface="Arial"/>
                <a:sym typeface="Arial"/>
              </a:rPr>
              <a:t>symbol</a:t>
            </a:r>
            <a:r>
              <a:rPr lang="zh-TW" altLang="en-US" sz="1100" b="0" i="0" u="none" strike="noStrike" cap="none" dirty="0" smtClean="0">
                <a:solidFill>
                  <a:srgbClr val="000000"/>
                </a:solidFill>
                <a:latin typeface="Arial"/>
                <a:ea typeface="Arial"/>
                <a:cs typeface="Arial"/>
                <a:sym typeface="Arial"/>
              </a:rPr>
              <a:t>，</a:t>
            </a:r>
            <a:r>
              <a:rPr lang="zh-TW" altLang="en-US" sz="1100" b="0" i="0" u="none" strike="noStrike" cap="none" dirty="0" smtClean="0">
                <a:solidFill>
                  <a:srgbClr val="000000"/>
                </a:solidFill>
                <a:latin typeface="Arial"/>
                <a:ea typeface="Arial"/>
                <a:cs typeface="Arial"/>
                <a:sym typeface="Arial"/>
              </a:rPr>
              <a:t>但不會在意干擾這邊的</a:t>
            </a:r>
            <a:r>
              <a:rPr lang="zh-TW" altLang="en-US" sz="1100" b="0" i="0" u="none" strike="noStrike" cap="none" dirty="0" smtClean="0">
                <a:solidFill>
                  <a:srgbClr val="000000"/>
                </a:solidFill>
                <a:latin typeface="Arial"/>
                <a:ea typeface="Arial"/>
                <a:cs typeface="Arial"/>
                <a:sym typeface="Arial"/>
              </a:rPr>
              <a:t>錯誤</a:t>
            </a:r>
            <a:endParaRPr lang="en-US" altLang="zh-TW" sz="1100" b="0" i="0" u="none" strike="noStrike" cap="none" dirty="0" smtClean="0">
              <a:solidFill>
                <a:srgbClr val="000000"/>
              </a:solidFill>
              <a:latin typeface="Arial"/>
              <a:ea typeface="Arial"/>
              <a:cs typeface="Arial"/>
              <a:sym typeface="Arial"/>
            </a:endParaRPr>
          </a:p>
        </p:txBody>
      </p:sp>
    </p:spTree>
    <p:extLst>
      <p:ext uri="{BB962C8B-B14F-4D97-AF65-F5344CB8AC3E}">
        <p14:creationId xmlns:p14="http://schemas.microsoft.com/office/powerpoint/2010/main" val="1644591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當分配給第</a:t>
            </a:r>
            <a:r>
              <a:rPr lang="en-US" altLang="zh-TW" dirty="0" smtClean="0"/>
              <a:t>k</a:t>
            </a:r>
            <a:r>
              <a:rPr lang="zh-TW" altLang="en-US" dirty="0" smtClean="0"/>
              <a:t>個</a:t>
            </a:r>
            <a:r>
              <a:rPr lang="en-US" altLang="zh-TW" dirty="0" smtClean="0"/>
              <a:t>beam</a:t>
            </a:r>
            <a:r>
              <a:rPr lang="zh-TW" altLang="en-US" dirty="0" smtClean="0"/>
              <a:t>的</a:t>
            </a:r>
            <a:r>
              <a:rPr lang="en-US" altLang="zh-TW" dirty="0" smtClean="0"/>
              <a:t>data</a:t>
            </a:r>
            <a:r>
              <a:rPr lang="en-US" altLang="zh-TW" baseline="0" dirty="0" smtClean="0"/>
              <a:t> rate</a:t>
            </a:r>
            <a:r>
              <a:rPr lang="zh-TW" altLang="en-US" dirty="0" smtClean="0"/>
              <a:t>固定時，即𝑅</a:t>
            </a:r>
            <a:r>
              <a:rPr lang="en-US" altLang="zh-TW" dirty="0" smtClean="0"/>
              <a:t>SND</a:t>
            </a:r>
            <a:r>
              <a:rPr lang="zh-TW" altLang="en-US" dirty="0" smtClean="0"/>
              <a:t>，</a:t>
            </a:r>
            <a:r>
              <a:rPr lang="en-US" altLang="zh-TW" dirty="0" smtClean="0"/>
              <a:t>k</a:t>
            </a:r>
            <a:r>
              <a:rPr lang="zh-TW" altLang="en-US" dirty="0" smtClean="0"/>
              <a:t>時，第</a:t>
            </a:r>
            <a:r>
              <a:rPr lang="en-US" altLang="zh-TW" dirty="0" err="1" smtClean="0"/>
              <a:t>i</a:t>
            </a:r>
            <a:r>
              <a:rPr lang="zh-TW" altLang="en-US" dirty="0" smtClean="0"/>
              <a:t>個</a:t>
            </a:r>
            <a:r>
              <a:rPr lang="en-US" altLang="zh-TW" dirty="0" smtClean="0"/>
              <a:t>beam</a:t>
            </a:r>
            <a:r>
              <a:rPr lang="zh-TW" altLang="en-US" dirty="0" smtClean="0"/>
              <a:t>對於高斯分佈的最大可達到速率為</a:t>
            </a:r>
            <a:endParaRPr lang="zh-TW" altLang="en-US" dirty="0"/>
          </a:p>
        </p:txBody>
      </p:sp>
    </p:spTree>
    <p:extLst>
      <p:ext uri="{BB962C8B-B14F-4D97-AF65-F5344CB8AC3E}">
        <p14:creationId xmlns:p14="http://schemas.microsoft.com/office/powerpoint/2010/main" val="20640959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fontAlgn="t"/>
            <a:r>
              <a:rPr lang="zh-TW" altLang="en-US" sz="1100" b="0" i="0" u="none" strike="noStrike" cap="none" dirty="0" smtClean="0">
                <a:solidFill>
                  <a:srgbClr val="000000"/>
                </a:solidFill>
                <a:effectLst/>
                <a:latin typeface="Arial"/>
                <a:ea typeface="Arial"/>
                <a:cs typeface="Arial"/>
                <a:sym typeface="Arial"/>
              </a:rPr>
              <a:t>在這種情況下，最高的</a:t>
            </a:r>
            <a:r>
              <a:rPr lang="en-US" altLang="zh-TW" sz="1100" b="0" i="0" u="none" strike="noStrike" cap="none" dirty="0" smtClean="0">
                <a:solidFill>
                  <a:srgbClr val="000000"/>
                </a:solidFill>
                <a:effectLst/>
                <a:latin typeface="Arial"/>
                <a:ea typeface="Arial"/>
                <a:cs typeface="Arial"/>
                <a:sym typeface="Arial"/>
              </a:rPr>
              <a:t>sum-rate</a:t>
            </a:r>
            <a:r>
              <a:rPr lang="zh-TW" altLang="en-US" sz="1100" b="0" i="0" u="none" strike="noStrike" cap="none" dirty="0" smtClean="0">
                <a:solidFill>
                  <a:srgbClr val="000000"/>
                </a:solidFill>
                <a:effectLst/>
                <a:latin typeface="Arial"/>
                <a:ea typeface="Arial"/>
                <a:cs typeface="Arial"/>
                <a:sym typeface="Arial"/>
              </a:rPr>
              <a:t>由可達到的拐角點之一確定。</a:t>
            </a:r>
            <a:endParaRPr lang="zh-TW" altLang="en-US"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1435550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sz="1100" b="0" i="0" u="none" strike="noStrike" cap="none" dirty="0" smtClean="0">
                <a:solidFill>
                  <a:srgbClr val="000000"/>
                </a:solidFill>
                <a:latin typeface="Arial"/>
                <a:ea typeface="Arial"/>
                <a:cs typeface="Arial"/>
                <a:sym typeface="Arial"/>
              </a:rPr>
              <a:t>圖給出了每當接收器使用不同的預編碼技術實現</a:t>
            </a:r>
            <a:r>
              <a:rPr lang="en-US" altLang="zh-TW" sz="1100" b="0" i="0" u="none" strike="noStrike" cap="none" dirty="0" smtClean="0">
                <a:solidFill>
                  <a:srgbClr val="000000"/>
                </a:solidFill>
                <a:latin typeface="Arial"/>
                <a:ea typeface="Arial"/>
                <a:cs typeface="Arial"/>
                <a:sym typeface="Arial"/>
              </a:rPr>
              <a:t>SND</a:t>
            </a:r>
            <a:r>
              <a:rPr lang="zh-TW" altLang="en-US" sz="1100" b="0" i="0" u="none" strike="noStrike" cap="none" dirty="0" smtClean="0">
                <a:solidFill>
                  <a:srgbClr val="000000"/>
                </a:solidFill>
                <a:latin typeface="Arial"/>
                <a:ea typeface="Arial"/>
                <a:cs typeface="Arial"/>
                <a:sym typeface="Arial"/>
              </a:rPr>
              <a:t>或</a:t>
            </a:r>
            <a:r>
              <a:rPr lang="en-US" altLang="zh-TW" sz="1100" b="0" i="0" u="none" strike="noStrike" cap="none" dirty="0" smtClean="0">
                <a:solidFill>
                  <a:srgbClr val="000000"/>
                </a:solidFill>
                <a:latin typeface="Arial"/>
                <a:ea typeface="Arial"/>
                <a:cs typeface="Arial"/>
                <a:sym typeface="Arial"/>
              </a:rPr>
              <a:t>IAN</a:t>
            </a:r>
            <a:r>
              <a:rPr lang="zh-TW" altLang="en-US" sz="1100" b="0" i="0" u="none" strike="noStrike" cap="none" dirty="0" smtClean="0">
                <a:solidFill>
                  <a:srgbClr val="000000"/>
                </a:solidFill>
                <a:latin typeface="Arial"/>
                <a:ea typeface="Arial"/>
                <a:cs typeface="Arial"/>
                <a:sym typeface="Arial"/>
              </a:rPr>
              <a:t>時的數據速率的經驗累積分佈函數（</a:t>
            </a:r>
            <a:r>
              <a:rPr lang="en-US" altLang="zh-TW" sz="1100" b="0" i="0" u="none" strike="noStrike" cap="none" dirty="0" smtClean="0">
                <a:solidFill>
                  <a:srgbClr val="000000"/>
                </a:solidFill>
                <a:latin typeface="Arial"/>
                <a:ea typeface="Arial"/>
                <a:cs typeface="Arial"/>
                <a:sym typeface="Arial"/>
              </a:rPr>
              <a:t>CDF</a:t>
            </a:r>
            <a:r>
              <a:rPr lang="zh-TW" altLang="en-US" sz="1100" b="0" i="0" u="none" strike="noStrike" cap="none" dirty="0" smtClean="0">
                <a:solidFill>
                  <a:srgbClr val="000000"/>
                </a:solidFill>
                <a:latin typeface="Arial"/>
                <a:ea typeface="Arial"/>
                <a:cs typeface="Arial"/>
                <a:sym typeface="Arial"/>
              </a:rPr>
              <a:t>）。</a:t>
            </a:r>
            <a:endParaRPr lang="en-US" altLang="zh-TW" sz="1100" b="0" i="0" u="none" strike="noStrike" cap="none" dirty="0" smtClean="0">
              <a:solidFill>
                <a:srgbClr val="000000"/>
              </a:solidFill>
              <a:latin typeface="Arial"/>
              <a:ea typeface="Arial"/>
              <a:cs typeface="Arial"/>
              <a:sym typeface="Arial"/>
            </a:endParaRPr>
          </a:p>
          <a:p>
            <a:endParaRPr lang="en-US" altLang="zh-TW" sz="1100" b="0" i="0" u="none" strike="noStrike" cap="none" dirty="0" smtClean="0">
              <a:solidFill>
                <a:srgbClr val="000000"/>
              </a:solidFill>
              <a:latin typeface="Arial"/>
              <a:cs typeface="Arial"/>
              <a:sym typeface="Arial"/>
            </a:endParaRPr>
          </a:p>
          <a:p>
            <a:r>
              <a:rPr lang="en-US" altLang="zh-TW" dirty="0" smtClean="0"/>
              <a:t>SND</a:t>
            </a:r>
            <a:r>
              <a:rPr lang="zh-TW" altLang="en-US" dirty="0" smtClean="0"/>
              <a:t>策略能夠以最高的概率提供最高的</a:t>
            </a:r>
            <a:r>
              <a:rPr lang="en-US" altLang="zh-TW" dirty="0" smtClean="0"/>
              <a:t>data rate</a:t>
            </a:r>
            <a:r>
              <a:rPr lang="zh-TW" altLang="en-US" dirty="0" smtClean="0"/>
              <a:t>，明顯優於</a:t>
            </a:r>
            <a:r>
              <a:rPr lang="en-US" altLang="zh-TW" dirty="0" smtClean="0"/>
              <a:t>IAN</a:t>
            </a:r>
            <a:r>
              <a:rPr lang="zh-TW" altLang="en-US" dirty="0" smtClean="0"/>
              <a:t>方法。</a:t>
            </a:r>
            <a:endParaRPr lang="en-US" altLang="zh-TW" dirty="0" smtClean="0"/>
          </a:p>
          <a:p>
            <a:endParaRPr lang="en-US" altLang="zh-TW" dirty="0" smtClean="0"/>
          </a:p>
        </p:txBody>
      </p:sp>
    </p:spTree>
    <p:extLst>
      <p:ext uri="{BB962C8B-B14F-4D97-AF65-F5344CB8AC3E}">
        <p14:creationId xmlns:p14="http://schemas.microsoft.com/office/powerpoint/2010/main" val="3692549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在此圖中，我們可以觀察到</a:t>
            </a:r>
            <a:r>
              <a:rPr lang="en-US" altLang="zh-TW" dirty="0" smtClean="0"/>
              <a:t>SND</a:t>
            </a:r>
            <a:r>
              <a:rPr lang="zh-TW" altLang="en-US" dirty="0" smtClean="0"/>
              <a:t>接收器技術在所有預編碼方案中均提高了總速率。 準確地說，它在</a:t>
            </a:r>
            <a:r>
              <a:rPr lang="en-US" altLang="zh-TW" dirty="0" smtClean="0"/>
              <a:t>MMSE</a:t>
            </a:r>
            <a:r>
              <a:rPr lang="zh-TW" altLang="en-US" dirty="0" smtClean="0"/>
              <a:t>和</a:t>
            </a:r>
            <a:r>
              <a:rPr lang="en-US" altLang="zh-TW" dirty="0" smtClean="0"/>
              <a:t>ZF</a:t>
            </a:r>
            <a:r>
              <a:rPr lang="zh-TW" altLang="en-US" dirty="0" smtClean="0"/>
              <a:t>情況下將系統容量增加了</a:t>
            </a:r>
            <a:r>
              <a:rPr lang="en-US" altLang="zh-TW" dirty="0" smtClean="0"/>
              <a:t>23</a:t>
            </a:r>
            <a:r>
              <a:rPr lang="zh-TW" altLang="en-US" dirty="0" smtClean="0"/>
              <a:t>％，而對於</a:t>
            </a:r>
            <a:r>
              <a:rPr lang="en-US" altLang="zh-TW" dirty="0" smtClean="0"/>
              <a:t>SLNR</a:t>
            </a:r>
            <a:r>
              <a:rPr lang="zh-TW" altLang="en-US" dirty="0" smtClean="0"/>
              <a:t>，它將總和增加了</a:t>
            </a:r>
            <a:r>
              <a:rPr lang="en-US" altLang="zh-TW" dirty="0" smtClean="0"/>
              <a:t>18</a:t>
            </a:r>
            <a:r>
              <a:rPr lang="zh-TW" altLang="en-US" dirty="0" smtClean="0"/>
              <a:t>％。 並且可以看到 基於</a:t>
            </a:r>
            <a:r>
              <a:rPr lang="en-US" altLang="zh-TW" dirty="0" smtClean="0"/>
              <a:t>SLNR</a:t>
            </a:r>
            <a:r>
              <a:rPr lang="zh-TW" altLang="en-US" dirty="0" smtClean="0"/>
              <a:t>的</a:t>
            </a:r>
            <a:r>
              <a:rPr lang="en-US" altLang="zh-TW" dirty="0" err="1" smtClean="0"/>
              <a:t>precoding</a:t>
            </a:r>
            <a:r>
              <a:rPr lang="zh-TW" altLang="en-US" dirty="0" smtClean="0"/>
              <a:t>與</a:t>
            </a:r>
            <a:r>
              <a:rPr lang="en-US" altLang="zh-TW" dirty="0" smtClean="0"/>
              <a:t>SND</a:t>
            </a:r>
            <a:r>
              <a:rPr lang="zh-TW" altLang="en-US" dirty="0" smtClean="0"/>
              <a:t> 表現出最高的</a:t>
            </a:r>
            <a:r>
              <a:rPr lang="en-US" altLang="zh-TW" dirty="0" smtClean="0"/>
              <a:t>sum</a:t>
            </a:r>
            <a:r>
              <a:rPr lang="zh-TW" altLang="en-US" dirty="0" smtClean="0"/>
              <a:t> </a:t>
            </a:r>
            <a:r>
              <a:rPr lang="en-US" altLang="zh-TW" dirty="0" smtClean="0"/>
              <a:t>rate</a:t>
            </a:r>
          </a:p>
          <a:p>
            <a:endParaRPr lang="zh-TW" altLang="en-US" dirty="0"/>
          </a:p>
        </p:txBody>
      </p:sp>
    </p:spTree>
    <p:extLst>
      <p:ext uri="{BB962C8B-B14F-4D97-AF65-F5344CB8AC3E}">
        <p14:creationId xmlns:p14="http://schemas.microsoft.com/office/powerpoint/2010/main" val="21941728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sz="1100" b="0" i="0" u="none" strike="noStrike" cap="none" dirty="0" smtClean="0">
                <a:solidFill>
                  <a:srgbClr val="000000"/>
                </a:solidFill>
                <a:latin typeface="Arial"/>
                <a:ea typeface="Arial"/>
                <a:cs typeface="Arial"/>
                <a:sym typeface="Arial"/>
              </a:rPr>
              <a:t>本文研究了高性能接收機如何在多波束衛星系統中</a:t>
            </a:r>
            <a:r>
              <a:rPr lang="zh-TW" altLang="en-US" sz="1100" b="0" i="0" u="none" strike="noStrike" cap="none" dirty="0" smtClean="0">
                <a:solidFill>
                  <a:srgbClr val="000000"/>
                </a:solidFill>
                <a:latin typeface="Arial"/>
                <a:ea typeface="Arial"/>
                <a:cs typeface="Arial"/>
                <a:sym typeface="Arial"/>
              </a:rPr>
              <a:t>提高</a:t>
            </a:r>
            <a:r>
              <a:rPr lang="en-US" altLang="zh-TW" sz="1100" b="0" i="0" u="none" strike="noStrike" cap="none" dirty="0" err="1" smtClean="0">
                <a:solidFill>
                  <a:srgbClr val="000000"/>
                </a:solidFill>
                <a:latin typeface="Arial"/>
                <a:ea typeface="Arial"/>
                <a:cs typeface="Arial"/>
                <a:sym typeface="Arial"/>
              </a:rPr>
              <a:t>precoding</a:t>
            </a:r>
            <a:r>
              <a:rPr lang="zh-TW" altLang="en-US" sz="1100" b="0" i="0" u="none" strike="noStrike" cap="none" dirty="0" smtClean="0">
                <a:solidFill>
                  <a:srgbClr val="000000"/>
                </a:solidFill>
                <a:latin typeface="Arial"/>
                <a:ea typeface="Arial"/>
                <a:cs typeface="Arial"/>
                <a:sym typeface="Arial"/>
              </a:rPr>
              <a:t>技術的</a:t>
            </a:r>
            <a:r>
              <a:rPr lang="en-US" altLang="zh-TW" sz="1100" b="0" i="0" u="none" strike="noStrike" cap="none" dirty="0" smtClean="0">
                <a:solidFill>
                  <a:srgbClr val="000000"/>
                </a:solidFill>
                <a:latin typeface="Arial"/>
                <a:ea typeface="Arial"/>
                <a:cs typeface="Arial"/>
                <a:sym typeface="Arial"/>
              </a:rPr>
              <a:t>data</a:t>
            </a:r>
            <a:r>
              <a:rPr lang="en-US" altLang="zh-TW" sz="1100" b="0" i="0" u="none" strike="noStrike" cap="none" baseline="0" dirty="0" smtClean="0">
                <a:solidFill>
                  <a:srgbClr val="000000"/>
                </a:solidFill>
                <a:latin typeface="Arial"/>
                <a:ea typeface="Arial"/>
                <a:cs typeface="Arial"/>
                <a:sym typeface="Arial"/>
              </a:rPr>
              <a:t> rate</a:t>
            </a:r>
            <a:r>
              <a:rPr lang="zh-TW" altLang="en-US" sz="1100" b="0" i="0" u="none" strike="noStrike" cap="none" dirty="0" smtClean="0">
                <a:solidFill>
                  <a:srgbClr val="000000"/>
                </a:solidFill>
                <a:latin typeface="Arial"/>
                <a:ea typeface="Arial"/>
                <a:cs typeface="Arial"/>
                <a:sym typeface="Arial"/>
              </a:rPr>
              <a:t>。</a:t>
            </a:r>
            <a:r>
              <a:rPr lang="zh-TW" altLang="en-US" sz="1100" b="0" i="0" u="none" strike="noStrike" cap="none" dirty="0" smtClean="0">
                <a:solidFill>
                  <a:srgbClr val="000000"/>
                </a:solidFill>
                <a:latin typeface="Arial"/>
                <a:ea typeface="Arial"/>
                <a:cs typeface="Arial"/>
                <a:sym typeface="Arial"/>
              </a:rPr>
              <a:t>與其他研究相比，我們指出在</a:t>
            </a:r>
            <a:r>
              <a:rPr lang="en-US" altLang="zh-TW" sz="1100" b="0" i="0" u="none" strike="noStrike" cap="none" dirty="0" smtClean="0">
                <a:solidFill>
                  <a:srgbClr val="000000"/>
                </a:solidFill>
                <a:latin typeface="Arial"/>
                <a:ea typeface="Arial"/>
                <a:cs typeface="Arial"/>
                <a:sym typeface="Arial"/>
              </a:rPr>
              <a:t>IAN</a:t>
            </a:r>
            <a:r>
              <a:rPr lang="zh-TW" altLang="en-US" sz="1100" b="0" i="0" u="none" strike="noStrike" cap="none" dirty="0" smtClean="0">
                <a:solidFill>
                  <a:srgbClr val="000000"/>
                </a:solidFill>
                <a:latin typeface="Arial"/>
                <a:ea typeface="Arial"/>
                <a:cs typeface="Arial"/>
                <a:sym typeface="Arial"/>
              </a:rPr>
              <a:t>和</a:t>
            </a:r>
            <a:r>
              <a:rPr lang="en-US" altLang="zh-TW" sz="1100" b="0" i="0" u="none" strike="noStrike" cap="none" dirty="0" smtClean="0">
                <a:solidFill>
                  <a:srgbClr val="000000"/>
                </a:solidFill>
                <a:latin typeface="Arial"/>
                <a:ea typeface="Arial"/>
                <a:cs typeface="Arial"/>
                <a:sym typeface="Arial"/>
              </a:rPr>
              <a:t>SND</a:t>
            </a:r>
            <a:r>
              <a:rPr lang="zh-TW" altLang="en-US" sz="1100" b="0" i="0" u="none" strike="noStrike" cap="none" dirty="0" smtClean="0">
                <a:solidFill>
                  <a:srgbClr val="000000"/>
                </a:solidFill>
                <a:latin typeface="Arial"/>
                <a:ea typeface="Arial"/>
                <a:cs typeface="Arial"/>
                <a:sym typeface="Arial"/>
              </a:rPr>
              <a:t>下，</a:t>
            </a:r>
            <a:r>
              <a:rPr lang="en-US" altLang="zh-TW" sz="1100" b="0" i="0" u="none" strike="noStrike" cap="none" dirty="0" smtClean="0">
                <a:solidFill>
                  <a:srgbClr val="000000"/>
                </a:solidFill>
                <a:latin typeface="Arial"/>
                <a:ea typeface="Arial"/>
                <a:cs typeface="Arial"/>
                <a:sym typeface="Arial"/>
              </a:rPr>
              <a:t>SLNR </a:t>
            </a:r>
            <a:r>
              <a:rPr lang="en-US" altLang="zh-TW" sz="1100" b="0" i="0" u="none" strike="noStrike" cap="none" smtClean="0">
                <a:solidFill>
                  <a:srgbClr val="000000"/>
                </a:solidFill>
                <a:latin typeface="Arial"/>
                <a:ea typeface="Arial"/>
                <a:cs typeface="Arial"/>
                <a:sym typeface="Arial"/>
              </a:rPr>
              <a:t>precoding</a:t>
            </a:r>
            <a:r>
              <a:rPr lang="zh-TW" altLang="en-US" sz="1100" b="0" i="0" u="none" strike="noStrike" cap="none" smtClean="0">
                <a:solidFill>
                  <a:srgbClr val="000000"/>
                </a:solidFill>
                <a:latin typeface="Arial"/>
                <a:ea typeface="Arial"/>
                <a:cs typeface="Arial"/>
                <a:sym typeface="Arial"/>
              </a:rPr>
              <a:t>與</a:t>
            </a:r>
            <a:r>
              <a:rPr lang="en-US" altLang="zh-TW" sz="1100" b="0" i="0" u="none" strike="noStrike" cap="none" dirty="0" smtClean="0">
                <a:solidFill>
                  <a:srgbClr val="000000"/>
                </a:solidFill>
                <a:latin typeface="Arial"/>
                <a:ea typeface="Arial"/>
                <a:cs typeface="Arial"/>
                <a:sym typeface="Arial"/>
              </a:rPr>
              <a:t>ZF</a:t>
            </a:r>
            <a:r>
              <a:rPr lang="zh-TW" altLang="en-US" sz="1100" b="0" i="0" u="none" strike="noStrike" cap="none" dirty="0" smtClean="0">
                <a:solidFill>
                  <a:srgbClr val="000000"/>
                </a:solidFill>
                <a:latin typeface="Arial"/>
                <a:ea typeface="Arial"/>
                <a:cs typeface="Arial"/>
                <a:sym typeface="Arial"/>
              </a:rPr>
              <a:t>和</a:t>
            </a:r>
            <a:r>
              <a:rPr lang="en-US" altLang="zh-TW" sz="1100" b="0" i="0" u="none" strike="noStrike" cap="none" dirty="0" smtClean="0">
                <a:solidFill>
                  <a:srgbClr val="000000"/>
                </a:solidFill>
                <a:latin typeface="Arial"/>
                <a:ea typeface="Arial"/>
                <a:cs typeface="Arial"/>
                <a:sym typeface="Arial"/>
              </a:rPr>
              <a:t>MMSE</a:t>
            </a:r>
            <a:r>
              <a:rPr lang="zh-TW" altLang="en-US" sz="1100" b="0" i="0" u="none" strike="noStrike" cap="none" dirty="0" smtClean="0">
                <a:solidFill>
                  <a:srgbClr val="000000"/>
                </a:solidFill>
                <a:latin typeface="Arial"/>
                <a:ea typeface="Arial"/>
                <a:cs typeface="Arial"/>
                <a:sym typeface="Arial"/>
              </a:rPr>
              <a:t>相比提供更高</a:t>
            </a:r>
            <a:r>
              <a:rPr lang="zh-TW" altLang="en-US" sz="1100" b="0" i="0" u="none" strike="noStrike" cap="none" dirty="0" smtClean="0">
                <a:solidFill>
                  <a:srgbClr val="000000"/>
                </a:solidFill>
                <a:latin typeface="Arial"/>
                <a:ea typeface="Arial"/>
                <a:cs typeface="Arial"/>
                <a:sym typeface="Arial"/>
              </a:rPr>
              <a:t>的</a:t>
            </a:r>
            <a:r>
              <a:rPr lang="en-US" altLang="zh-TW" sz="1100" b="0" i="0" u="none" strike="noStrike" cap="none" dirty="0" smtClean="0">
                <a:solidFill>
                  <a:srgbClr val="000000"/>
                </a:solidFill>
                <a:latin typeface="Arial"/>
                <a:ea typeface="Arial"/>
                <a:cs typeface="Arial"/>
                <a:sym typeface="Arial"/>
              </a:rPr>
              <a:t>data rate</a:t>
            </a:r>
            <a:r>
              <a:rPr lang="zh-TW" altLang="en-US" sz="1100" b="0" i="0" u="none" strike="noStrike" cap="none" dirty="0" smtClean="0">
                <a:solidFill>
                  <a:srgbClr val="000000"/>
                </a:solidFill>
                <a:latin typeface="Arial"/>
                <a:ea typeface="Arial"/>
                <a:cs typeface="Arial"/>
                <a:sym typeface="Arial"/>
              </a:rPr>
              <a:t>。</a:t>
            </a:r>
            <a:endParaRPr lang="en-US" altLang="zh-TW" sz="1100" b="0" i="0" u="none" strike="noStrike" cap="none" dirty="0" smtClean="0">
              <a:solidFill>
                <a:srgbClr val="000000"/>
              </a:solidFill>
              <a:latin typeface="Arial"/>
              <a:ea typeface="Arial"/>
              <a:cs typeface="Arial"/>
              <a:sym typeface="Arial"/>
            </a:endParaRPr>
          </a:p>
          <a:p>
            <a:r>
              <a:rPr lang="zh-TW" altLang="en-US" sz="1100" b="0" i="0" u="none" strike="noStrike" cap="none" dirty="0" smtClean="0">
                <a:solidFill>
                  <a:srgbClr val="000000"/>
                </a:solidFill>
                <a:latin typeface="Arial"/>
                <a:ea typeface="Arial"/>
                <a:cs typeface="Arial"/>
                <a:sym typeface="Arial"/>
              </a:rPr>
              <a:t>此外，還應考慮到信道狀態信息錯誤和</a:t>
            </a:r>
            <a:r>
              <a:rPr lang="en-US" altLang="zh-TW" sz="1100" b="0" i="0" u="none" strike="noStrike" cap="none" baseline="0" dirty="0" smtClean="0">
                <a:solidFill>
                  <a:srgbClr val="000000"/>
                </a:solidFill>
                <a:latin typeface="Arial"/>
                <a:ea typeface="Arial"/>
                <a:cs typeface="Arial"/>
                <a:sym typeface="Arial"/>
              </a:rPr>
              <a:t>multicast</a:t>
            </a:r>
            <a:r>
              <a:rPr lang="zh-TW" altLang="en-US" sz="1100" b="0" i="0" u="none" strike="noStrike" cap="none" dirty="0" smtClean="0">
                <a:solidFill>
                  <a:srgbClr val="000000"/>
                </a:solidFill>
                <a:latin typeface="Arial"/>
                <a:ea typeface="Arial"/>
                <a:cs typeface="Arial"/>
                <a:sym typeface="Arial"/>
              </a:rPr>
              <a:t>的情況。</a:t>
            </a:r>
          </a:p>
          <a:p>
            <a:endParaRPr lang="zh-TW" altLang="en-US" sz="1100" b="0" i="0" u="none" strike="noStrike" cap="none" dirty="0" smtClean="0">
              <a:solidFill>
                <a:srgbClr val="000000"/>
              </a:solidFill>
              <a:latin typeface="Arial"/>
              <a:ea typeface="Arial"/>
              <a:cs typeface="Arial"/>
              <a:sym typeface="Arial"/>
            </a:endParaRPr>
          </a:p>
          <a:p>
            <a:endParaRPr lang="zh-TW" altLang="en-US" dirty="0"/>
          </a:p>
        </p:txBody>
      </p:sp>
    </p:spTree>
    <p:extLst>
      <p:ext uri="{BB962C8B-B14F-4D97-AF65-F5344CB8AC3E}">
        <p14:creationId xmlns:p14="http://schemas.microsoft.com/office/powerpoint/2010/main" val="3159464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p:nvPr/>
        </p:nvSpPr>
        <p:spPr>
          <a:xfrm>
            <a:off x="-40687" y="0"/>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61100" y="496875"/>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2294250" y="1805625"/>
            <a:ext cx="4555500" cy="12558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SzPts val="6000"/>
              <a:buNone/>
              <a:defRPr sz="6000"/>
            </a:lvl1pPr>
            <a:lvl2pPr lvl="1" algn="ctr">
              <a:lnSpc>
                <a:spcPct val="80000"/>
              </a:lnSpc>
              <a:spcBef>
                <a:spcPts val="0"/>
              </a:spcBef>
              <a:spcAft>
                <a:spcPts val="0"/>
              </a:spcAft>
              <a:buSzPts val="5200"/>
              <a:buNone/>
              <a:defRPr sz="5200"/>
            </a:lvl2pPr>
            <a:lvl3pPr lvl="2" algn="ctr">
              <a:lnSpc>
                <a:spcPct val="80000"/>
              </a:lnSpc>
              <a:spcBef>
                <a:spcPts val="0"/>
              </a:spcBef>
              <a:spcAft>
                <a:spcPts val="0"/>
              </a:spcAft>
              <a:buSzPts val="5200"/>
              <a:buNone/>
              <a:defRPr sz="5200"/>
            </a:lvl3pPr>
            <a:lvl4pPr lvl="3" algn="ctr">
              <a:lnSpc>
                <a:spcPct val="80000"/>
              </a:lnSpc>
              <a:spcBef>
                <a:spcPts val="0"/>
              </a:spcBef>
              <a:spcAft>
                <a:spcPts val="0"/>
              </a:spcAft>
              <a:buSzPts val="5200"/>
              <a:buNone/>
              <a:defRPr sz="5200"/>
            </a:lvl4pPr>
            <a:lvl5pPr lvl="4" algn="ctr">
              <a:lnSpc>
                <a:spcPct val="80000"/>
              </a:lnSpc>
              <a:spcBef>
                <a:spcPts val="0"/>
              </a:spcBef>
              <a:spcAft>
                <a:spcPts val="0"/>
              </a:spcAft>
              <a:buSzPts val="5200"/>
              <a:buNone/>
              <a:defRPr sz="5200"/>
            </a:lvl5pPr>
            <a:lvl6pPr lvl="5" algn="ctr">
              <a:lnSpc>
                <a:spcPct val="80000"/>
              </a:lnSpc>
              <a:spcBef>
                <a:spcPts val="0"/>
              </a:spcBef>
              <a:spcAft>
                <a:spcPts val="0"/>
              </a:spcAft>
              <a:buSzPts val="5200"/>
              <a:buNone/>
              <a:defRPr sz="5200"/>
            </a:lvl6pPr>
            <a:lvl7pPr lvl="6" algn="ctr">
              <a:lnSpc>
                <a:spcPct val="80000"/>
              </a:lnSpc>
              <a:spcBef>
                <a:spcPts val="0"/>
              </a:spcBef>
              <a:spcAft>
                <a:spcPts val="0"/>
              </a:spcAft>
              <a:buSzPts val="5200"/>
              <a:buNone/>
              <a:defRPr sz="5200"/>
            </a:lvl7pPr>
            <a:lvl8pPr lvl="7" algn="ctr">
              <a:lnSpc>
                <a:spcPct val="80000"/>
              </a:lnSpc>
              <a:spcBef>
                <a:spcPts val="0"/>
              </a:spcBef>
              <a:spcAft>
                <a:spcPts val="0"/>
              </a:spcAft>
              <a:buSzPts val="5200"/>
              <a:buNone/>
              <a:defRPr sz="5200"/>
            </a:lvl8pPr>
            <a:lvl9pPr lvl="8" algn="ctr">
              <a:lnSpc>
                <a:spcPct val="80000"/>
              </a:lnSpc>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74750" y="3190550"/>
            <a:ext cx="2794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3" name="Google Shape;13;p2"/>
          <p:cNvGrpSpPr/>
          <p:nvPr/>
        </p:nvGrpSpPr>
        <p:grpSpPr>
          <a:xfrm rot="3181939">
            <a:off x="7836774" y="3816843"/>
            <a:ext cx="821525" cy="1396244"/>
            <a:chOff x="7457711" y="2910223"/>
            <a:chExt cx="787685" cy="1338550"/>
          </a:xfrm>
        </p:grpSpPr>
        <p:sp>
          <p:nvSpPr>
            <p:cNvPr id="14" name="Google Shape;14;p2"/>
            <p:cNvSpPr/>
            <p:nvPr/>
          </p:nvSpPr>
          <p:spPr>
            <a:xfrm>
              <a:off x="7929918" y="3775415"/>
              <a:ext cx="150794" cy="119356"/>
            </a:xfrm>
            <a:custGeom>
              <a:avLst/>
              <a:gdLst/>
              <a:ahLst/>
              <a:cxnLst/>
              <a:rect l="l" t="t" r="r" b="b"/>
              <a:pathLst>
                <a:path w="5895" h="4666" extrusionOk="0">
                  <a:moveTo>
                    <a:pt x="2378" y="0"/>
                  </a:moveTo>
                  <a:cubicBezTo>
                    <a:pt x="864" y="0"/>
                    <a:pt x="223" y="1853"/>
                    <a:pt x="223" y="1853"/>
                  </a:cubicBezTo>
                  <a:cubicBezTo>
                    <a:pt x="0" y="3922"/>
                    <a:pt x="1731" y="4666"/>
                    <a:pt x="2951" y="4666"/>
                  </a:cubicBezTo>
                  <a:cubicBezTo>
                    <a:pt x="3309" y="4666"/>
                    <a:pt x="3623" y="4601"/>
                    <a:pt x="3831" y="4488"/>
                  </a:cubicBezTo>
                  <a:cubicBezTo>
                    <a:pt x="4747" y="3988"/>
                    <a:pt x="5894" y="1582"/>
                    <a:pt x="3540" y="326"/>
                  </a:cubicBezTo>
                  <a:cubicBezTo>
                    <a:pt x="3107" y="95"/>
                    <a:pt x="2720" y="0"/>
                    <a:pt x="23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45105" y="3417065"/>
              <a:ext cx="200291" cy="152227"/>
            </a:xfrm>
            <a:custGeom>
              <a:avLst/>
              <a:gdLst/>
              <a:ahLst/>
              <a:cxnLst/>
              <a:rect l="l" t="t" r="r" b="b"/>
              <a:pathLst>
                <a:path w="7830" h="5951" extrusionOk="0">
                  <a:moveTo>
                    <a:pt x="3807" y="0"/>
                  </a:moveTo>
                  <a:cubicBezTo>
                    <a:pt x="2416" y="0"/>
                    <a:pt x="1" y="1325"/>
                    <a:pt x="1054" y="4138"/>
                  </a:cubicBezTo>
                  <a:cubicBezTo>
                    <a:pt x="1590" y="5567"/>
                    <a:pt x="2555" y="5951"/>
                    <a:pt x="3438" y="5951"/>
                  </a:cubicBezTo>
                  <a:cubicBezTo>
                    <a:pt x="4464" y="5951"/>
                    <a:pt x="5378" y="5433"/>
                    <a:pt x="5378" y="5433"/>
                  </a:cubicBezTo>
                  <a:cubicBezTo>
                    <a:pt x="7829" y="3185"/>
                    <a:pt x="5440" y="322"/>
                    <a:pt x="4182" y="38"/>
                  </a:cubicBezTo>
                  <a:cubicBezTo>
                    <a:pt x="4070" y="13"/>
                    <a:pt x="3943" y="0"/>
                    <a:pt x="380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669053" y="3529284"/>
              <a:ext cx="165400" cy="126647"/>
            </a:xfrm>
            <a:custGeom>
              <a:avLst/>
              <a:gdLst/>
              <a:ahLst/>
              <a:cxnLst/>
              <a:rect l="l" t="t" r="r" b="b"/>
              <a:pathLst>
                <a:path w="6466" h="4951" extrusionOk="0">
                  <a:moveTo>
                    <a:pt x="3955" y="1"/>
                  </a:moveTo>
                  <a:cubicBezTo>
                    <a:pt x="3507" y="1"/>
                    <a:pt x="3006" y="134"/>
                    <a:pt x="2460" y="455"/>
                  </a:cubicBezTo>
                  <a:cubicBezTo>
                    <a:pt x="0" y="1906"/>
                    <a:pt x="2005" y="4339"/>
                    <a:pt x="2005" y="4339"/>
                  </a:cubicBezTo>
                  <a:cubicBezTo>
                    <a:pt x="2572" y="4775"/>
                    <a:pt x="3128" y="4951"/>
                    <a:pt x="3642" y="4951"/>
                  </a:cubicBezTo>
                  <a:cubicBezTo>
                    <a:pt x="5198" y="4951"/>
                    <a:pt x="6383" y="3348"/>
                    <a:pt x="6423" y="2509"/>
                  </a:cubicBezTo>
                  <a:cubicBezTo>
                    <a:pt x="6465" y="1640"/>
                    <a:pt x="5531" y="1"/>
                    <a:pt x="39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777512" y="4176561"/>
              <a:ext cx="94339" cy="72212"/>
            </a:xfrm>
            <a:custGeom>
              <a:avLst/>
              <a:gdLst/>
              <a:ahLst/>
              <a:cxnLst/>
              <a:rect l="l" t="t" r="r" b="b"/>
              <a:pathLst>
                <a:path w="3688" h="2823" extrusionOk="0">
                  <a:moveTo>
                    <a:pt x="2256" y="1"/>
                  </a:moveTo>
                  <a:cubicBezTo>
                    <a:pt x="2001" y="1"/>
                    <a:pt x="1715" y="77"/>
                    <a:pt x="1404" y="260"/>
                  </a:cubicBezTo>
                  <a:cubicBezTo>
                    <a:pt x="1" y="1087"/>
                    <a:pt x="1145" y="2473"/>
                    <a:pt x="1145" y="2473"/>
                  </a:cubicBezTo>
                  <a:cubicBezTo>
                    <a:pt x="1469" y="2723"/>
                    <a:pt x="1785" y="2823"/>
                    <a:pt x="2079" y="2823"/>
                  </a:cubicBezTo>
                  <a:cubicBezTo>
                    <a:pt x="2965" y="2823"/>
                    <a:pt x="3640" y="1909"/>
                    <a:pt x="3664" y="1431"/>
                  </a:cubicBezTo>
                  <a:cubicBezTo>
                    <a:pt x="3687" y="936"/>
                    <a:pt x="3155" y="1"/>
                    <a:pt x="2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7872951" y="3030449"/>
              <a:ext cx="180620" cy="153147"/>
            </a:xfrm>
            <a:custGeom>
              <a:avLst/>
              <a:gdLst/>
              <a:ahLst/>
              <a:cxnLst/>
              <a:rect l="l" t="t" r="r" b="b"/>
              <a:pathLst>
                <a:path w="7061" h="5987" extrusionOk="0">
                  <a:moveTo>
                    <a:pt x="3803" y="1"/>
                  </a:moveTo>
                  <a:cubicBezTo>
                    <a:pt x="2805" y="1"/>
                    <a:pt x="1871" y="347"/>
                    <a:pt x="1467" y="765"/>
                  </a:cubicBezTo>
                  <a:cubicBezTo>
                    <a:pt x="506" y="1757"/>
                    <a:pt x="0" y="5245"/>
                    <a:pt x="3466" y="5910"/>
                  </a:cubicBezTo>
                  <a:cubicBezTo>
                    <a:pt x="3739" y="5962"/>
                    <a:pt x="3991" y="5986"/>
                    <a:pt x="4224" y="5986"/>
                  </a:cubicBezTo>
                  <a:cubicBezTo>
                    <a:pt x="6952" y="5986"/>
                    <a:pt x="7060" y="2679"/>
                    <a:pt x="7060" y="2679"/>
                  </a:cubicBezTo>
                  <a:cubicBezTo>
                    <a:pt x="6664" y="655"/>
                    <a:pt x="5174" y="1"/>
                    <a:pt x="38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457711" y="2910223"/>
              <a:ext cx="180672" cy="153122"/>
            </a:xfrm>
            <a:custGeom>
              <a:avLst/>
              <a:gdLst/>
              <a:ahLst/>
              <a:cxnLst/>
              <a:rect l="l" t="t" r="r" b="b"/>
              <a:pathLst>
                <a:path w="7063" h="5986" extrusionOk="0">
                  <a:moveTo>
                    <a:pt x="3804" y="1"/>
                  </a:moveTo>
                  <a:cubicBezTo>
                    <a:pt x="2807" y="1"/>
                    <a:pt x="1874" y="347"/>
                    <a:pt x="1469" y="764"/>
                  </a:cubicBezTo>
                  <a:cubicBezTo>
                    <a:pt x="508" y="1756"/>
                    <a:pt x="1" y="5246"/>
                    <a:pt x="3469" y="5909"/>
                  </a:cubicBezTo>
                  <a:cubicBezTo>
                    <a:pt x="3741" y="5962"/>
                    <a:pt x="3993" y="5986"/>
                    <a:pt x="4226" y="5986"/>
                  </a:cubicBezTo>
                  <a:cubicBezTo>
                    <a:pt x="6954" y="5986"/>
                    <a:pt x="7063" y="2679"/>
                    <a:pt x="7063" y="2679"/>
                  </a:cubicBezTo>
                  <a:cubicBezTo>
                    <a:pt x="6665" y="655"/>
                    <a:pt x="5174" y="1"/>
                    <a:pt x="380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219657" y="152608"/>
            <a:ext cx="1854709" cy="1798480"/>
            <a:chOff x="898615" y="160398"/>
            <a:chExt cx="1778245" cy="1724169"/>
          </a:xfrm>
        </p:grpSpPr>
        <p:sp>
          <p:nvSpPr>
            <p:cNvPr id="21" name="Google Shape;21;p2"/>
            <p:cNvSpPr/>
            <p:nvPr/>
          </p:nvSpPr>
          <p:spPr>
            <a:xfrm>
              <a:off x="898615" y="1384094"/>
              <a:ext cx="170823" cy="129870"/>
            </a:xfrm>
            <a:custGeom>
              <a:avLst/>
              <a:gdLst/>
              <a:ahLst/>
              <a:cxnLst/>
              <a:rect l="l" t="t" r="r" b="b"/>
              <a:pathLst>
                <a:path w="6678" h="5077" extrusionOk="0">
                  <a:moveTo>
                    <a:pt x="3033" y="1"/>
                  </a:moveTo>
                  <a:cubicBezTo>
                    <a:pt x="1554" y="1"/>
                    <a:pt x="294" y="1376"/>
                    <a:pt x="159" y="2182"/>
                  </a:cubicBezTo>
                  <a:cubicBezTo>
                    <a:pt x="1" y="3120"/>
                    <a:pt x="856" y="5076"/>
                    <a:pt x="2672" y="5076"/>
                  </a:cubicBezTo>
                  <a:cubicBezTo>
                    <a:pt x="3062" y="5076"/>
                    <a:pt x="3496" y="4986"/>
                    <a:pt x="3975" y="4775"/>
                  </a:cubicBezTo>
                  <a:cubicBezTo>
                    <a:pt x="6677" y="3588"/>
                    <a:pt x="4918" y="846"/>
                    <a:pt x="4918" y="846"/>
                  </a:cubicBezTo>
                  <a:cubicBezTo>
                    <a:pt x="4295" y="237"/>
                    <a:pt x="3645" y="1"/>
                    <a:pt x="30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087191" y="1724666"/>
              <a:ext cx="193436" cy="159901"/>
            </a:xfrm>
            <a:custGeom>
              <a:avLst/>
              <a:gdLst/>
              <a:ahLst/>
              <a:cxnLst/>
              <a:rect l="l" t="t" r="r" b="b"/>
              <a:pathLst>
                <a:path w="7562" h="6251" extrusionOk="0">
                  <a:moveTo>
                    <a:pt x="2936" y="0"/>
                  </a:moveTo>
                  <a:cubicBezTo>
                    <a:pt x="469" y="0"/>
                    <a:pt x="0" y="3070"/>
                    <a:pt x="0" y="3070"/>
                  </a:cubicBezTo>
                  <a:cubicBezTo>
                    <a:pt x="180" y="5472"/>
                    <a:pt x="2006" y="6251"/>
                    <a:pt x="3558" y="6251"/>
                  </a:cubicBezTo>
                  <a:cubicBezTo>
                    <a:pt x="4379" y="6251"/>
                    <a:pt x="5123" y="6033"/>
                    <a:pt x="5507" y="5721"/>
                  </a:cubicBezTo>
                  <a:cubicBezTo>
                    <a:pt x="6615" y="4821"/>
                    <a:pt x="7561" y="1303"/>
                    <a:pt x="4085" y="195"/>
                  </a:cubicBezTo>
                  <a:cubicBezTo>
                    <a:pt x="3661" y="60"/>
                    <a:pt x="3279" y="0"/>
                    <a:pt x="29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500769" y="510384"/>
              <a:ext cx="163200" cy="137339"/>
            </a:xfrm>
            <a:custGeom>
              <a:avLst/>
              <a:gdLst/>
              <a:ahLst/>
              <a:cxnLst/>
              <a:rect l="l" t="t" r="r" b="b"/>
              <a:pathLst>
                <a:path w="6380" h="5369" extrusionOk="0">
                  <a:moveTo>
                    <a:pt x="3425" y="0"/>
                  </a:moveTo>
                  <a:cubicBezTo>
                    <a:pt x="2572" y="0"/>
                    <a:pt x="1778" y="279"/>
                    <a:pt x="1421" y="629"/>
                  </a:cubicBezTo>
                  <a:cubicBezTo>
                    <a:pt x="536" y="1495"/>
                    <a:pt x="0" y="4605"/>
                    <a:pt x="3087" y="5281"/>
                  </a:cubicBezTo>
                  <a:cubicBezTo>
                    <a:pt x="3360" y="5341"/>
                    <a:pt x="3612" y="5369"/>
                    <a:pt x="3842" y="5369"/>
                  </a:cubicBezTo>
                  <a:cubicBezTo>
                    <a:pt x="6208" y="5369"/>
                    <a:pt x="6380" y="2476"/>
                    <a:pt x="6380" y="2476"/>
                  </a:cubicBezTo>
                  <a:cubicBezTo>
                    <a:pt x="6064" y="604"/>
                    <a:pt x="4680" y="0"/>
                    <a:pt x="34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053271" y="196620"/>
              <a:ext cx="93034" cy="78326"/>
            </a:xfrm>
            <a:custGeom>
              <a:avLst/>
              <a:gdLst/>
              <a:ahLst/>
              <a:cxnLst/>
              <a:rect l="l" t="t" r="r" b="b"/>
              <a:pathLst>
                <a:path w="3637" h="3062" extrusionOk="0">
                  <a:moveTo>
                    <a:pt x="1952" y="1"/>
                  </a:moveTo>
                  <a:cubicBezTo>
                    <a:pt x="1466" y="1"/>
                    <a:pt x="1014" y="160"/>
                    <a:pt x="811" y="360"/>
                  </a:cubicBezTo>
                  <a:cubicBezTo>
                    <a:pt x="306" y="853"/>
                    <a:pt x="1" y="2627"/>
                    <a:pt x="1760" y="3012"/>
                  </a:cubicBezTo>
                  <a:cubicBezTo>
                    <a:pt x="1915" y="3046"/>
                    <a:pt x="2058" y="3062"/>
                    <a:pt x="2188" y="3062"/>
                  </a:cubicBezTo>
                  <a:cubicBezTo>
                    <a:pt x="3539" y="3062"/>
                    <a:pt x="3636" y="1412"/>
                    <a:pt x="3636" y="1412"/>
                  </a:cubicBezTo>
                  <a:cubicBezTo>
                    <a:pt x="3456" y="346"/>
                    <a:pt x="2668" y="1"/>
                    <a:pt x="19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428785" y="160398"/>
              <a:ext cx="248075" cy="181720"/>
            </a:xfrm>
            <a:custGeom>
              <a:avLst/>
              <a:gdLst/>
              <a:ahLst/>
              <a:cxnLst/>
              <a:rect l="l" t="t" r="r" b="b"/>
              <a:pathLst>
                <a:path w="9698" h="7104" extrusionOk="0">
                  <a:moveTo>
                    <a:pt x="4929" y="0"/>
                  </a:moveTo>
                  <a:cubicBezTo>
                    <a:pt x="3365" y="0"/>
                    <a:pt x="2042" y="1335"/>
                    <a:pt x="2042" y="1335"/>
                  </a:cubicBezTo>
                  <a:cubicBezTo>
                    <a:pt x="0" y="4634"/>
                    <a:pt x="3498" y="7104"/>
                    <a:pt x="5063" y="7104"/>
                  </a:cubicBezTo>
                  <a:cubicBezTo>
                    <a:pt x="5087" y="7104"/>
                    <a:pt x="5112" y="7103"/>
                    <a:pt x="5136" y="7102"/>
                  </a:cubicBezTo>
                  <a:cubicBezTo>
                    <a:pt x="6661" y="7020"/>
                    <a:pt x="9697" y="4573"/>
                    <a:pt x="7388" y="1424"/>
                  </a:cubicBezTo>
                  <a:cubicBezTo>
                    <a:pt x="6603" y="354"/>
                    <a:pt x="5734" y="0"/>
                    <a:pt x="49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961261" y="746897"/>
              <a:ext cx="248100" cy="181746"/>
            </a:xfrm>
            <a:custGeom>
              <a:avLst/>
              <a:gdLst/>
              <a:ahLst/>
              <a:cxnLst/>
              <a:rect l="l" t="t" r="r" b="b"/>
              <a:pathLst>
                <a:path w="9699" h="7105" extrusionOk="0">
                  <a:moveTo>
                    <a:pt x="4929" y="0"/>
                  </a:moveTo>
                  <a:cubicBezTo>
                    <a:pt x="3365" y="0"/>
                    <a:pt x="2042" y="1335"/>
                    <a:pt x="2042" y="1335"/>
                  </a:cubicBezTo>
                  <a:cubicBezTo>
                    <a:pt x="0" y="4634"/>
                    <a:pt x="3498" y="7104"/>
                    <a:pt x="5062" y="7104"/>
                  </a:cubicBezTo>
                  <a:cubicBezTo>
                    <a:pt x="5087" y="7104"/>
                    <a:pt x="5112" y="7104"/>
                    <a:pt x="5136" y="7102"/>
                  </a:cubicBezTo>
                  <a:cubicBezTo>
                    <a:pt x="6661" y="7022"/>
                    <a:pt x="9699" y="4575"/>
                    <a:pt x="7388" y="1424"/>
                  </a:cubicBezTo>
                  <a:cubicBezTo>
                    <a:pt x="6603" y="354"/>
                    <a:pt x="5734" y="0"/>
                    <a:pt x="49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2"/>
        </a:solidFill>
        <a:effectLst/>
      </p:bgPr>
    </p:bg>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2470200" y="2901300"/>
            <a:ext cx="4203600" cy="8418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9" name="Google Shape;29;p3"/>
          <p:cNvSpPr txBox="1">
            <a:spLocks noGrp="1"/>
          </p:cNvSpPr>
          <p:nvPr>
            <p:ph type="subTitle" idx="1"/>
          </p:nvPr>
        </p:nvSpPr>
        <p:spPr>
          <a:xfrm>
            <a:off x="2782800" y="3622225"/>
            <a:ext cx="35784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200"/>
              <a:buNone/>
              <a:defRPr sz="2200"/>
            </a:lvl1pPr>
            <a:lvl2pPr lvl="1" algn="ctr" rtl="0">
              <a:lnSpc>
                <a:spcPct val="100000"/>
              </a:lnSpc>
              <a:spcBef>
                <a:spcPts val="0"/>
              </a:spcBef>
              <a:spcAft>
                <a:spcPts val="0"/>
              </a:spcAft>
              <a:buSzPts val="2200"/>
              <a:buNone/>
              <a:defRPr sz="2200"/>
            </a:lvl2pPr>
            <a:lvl3pPr lvl="2" algn="ctr" rtl="0">
              <a:lnSpc>
                <a:spcPct val="100000"/>
              </a:lnSpc>
              <a:spcBef>
                <a:spcPts val="0"/>
              </a:spcBef>
              <a:spcAft>
                <a:spcPts val="0"/>
              </a:spcAft>
              <a:buSzPts val="2200"/>
              <a:buNone/>
              <a:defRPr sz="2200"/>
            </a:lvl3pPr>
            <a:lvl4pPr lvl="3" algn="ctr" rtl="0">
              <a:lnSpc>
                <a:spcPct val="100000"/>
              </a:lnSpc>
              <a:spcBef>
                <a:spcPts val="0"/>
              </a:spcBef>
              <a:spcAft>
                <a:spcPts val="0"/>
              </a:spcAft>
              <a:buSzPts val="2200"/>
              <a:buNone/>
              <a:defRPr sz="2200"/>
            </a:lvl4pPr>
            <a:lvl5pPr lvl="4" algn="ctr" rtl="0">
              <a:lnSpc>
                <a:spcPct val="100000"/>
              </a:lnSpc>
              <a:spcBef>
                <a:spcPts val="0"/>
              </a:spcBef>
              <a:spcAft>
                <a:spcPts val="0"/>
              </a:spcAft>
              <a:buSzPts val="2200"/>
              <a:buNone/>
              <a:defRPr sz="2200"/>
            </a:lvl5pPr>
            <a:lvl6pPr lvl="5" algn="ctr" rtl="0">
              <a:lnSpc>
                <a:spcPct val="100000"/>
              </a:lnSpc>
              <a:spcBef>
                <a:spcPts val="0"/>
              </a:spcBef>
              <a:spcAft>
                <a:spcPts val="0"/>
              </a:spcAft>
              <a:buSzPts val="2200"/>
              <a:buNone/>
              <a:defRPr sz="2200"/>
            </a:lvl6pPr>
            <a:lvl7pPr lvl="6" algn="ctr" rtl="0">
              <a:lnSpc>
                <a:spcPct val="100000"/>
              </a:lnSpc>
              <a:spcBef>
                <a:spcPts val="0"/>
              </a:spcBef>
              <a:spcAft>
                <a:spcPts val="0"/>
              </a:spcAft>
              <a:buSzPts val="2200"/>
              <a:buNone/>
              <a:defRPr sz="2200"/>
            </a:lvl7pPr>
            <a:lvl8pPr lvl="7" algn="ctr" rtl="0">
              <a:lnSpc>
                <a:spcPct val="100000"/>
              </a:lnSpc>
              <a:spcBef>
                <a:spcPts val="0"/>
              </a:spcBef>
              <a:spcAft>
                <a:spcPts val="0"/>
              </a:spcAft>
              <a:buSzPts val="2200"/>
              <a:buNone/>
              <a:defRPr sz="2200"/>
            </a:lvl8pPr>
            <a:lvl9pPr lvl="8" algn="ctr" rtl="0">
              <a:lnSpc>
                <a:spcPct val="100000"/>
              </a:lnSpc>
              <a:spcBef>
                <a:spcPts val="0"/>
              </a:spcBef>
              <a:spcAft>
                <a:spcPts val="0"/>
              </a:spcAft>
              <a:buSzPts val="2200"/>
              <a:buNone/>
              <a:defRPr sz="2200"/>
            </a:lvl9pPr>
          </a:lstStyle>
          <a:p>
            <a:endParaRPr/>
          </a:p>
        </p:txBody>
      </p:sp>
      <p:sp>
        <p:nvSpPr>
          <p:cNvPr id="30" name="Google Shape;30;p3"/>
          <p:cNvSpPr/>
          <p:nvPr/>
        </p:nvSpPr>
        <p:spPr>
          <a:xfrm>
            <a:off x="-90100" y="3778438"/>
            <a:ext cx="9324171" cy="1661292"/>
          </a:xfrm>
          <a:custGeom>
            <a:avLst/>
            <a:gdLst/>
            <a:ahLst/>
            <a:cxnLst/>
            <a:rect l="l" t="t" r="r" b="b"/>
            <a:pathLst>
              <a:path w="173352" h="31576" extrusionOk="0">
                <a:moveTo>
                  <a:pt x="172297" y="0"/>
                </a:moveTo>
                <a:cubicBezTo>
                  <a:pt x="169062" y="0"/>
                  <a:pt x="165813" y="89"/>
                  <a:pt x="162581" y="299"/>
                </a:cubicBezTo>
                <a:cubicBezTo>
                  <a:pt x="155268" y="762"/>
                  <a:pt x="147997" y="1774"/>
                  <a:pt x="140831" y="3333"/>
                </a:cubicBezTo>
                <a:cubicBezTo>
                  <a:pt x="134023" y="4851"/>
                  <a:pt x="127490" y="7169"/>
                  <a:pt x="120956" y="9614"/>
                </a:cubicBezTo>
                <a:cubicBezTo>
                  <a:pt x="114422" y="12059"/>
                  <a:pt x="107868" y="14398"/>
                  <a:pt x="100976" y="15642"/>
                </a:cubicBezTo>
                <a:cubicBezTo>
                  <a:pt x="94604" y="16772"/>
                  <a:pt x="88089" y="17146"/>
                  <a:pt x="81595" y="17146"/>
                </a:cubicBezTo>
                <a:cubicBezTo>
                  <a:pt x="81065" y="17146"/>
                  <a:pt x="80535" y="17143"/>
                  <a:pt x="80005" y="17138"/>
                </a:cubicBezTo>
                <a:cubicBezTo>
                  <a:pt x="69188" y="17028"/>
                  <a:pt x="58383" y="16033"/>
                  <a:pt x="47572" y="16033"/>
                </a:cubicBezTo>
                <a:cubicBezTo>
                  <a:pt x="43933" y="16033"/>
                  <a:pt x="40293" y="16146"/>
                  <a:pt x="36652" y="16443"/>
                </a:cubicBezTo>
                <a:cubicBezTo>
                  <a:pt x="24175" y="17454"/>
                  <a:pt x="12288" y="21649"/>
                  <a:pt x="0" y="23693"/>
                </a:cubicBezTo>
                <a:lnTo>
                  <a:pt x="0" y="31575"/>
                </a:lnTo>
                <a:lnTo>
                  <a:pt x="173351" y="31575"/>
                </a:lnTo>
                <a:lnTo>
                  <a:pt x="173351" y="3"/>
                </a:lnTo>
                <a:cubicBezTo>
                  <a:pt x="173000" y="1"/>
                  <a:pt x="172648" y="0"/>
                  <a:pt x="172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90037" y="3852688"/>
            <a:ext cx="9324171" cy="1661292"/>
          </a:xfrm>
          <a:custGeom>
            <a:avLst/>
            <a:gdLst/>
            <a:ahLst/>
            <a:cxnLst/>
            <a:rect l="l" t="t" r="r" b="b"/>
            <a:pathLst>
              <a:path w="173352" h="31576" extrusionOk="0">
                <a:moveTo>
                  <a:pt x="172297" y="0"/>
                </a:moveTo>
                <a:cubicBezTo>
                  <a:pt x="169062" y="0"/>
                  <a:pt x="165813" y="89"/>
                  <a:pt x="162581" y="299"/>
                </a:cubicBezTo>
                <a:cubicBezTo>
                  <a:pt x="155268" y="762"/>
                  <a:pt x="147997" y="1774"/>
                  <a:pt x="140831" y="3333"/>
                </a:cubicBezTo>
                <a:cubicBezTo>
                  <a:pt x="134023" y="4851"/>
                  <a:pt x="127490" y="7169"/>
                  <a:pt x="120956" y="9614"/>
                </a:cubicBezTo>
                <a:cubicBezTo>
                  <a:pt x="114422" y="12059"/>
                  <a:pt x="107868" y="14398"/>
                  <a:pt x="100976" y="15642"/>
                </a:cubicBezTo>
                <a:cubicBezTo>
                  <a:pt x="94604" y="16772"/>
                  <a:pt x="88089" y="17146"/>
                  <a:pt x="81595" y="17146"/>
                </a:cubicBezTo>
                <a:cubicBezTo>
                  <a:pt x="81065" y="17146"/>
                  <a:pt x="80535" y="17143"/>
                  <a:pt x="80005" y="17138"/>
                </a:cubicBezTo>
                <a:cubicBezTo>
                  <a:pt x="69188" y="17028"/>
                  <a:pt x="58383" y="16033"/>
                  <a:pt x="47572" y="16033"/>
                </a:cubicBezTo>
                <a:cubicBezTo>
                  <a:pt x="43933" y="16033"/>
                  <a:pt x="40293" y="16146"/>
                  <a:pt x="36652" y="16443"/>
                </a:cubicBezTo>
                <a:cubicBezTo>
                  <a:pt x="24175" y="17454"/>
                  <a:pt x="12288" y="21649"/>
                  <a:pt x="0" y="23693"/>
                </a:cubicBezTo>
                <a:lnTo>
                  <a:pt x="0" y="31575"/>
                </a:lnTo>
                <a:lnTo>
                  <a:pt x="173351" y="31575"/>
                </a:lnTo>
                <a:lnTo>
                  <a:pt x="173351" y="3"/>
                </a:lnTo>
                <a:cubicBezTo>
                  <a:pt x="173000" y="1"/>
                  <a:pt x="172648" y="0"/>
                  <a:pt x="1722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10800000">
            <a:off x="-90095" y="-395505"/>
            <a:ext cx="9324171" cy="1661292"/>
          </a:xfrm>
          <a:custGeom>
            <a:avLst/>
            <a:gdLst/>
            <a:ahLst/>
            <a:cxnLst/>
            <a:rect l="l" t="t" r="r" b="b"/>
            <a:pathLst>
              <a:path w="173352" h="31576" extrusionOk="0">
                <a:moveTo>
                  <a:pt x="172297" y="0"/>
                </a:moveTo>
                <a:cubicBezTo>
                  <a:pt x="169062" y="0"/>
                  <a:pt x="165813" y="89"/>
                  <a:pt x="162581" y="299"/>
                </a:cubicBezTo>
                <a:cubicBezTo>
                  <a:pt x="155268" y="762"/>
                  <a:pt x="147997" y="1774"/>
                  <a:pt x="140831" y="3333"/>
                </a:cubicBezTo>
                <a:cubicBezTo>
                  <a:pt x="134023" y="4851"/>
                  <a:pt x="127490" y="7169"/>
                  <a:pt x="120956" y="9614"/>
                </a:cubicBezTo>
                <a:cubicBezTo>
                  <a:pt x="114422" y="12059"/>
                  <a:pt x="107868" y="14398"/>
                  <a:pt x="100976" y="15642"/>
                </a:cubicBezTo>
                <a:cubicBezTo>
                  <a:pt x="94604" y="16772"/>
                  <a:pt x="88089" y="17146"/>
                  <a:pt x="81595" y="17146"/>
                </a:cubicBezTo>
                <a:cubicBezTo>
                  <a:pt x="81065" y="17146"/>
                  <a:pt x="80535" y="17143"/>
                  <a:pt x="80005" y="17138"/>
                </a:cubicBezTo>
                <a:cubicBezTo>
                  <a:pt x="69188" y="17028"/>
                  <a:pt x="58383" y="16033"/>
                  <a:pt x="47572" y="16033"/>
                </a:cubicBezTo>
                <a:cubicBezTo>
                  <a:pt x="43933" y="16033"/>
                  <a:pt x="40293" y="16146"/>
                  <a:pt x="36652" y="16443"/>
                </a:cubicBezTo>
                <a:cubicBezTo>
                  <a:pt x="24175" y="17454"/>
                  <a:pt x="12288" y="21649"/>
                  <a:pt x="0" y="23693"/>
                </a:cubicBezTo>
                <a:lnTo>
                  <a:pt x="0" y="31575"/>
                </a:lnTo>
                <a:lnTo>
                  <a:pt x="173351" y="31575"/>
                </a:lnTo>
                <a:lnTo>
                  <a:pt x="173351" y="3"/>
                </a:lnTo>
                <a:cubicBezTo>
                  <a:pt x="173000" y="1"/>
                  <a:pt x="172648" y="0"/>
                  <a:pt x="1722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3"/>
          <p:cNvGrpSpPr/>
          <p:nvPr/>
        </p:nvGrpSpPr>
        <p:grpSpPr>
          <a:xfrm rot="-9560041">
            <a:off x="654343" y="162933"/>
            <a:ext cx="821567" cy="1396252"/>
            <a:chOff x="7457711" y="2910223"/>
            <a:chExt cx="787685" cy="1338550"/>
          </a:xfrm>
        </p:grpSpPr>
        <p:sp>
          <p:nvSpPr>
            <p:cNvPr id="34" name="Google Shape;34;p3"/>
            <p:cNvSpPr/>
            <p:nvPr/>
          </p:nvSpPr>
          <p:spPr>
            <a:xfrm>
              <a:off x="7929918" y="3775415"/>
              <a:ext cx="150794" cy="119356"/>
            </a:xfrm>
            <a:custGeom>
              <a:avLst/>
              <a:gdLst/>
              <a:ahLst/>
              <a:cxnLst/>
              <a:rect l="l" t="t" r="r" b="b"/>
              <a:pathLst>
                <a:path w="5895" h="4666" extrusionOk="0">
                  <a:moveTo>
                    <a:pt x="2378" y="0"/>
                  </a:moveTo>
                  <a:cubicBezTo>
                    <a:pt x="864" y="0"/>
                    <a:pt x="223" y="1853"/>
                    <a:pt x="223" y="1853"/>
                  </a:cubicBezTo>
                  <a:cubicBezTo>
                    <a:pt x="0" y="3922"/>
                    <a:pt x="1731" y="4666"/>
                    <a:pt x="2951" y="4666"/>
                  </a:cubicBezTo>
                  <a:cubicBezTo>
                    <a:pt x="3309" y="4666"/>
                    <a:pt x="3623" y="4601"/>
                    <a:pt x="3831" y="4488"/>
                  </a:cubicBezTo>
                  <a:cubicBezTo>
                    <a:pt x="4747" y="3988"/>
                    <a:pt x="5894" y="1582"/>
                    <a:pt x="3540" y="326"/>
                  </a:cubicBezTo>
                  <a:cubicBezTo>
                    <a:pt x="3107" y="95"/>
                    <a:pt x="2720" y="0"/>
                    <a:pt x="23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8045105" y="3417065"/>
              <a:ext cx="200291" cy="152227"/>
            </a:xfrm>
            <a:custGeom>
              <a:avLst/>
              <a:gdLst/>
              <a:ahLst/>
              <a:cxnLst/>
              <a:rect l="l" t="t" r="r" b="b"/>
              <a:pathLst>
                <a:path w="7830" h="5951" extrusionOk="0">
                  <a:moveTo>
                    <a:pt x="3807" y="0"/>
                  </a:moveTo>
                  <a:cubicBezTo>
                    <a:pt x="2416" y="0"/>
                    <a:pt x="1" y="1325"/>
                    <a:pt x="1054" y="4138"/>
                  </a:cubicBezTo>
                  <a:cubicBezTo>
                    <a:pt x="1590" y="5567"/>
                    <a:pt x="2555" y="5951"/>
                    <a:pt x="3438" y="5951"/>
                  </a:cubicBezTo>
                  <a:cubicBezTo>
                    <a:pt x="4464" y="5951"/>
                    <a:pt x="5378" y="5433"/>
                    <a:pt x="5378" y="5433"/>
                  </a:cubicBezTo>
                  <a:cubicBezTo>
                    <a:pt x="7829" y="3185"/>
                    <a:pt x="5440" y="322"/>
                    <a:pt x="4182" y="38"/>
                  </a:cubicBezTo>
                  <a:cubicBezTo>
                    <a:pt x="4070" y="13"/>
                    <a:pt x="3943" y="0"/>
                    <a:pt x="38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7669053" y="3529284"/>
              <a:ext cx="165400" cy="126647"/>
            </a:xfrm>
            <a:custGeom>
              <a:avLst/>
              <a:gdLst/>
              <a:ahLst/>
              <a:cxnLst/>
              <a:rect l="l" t="t" r="r" b="b"/>
              <a:pathLst>
                <a:path w="6466" h="4951" extrusionOk="0">
                  <a:moveTo>
                    <a:pt x="3955" y="1"/>
                  </a:moveTo>
                  <a:cubicBezTo>
                    <a:pt x="3507" y="1"/>
                    <a:pt x="3006" y="134"/>
                    <a:pt x="2460" y="455"/>
                  </a:cubicBezTo>
                  <a:cubicBezTo>
                    <a:pt x="0" y="1906"/>
                    <a:pt x="2005" y="4339"/>
                    <a:pt x="2005" y="4339"/>
                  </a:cubicBezTo>
                  <a:cubicBezTo>
                    <a:pt x="2572" y="4775"/>
                    <a:pt x="3128" y="4951"/>
                    <a:pt x="3642" y="4951"/>
                  </a:cubicBezTo>
                  <a:cubicBezTo>
                    <a:pt x="5198" y="4951"/>
                    <a:pt x="6383" y="3348"/>
                    <a:pt x="6423" y="2509"/>
                  </a:cubicBezTo>
                  <a:cubicBezTo>
                    <a:pt x="6465" y="1640"/>
                    <a:pt x="5531" y="1"/>
                    <a:pt x="39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7777512" y="4176561"/>
              <a:ext cx="94339" cy="72212"/>
            </a:xfrm>
            <a:custGeom>
              <a:avLst/>
              <a:gdLst/>
              <a:ahLst/>
              <a:cxnLst/>
              <a:rect l="l" t="t" r="r" b="b"/>
              <a:pathLst>
                <a:path w="3688" h="2823" extrusionOk="0">
                  <a:moveTo>
                    <a:pt x="2256" y="1"/>
                  </a:moveTo>
                  <a:cubicBezTo>
                    <a:pt x="2001" y="1"/>
                    <a:pt x="1715" y="77"/>
                    <a:pt x="1404" y="260"/>
                  </a:cubicBezTo>
                  <a:cubicBezTo>
                    <a:pt x="1" y="1087"/>
                    <a:pt x="1145" y="2473"/>
                    <a:pt x="1145" y="2473"/>
                  </a:cubicBezTo>
                  <a:cubicBezTo>
                    <a:pt x="1469" y="2723"/>
                    <a:pt x="1785" y="2823"/>
                    <a:pt x="2079" y="2823"/>
                  </a:cubicBezTo>
                  <a:cubicBezTo>
                    <a:pt x="2965" y="2823"/>
                    <a:pt x="3640" y="1909"/>
                    <a:pt x="3664" y="1431"/>
                  </a:cubicBezTo>
                  <a:cubicBezTo>
                    <a:pt x="3687" y="936"/>
                    <a:pt x="3155" y="1"/>
                    <a:pt x="22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7872951" y="3030449"/>
              <a:ext cx="180620" cy="153147"/>
            </a:xfrm>
            <a:custGeom>
              <a:avLst/>
              <a:gdLst/>
              <a:ahLst/>
              <a:cxnLst/>
              <a:rect l="l" t="t" r="r" b="b"/>
              <a:pathLst>
                <a:path w="7061" h="5987" extrusionOk="0">
                  <a:moveTo>
                    <a:pt x="3803" y="1"/>
                  </a:moveTo>
                  <a:cubicBezTo>
                    <a:pt x="2805" y="1"/>
                    <a:pt x="1871" y="347"/>
                    <a:pt x="1467" y="765"/>
                  </a:cubicBezTo>
                  <a:cubicBezTo>
                    <a:pt x="506" y="1757"/>
                    <a:pt x="0" y="5245"/>
                    <a:pt x="3466" y="5910"/>
                  </a:cubicBezTo>
                  <a:cubicBezTo>
                    <a:pt x="3739" y="5962"/>
                    <a:pt x="3991" y="5986"/>
                    <a:pt x="4224" y="5986"/>
                  </a:cubicBezTo>
                  <a:cubicBezTo>
                    <a:pt x="6952" y="5986"/>
                    <a:pt x="7060" y="2679"/>
                    <a:pt x="7060" y="2679"/>
                  </a:cubicBezTo>
                  <a:cubicBezTo>
                    <a:pt x="6664" y="655"/>
                    <a:pt x="5174" y="1"/>
                    <a:pt x="38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7457711" y="2910223"/>
              <a:ext cx="180672" cy="153122"/>
            </a:xfrm>
            <a:custGeom>
              <a:avLst/>
              <a:gdLst/>
              <a:ahLst/>
              <a:cxnLst/>
              <a:rect l="l" t="t" r="r" b="b"/>
              <a:pathLst>
                <a:path w="7063" h="5986" extrusionOk="0">
                  <a:moveTo>
                    <a:pt x="3804" y="1"/>
                  </a:moveTo>
                  <a:cubicBezTo>
                    <a:pt x="2807" y="1"/>
                    <a:pt x="1874" y="347"/>
                    <a:pt x="1469" y="764"/>
                  </a:cubicBezTo>
                  <a:cubicBezTo>
                    <a:pt x="508" y="1756"/>
                    <a:pt x="1" y="5246"/>
                    <a:pt x="3469" y="5909"/>
                  </a:cubicBezTo>
                  <a:cubicBezTo>
                    <a:pt x="3741" y="5962"/>
                    <a:pt x="3993" y="5986"/>
                    <a:pt x="4226" y="5986"/>
                  </a:cubicBezTo>
                  <a:cubicBezTo>
                    <a:pt x="6954" y="5986"/>
                    <a:pt x="7063" y="2679"/>
                    <a:pt x="7063" y="2679"/>
                  </a:cubicBezTo>
                  <a:cubicBezTo>
                    <a:pt x="6665" y="655"/>
                    <a:pt x="5174" y="1"/>
                    <a:pt x="38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54"/>
        <p:cNvGrpSpPr/>
        <p:nvPr/>
      </p:nvGrpSpPr>
      <p:grpSpPr>
        <a:xfrm>
          <a:off x="0" y="0"/>
          <a:ext cx="0" cy="0"/>
          <a:chOff x="0" y="0"/>
          <a:chExt cx="0" cy="0"/>
        </a:xfrm>
      </p:grpSpPr>
      <p:sp>
        <p:nvSpPr>
          <p:cNvPr id="55" name="Google Shape;55;p6"/>
          <p:cNvSpPr/>
          <p:nvPr/>
        </p:nvSpPr>
        <p:spPr>
          <a:xfrm>
            <a:off x="-40687" y="864000"/>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6"/>
          <p:cNvGrpSpPr/>
          <p:nvPr/>
        </p:nvGrpSpPr>
        <p:grpSpPr>
          <a:xfrm>
            <a:off x="8085197" y="223450"/>
            <a:ext cx="930729" cy="1581765"/>
            <a:chOff x="7457711" y="2910223"/>
            <a:chExt cx="787685" cy="1338550"/>
          </a:xfrm>
        </p:grpSpPr>
        <p:sp>
          <p:nvSpPr>
            <p:cNvPr id="57" name="Google Shape;57;p6"/>
            <p:cNvSpPr/>
            <p:nvPr/>
          </p:nvSpPr>
          <p:spPr>
            <a:xfrm>
              <a:off x="7929918" y="3775415"/>
              <a:ext cx="150794" cy="119356"/>
            </a:xfrm>
            <a:custGeom>
              <a:avLst/>
              <a:gdLst/>
              <a:ahLst/>
              <a:cxnLst/>
              <a:rect l="l" t="t" r="r" b="b"/>
              <a:pathLst>
                <a:path w="5895" h="4666" extrusionOk="0">
                  <a:moveTo>
                    <a:pt x="2378" y="0"/>
                  </a:moveTo>
                  <a:cubicBezTo>
                    <a:pt x="864" y="0"/>
                    <a:pt x="223" y="1853"/>
                    <a:pt x="223" y="1853"/>
                  </a:cubicBezTo>
                  <a:cubicBezTo>
                    <a:pt x="0" y="3922"/>
                    <a:pt x="1731" y="4666"/>
                    <a:pt x="2951" y="4666"/>
                  </a:cubicBezTo>
                  <a:cubicBezTo>
                    <a:pt x="3309" y="4666"/>
                    <a:pt x="3623" y="4601"/>
                    <a:pt x="3831" y="4488"/>
                  </a:cubicBezTo>
                  <a:cubicBezTo>
                    <a:pt x="4747" y="3988"/>
                    <a:pt x="5894" y="1582"/>
                    <a:pt x="3540" y="326"/>
                  </a:cubicBezTo>
                  <a:cubicBezTo>
                    <a:pt x="3107" y="95"/>
                    <a:pt x="2720" y="0"/>
                    <a:pt x="23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6"/>
            <p:cNvSpPr/>
            <p:nvPr/>
          </p:nvSpPr>
          <p:spPr>
            <a:xfrm>
              <a:off x="8045105" y="3417065"/>
              <a:ext cx="200291" cy="152227"/>
            </a:xfrm>
            <a:custGeom>
              <a:avLst/>
              <a:gdLst/>
              <a:ahLst/>
              <a:cxnLst/>
              <a:rect l="l" t="t" r="r" b="b"/>
              <a:pathLst>
                <a:path w="7830" h="5951" extrusionOk="0">
                  <a:moveTo>
                    <a:pt x="3807" y="0"/>
                  </a:moveTo>
                  <a:cubicBezTo>
                    <a:pt x="2416" y="0"/>
                    <a:pt x="1" y="1325"/>
                    <a:pt x="1054" y="4138"/>
                  </a:cubicBezTo>
                  <a:cubicBezTo>
                    <a:pt x="1590" y="5567"/>
                    <a:pt x="2555" y="5951"/>
                    <a:pt x="3438" y="5951"/>
                  </a:cubicBezTo>
                  <a:cubicBezTo>
                    <a:pt x="4464" y="5951"/>
                    <a:pt x="5378" y="5433"/>
                    <a:pt x="5378" y="5433"/>
                  </a:cubicBezTo>
                  <a:cubicBezTo>
                    <a:pt x="7829" y="3185"/>
                    <a:pt x="5440" y="322"/>
                    <a:pt x="4182" y="38"/>
                  </a:cubicBezTo>
                  <a:cubicBezTo>
                    <a:pt x="4070" y="13"/>
                    <a:pt x="3943" y="0"/>
                    <a:pt x="38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a:off x="7669053" y="3529284"/>
              <a:ext cx="165400" cy="126647"/>
            </a:xfrm>
            <a:custGeom>
              <a:avLst/>
              <a:gdLst/>
              <a:ahLst/>
              <a:cxnLst/>
              <a:rect l="l" t="t" r="r" b="b"/>
              <a:pathLst>
                <a:path w="6466" h="4951" extrusionOk="0">
                  <a:moveTo>
                    <a:pt x="3955" y="1"/>
                  </a:moveTo>
                  <a:cubicBezTo>
                    <a:pt x="3507" y="1"/>
                    <a:pt x="3006" y="134"/>
                    <a:pt x="2460" y="455"/>
                  </a:cubicBezTo>
                  <a:cubicBezTo>
                    <a:pt x="0" y="1906"/>
                    <a:pt x="2005" y="4339"/>
                    <a:pt x="2005" y="4339"/>
                  </a:cubicBezTo>
                  <a:cubicBezTo>
                    <a:pt x="2572" y="4775"/>
                    <a:pt x="3128" y="4951"/>
                    <a:pt x="3642" y="4951"/>
                  </a:cubicBezTo>
                  <a:cubicBezTo>
                    <a:pt x="5198" y="4951"/>
                    <a:pt x="6383" y="3348"/>
                    <a:pt x="6423" y="2509"/>
                  </a:cubicBezTo>
                  <a:cubicBezTo>
                    <a:pt x="6465" y="1640"/>
                    <a:pt x="5531" y="1"/>
                    <a:pt x="39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6"/>
            <p:cNvSpPr/>
            <p:nvPr/>
          </p:nvSpPr>
          <p:spPr>
            <a:xfrm>
              <a:off x="7777512" y="4176561"/>
              <a:ext cx="94339" cy="72212"/>
            </a:xfrm>
            <a:custGeom>
              <a:avLst/>
              <a:gdLst/>
              <a:ahLst/>
              <a:cxnLst/>
              <a:rect l="l" t="t" r="r" b="b"/>
              <a:pathLst>
                <a:path w="3688" h="2823" extrusionOk="0">
                  <a:moveTo>
                    <a:pt x="2256" y="1"/>
                  </a:moveTo>
                  <a:cubicBezTo>
                    <a:pt x="2001" y="1"/>
                    <a:pt x="1715" y="77"/>
                    <a:pt x="1404" y="260"/>
                  </a:cubicBezTo>
                  <a:cubicBezTo>
                    <a:pt x="1" y="1087"/>
                    <a:pt x="1145" y="2473"/>
                    <a:pt x="1145" y="2473"/>
                  </a:cubicBezTo>
                  <a:cubicBezTo>
                    <a:pt x="1469" y="2723"/>
                    <a:pt x="1785" y="2823"/>
                    <a:pt x="2079" y="2823"/>
                  </a:cubicBezTo>
                  <a:cubicBezTo>
                    <a:pt x="2965" y="2823"/>
                    <a:pt x="3640" y="1909"/>
                    <a:pt x="3664" y="1431"/>
                  </a:cubicBezTo>
                  <a:cubicBezTo>
                    <a:pt x="3687" y="936"/>
                    <a:pt x="3155"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a:off x="7872951" y="3030449"/>
              <a:ext cx="180620" cy="153147"/>
            </a:xfrm>
            <a:custGeom>
              <a:avLst/>
              <a:gdLst/>
              <a:ahLst/>
              <a:cxnLst/>
              <a:rect l="l" t="t" r="r" b="b"/>
              <a:pathLst>
                <a:path w="7061" h="5987" extrusionOk="0">
                  <a:moveTo>
                    <a:pt x="3803" y="1"/>
                  </a:moveTo>
                  <a:cubicBezTo>
                    <a:pt x="2805" y="1"/>
                    <a:pt x="1871" y="347"/>
                    <a:pt x="1467" y="765"/>
                  </a:cubicBezTo>
                  <a:cubicBezTo>
                    <a:pt x="506" y="1757"/>
                    <a:pt x="0" y="5245"/>
                    <a:pt x="3466" y="5910"/>
                  </a:cubicBezTo>
                  <a:cubicBezTo>
                    <a:pt x="3739" y="5962"/>
                    <a:pt x="3991" y="5986"/>
                    <a:pt x="4224" y="5986"/>
                  </a:cubicBezTo>
                  <a:cubicBezTo>
                    <a:pt x="6952" y="5986"/>
                    <a:pt x="7060" y="2679"/>
                    <a:pt x="7060" y="2679"/>
                  </a:cubicBezTo>
                  <a:cubicBezTo>
                    <a:pt x="6664" y="655"/>
                    <a:pt x="5174" y="1"/>
                    <a:pt x="38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7457711" y="2910223"/>
              <a:ext cx="180672" cy="153122"/>
            </a:xfrm>
            <a:custGeom>
              <a:avLst/>
              <a:gdLst/>
              <a:ahLst/>
              <a:cxnLst/>
              <a:rect l="l" t="t" r="r" b="b"/>
              <a:pathLst>
                <a:path w="7063" h="5986" extrusionOk="0">
                  <a:moveTo>
                    <a:pt x="3804" y="1"/>
                  </a:moveTo>
                  <a:cubicBezTo>
                    <a:pt x="2807" y="1"/>
                    <a:pt x="1874" y="347"/>
                    <a:pt x="1469" y="764"/>
                  </a:cubicBezTo>
                  <a:cubicBezTo>
                    <a:pt x="508" y="1756"/>
                    <a:pt x="1" y="5246"/>
                    <a:pt x="3469" y="5909"/>
                  </a:cubicBezTo>
                  <a:cubicBezTo>
                    <a:pt x="3741" y="5962"/>
                    <a:pt x="3993" y="5986"/>
                    <a:pt x="4226" y="5986"/>
                  </a:cubicBezTo>
                  <a:cubicBezTo>
                    <a:pt x="6954" y="5986"/>
                    <a:pt x="7063" y="2679"/>
                    <a:pt x="7063" y="2679"/>
                  </a:cubicBezTo>
                  <a:cubicBezTo>
                    <a:pt x="6665" y="655"/>
                    <a:pt x="5174" y="1"/>
                    <a:pt x="38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6"/>
          <p:cNvSpPr txBox="1">
            <a:spLocks noGrp="1"/>
          </p:cNvSpPr>
          <p:nvPr>
            <p:ph type="title"/>
          </p:nvPr>
        </p:nvSpPr>
        <p:spPr>
          <a:xfrm>
            <a:off x="514650" y="569302"/>
            <a:ext cx="8114700" cy="46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4"/>
        <p:cNvGrpSpPr/>
        <p:nvPr/>
      </p:nvGrpSpPr>
      <p:grpSpPr>
        <a:xfrm>
          <a:off x="0" y="0"/>
          <a:ext cx="0" cy="0"/>
          <a:chOff x="0" y="0"/>
          <a:chExt cx="0" cy="0"/>
        </a:xfrm>
      </p:grpSpPr>
      <p:sp>
        <p:nvSpPr>
          <p:cNvPr id="75" name="Google Shape;75;p8"/>
          <p:cNvSpPr/>
          <p:nvPr/>
        </p:nvSpPr>
        <p:spPr>
          <a:xfrm rot="9827327">
            <a:off x="-1889207" y="-1134235"/>
            <a:ext cx="9225537" cy="4703866"/>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txBox="1">
            <a:spLocks noGrp="1"/>
          </p:cNvSpPr>
          <p:nvPr>
            <p:ph type="title"/>
          </p:nvPr>
        </p:nvSpPr>
        <p:spPr>
          <a:xfrm>
            <a:off x="919650" y="450150"/>
            <a:ext cx="32670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77"/>
        <p:cNvGrpSpPr/>
        <p:nvPr/>
      </p:nvGrpSpPr>
      <p:grpSpPr>
        <a:xfrm>
          <a:off x="0" y="0"/>
          <a:ext cx="0" cy="0"/>
          <a:chOff x="0" y="0"/>
          <a:chExt cx="0" cy="0"/>
        </a:xfrm>
      </p:grpSpPr>
      <p:sp>
        <p:nvSpPr>
          <p:cNvPr id="78" name="Google Shape;78;p9"/>
          <p:cNvSpPr txBox="1">
            <a:spLocks noGrp="1"/>
          </p:cNvSpPr>
          <p:nvPr>
            <p:ph type="subTitle" idx="1"/>
          </p:nvPr>
        </p:nvSpPr>
        <p:spPr>
          <a:xfrm>
            <a:off x="2549400" y="1134050"/>
            <a:ext cx="4045200" cy="694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9" name="Google Shape;79;p9"/>
          <p:cNvSpPr txBox="1">
            <a:spLocks noGrp="1"/>
          </p:cNvSpPr>
          <p:nvPr>
            <p:ph type="body" idx="2"/>
          </p:nvPr>
        </p:nvSpPr>
        <p:spPr>
          <a:xfrm>
            <a:off x="4866500" y="2074175"/>
            <a:ext cx="3837000" cy="2534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80" name="Google Shape;80;p9"/>
          <p:cNvSpPr txBox="1">
            <a:spLocks noGrp="1"/>
          </p:cNvSpPr>
          <p:nvPr>
            <p:ph type="title"/>
          </p:nvPr>
        </p:nvSpPr>
        <p:spPr>
          <a:xfrm>
            <a:off x="514650" y="569302"/>
            <a:ext cx="8114700" cy="46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81" name="Google Shape;81;p9"/>
          <p:cNvSpPr/>
          <p:nvPr/>
        </p:nvSpPr>
        <p:spPr>
          <a:xfrm flipH="1">
            <a:off x="-40687" y="864000"/>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2"/>
        </a:solidFill>
        <a:effectLst/>
      </p:bgPr>
    </p:bg>
    <p:spTree>
      <p:nvGrpSpPr>
        <p:cNvPr id="1" name="Shape 82"/>
        <p:cNvGrpSpPr/>
        <p:nvPr/>
      </p:nvGrpSpPr>
      <p:grpSpPr>
        <a:xfrm>
          <a:off x="0" y="0"/>
          <a:ext cx="0" cy="0"/>
          <a:chOff x="0" y="0"/>
          <a:chExt cx="0" cy="0"/>
        </a:xfrm>
      </p:grpSpPr>
      <p:sp>
        <p:nvSpPr>
          <p:cNvPr id="83" name="Google Shape;83;p10"/>
          <p:cNvSpPr/>
          <p:nvPr/>
        </p:nvSpPr>
        <p:spPr>
          <a:xfrm rot="-5400000">
            <a:off x="2740368" y="-5527061"/>
            <a:ext cx="4763096" cy="9892816"/>
          </a:xfrm>
          <a:custGeom>
            <a:avLst/>
            <a:gdLst/>
            <a:ahLst/>
            <a:cxnLst/>
            <a:rect l="l" t="t" r="r" b="b"/>
            <a:pathLst>
              <a:path w="35230" h="52975" extrusionOk="0">
                <a:moveTo>
                  <a:pt x="15529" y="1"/>
                </a:moveTo>
                <a:cubicBezTo>
                  <a:pt x="10791" y="1"/>
                  <a:pt x="6206" y="1644"/>
                  <a:pt x="3953" y="5493"/>
                </a:cubicBezTo>
                <a:cubicBezTo>
                  <a:pt x="3598" y="6090"/>
                  <a:pt x="3324" y="6719"/>
                  <a:pt x="3098" y="7364"/>
                </a:cubicBezTo>
                <a:cubicBezTo>
                  <a:pt x="2275" y="9881"/>
                  <a:pt x="2372" y="12607"/>
                  <a:pt x="2856" y="15204"/>
                </a:cubicBezTo>
                <a:cubicBezTo>
                  <a:pt x="3227" y="17123"/>
                  <a:pt x="3808" y="18994"/>
                  <a:pt x="3969" y="20946"/>
                </a:cubicBezTo>
                <a:cubicBezTo>
                  <a:pt x="4243" y="24285"/>
                  <a:pt x="3275" y="27576"/>
                  <a:pt x="2259" y="30753"/>
                </a:cubicBezTo>
                <a:cubicBezTo>
                  <a:pt x="969" y="34818"/>
                  <a:pt x="1" y="38641"/>
                  <a:pt x="1469" y="42835"/>
                </a:cubicBezTo>
                <a:cubicBezTo>
                  <a:pt x="3798" y="49427"/>
                  <a:pt x="10743" y="52975"/>
                  <a:pt x="17540" y="52975"/>
                </a:cubicBezTo>
                <a:cubicBezTo>
                  <a:pt x="20156" y="52975"/>
                  <a:pt x="22751" y="52449"/>
                  <a:pt x="25051" y="51368"/>
                </a:cubicBezTo>
                <a:cubicBezTo>
                  <a:pt x="33842" y="47239"/>
                  <a:pt x="35229" y="35705"/>
                  <a:pt x="34939" y="27043"/>
                </a:cubicBezTo>
                <a:cubicBezTo>
                  <a:pt x="34697" y="19543"/>
                  <a:pt x="33713" y="9316"/>
                  <a:pt x="27680" y="4058"/>
                </a:cubicBezTo>
                <a:cubicBezTo>
                  <a:pt x="24779" y="1520"/>
                  <a:pt x="20083" y="1"/>
                  <a:pt x="155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0"/>
          <p:cNvSpPr/>
          <p:nvPr/>
        </p:nvSpPr>
        <p:spPr>
          <a:xfrm rot="-5400000">
            <a:off x="2672868" y="-5621561"/>
            <a:ext cx="4763096" cy="9892816"/>
          </a:xfrm>
          <a:custGeom>
            <a:avLst/>
            <a:gdLst/>
            <a:ahLst/>
            <a:cxnLst/>
            <a:rect l="l" t="t" r="r" b="b"/>
            <a:pathLst>
              <a:path w="35230" h="52975" extrusionOk="0">
                <a:moveTo>
                  <a:pt x="15529" y="1"/>
                </a:moveTo>
                <a:cubicBezTo>
                  <a:pt x="10791" y="1"/>
                  <a:pt x="6206" y="1644"/>
                  <a:pt x="3953" y="5493"/>
                </a:cubicBezTo>
                <a:cubicBezTo>
                  <a:pt x="3598" y="6090"/>
                  <a:pt x="3324" y="6719"/>
                  <a:pt x="3098" y="7364"/>
                </a:cubicBezTo>
                <a:cubicBezTo>
                  <a:pt x="2275" y="9881"/>
                  <a:pt x="2372" y="12607"/>
                  <a:pt x="2856" y="15204"/>
                </a:cubicBezTo>
                <a:cubicBezTo>
                  <a:pt x="3227" y="17123"/>
                  <a:pt x="3808" y="18994"/>
                  <a:pt x="3969" y="20946"/>
                </a:cubicBezTo>
                <a:cubicBezTo>
                  <a:pt x="4243" y="24285"/>
                  <a:pt x="3275" y="27576"/>
                  <a:pt x="2259" y="30753"/>
                </a:cubicBezTo>
                <a:cubicBezTo>
                  <a:pt x="969" y="34818"/>
                  <a:pt x="1" y="38641"/>
                  <a:pt x="1469" y="42835"/>
                </a:cubicBezTo>
                <a:cubicBezTo>
                  <a:pt x="3798" y="49427"/>
                  <a:pt x="10743" y="52975"/>
                  <a:pt x="17540" y="52975"/>
                </a:cubicBezTo>
                <a:cubicBezTo>
                  <a:pt x="20156" y="52975"/>
                  <a:pt x="22751" y="52449"/>
                  <a:pt x="25051" y="51368"/>
                </a:cubicBezTo>
                <a:cubicBezTo>
                  <a:pt x="33842" y="47239"/>
                  <a:pt x="35229" y="35705"/>
                  <a:pt x="34939" y="27043"/>
                </a:cubicBezTo>
                <a:cubicBezTo>
                  <a:pt x="34697" y="19543"/>
                  <a:pt x="33713" y="9316"/>
                  <a:pt x="27680" y="4058"/>
                </a:cubicBezTo>
                <a:cubicBezTo>
                  <a:pt x="24779" y="1520"/>
                  <a:pt x="20083" y="1"/>
                  <a:pt x="15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p:cNvSpPr txBox="1">
            <a:spLocks noGrp="1"/>
          </p:cNvSpPr>
          <p:nvPr>
            <p:ph type="title"/>
          </p:nvPr>
        </p:nvSpPr>
        <p:spPr>
          <a:xfrm>
            <a:off x="514650" y="569302"/>
            <a:ext cx="8114700" cy="46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Bullet Points ">
  <p:cSld name="TITLE_AND_BODY_1_1">
    <p:bg>
      <p:bgPr>
        <a:solidFill>
          <a:schemeClr val="dk2"/>
        </a:solidFill>
        <a:effectLst/>
      </p:bgPr>
    </p:bg>
    <p:spTree>
      <p:nvGrpSpPr>
        <p:cNvPr id="1" name="Shape 91"/>
        <p:cNvGrpSpPr/>
        <p:nvPr/>
      </p:nvGrpSpPr>
      <p:grpSpPr>
        <a:xfrm>
          <a:off x="0" y="0"/>
          <a:ext cx="0" cy="0"/>
          <a:chOff x="0" y="0"/>
          <a:chExt cx="0" cy="0"/>
        </a:xfrm>
      </p:grpSpPr>
      <p:sp>
        <p:nvSpPr>
          <p:cNvPr id="92" name="Google Shape;92;p13"/>
          <p:cNvSpPr/>
          <p:nvPr/>
        </p:nvSpPr>
        <p:spPr>
          <a:xfrm>
            <a:off x="4" y="569307"/>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rgbClr val="FFFFFF">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txBox="1">
            <a:spLocks noGrp="1"/>
          </p:cNvSpPr>
          <p:nvPr>
            <p:ph type="body" idx="1"/>
          </p:nvPr>
        </p:nvSpPr>
        <p:spPr>
          <a:xfrm>
            <a:off x="970800" y="1211525"/>
            <a:ext cx="7202400" cy="32286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94" name="Google Shape;94;p13"/>
          <p:cNvSpPr txBox="1">
            <a:spLocks noGrp="1"/>
          </p:cNvSpPr>
          <p:nvPr>
            <p:ph type="title"/>
          </p:nvPr>
        </p:nvSpPr>
        <p:spPr>
          <a:xfrm>
            <a:off x="514650" y="569302"/>
            <a:ext cx="8114700" cy="46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
    <p:bg>
      <p:bgPr>
        <a:solidFill>
          <a:schemeClr val="dk2"/>
        </a:solidFill>
        <a:effectLst/>
      </p:bgPr>
    </p:bg>
    <p:spTree>
      <p:nvGrpSpPr>
        <p:cNvPr id="1" name="Shape 95"/>
        <p:cNvGrpSpPr/>
        <p:nvPr/>
      </p:nvGrpSpPr>
      <p:grpSpPr>
        <a:xfrm>
          <a:off x="0" y="0"/>
          <a:ext cx="0" cy="0"/>
          <a:chOff x="0" y="0"/>
          <a:chExt cx="0" cy="0"/>
        </a:xfrm>
      </p:grpSpPr>
      <p:sp>
        <p:nvSpPr>
          <p:cNvPr id="96" name="Google Shape;96;p14"/>
          <p:cNvSpPr/>
          <p:nvPr/>
        </p:nvSpPr>
        <p:spPr>
          <a:xfrm>
            <a:off x="3852800" y="-655988"/>
            <a:ext cx="2888332" cy="6802520"/>
          </a:xfrm>
          <a:custGeom>
            <a:avLst/>
            <a:gdLst/>
            <a:ahLst/>
            <a:cxnLst/>
            <a:rect l="l" t="t" r="r" b="b"/>
            <a:pathLst>
              <a:path w="35230" h="52975" extrusionOk="0">
                <a:moveTo>
                  <a:pt x="15529" y="1"/>
                </a:moveTo>
                <a:cubicBezTo>
                  <a:pt x="10791" y="1"/>
                  <a:pt x="6206" y="1644"/>
                  <a:pt x="3953" y="5493"/>
                </a:cubicBezTo>
                <a:cubicBezTo>
                  <a:pt x="3598" y="6090"/>
                  <a:pt x="3324" y="6719"/>
                  <a:pt x="3098" y="7364"/>
                </a:cubicBezTo>
                <a:cubicBezTo>
                  <a:pt x="2275" y="9881"/>
                  <a:pt x="2372" y="12607"/>
                  <a:pt x="2856" y="15204"/>
                </a:cubicBezTo>
                <a:cubicBezTo>
                  <a:pt x="3227" y="17123"/>
                  <a:pt x="3808" y="18994"/>
                  <a:pt x="3969" y="20946"/>
                </a:cubicBezTo>
                <a:cubicBezTo>
                  <a:pt x="4243" y="24285"/>
                  <a:pt x="3275" y="27576"/>
                  <a:pt x="2259" y="30753"/>
                </a:cubicBezTo>
                <a:cubicBezTo>
                  <a:pt x="969" y="34818"/>
                  <a:pt x="1" y="38641"/>
                  <a:pt x="1469" y="42835"/>
                </a:cubicBezTo>
                <a:cubicBezTo>
                  <a:pt x="3798" y="49427"/>
                  <a:pt x="10743" y="52975"/>
                  <a:pt x="17540" y="52975"/>
                </a:cubicBezTo>
                <a:cubicBezTo>
                  <a:pt x="20156" y="52975"/>
                  <a:pt x="22751" y="52449"/>
                  <a:pt x="25051" y="51368"/>
                </a:cubicBezTo>
                <a:cubicBezTo>
                  <a:pt x="33842" y="47239"/>
                  <a:pt x="35229" y="35705"/>
                  <a:pt x="34939" y="27043"/>
                </a:cubicBezTo>
                <a:cubicBezTo>
                  <a:pt x="34697" y="19543"/>
                  <a:pt x="33713" y="9316"/>
                  <a:pt x="27680" y="4058"/>
                </a:cubicBezTo>
                <a:cubicBezTo>
                  <a:pt x="24779" y="1520"/>
                  <a:pt x="20083" y="1"/>
                  <a:pt x="155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 name="Google Shape;97;p14"/>
          <p:cNvGrpSpPr/>
          <p:nvPr/>
        </p:nvGrpSpPr>
        <p:grpSpPr>
          <a:xfrm>
            <a:off x="3985825" y="-749101"/>
            <a:ext cx="5231275" cy="6802520"/>
            <a:chOff x="3985825" y="-749101"/>
            <a:chExt cx="5231275" cy="6802520"/>
          </a:xfrm>
        </p:grpSpPr>
        <p:sp>
          <p:nvSpPr>
            <p:cNvPr id="98" name="Google Shape;98;p14"/>
            <p:cNvSpPr/>
            <p:nvPr/>
          </p:nvSpPr>
          <p:spPr>
            <a:xfrm>
              <a:off x="3985825" y="-749101"/>
              <a:ext cx="2888332" cy="6802520"/>
            </a:xfrm>
            <a:custGeom>
              <a:avLst/>
              <a:gdLst/>
              <a:ahLst/>
              <a:cxnLst/>
              <a:rect l="l" t="t" r="r" b="b"/>
              <a:pathLst>
                <a:path w="35230" h="52975" extrusionOk="0">
                  <a:moveTo>
                    <a:pt x="15529" y="1"/>
                  </a:moveTo>
                  <a:cubicBezTo>
                    <a:pt x="10791" y="1"/>
                    <a:pt x="6206" y="1644"/>
                    <a:pt x="3953" y="5493"/>
                  </a:cubicBezTo>
                  <a:cubicBezTo>
                    <a:pt x="3598" y="6090"/>
                    <a:pt x="3324" y="6719"/>
                    <a:pt x="3098" y="7364"/>
                  </a:cubicBezTo>
                  <a:cubicBezTo>
                    <a:pt x="2275" y="9881"/>
                    <a:pt x="2372" y="12607"/>
                    <a:pt x="2856" y="15204"/>
                  </a:cubicBezTo>
                  <a:cubicBezTo>
                    <a:pt x="3227" y="17123"/>
                    <a:pt x="3808" y="18994"/>
                    <a:pt x="3969" y="20946"/>
                  </a:cubicBezTo>
                  <a:cubicBezTo>
                    <a:pt x="4243" y="24285"/>
                    <a:pt x="3275" y="27576"/>
                    <a:pt x="2259" y="30753"/>
                  </a:cubicBezTo>
                  <a:cubicBezTo>
                    <a:pt x="969" y="34818"/>
                    <a:pt x="1" y="38641"/>
                    <a:pt x="1469" y="42835"/>
                  </a:cubicBezTo>
                  <a:cubicBezTo>
                    <a:pt x="3798" y="49427"/>
                    <a:pt x="10743" y="52975"/>
                    <a:pt x="17540" y="52975"/>
                  </a:cubicBezTo>
                  <a:cubicBezTo>
                    <a:pt x="20156" y="52975"/>
                    <a:pt x="22751" y="52449"/>
                    <a:pt x="25051" y="51368"/>
                  </a:cubicBezTo>
                  <a:cubicBezTo>
                    <a:pt x="33842" y="47239"/>
                    <a:pt x="35229" y="35705"/>
                    <a:pt x="34939" y="27043"/>
                  </a:cubicBezTo>
                  <a:cubicBezTo>
                    <a:pt x="34697" y="19543"/>
                    <a:pt x="33713" y="9316"/>
                    <a:pt x="27680" y="4058"/>
                  </a:cubicBezTo>
                  <a:cubicBezTo>
                    <a:pt x="24779" y="1520"/>
                    <a:pt x="20083" y="1"/>
                    <a:pt x="15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4"/>
            <p:cNvSpPr/>
            <p:nvPr/>
          </p:nvSpPr>
          <p:spPr>
            <a:xfrm>
              <a:off x="5756300" y="-71225"/>
              <a:ext cx="3460800" cy="5280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14"/>
          <p:cNvSpPr txBox="1">
            <a:spLocks noGrp="1"/>
          </p:cNvSpPr>
          <p:nvPr>
            <p:ph type="title"/>
          </p:nvPr>
        </p:nvSpPr>
        <p:spPr>
          <a:xfrm>
            <a:off x="5584700" y="476875"/>
            <a:ext cx="3342300" cy="479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
        <p:nvSpPr>
          <p:cNvPr id="101" name="Google Shape;101;p14"/>
          <p:cNvSpPr txBox="1">
            <a:spLocks noGrp="1"/>
          </p:cNvSpPr>
          <p:nvPr>
            <p:ph type="subTitle" idx="1"/>
          </p:nvPr>
        </p:nvSpPr>
        <p:spPr>
          <a:xfrm>
            <a:off x="5584700" y="809175"/>
            <a:ext cx="2737200" cy="47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2"/>
          </p:nvPr>
        </p:nvSpPr>
        <p:spPr>
          <a:xfrm>
            <a:off x="641275" y="381075"/>
            <a:ext cx="2426700" cy="1035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14"/>
          <p:cNvSpPr txBox="1">
            <a:spLocks noGrp="1"/>
          </p:cNvSpPr>
          <p:nvPr>
            <p:ph type="title" idx="3"/>
          </p:nvPr>
        </p:nvSpPr>
        <p:spPr>
          <a:xfrm>
            <a:off x="5584700" y="1332518"/>
            <a:ext cx="3342300" cy="479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
        <p:nvSpPr>
          <p:cNvPr id="104" name="Google Shape;104;p14"/>
          <p:cNvSpPr txBox="1">
            <a:spLocks noGrp="1"/>
          </p:cNvSpPr>
          <p:nvPr>
            <p:ph type="subTitle" idx="4"/>
          </p:nvPr>
        </p:nvSpPr>
        <p:spPr>
          <a:xfrm>
            <a:off x="5584700" y="1664818"/>
            <a:ext cx="2737200" cy="47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5"/>
          </p:nvPr>
        </p:nvSpPr>
        <p:spPr>
          <a:xfrm>
            <a:off x="5584700" y="2173412"/>
            <a:ext cx="3342300" cy="479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
        <p:nvSpPr>
          <p:cNvPr id="106" name="Google Shape;106;p14"/>
          <p:cNvSpPr txBox="1">
            <a:spLocks noGrp="1"/>
          </p:cNvSpPr>
          <p:nvPr>
            <p:ph type="subTitle" idx="6"/>
          </p:nvPr>
        </p:nvSpPr>
        <p:spPr>
          <a:xfrm>
            <a:off x="5584700" y="2505712"/>
            <a:ext cx="2737200" cy="47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7" name="Google Shape;107;p14"/>
          <p:cNvSpPr txBox="1">
            <a:spLocks noGrp="1"/>
          </p:cNvSpPr>
          <p:nvPr>
            <p:ph type="title" idx="7"/>
          </p:nvPr>
        </p:nvSpPr>
        <p:spPr>
          <a:xfrm>
            <a:off x="5584700" y="3014307"/>
            <a:ext cx="3342300" cy="479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
        <p:nvSpPr>
          <p:cNvPr id="108" name="Google Shape;108;p14"/>
          <p:cNvSpPr txBox="1">
            <a:spLocks noGrp="1"/>
          </p:cNvSpPr>
          <p:nvPr>
            <p:ph type="subTitle" idx="8"/>
          </p:nvPr>
        </p:nvSpPr>
        <p:spPr>
          <a:xfrm>
            <a:off x="5584700" y="3346607"/>
            <a:ext cx="2737200" cy="47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9" name="Google Shape;109;p14"/>
          <p:cNvSpPr txBox="1">
            <a:spLocks noGrp="1"/>
          </p:cNvSpPr>
          <p:nvPr>
            <p:ph type="title" idx="9"/>
          </p:nvPr>
        </p:nvSpPr>
        <p:spPr>
          <a:xfrm>
            <a:off x="5584700" y="3855201"/>
            <a:ext cx="3342300" cy="479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
        <p:nvSpPr>
          <p:cNvPr id="110" name="Google Shape;110;p14"/>
          <p:cNvSpPr txBox="1">
            <a:spLocks noGrp="1"/>
          </p:cNvSpPr>
          <p:nvPr>
            <p:ph type="subTitle" idx="13"/>
          </p:nvPr>
        </p:nvSpPr>
        <p:spPr>
          <a:xfrm>
            <a:off x="5584700" y="4187501"/>
            <a:ext cx="2737200" cy="47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Text">
  <p:cSld name="SECTION_HEADER_1">
    <p:bg>
      <p:bgPr>
        <a:solidFill>
          <a:schemeClr val="lt1"/>
        </a:solidFill>
        <a:effectLst/>
      </p:bgPr>
    </p:bg>
    <p:spTree>
      <p:nvGrpSpPr>
        <p:cNvPr id="1" name="Shape 111"/>
        <p:cNvGrpSpPr/>
        <p:nvPr/>
      </p:nvGrpSpPr>
      <p:grpSpPr>
        <a:xfrm>
          <a:off x="0" y="0"/>
          <a:ext cx="0" cy="0"/>
          <a:chOff x="0" y="0"/>
          <a:chExt cx="0" cy="0"/>
        </a:xfrm>
      </p:grpSpPr>
      <p:sp>
        <p:nvSpPr>
          <p:cNvPr id="112" name="Google Shape;112;p15"/>
          <p:cNvSpPr/>
          <p:nvPr/>
        </p:nvSpPr>
        <p:spPr>
          <a:xfrm rot="5400000">
            <a:off x="2207428" y="-3910082"/>
            <a:ext cx="4909890" cy="10070905"/>
          </a:xfrm>
          <a:custGeom>
            <a:avLst/>
            <a:gdLst/>
            <a:ahLst/>
            <a:cxnLst/>
            <a:rect l="l" t="t" r="r" b="b"/>
            <a:pathLst>
              <a:path w="37149" h="62346" extrusionOk="0">
                <a:moveTo>
                  <a:pt x="19454" y="0"/>
                </a:moveTo>
                <a:cubicBezTo>
                  <a:pt x="14988" y="0"/>
                  <a:pt x="12450" y="3116"/>
                  <a:pt x="10872" y="6624"/>
                </a:cubicBezTo>
                <a:cubicBezTo>
                  <a:pt x="8904" y="10915"/>
                  <a:pt x="7114" y="15286"/>
                  <a:pt x="5097" y="19560"/>
                </a:cubicBezTo>
                <a:cubicBezTo>
                  <a:pt x="3452" y="23012"/>
                  <a:pt x="1661" y="26464"/>
                  <a:pt x="839" y="30190"/>
                </a:cubicBezTo>
                <a:cubicBezTo>
                  <a:pt x="0" y="33917"/>
                  <a:pt x="1032" y="36723"/>
                  <a:pt x="2726" y="40191"/>
                </a:cubicBezTo>
                <a:cubicBezTo>
                  <a:pt x="4581" y="43982"/>
                  <a:pt x="6501" y="47756"/>
                  <a:pt x="8727" y="51386"/>
                </a:cubicBezTo>
                <a:cubicBezTo>
                  <a:pt x="10565" y="54370"/>
                  <a:pt x="12066" y="58209"/>
                  <a:pt x="14759" y="60693"/>
                </a:cubicBezTo>
                <a:cubicBezTo>
                  <a:pt x="16027" y="61854"/>
                  <a:pt x="17790" y="62345"/>
                  <a:pt x="19532" y="62345"/>
                </a:cubicBezTo>
                <a:cubicBezTo>
                  <a:pt x="20162" y="62345"/>
                  <a:pt x="20789" y="62281"/>
                  <a:pt x="21389" y="62161"/>
                </a:cubicBezTo>
                <a:cubicBezTo>
                  <a:pt x="24163" y="61612"/>
                  <a:pt x="24825" y="60467"/>
                  <a:pt x="25873" y="58322"/>
                </a:cubicBezTo>
                <a:cubicBezTo>
                  <a:pt x="28664" y="52660"/>
                  <a:pt x="31728" y="47111"/>
                  <a:pt x="34503" y="41433"/>
                </a:cubicBezTo>
                <a:cubicBezTo>
                  <a:pt x="35745" y="38869"/>
                  <a:pt x="37019" y="36223"/>
                  <a:pt x="37067" y="33384"/>
                </a:cubicBezTo>
                <a:cubicBezTo>
                  <a:pt x="37148" y="29077"/>
                  <a:pt x="35293" y="25593"/>
                  <a:pt x="33696" y="21690"/>
                </a:cubicBezTo>
                <a:cubicBezTo>
                  <a:pt x="32035" y="17560"/>
                  <a:pt x="30599" y="13415"/>
                  <a:pt x="28647" y="9366"/>
                </a:cubicBezTo>
                <a:cubicBezTo>
                  <a:pt x="26922" y="5801"/>
                  <a:pt x="25228" y="381"/>
                  <a:pt x="20179" y="27"/>
                </a:cubicBezTo>
                <a:cubicBezTo>
                  <a:pt x="19932" y="9"/>
                  <a:pt x="19690" y="0"/>
                  <a:pt x="194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15"/>
          <p:cNvGrpSpPr/>
          <p:nvPr/>
        </p:nvGrpSpPr>
        <p:grpSpPr>
          <a:xfrm>
            <a:off x="-373079" y="-1437575"/>
            <a:ext cx="10070905" cy="4909890"/>
            <a:chOff x="-373079" y="-1437575"/>
            <a:chExt cx="10070905" cy="4909890"/>
          </a:xfrm>
        </p:grpSpPr>
        <p:sp>
          <p:nvSpPr>
            <p:cNvPr id="114" name="Google Shape;114;p15"/>
            <p:cNvSpPr/>
            <p:nvPr/>
          </p:nvSpPr>
          <p:spPr>
            <a:xfrm rot="5400000">
              <a:off x="2207428" y="-4018082"/>
              <a:ext cx="4909890" cy="10070905"/>
            </a:xfrm>
            <a:custGeom>
              <a:avLst/>
              <a:gdLst/>
              <a:ahLst/>
              <a:cxnLst/>
              <a:rect l="l" t="t" r="r" b="b"/>
              <a:pathLst>
                <a:path w="37149" h="62346" extrusionOk="0">
                  <a:moveTo>
                    <a:pt x="19454" y="0"/>
                  </a:moveTo>
                  <a:cubicBezTo>
                    <a:pt x="14988" y="0"/>
                    <a:pt x="12450" y="3116"/>
                    <a:pt x="10872" y="6624"/>
                  </a:cubicBezTo>
                  <a:cubicBezTo>
                    <a:pt x="8904" y="10915"/>
                    <a:pt x="7114" y="15286"/>
                    <a:pt x="5097" y="19560"/>
                  </a:cubicBezTo>
                  <a:cubicBezTo>
                    <a:pt x="3452" y="23012"/>
                    <a:pt x="1661" y="26464"/>
                    <a:pt x="839" y="30190"/>
                  </a:cubicBezTo>
                  <a:cubicBezTo>
                    <a:pt x="0" y="33917"/>
                    <a:pt x="1032" y="36723"/>
                    <a:pt x="2726" y="40191"/>
                  </a:cubicBezTo>
                  <a:cubicBezTo>
                    <a:pt x="4581" y="43982"/>
                    <a:pt x="6501" y="47756"/>
                    <a:pt x="8727" y="51386"/>
                  </a:cubicBezTo>
                  <a:cubicBezTo>
                    <a:pt x="10565" y="54370"/>
                    <a:pt x="12066" y="58209"/>
                    <a:pt x="14759" y="60693"/>
                  </a:cubicBezTo>
                  <a:cubicBezTo>
                    <a:pt x="16027" y="61854"/>
                    <a:pt x="17790" y="62345"/>
                    <a:pt x="19532" y="62345"/>
                  </a:cubicBezTo>
                  <a:cubicBezTo>
                    <a:pt x="20162" y="62345"/>
                    <a:pt x="20789" y="62281"/>
                    <a:pt x="21389" y="62161"/>
                  </a:cubicBezTo>
                  <a:cubicBezTo>
                    <a:pt x="24163" y="61612"/>
                    <a:pt x="24825" y="60467"/>
                    <a:pt x="25873" y="58322"/>
                  </a:cubicBezTo>
                  <a:cubicBezTo>
                    <a:pt x="28664" y="52660"/>
                    <a:pt x="31728" y="47111"/>
                    <a:pt x="34503" y="41433"/>
                  </a:cubicBezTo>
                  <a:cubicBezTo>
                    <a:pt x="35745" y="38869"/>
                    <a:pt x="37019" y="36223"/>
                    <a:pt x="37067" y="33384"/>
                  </a:cubicBezTo>
                  <a:cubicBezTo>
                    <a:pt x="37148" y="29077"/>
                    <a:pt x="35293" y="25593"/>
                    <a:pt x="33696" y="21690"/>
                  </a:cubicBezTo>
                  <a:cubicBezTo>
                    <a:pt x="32035" y="17560"/>
                    <a:pt x="30599" y="13415"/>
                    <a:pt x="28647" y="9366"/>
                  </a:cubicBezTo>
                  <a:cubicBezTo>
                    <a:pt x="26922" y="5801"/>
                    <a:pt x="25228" y="381"/>
                    <a:pt x="20179" y="27"/>
                  </a:cubicBezTo>
                  <a:cubicBezTo>
                    <a:pt x="19932" y="9"/>
                    <a:pt x="19690" y="0"/>
                    <a:pt x="194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a:off x="-67500" y="-86900"/>
              <a:ext cx="9211500" cy="810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15"/>
          <p:cNvGrpSpPr/>
          <p:nvPr/>
        </p:nvGrpSpPr>
        <p:grpSpPr>
          <a:xfrm rot="3181939">
            <a:off x="-123326" y="2675293"/>
            <a:ext cx="821525" cy="1396244"/>
            <a:chOff x="7457711" y="2910223"/>
            <a:chExt cx="787685" cy="1338550"/>
          </a:xfrm>
        </p:grpSpPr>
        <p:sp>
          <p:nvSpPr>
            <p:cNvPr id="117" name="Google Shape;117;p15"/>
            <p:cNvSpPr/>
            <p:nvPr/>
          </p:nvSpPr>
          <p:spPr>
            <a:xfrm>
              <a:off x="7929918" y="3775415"/>
              <a:ext cx="150794" cy="119356"/>
            </a:xfrm>
            <a:custGeom>
              <a:avLst/>
              <a:gdLst/>
              <a:ahLst/>
              <a:cxnLst/>
              <a:rect l="l" t="t" r="r" b="b"/>
              <a:pathLst>
                <a:path w="5895" h="4666" extrusionOk="0">
                  <a:moveTo>
                    <a:pt x="2378" y="0"/>
                  </a:moveTo>
                  <a:cubicBezTo>
                    <a:pt x="864" y="0"/>
                    <a:pt x="223" y="1853"/>
                    <a:pt x="223" y="1853"/>
                  </a:cubicBezTo>
                  <a:cubicBezTo>
                    <a:pt x="0" y="3922"/>
                    <a:pt x="1731" y="4666"/>
                    <a:pt x="2951" y="4666"/>
                  </a:cubicBezTo>
                  <a:cubicBezTo>
                    <a:pt x="3309" y="4666"/>
                    <a:pt x="3623" y="4601"/>
                    <a:pt x="3831" y="4488"/>
                  </a:cubicBezTo>
                  <a:cubicBezTo>
                    <a:pt x="4747" y="3988"/>
                    <a:pt x="5894" y="1582"/>
                    <a:pt x="3540" y="326"/>
                  </a:cubicBezTo>
                  <a:cubicBezTo>
                    <a:pt x="3107" y="95"/>
                    <a:pt x="2720" y="0"/>
                    <a:pt x="23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a:off x="8045105" y="3417065"/>
              <a:ext cx="200291" cy="152227"/>
            </a:xfrm>
            <a:custGeom>
              <a:avLst/>
              <a:gdLst/>
              <a:ahLst/>
              <a:cxnLst/>
              <a:rect l="l" t="t" r="r" b="b"/>
              <a:pathLst>
                <a:path w="7830" h="5951" extrusionOk="0">
                  <a:moveTo>
                    <a:pt x="3807" y="0"/>
                  </a:moveTo>
                  <a:cubicBezTo>
                    <a:pt x="2416" y="0"/>
                    <a:pt x="1" y="1325"/>
                    <a:pt x="1054" y="4138"/>
                  </a:cubicBezTo>
                  <a:cubicBezTo>
                    <a:pt x="1590" y="5567"/>
                    <a:pt x="2555" y="5951"/>
                    <a:pt x="3438" y="5951"/>
                  </a:cubicBezTo>
                  <a:cubicBezTo>
                    <a:pt x="4464" y="5951"/>
                    <a:pt x="5378" y="5433"/>
                    <a:pt x="5378" y="5433"/>
                  </a:cubicBezTo>
                  <a:cubicBezTo>
                    <a:pt x="7829" y="3185"/>
                    <a:pt x="5440" y="322"/>
                    <a:pt x="4182" y="38"/>
                  </a:cubicBezTo>
                  <a:cubicBezTo>
                    <a:pt x="4070" y="13"/>
                    <a:pt x="3943" y="0"/>
                    <a:pt x="38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a:off x="7669053" y="3529284"/>
              <a:ext cx="165400" cy="126647"/>
            </a:xfrm>
            <a:custGeom>
              <a:avLst/>
              <a:gdLst/>
              <a:ahLst/>
              <a:cxnLst/>
              <a:rect l="l" t="t" r="r" b="b"/>
              <a:pathLst>
                <a:path w="6466" h="4951" extrusionOk="0">
                  <a:moveTo>
                    <a:pt x="3955" y="1"/>
                  </a:moveTo>
                  <a:cubicBezTo>
                    <a:pt x="3507" y="1"/>
                    <a:pt x="3006" y="134"/>
                    <a:pt x="2460" y="455"/>
                  </a:cubicBezTo>
                  <a:cubicBezTo>
                    <a:pt x="0" y="1906"/>
                    <a:pt x="2005" y="4339"/>
                    <a:pt x="2005" y="4339"/>
                  </a:cubicBezTo>
                  <a:cubicBezTo>
                    <a:pt x="2572" y="4775"/>
                    <a:pt x="3128" y="4951"/>
                    <a:pt x="3642" y="4951"/>
                  </a:cubicBezTo>
                  <a:cubicBezTo>
                    <a:pt x="5198" y="4951"/>
                    <a:pt x="6383" y="3348"/>
                    <a:pt x="6423" y="2509"/>
                  </a:cubicBezTo>
                  <a:cubicBezTo>
                    <a:pt x="6465" y="1640"/>
                    <a:pt x="5531" y="1"/>
                    <a:pt x="39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a:off x="7777512" y="4176561"/>
              <a:ext cx="94339" cy="72212"/>
            </a:xfrm>
            <a:custGeom>
              <a:avLst/>
              <a:gdLst/>
              <a:ahLst/>
              <a:cxnLst/>
              <a:rect l="l" t="t" r="r" b="b"/>
              <a:pathLst>
                <a:path w="3688" h="2823" extrusionOk="0">
                  <a:moveTo>
                    <a:pt x="2256" y="1"/>
                  </a:moveTo>
                  <a:cubicBezTo>
                    <a:pt x="2001" y="1"/>
                    <a:pt x="1715" y="77"/>
                    <a:pt x="1404" y="260"/>
                  </a:cubicBezTo>
                  <a:cubicBezTo>
                    <a:pt x="1" y="1087"/>
                    <a:pt x="1145" y="2473"/>
                    <a:pt x="1145" y="2473"/>
                  </a:cubicBezTo>
                  <a:cubicBezTo>
                    <a:pt x="1469" y="2723"/>
                    <a:pt x="1785" y="2823"/>
                    <a:pt x="2079" y="2823"/>
                  </a:cubicBezTo>
                  <a:cubicBezTo>
                    <a:pt x="2965" y="2823"/>
                    <a:pt x="3640" y="1909"/>
                    <a:pt x="3664" y="1431"/>
                  </a:cubicBezTo>
                  <a:cubicBezTo>
                    <a:pt x="3687" y="936"/>
                    <a:pt x="3155" y="1"/>
                    <a:pt x="22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p:cNvSpPr/>
            <p:nvPr/>
          </p:nvSpPr>
          <p:spPr>
            <a:xfrm>
              <a:off x="7872951" y="3030449"/>
              <a:ext cx="180620" cy="153147"/>
            </a:xfrm>
            <a:custGeom>
              <a:avLst/>
              <a:gdLst/>
              <a:ahLst/>
              <a:cxnLst/>
              <a:rect l="l" t="t" r="r" b="b"/>
              <a:pathLst>
                <a:path w="7061" h="5987" extrusionOk="0">
                  <a:moveTo>
                    <a:pt x="3803" y="1"/>
                  </a:moveTo>
                  <a:cubicBezTo>
                    <a:pt x="2805" y="1"/>
                    <a:pt x="1871" y="347"/>
                    <a:pt x="1467" y="765"/>
                  </a:cubicBezTo>
                  <a:cubicBezTo>
                    <a:pt x="506" y="1757"/>
                    <a:pt x="0" y="5245"/>
                    <a:pt x="3466" y="5910"/>
                  </a:cubicBezTo>
                  <a:cubicBezTo>
                    <a:pt x="3739" y="5962"/>
                    <a:pt x="3991" y="5986"/>
                    <a:pt x="4224" y="5986"/>
                  </a:cubicBezTo>
                  <a:cubicBezTo>
                    <a:pt x="6952" y="5986"/>
                    <a:pt x="7060" y="2679"/>
                    <a:pt x="7060" y="2679"/>
                  </a:cubicBezTo>
                  <a:cubicBezTo>
                    <a:pt x="6664" y="655"/>
                    <a:pt x="5174" y="1"/>
                    <a:pt x="3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p:nvPr/>
          </p:nvSpPr>
          <p:spPr>
            <a:xfrm>
              <a:off x="7457711" y="2910223"/>
              <a:ext cx="180672" cy="153122"/>
            </a:xfrm>
            <a:custGeom>
              <a:avLst/>
              <a:gdLst/>
              <a:ahLst/>
              <a:cxnLst/>
              <a:rect l="l" t="t" r="r" b="b"/>
              <a:pathLst>
                <a:path w="7063" h="5986" extrusionOk="0">
                  <a:moveTo>
                    <a:pt x="3804" y="1"/>
                  </a:moveTo>
                  <a:cubicBezTo>
                    <a:pt x="2807" y="1"/>
                    <a:pt x="1874" y="347"/>
                    <a:pt x="1469" y="764"/>
                  </a:cubicBezTo>
                  <a:cubicBezTo>
                    <a:pt x="508" y="1756"/>
                    <a:pt x="1" y="5246"/>
                    <a:pt x="3469" y="5909"/>
                  </a:cubicBezTo>
                  <a:cubicBezTo>
                    <a:pt x="3741" y="5962"/>
                    <a:pt x="3993" y="5986"/>
                    <a:pt x="4226" y="5986"/>
                  </a:cubicBezTo>
                  <a:cubicBezTo>
                    <a:pt x="6954" y="5986"/>
                    <a:pt x="7063" y="2679"/>
                    <a:pt x="7063" y="2679"/>
                  </a:cubicBezTo>
                  <a:cubicBezTo>
                    <a:pt x="6665" y="655"/>
                    <a:pt x="5174" y="1"/>
                    <a:pt x="38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123;p15"/>
          <p:cNvGrpSpPr/>
          <p:nvPr/>
        </p:nvGrpSpPr>
        <p:grpSpPr>
          <a:xfrm rot="5400000">
            <a:off x="7145157" y="28108"/>
            <a:ext cx="1854709" cy="1798480"/>
            <a:chOff x="898615" y="160398"/>
            <a:chExt cx="1778245" cy="1724169"/>
          </a:xfrm>
        </p:grpSpPr>
        <p:sp>
          <p:nvSpPr>
            <p:cNvPr id="124" name="Google Shape;124;p15"/>
            <p:cNvSpPr/>
            <p:nvPr/>
          </p:nvSpPr>
          <p:spPr>
            <a:xfrm>
              <a:off x="898615" y="1384094"/>
              <a:ext cx="170823" cy="129870"/>
            </a:xfrm>
            <a:custGeom>
              <a:avLst/>
              <a:gdLst/>
              <a:ahLst/>
              <a:cxnLst/>
              <a:rect l="l" t="t" r="r" b="b"/>
              <a:pathLst>
                <a:path w="6678" h="5077" extrusionOk="0">
                  <a:moveTo>
                    <a:pt x="3033" y="1"/>
                  </a:moveTo>
                  <a:cubicBezTo>
                    <a:pt x="1554" y="1"/>
                    <a:pt x="294" y="1376"/>
                    <a:pt x="159" y="2182"/>
                  </a:cubicBezTo>
                  <a:cubicBezTo>
                    <a:pt x="1" y="3120"/>
                    <a:pt x="856" y="5076"/>
                    <a:pt x="2672" y="5076"/>
                  </a:cubicBezTo>
                  <a:cubicBezTo>
                    <a:pt x="3062" y="5076"/>
                    <a:pt x="3496" y="4986"/>
                    <a:pt x="3975" y="4775"/>
                  </a:cubicBezTo>
                  <a:cubicBezTo>
                    <a:pt x="6677" y="3588"/>
                    <a:pt x="4918" y="846"/>
                    <a:pt x="4918" y="846"/>
                  </a:cubicBezTo>
                  <a:cubicBezTo>
                    <a:pt x="4295" y="237"/>
                    <a:pt x="3645" y="1"/>
                    <a:pt x="30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a:off x="1087191" y="1724666"/>
              <a:ext cx="193436" cy="159901"/>
            </a:xfrm>
            <a:custGeom>
              <a:avLst/>
              <a:gdLst/>
              <a:ahLst/>
              <a:cxnLst/>
              <a:rect l="l" t="t" r="r" b="b"/>
              <a:pathLst>
                <a:path w="7562" h="6251" extrusionOk="0">
                  <a:moveTo>
                    <a:pt x="2936" y="0"/>
                  </a:moveTo>
                  <a:cubicBezTo>
                    <a:pt x="469" y="0"/>
                    <a:pt x="0" y="3070"/>
                    <a:pt x="0" y="3070"/>
                  </a:cubicBezTo>
                  <a:cubicBezTo>
                    <a:pt x="180" y="5472"/>
                    <a:pt x="2006" y="6251"/>
                    <a:pt x="3558" y="6251"/>
                  </a:cubicBezTo>
                  <a:cubicBezTo>
                    <a:pt x="4379" y="6251"/>
                    <a:pt x="5123" y="6033"/>
                    <a:pt x="5507" y="5721"/>
                  </a:cubicBezTo>
                  <a:cubicBezTo>
                    <a:pt x="6615" y="4821"/>
                    <a:pt x="7561" y="1303"/>
                    <a:pt x="4085" y="195"/>
                  </a:cubicBezTo>
                  <a:cubicBezTo>
                    <a:pt x="3661" y="60"/>
                    <a:pt x="3279" y="0"/>
                    <a:pt x="29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a:off x="1500769" y="510384"/>
              <a:ext cx="163200" cy="137339"/>
            </a:xfrm>
            <a:custGeom>
              <a:avLst/>
              <a:gdLst/>
              <a:ahLst/>
              <a:cxnLst/>
              <a:rect l="l" t="t" r="r" b="b"/>
              <a:pathLst>
                <a:path w="6380" h="5369" extrusionOk="0">
                  <a:moveTo>
                    <a:pt x="3425" y="0"/>
                  </a:moveTo>
                  <a:cubicBezTo>
                    <a:pt x="2572" y="0"/>
                    <a:pt x="1778" y="279"/>
                    <a:pt x="1421" y="629"/>
                  </a:cubicBezTo>
                  <a:cubicBezTo>
                    <a:pt x="536" y="1495"/>
                    <a:pt x="0" y="4605"/>
                    <a:pt x="3087" y="5281"/>
                  </a:cubicBezTo>
                  <a:cubicBezTo>
                    <a:pt x="3360" y="5341"/>
                    <a:pt x="3612" y="5369"/>
                    <a:pt x="3842" y="5369"/>
                  </a:cubicBezTo>
                  <a:cubicBezTo>
                    <a:pt x="6208" y="5369"/>
                    <a:pt x="6380" y="2476"/>
                    <a:pt x="6380" y="2476"/>
                  </a:cubicBezTo>
                  <a:cubicBezTo>
                    <a:pt x="6064" y="604"/>
                    <a:pt x="4680" y="0"/>
                    <a:pt x="34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a:off x="2053271" y="196620"/>
              <a:ext cx="93034" cy="78326"/>
            </a:xfrm>
            <a:custGeom>
              <a:avLst/>
              <a:gdLst/>
              <a:ahLst/>
              <a:cxnLst/>
              <a:rect l="l" t="t" r="r" b="b"/>
              <a:pathLst>
                <a:path w="3637" h="3062" extrusionOk="0">
                  <a:moveTo>
                    <a:pt x="1952" y="1"/>
                  </a:moveTo>
                  <a:cubicBezTo>
                    <a:pt x="1466" y="1"/>
                    <a:pt x="1014" y="160"/>
                    <a:pt x="811" y="360"/>
                  </a:cubicBezTo>
                  <a:cubicBezTo>
                    <a:pt x="306" y="853"/>
                    <a:pt x="1" y="2627"/>
                    <a:pt x="1760" y="3012"/>
                  </a:cubicBezTo>
                  <a:cubicBezTo>
                    <a:pt x="1915" y="3046"/>
                    <a:pt x="2058" y="3062"/>
                    <a:pt x="2188" y="3062"/>
                  </a:cubicBezTo>
                  <a:cubicBezTo>
                    <a:pt x="3539" y="3062"/>
                    <a:pt x="3636" y="1412"/>
                    <a:pt x="3636" y="1412"/>
                  </a:cubicBezTo>
                  <a:cubicBezTo>
                    <a:pt x="3456" y="346"/>
                    <a:pt x="2668" y="1"/>
                    <a:pt x="19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a:off x="2428785" y="160398"/>
              <a:ext cx="248075" cy="181720"/>
            </a:xfrm>
            <a:custGeom>
              <a:avLst/>
              <a:gdLst/>
              <a:ahLst/>
              <a:cxnLst/>
              <a:rect l="l" t="t" r="r" b="b"/>
              <a:pathLst>
                <a:path w="9698" h="7104" extrusionOk="0">
                  <a:moveTo>
                    <a:pt x="4929" y="0"/>
                  </a:moveTo>
                  <a:cubicBezTo>
                    <a:pt x="3365" y="0"/>
                    <a:pt x="2042" y="1335"/>
                    <a:pt x="2042" y="1335"/>
                  </a:cubicBezTo>
                  <a:cubicBezTo>
                    <a:pt x="0" y="4634"/>
                    <a:pt x="3498" y="7104"/>
                    <a:pt x="5063" y="7104"/>
                  </a:cubicBezTo>
                  <a:cubicBezTo>
                    <a:pt x="5087" y="7104"/>
                    <a:pt x="5112" y="7103"/>
                    <a:pt x="5136" y="7102"/>
                  </a:cubicBezTo>
                  <a:cubicBezTo>
                    <a:pt x="6661" y="7020"/>
                    <a:pt x="9697" y="4573"/>
                    <a:pt x="7388" y="1424"/>
                  </a:cubicBezTo>
                  <a:cubicBezTo>
                    <a:pt x="6603" y="354"/>
                    <a:pt x="5734" y="0"/>
                    <a:pt x="49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p:cNvSpPr/>
            <p:nvPr/>
          </p:nvSpPr>
          <p:spPr>
            <a:xfrm>
              <a:off x="961261" y="746897"/>
              <a:ext cx="248100" cy="181746"/>
            </a:xfrm>
            <a:custGeom>
              <a:avLst/>
              <a:gdLst/>
              <a:ahLst/>
              <a:cxnLst/>
              <a:rect l="l" t="t" r="r" b="b"/>
              <a:pathLst>
                <a:path w="9699" h="7105" extrusionOk="0">
                  <a:moveTo>
                    <a:pt x="4929" y="0"/>
                  </a:moveTo>
                  <a:cubicBezTo>
                    <a:pt x="3365" y="0"/>
                    <a:pt x="2042" y="1335"/>
                    <a:pt x="2042" y="1335"/>
                  </a:cubicBezTo>
                  <a:cubicBezTo>
                    <a:pt x="0" y="4634"/>
                    <a:pt x="3498" y="7104"/>
                    <a:pt x="5062" y="7104"/>
                  </a:cubicBezTo>
                  <a:cubicBezTo>
                    <a:pt x="5087" y="7104"/>
                    <a:pt x="5112" y="7104"/>
                    <a:pt x="5136" y="7102"/>
                  </a:cubicBezTo>
                  <a:cubicBezTo>
                    <a:pt x="6661" y="7022"/>
                    <a:pt x="9699" y="4575"/>
                    <a:pt x="7388" y="1424"/>
                  </a:cubicBezTo>
                  <a:cubicBezTo>
                    <a:pt x="6603" y="354"/>
                    <a:pt x="5734" y="0"/>
                    <a:pt x="49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 name="Google Shape;130;p15"/>
          <p:cNvSpPr txBox="1">
            <a:spLocks noGrp="1"/>
          </p:cNvSpPr>
          <p:nvPr>
            <p:ph type="title"/>
          </p:nvPr>
        </p:nvSpPr>
        <p:spPr>
          <a:xfrm>
            <a:off x="1270050" y="862425"/>
            <a:ext cx="6603900" cy="95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131" name="Google Shape;131;p15"/>
          <p:cNvSpPr txBox="1">
            <a:spLocks noGrp="1"/>
          </p:cNvSpPr>
          <p:nvPr>
            <p:ph type="subTitle" idx="1"/>
          </p:nvPr>
        </p:nvSpPr>
        <p:spPr>
          <a:xfrm>
            <a:off x="2294100" y="1922200"/>
            <a:ext cx="4555800" cy="7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2200"/>
              <a:buNone/>
              <a:defRPr sz="2200"/>
            </a:lvl2pPr>
            <a:lvl3pPr lvl="2" algn="ctr" rtl="0">
              <a:lnSpc>
                <a:spcPct val="100000"/>
              </a:lnSpc>
              <a:spcBef>
                <a:spcPts val="0"/>
              </a:spcBef>
              <a:spcAft>
                <a:spcPts val="0"/>
              </a:spcAft>
              <a:buSzPts val="2200"/>
              <a:buNone/>
              <a:defRPr sz="2200"/>
            </a:lvl3pPr>
            <a:lvl4pPr lvl="3" algn="ctr" rtl="0">
              <a:lnSpc>
                <a:spcPct val="100000"/>
              </a:lnSpc>
              <a:spcBef>
                <a:spcPts val="0"/>
              </a:spcBef>
              <a:spcAft>
                <a:spcPts val="0"/>
              </a:spcAft>
              <a:buSzPts val="2200"/>
              <a:buNone/>
              <a:defRPr sz="2200"/>
            </a:lvl4pPr>
            <a:lvl5pPr lvl="4" algn="ctr" rtl="0">
              <a:lnSpc>
                <a:spcPct val="100000"/>
              </a:lnSpc>
              <a:spcBef>
                <a:spcPts val="0"/>
              </a:spcBef>
              <a:spcAft>
                <a:spcPts val="0"/>
              </a:spcAft>
              <a:buSzPts val="2200"/>
              <a:buNone/>
              <a:defRPr sz="2200"/>
            </a:lvl5pPr>
            <a:lvl6pPr lvl="5" algn="ctr" rtl="0">
              <a:lnSpc>
                <a:spcPct val="100000"/>
              </a:lnSpc>
              <a:spcBef>
                <a:spcPts val="0"/>
              </a:spcBef>
              <a:spcAft>
                <a:spcPts val="0"/>
              </a:spcAft>
              <a:buSzPts val="2200"/>
              <a:buNone/>
              <a:defRPr sz="2200"/>
            </a:lvl6pPr>
            <a:lvl7pPr lvl="6" algn="ctr" rtl="0">
              <a:lnSpc>
                <a:spcPct val="100000"/>
              </a:lnSpc>
              <a:spcBef>
                <a:spcPts val="0"/>
              </a:spcBef>
              <a:spcAft>
                <a:spcPts val="0"/>
              </a:spcAft>
              <a:buSzPts val="2200"/>
              <a:buNone/>
              <a:defRPr sz="2200"/>
            </a:lvl7pPr>
            <a:lvl8pPr lvl="7" algn="ctr" rtl="0">
              <a:lnSpc>
                <a:spcPct val="100000"/>
              </a:lnSpc>
              <a:spcBef>
                <a:spcPts val="0"/>
              </a:spcBef>
              <a:spcAft>
                <a:spcPts val="0"/>
              </a:spcAft>
              <a:buSzPts val="2200"/>
              <a:buNone/>
              <a:defRPr sz="2200"/>
            </a:lvl8pPr>
            <a:lvl9pPr lvl="8" algn="ctr" rtl="0">
              <a:lnSpc>
                <a:spcPct val="100000"/>
              </a:lnSpc>
              <a:spcBef>
                <a:spcPts val="0"/>
              </a:spcBef>
              <a:spcAft>
                <a:spcPts val="0"/>
              </a:spcAft>
              <a:buSzPts val="2200"/>
              <a:buNone/>
              <a:defRPr sz="22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SECTION_HEADER_1_1">
    <p:bg>
      <p:bgPr>
        <a:solidFill>
          <a:schemeClr val="dk2"/>
        </a:solidFill>
        <a:effectLst/>
      </p:bgPr>
    </p:bg>
    <p:spTree>
      <p:nvGrpSpPr>
        <p:cNvPr id="1" name="Shape 132"/>
        <p:cNvGrpSpPr/>
        <p:nvPr/>
      </p:nvGrpSpPr>
      <p:grpSpPr>
        <a:xfrm>
          <a:off x="0" y="0"/>
          <a:ext cx="0" cy="0"/>
          <a:chOff x="0" y="0"/>
          <a:chExt cx="0" cy="0"/>
        </a:xfrm>
      </p:grpSpPr>
      <p:sp>
        <p:nvSpPr>
          <p:cNvPr id="133" name="Google Shape;133;p16"/>
          <p:cNvSpPr/>
          <p:nvPr/>
        </p:nvSpPr>
        <p:spPr>
          <a:xfrm>
            <a:off x="-61100" y="420675"/>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rgbClr val="FFFFFF">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6"/>
          <p:cNvSpPr/>
          <p:nvPr/>
        </p:nvSpPr>
        <p:spPr>
          <a:xfrm rot="10800000">
            <a:off x="-40683" y="-499488"/>
            <a:ext cx="9225360" cy="1661292"/>
          </a:xfrm>
          <a:custGeom>
            <a:avLst/>
            <a:gdLst/>
            <a:ahLst/>
            <a:cxnLst/>
            <a:rect l="l" t="t" r="r" b="b"/>
            <a:pathLst>
              <a:path w="173352" h="31576" extrusionOk="0">
                <a:moveTo>
                  <a:pt x="172297" y="0"/>
                </a:moveTo>
                <a:cubicBezTo>
                  <a:pt x="169062" y="0"/>
                  <a:pt x="165813" y="89"/>
                  <a:pt x="162581" y="299"/>
                </a:cubicBezTo>
                <a:cubicBezTo>
                  <a:pt x="155268" y="762"/>
                  <a:pt x="147997" y="1774"/>
                  <a:pt x="140831" y="3333"/>
                </a:cubicBezTo>
                <a:cubicBezTo>
                  <a:pt x="134023" y="4851"/>
                  <a:pt x="127490" y="7169"/>
                  <a:pt x="120956" y="9614"/>
                </a:cubicBezTo>
                <a:cubicBezTo>
                  <a:pt x="114422" y="12059"/>
                  <a:pt x="107868" y="14398"/>
                  <a:pt x="100976" y="15642"/>
                </a:cubicBezTo>
                <a:cubicBezTo>
                  <a:pt x="94604" y="16772"/>
                  <a:pt x="88089" y="17146"/>
                  <a:pt x="81595" y="17146"/>
                </a:cubicBezTo>
                <a:cubicBezTo>
                  <a:pt x="81065" y="17146"/>
                  <a:pt x="80535" y="17143"/>
                  <a:pt x="80005" y="17138"/>
                </a:cubicBezTo>
                <a:cubicBezTo>
                  <a:pt x="69188" y="17028"/>
                  <a:pt x="58383" y="16033"/>
                  <a:pt x="47572" y="16033"/>
                </a:cubicBezTo>
                <a:cubicBezTo>
                  <a:pt x="43933" y="16033"/>
                  <a:pt x="40293" y="16146"/>
                  <a:pt x="36652" y="16443"/>
                </a:cubicBezTo>
                <a:cubicBezTo>
                  <a:pt x="24175" y="17454"/>
                  <a:pt x="12288" y="21649"/>
                  <a:pt x="0" y="23693"/>
                </a:cubicBezTo>
                <a:lnTo>
                  <a:pt x="0" y="31575"/>
                </a:lnTo>
                <a:lnTo>
                  <a:pt x="173351" y="31575"/>
                </a:lnTo>
                <a:lnTo>
                  <a:pt x="173351" y="3"/>
                </a:lnTo>
                <a:cubicBezTo>
                  <a:pt x="173000" y="1"/>
                  <a:pt x="172648" y="0"/>
                  <a:pt x="172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txBox="1">
            <a:spLocks noGrp="1"/>
          </p:cNvSpPr>
          <p:nvPr>
            <p:ph type="title"/>
          </p:nvPr>
        </p:nvSpPr>
        <p:spPr>
          <a:xfrm>
            <a:off x="2982300" y="2998125"/>
            <a:ext cx="3179400" cy="60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36" name="Google Shape;136;p16"/>
          <p:cNvSpPr txBox="1">
            <a:spLocks noGrp="1"/>
          </p:cNvSpPr>
          <p:nvPr>
            <p:ph type="subTitle" idx="1"/>
          </p:nvPr>
        </p:nvSpPr>
        <p:spPr>
          <a:xfrm>
            <a:off x="1979100" y="1542675"/>
            <a:ext cx="5185800" cy="170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None/>
              <a:defRPr sz="2400"/>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Numbers">
  <p:cSld name="BIG_NUMBER_1">
    <p:bg>
      <p:bgPr>
        <a:solidFill>
          <a:schemeClr val="dk2"/>
        </a:solidFill>
        <a:effectLst/>
      </p:bgPr>
    </p:bg>
    <p:spTree>
      <p:nvGrpSpPr>
        <p:cNvPr id="1" name="Shape 184"/>
        <p:cNvGrpSpPr/>
        <p:nvPr/>
      </p:nvGrpSpPr>
      <p:grpSpPr>
        <a:xfrm>
          <a:off x="0" y="0"/>
          <a:ext cx="0" cy="0"/>
          <a:chOff x="0" y="0"/>
          <a:chExt cx="0" cy="0"/>
        </a:xfrm>
      </p:grpSpPr>
      <p:sp>
        <p:nvSpPr>
          <p:cNvPr id="185" name="Google Shape;185;p23"/>
          <p:cNvSpPr/>
          <p:nvPr/>
        </p:nvSpPr>
        <p:spPr>
          <a:xfrm flipH="1">
            <a:off x="-40675" y="439632"/>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rgbClr val="FFFFFF">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3"/>
          <p:cNvSpPr txBox="1">
            <a:spLocks noGrp="1"/>
          </p:cNvSpPr>
          <p:nvPr>
            <p:ph type="title" hasCustomPrompt="1"/>
          </p:nvPr>
        </p:nvSpPr>
        <p:spPr>
          <a:xfrm>
            <a:off x="916950" y="637538"/>
            <a:ext cx="2233500" cy="782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7" name="Google Shape;187;p23"/>
          <p:cNvSpPr txBox="1">
            <a:spLocks noGrp="1"/>
          </p:cNvSpPr>
          <p:nvPr>
            <p:ph type="subTitle" idx="1"/>
          </p:nvPr>
        </p:nvSpPr>
        <p:spPr>
          <a:xfrm>
            <a:off x="916950" y="1332713"/>
            <a:ext cx="2233500" cy="59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8" name="Google Shape;188;p23"/>
          <p:cNvSpPr txBox="1">
            <a:spLocks noGrp="1"/>
          </p:cNvSpPr>
          <p:nvPr>
            <p:ph type="title" idx="2" hasCustomPrompt="1"/>
          </p:nvPr>
        </p:nvSpPr>
        <p:spPr>
          <a:xfrm>
            <a:off x="3455250" y="1927013"/>
            <a:ext cx="2233500" cy="782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9" name="Google Shape;189;p23"/>
          <p:cNvSpPr txBox="1">
            <a:spLocks noGrp="1"/>
          </p:cNvSpPr>
          <p:nvPr>
            <p:ph type="subTitle" idx="3"/>
          </p:nvPr>
        </p:nvSpPr>
        <p:spPr>
          <a:xfrm>
            <a:off x="3455250" y="2622188"/>
            <a:ext cx="2233500" cy="59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0" name="Google Shape;190;p23"/>
          <p:cNvSpPr txBox="1">
            <a:spLocks noGrp="1"/>
          </p:cNvSpPr>
          <p:nvPr>
            <p:ph type="title" idx="4" hasCustomPrompt="1"/>
          </p:nvPr>
        </p:nvSpPr>
        <p:spPr>
          <a:xfrm>
            <a:off x="5993550" y="3216488"/>
            <a:ext cx="2233500" cy="782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1" name="Google Shape;191;p23"/>
          <p:cNvSpPr txBox="1">
            <a:spLocks noGrp="1"/>
          </p:cNvSpPr>
          <p:nvPr>
            <p:ph type="subTitle" idx="5"/>
          </p:nvPr>
        </p:nvSpPr>
        <p:spPr>
          <a:xfrm>
            <a:off x="5993550" y="3911663"/>
            <a:ext cx="2233500" cy="59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2" name="Google Shape;192;p23"/>
          <p:cNvSpPr/>
          <p:nvPr/>
        </p:nvSpPr>
        <p:spPr>
          <a:xfrm flipH="1">
            <a:off x="-419185" y="2385949"/>
            <a:ext cx="7292485" cy="3864574"/>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TITLE_AND_BODY_1_1_1">
    <p:bg>
      <p:bgPr>
        <a:solidFill>
          <a:schemeClr val="dk2"/>
        </a:solidFill>
        <a:effectLst/>
      </p:bgPr>
    </p:bg>
    <p:spTree>
      <p:nvGrpSpPr>
        <p:cNvPr id="1" name="Shape 24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APTION_ONLY_1_1_1_1">
    <p:bg>
      <p:bgPr>
        <a:solidFill>
          <a:schemeClr val="dk2"/>
        </a:solidFill>
        <a:effectLst/>
      </p:bgPr>
    </p:bg>
    <p:spTree>
      <p:nvGrpSpPr>
        <p:cNvPr id="1" name="Shape 250"/>
        <p:cNvGrpSpPr/>
        <p:nvPr/>
      </p:nvGrpSpPr>
      <p:grpSpPr>
        <a:xfrm>
          <a:off x="0" y="0"/>
          <a:ext cx="0" cy="0"/>
          <a:chOff x="0" y="0"/>
          <a:chExt cx="0" cy="0"/>
        </a:xfrm>
      </p:grpSpPr>
      <p:sp>
        <p:nvSpPr>
          <p:cNvPr id="251" name="Google Shape;251;p33"/>
          <p:cNvSpPr/>
          <p:nvPr/>
        </p:nvSpPr>
        <p:spPr>
          <a:xfrm flipH="1">
            <a:off x="-49871" y="202182"/>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rgbClr val="FFFFFF">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3"/>
          <p:cNvSpPr/>
          <p:nvPr/>
        </p:nvSpPr>
        <p:spPr>
          <a:xfrm flipH="1">
            <a:off x="-40675" y="3547244"/>
            <a:ext cx="9225360" cy="1661292"/>
          </a:xfrm>
          <a:custGeom>
            <a:avLst/>
            <a:gdLst/>
            <a:ahLst/>
            <a:cxnLst/>
            <a:rect l="l" t="t" r="r" b="b"/>
            <a:pathLst>
              <a:path w="173352" h="31576" extrusionOk="0">
                <a:moveTo>
                  <a:pt x="172297" y="0"/>
                </a:moveTo>
                <a:cubicBezTo>
                  <a:pt x="169062" y="0"/>
                  <a:pt x="165813" y="89"/>
                  <a:pt x="162581" y="299"/>
                </a:cubicBezTo>
                <a:cubicBezTo>
                  <a:pt x="155268" y="762"/>
                  <a:pt x="147997" y="1774"/>
                  <a:pt x="140831" y="3333"/>
                </a:cubicBezTo>
                <a:cubicBezTo>
                  <a:pt x="134023" y="4851"/>
                  <a:pt x="127490" y="7169"/>
                  <a:pt x="120956" y="9614"/>
                </a:cubicBezTo>
                <a:cubicBezTo>
                  <a:pt x="114422" y="12059"/>
                  <a:pt x="107868" y="14398"/>
                  <a:pt x="100976" y="15642"/>
                </a:cubicBezTo>
                <a:cubicBezTo>
                  <a:pt x="94604" y="16772"/>
                  <a:pt x="88089" y="17146"/>
                  <a:pt x="81595" y="17146"/>
                </a:cubicBezTo>
                <a:cubicBezTo>
                  <a:pt x="81065" y="17146"/>
                  <a:pt x="80535" y="17143"/>
                  <a:pt x="80005" y="17138"/>
                </a:cubicBezTo>
                <a:cubicBezTo>
                  <a:pt x="69188" y="17028"/>
                  <a:pt x="58383" y="16033"/>
                  <a:pt x="47572" y="16033"/>
                </a:cubicBezTo>
                <a:cubicBezTo>
                  <a:pt x="43933" y="16033"/>
                  <a:pt x="40293" y="16146"/>
                  <a:pt x="36652" y="16443"/>
                </a:cubicBezTo>
                <a:cubicBezTo>
                  <a:pt x="24175" y="17454"/>
                  <a:pt x="12288" y="21649"/>
                  <a:pt x="0" y="23693"/>
                </a:cubicBezTo>
                <a:lnTo>
                  <a:pt x="0" y="31575"/>
                </a:lnTo>
                <a:lnTo>
                  <a:pt x="173351" y="31575"/>
                </a:lnTo>
                <a:lnTo>
                  <a:pt x="173351" y="3"/>
                </a:lnTo>
                <a:cubicBezTo>
                  <a:pt x="173000" y="1"/>
                  <a:pt x="172648" y="0"/>
                  <a:pt x="1722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BIG_NUMBER_1_1">
    <p:bg>
      <p:bgPr>
        <a:solidFill>
          <a:schemeClr val="dk2"/>
        </a:solidFill>
        <a:effectLst/>
      </p:bgPr>
    </p:bg>
    <p:spTree>
      <p:nvGrpSpPr>
        <p:cNvPr id="1" name="Shape 253"/>
        <p:cNvGrpSpPr/>
        <p:nvPr/>
      </p:nvGrpSpPr>
      <p:grpSpPr>
        <a:xfrm>
          <a:off x="0" y="0"/>
          <a:ext cx="0" cy="0"/>
          <a:chOff x="0" y="0"/>
          <a:chExt cx="0" cy="0"/>
        </a:xfrm>
      </p:grpSpPr>
      <p:sp>
        <p:nvSpPr>
          <p:cNvPr id="254" name="Google Shape;254;p34"/>
          <p:cNvSpPr/>
          <p:nvPr/>
        </p:nvSpPr>
        <p:spPr>
          <a:xfrm flipH="1">
            <a:off x="-40675" y="439632"/>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rgbClr val="FFFFFF">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4"/>
          <p:cNvSpPr/>
          <p:nvPr/>
        </p:nvSpPr>
        <p:spPr>
          <a:xfrm flipH="1">
            <a:off x="-419185" y="2385949"/>
            <a:ext cx="7292485" cy="3864574"/>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3">
  <p:cSld name="SECTION_HEADER_1_1_1">
    <p:bg>
      <p:bgPr>
        <a:solidFill>
          <a:schemeClr val="dk2"/>
        </a:solidFill>
        <a:effectLst/>
      </p:bgPr>
    </p:bg>
    <p:spTree>
      <p:nvGrpSpPr>
        <p:cNvPr id="1" name="Shape 256"/>
        <p:cNvGrpSpPr/>
        <p:nvPr/>
      </p:nvGrpSpPr>
      <p:grpSpPr>
        <a:xfrm>
          <a:off x="0" y="0"/>
          <a:ext cx="0" cy="0"/>
          <a:chOff x="0" y="0"/>
          <a:chExt cx="0" cy="0"/>
        </a:xfrm>
      </p:grpSpPr>
      <p:sp>
        <p:nvSpPr>
          <p:cNvPr id="257" name="Google Shape;257;p35"/>
          <p:cNvSpPr/>
          <p:nvPr/>
        </p:nvSpPr>
        <p:spPr>
          <a:xfrm>
            <a:off x="-61100" y="420675"/>
            <a:ext cx="9225360" cy="4703873"/>
          </a:xfrm>
          <a:custGeom>
            <a:avLst/>
            <a:gdLst/>
            <a:ahLst/>
            <a:cxnLst/>
            <a:rect l="l" t="t" r="r" b="b"/>
            <a:pathLst>
              <a:path w="173352" h="89406" extrusionOk="0">
                <a:moveTo>
                  <a:pt x="173352" y="0"/>
                </a:moveTo>
                <a:cubicBezTo>
                  <a:pt x="172572" y="169"/>
                  <a:pt x="171813" y="338"/>
                  <a:pt x="171033" y="527"/>
                </a:cubicBezTo>
                <a:cubicBezTo>
                  <a:pt x="152107" y="4974"/>
                  <a:pt x="134066" y="13152"/>
                  <a:pt x="119144" y="25734"/>
                </a:cubicBezTo>
                <a:cubicBezTo>
                  <a:pt x="111957" y="31783"/>
                  <a:pt x="105191" y="38464"/>
                  <a:pt x="97225" y="43544"/>
                </a:cubicBezTo>
                <a:cubicBezTo>
                  <a:pt x="89047" y="48749"/>
                  <a:pt x="79626" y="49550"/>
                  <a:pt x="70163" y="49803"/>
                </a:cubicBezTo>
                <a:cubicBezTo>
                  <a:pt x="60341" y="50035"/>
                  <a:pt x="50625" y="50688"/>
                  <a:pt x="41036" y="52880"/>
                </a:cubicBezTo>
                <a:cubicBezTo>
                  <a:pt x="31678" y="55009"/>
                  <a:pt x="22594" y="58423"/>
                  <a:pt x="14248" y="63208"/>
                </a:cubicBezTo>
                <a:cubicBezTo>
                  <a:pt x="9126" y="66179"/>
                  <a:pt x="4342" y="69720"/>
                  <a:pt x="0" y="73767"/>
                </a:cubicBezTo>
                <a:lnTo>
                  <a:pt x="0" y="89405"/>
                </a:lnTo>
                <a:lnTo>
                  <a:pt x="173352" y="89405"/>
                </a:lnTo>
                <a:lnTo>
                  <a:pt x="173352" y="0"/>
                </a:lnTo>
                <a:close/>
              </a:path>
            </a:pathLst>
          </a:custGeom>
          <a:solidFill>
            <a:srgbClr val="FFFFFF">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5"/>
          <p:cNvSpPr/>
          <p:nvPr/>
        </p:nvSpPr>
        <p:spPr>
          <a:xfrm rot="10800000">
            <a:off x="-40683" y="-499488"/>
            <a:ext cx="9225360" cy="1661292"/>
          </a:xfrm>
          <a:custGeom>
            <a:avLst/>
            <a:gdLst/>
            <a:ahLst/>
            <a:cxnLst/>
            <a:rect l="l" t="t" r="r" b="b"/>
            <a:pathLst>
              <a:path w="173352" h="31576" extrusionOk="0">
                <a:moveTo>
                  <a:pt x="172297" y="0"/>
                </a:moveTo>
                <a:cubicBezTo>
                  <a:pt x="169062" y="0"/>
                  <a:pt x="165813" y="89"/>
                  <a:pt x="162581" y="299"/>
                </a:cubicBezTo>
                <a:cubicBezTo>
                  <a:pt x="155268" y="762"/>
                  <a:pt x="147997" y="1774"/>
                  <a:pt x="140831" y="3333"/>
                </a:cubicBezTo>
                <a:cubicBezTo>
                  <a:pt x="134023" y="4851"/>
                  <a:pt x="127490" y="7169"/>
                  <a:pt x="120956" y="9614"/>
                </a:cubicBezTo>
                <a:cubicBezTo>
                  <a:pt x="114422" y="12059"/>
                  <a:pt x="107868" y="14398"/>
                  <a:pt x="100976" y="15642"/>
                </a:cubicBezTo>
                <a:cubicBezTo>
                  <a:pt x="94604" y="16772"/>
                  <a:pt x="88089" y="17146"/>
                  <a:pt x="81595" y="17146"/>
                </a:cubicBezTo>
                <a:cubicBezTo>
                  <a:pt x="81065" y="17146"/>
                  <a:pt x="80535" y="17143"/>
                  <a:pt x="80005" y="17138"/>
                </a:cubicBezTo>
                <a:cubicBezTo>
                  <a:pt x="69188" y="17028"/>
                  <a:pt x="58383" y="16033"/>
                  <a:pt x="47572" y="16033"/>
                </a:cubicBezTo>
                <a:cubicBezTo>
                  <a:pt x="43933" y="16033"/>
                  <a:pt x="40293" y="16146"/>
                  <a:pt x="36652" y="16443"/>
                </a:cubicBezTo>
                <a:cubicBezTo>
                  <a:pt x="24175" y="17454"/>
                  <a:pt x="12288" y="21649"/>
                  <a:pt x="0" y="23693"/>
                </a:cubicBezTo>
                <a:lnTo>
                  <a:pt x="0" y="31575"/>
                </a:lnTo>
                <a:lnTo>
                  <a:pt x="173351" y="31575"/>
                </a:lnTo>
                <a:lnTo>
                  <a:pt x="173351" y="3"/>
                </a:lnTo>
                <a:cubicBezTo>
                  <a:pt x="173000" y="1"/>
                  <a:pt x="172648" y="0"/>
                  <a:pt x="172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Architects Daughter"/>
              <a:buNone/>
              <a:defRPr sz="2800" b="1">
                <a:solidFill>
                  <a:schemeClr val="dk1"/>
                </a:solidFill>
                <a:latin typeface="Architects Daughter"/>
                <a:ea typeface="Architects Daughter"/>
                <a:cs typeface="Architects Daughter"/>
                <a:sym typeface="Architects Daughter"/>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Catamaran"/>
              <a:buChar char="●"/>
              <a:defRPr sz="1800">
                <a:solidFill>
                  <a:schemeClr val="dk1"/>
                </a:solidFill>
                <a:latin typeface="Catamaran"/>
                <a:ea typeface="Catamaran"/>
                <a:cs typeface="Catamaran"/>
                <a:sym typeface="Catamaran"/>
              </a:defRPr>
            </a:lvl1pPr>
            <a:lvl2pPr marL="914400" lvl="1" indent="-317500">
              <a:lnSpc>
                <a:spcPct val="100000"/>
              </a:lnSpc>
              <a:spcBef>
                <a:spcPts val="1600"/>
              </a:spcBef>
              <a:spcAft>
                <a:spcPts val="0"/>
              </a:spcAft>
              <a:buClr>
                <a:schemeClr val="dk1"/>
              </a:buClr>
              <a:buSzPts val="1400"/>
              <a:buFont typeface="Catamaran"/>
              <a:buChar char="○"/>
              <a:defRPr>
                <a:solidFill>
                  <a:schemeClr val="dk1"/>
                </a:solidFill>
                <a:latin typeface="Catamaran"/>
                <a:ea typeface="Catamaran"/>
                <a:cs typeface="Catamaran"/>
                <a:sym typeface="Catamaran"/>
              </a:defRPr>
            </a:lvl2pPr>
            <a:lvl3pPr marL="1371600" lvl="2" indent="-317500">
              <a:lnSpc>
                <a:spcPct val="100000"/>
              </a:lnSpc>
              <a:spcBef>
                <a:spcPts val="1600"/>
              </a:spcBef>
              <a:spcAft>
                <a:spcPts val="0"/>
              </a:spcAft>
              <a:buClr>
                <a:schemeClr val="dk1"/>
              </a:buClr>
              <a:buSzPts val="1400"/>
              <a:buFont typeface="Catamaran"/>
              <a:buChar char="■"/>
              <a:defRPr>
                <a:solidFill>
                  <a:schemeClr val="dk1"/>
                </a:solidFill>
                <a:latin typeface="Catamaran"/>
                <a:ea typeface="Catamaran"/>
                <a:cs typeface="Catamaran"/>
                <a:sym typeface="Catamaran"/>
              </a:defRPr>
            </a:lvl3pPr>
            <a:lvl4pPr marL="1828800" lvl="3" indent="-317500">
              <a:lnSpc>
                <a:spcPct val="100000"/>
              </a:lnSpc>
              <a:spcBef>
                <a:spcPts val="1600"/>
              </a:spcBef>
              <a:spcAft>
                <a:spcPts val="0"/>
              </a:spcAft>
              <a:buClr>
                <a:schemeClr val="dk1"/>
              </a:buClr>
              <a:buSzPts val="1400"/>
              <a:buFont typeface="Catamaran"/>
              <a:buChar char="●"/>
              <a:defRPr>
                <a:solidFill>
                  <a:schemeClr val="dk1"/>
                </a:solidFill>
                <a:latin typeface="Catamaran"/>
                <a:ea typeface="Catamaran"/>
                <a:cs typeface="Catamaran"/>
                <a:sym typeface="Catamaran"/>
              </a:defRPr>
            </a:lvl4pPr>
            <a:lvl5pPr marL="2286000" lvl="4" indent="-317500">
              <a:lnSpc>
                <a:spcPct val="100000"/>
              </a:lnSpc>
              <a:spcBef>
                <a:spcPts val="1600"/>
              </a:spcBef>
              <a:spcAft>
                <a:spcPts val="0"/>
              </a:spcAft>
              <a:buClr>
                <a:schemeClr val="dk1"/>
              </a:buClr>
              <a:buSzPts val="1400"/>
              <a:buFont typeface="Catamaran"/>
              <a:buChar char="○"/>
              <a:defRPr>
                <a:solidFill>
                  <a:schemeClr val="dk1"/>
                </a:solidFill>
                <a:latin typeface="Catamaran"/>
                <a:ea typeface="Catamaran"/>
                <a:cs typeface="Catamaran"/>
                <a:sym typeface="Catamaran"/>
              </a:defRPr>
            </a:lvl5pPr>
            <a:lvl6pPr marL="2743200" lvl="5" indent="-317500">
              <a:lnSpc>
                <a:spcPct val="100000"/>
              </a:lnSpc>
              <a:spcBef>
                <a:spcPts val="1600"/>
              </a:spcBef>
              <a:spcAft>
                <a:spcPts val="0"/>
              </a:spcAft>
              <a:buClr>
                <a:schemeClr val="dk1"/>
              </a:buClr>
              <a:buSzPts val="1400"/>
              <a:buFont typeface="Catamaran"/>
              <a:buChar char="■"/>
              <a:defRPr>
                <a:solidFill>
                  <a:schemeClr val="dk1"/>
                </a:solidFill>
                <a:latin typeface="Catamaran"/>
                <a:ea typeface="Catamaran"/>
                <a:cs typeface="Catamaran"/>
                <a:sym typeface="Catamaran"/>
              </a:defRPr>
            </a:lvl6pPr>
            <a:lvl7pPr marL="3200400" lvl="6" indent="-317500">
              <a:lnSpc>
                <a:spcPct val="100000"/>
              </a:lnSpc>
              <a:spcBef>
                <a:spcPts val="1600"/>
              </a:spcBef>
              <a:spcAft>
                <a:spcPts val="0"/>
              </a:spcAft>
              <a:buClr>
                <a:schemeClr val="dk1"/>
              </a:buClr>
              <a:buSzPts val="1400"/>
              <a:buFont typeface="Catamaran"/>
              <a:buChar char="●"/>
              <a:defRPr>
                <a:solidFill>
                  <a:schemeClr val="dk1"/>
                </a:solidFill>
                <a:latin typeface="Catamaran"/>
                <a:ea typeface="Catamaran"/>
                <a:cs typeface="Catamaran"/>
                <a:sym typeface="Catamaran"/>
              </a:defRPr>
            </a:lvl7pPr>
            <a:lvl8pPr marL="3657600" lvl="7" indent="-317500">
              <a:lnSpc>
                <a:spcPct val="100000"/>
              </a:lnSpc>
              <a:spcBef>
                <a:spcPts val="1600"/>
              </a:spcBef>
              <a:spcAft>
                <a:spcPts val="0"/>
              </a:spcAft>
              <a:buClr>
                <a:schemeClr val="dk1"/>
              </a:buClr>
              <a:buSzPts val="1400"/>
              <a:buFont typeface="Catamaran"/>
              <a:buChar char="○"/>
              <a:defRPr>
                <a:solidFill>
                  <a:schemeClr val="dk1"/>
                </a:solidFill>
                <a:latin typeface="Catamaran"/>
                <a:ea typeface="Catamaran"/>
                <a:cs typeface="Catamaran"/>
                <a:sym typeface="Catamaran"/>
              </a:defRPr>
            </a:lvl8pPr>
            <a:lvl9pPr marL="4114800" lvl="8" indent="-317500">
              <a:lnSpc>
                <a:spcPct val="100000"/>
              </a:lnSpc>
              <a:spcBef>
                <a:spcPts val="1600"/>
              </a:spcBef>
              <a:spcAft>
                <a:spcPts val="1600"/>
              </a:spcAft>
              <a:buClr>
                <a:schemeClr val="dk1"/>
              </a:buClr>
              <a:buSzPts val="1400"/>
              <a:buFont typeface="Catamaran"/>
              <a:buChar char="■"/>
              <a:defRPr>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4" r:id="rId4"/>
    <p:sldLayoutId id="2147483655" r:id="rId5"/>
    <p:sldLayoutId id="2147483656" r:id="rId6"/>
    <p:sldLayoutId id="2147483658" r:id="rId7"/>
    <p:sldLayoutId id="2147483659" r:id="rId8"/>
    <p:sldLayoutId id="2147483660" r:id="rId9"/>
    <p:sldLayoutId id="2147483661" r:id="rId10"/>
    <p:sldLayoutId id="2147483662" r:id="rId11"/>
    <p:sldLayoutId id="2147483669" r:id="rId12"/>
    <p:sldLayoutId id="2147483678" r:id="rId13"/>
    <p:sldLayoutId id="2147483679" r:id="rId14"/>
    <p:sldLayoutId id="2147483680" r:id="rId15"/>
    <p:sldLayoutId id="2147483681"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eeexplore.ieee.org/xpl/conhome/7840067/proceedin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grpSp>
        <p:nvGrpSpPr>
          <p:cNvPr id="267" name="Google Shape;267;p38"/>
          <p:cNvGrpSpPr/>
          <p:nvPr/>
        </p:nvGrpSpPr>
        <p:grpSpPr>
          <a:xfrm>
            <a:off x="1773838" y="502800"/>
            <a:ext cx="5495250" cy="4072498"/>
            <a:chOff x="1773838" y="502800"/>
            <a:chExt cx="5495250" cy="4072498"/>
          </a:xfrm>
        </p:grpSpPr>
        <p:sp>
          <p:nvSpPr>
            <p:cNvPr id="268" name="Google Shape;268;p38"/>
            <p:cNvSpPr/>
            <p:nvPr/>
          </p:nvSpPr>
          <p:spPr>
            <a:xfrm rot="5400000">
              <a:off x="2467376" y="-190739"/>
              <a:ext cx="4007098" cy="5394175"/>
            </a:xfrm>
            <a:custGeom>
              <a:avLst/>
              <a:gdLst/>
              <a:ahLst/>
              <a:cxnLst/>
              <a:rect l="l" t="t" r="r" b="b"/>
              <a:pathLst>
                <a:path w="34278" h="51389" extrusionOk="0">
                  <a:moveTo>
                    <a:pt x="19761" y="1"/>
                  </a:moveTo>
                  <a:cubicBezTo>
                    <a:pt x="16740" y="1"/>
                    <a:pt x="13720" y="151"/>
                    <a:pt x="10711" y="433"/>
                  </a:cubicBezTo>
                  <a:cubicBezTo>
                    <a:pt x="7743" y="724"/>
                    <a:pt x="5017" y="1192"/>
                    <a:pt x="3065" y="3724"/>
                  </a:cubicBezTo>
                  <a:cubicBezTo>
                    <a:pt x="1049" y="6337"/>
                    <a:pt x="1339" y="9983"/>
                    <a:pt x="1533" y="13289"/>
                  </a:cubicBezTo>
                  <a:cubicBezTo>
                    <a:pt x="2033" y="21774"/>
                    <a:pt x="1242" y="30291"/>
                    <a:pt x="388" y="38759"/>
                  </a:cubicBezTo>
                  <a:cubicBezTo>
                    <a:pt x="194" y="40679"/>
                    <a:pt x="0" y="42647"/>
                    <a:pt x="549" y="44486"/>
                  </a:cubicBezTo>
                  <a:cubicBezTo>
                    <a:pt x="2146" y="49825"/>
                    <a:pt x="8146" y="50631"/>
                    <a:pt x="12905" y="51131"/>
                  </a:cubicBezTo>
                  <a:cubicBezTo>
                    <a:pt x="14251" y="51278"/>
                    <a:pt x="15907" y="51389"/>
                    <a:pt x="17690" y="51389"/>
                  </a:cubicBezTo>
                  <a:cubicBezTo>
                    <a:pt x="23724" y="51389"/>
                    <a:pt x="31218" y="50126"/>
                    <a:pt x="33148" y="44760"/>
                  </a:cubicBezTo>
                  <a:cubicBezTo>
                    <a:pt x="34197" y="41824"/>
                    <a:pt x="34277" y="38630"/>
                    <a:pt x="34068" y="35501"/>
                  </a:cubicBezTo>
                  <a:cubicBezTo>
                    <a:pt x="33487" y="26629"/>
                    <a:pt x="32793" y="17596"/>
                    <a:pt x="31132" y="8837"/>
                  </a:cubicBezTo>
                  <a:cubicBezTo>
                    <a:pt x="30471" y="5321"/>
                    <a:pt x="29600" y="1788"/>
                    <a:pt x="25744" y="514"/>
                  </a:cubicBezTo>
                  <a:cubicBezTo>
                    <a:pt x="24567" y="127"/>
                    <a:pt x="23309" y="62"/>
                    <a:pt x="22067" y="30"/>
                  </a:cubicBezTo>
                  <a:cubicBezTo>
                    <a:pt x="21298" y="11"/>
                    <a:pt x="20530" y="1"/>
                    <a:pt x="197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8"/>
            <p:cNvSpPr/>
            <p:nvPr/>
          </p:nvSpPr>
          <p:spPr>
            <a:xfrm rot="5400000">
              <a:off x="2568451" y="-125339"/>
              <a:ext cx="4007098" cy="5394175"/>
            </a:xfrm>
            <a:custGeom>
              <a:avLst/>
              <a:gdLst/>
              <a:ahLst/>
              <a:cxnLst/>
              <a:rect l="l" t="t" r="r" b="b"/>
              <a:pathLst>
                <a:path w="34278" h="51389" extrusionOk="0">
                  <a:moveTo>
                    <a:pt x="19761" y="1"/>
                  </a:moveTo>
                  <a:cubicBezTo>
                    <a:pt x="16740" y="1"/>
                    <a:pt x="13720" y="151"/>
                    <a:pt x="10711" y="433"/>
                  </a:cubicBezTo>
                  <a:cubicBezTo>
                    <a:pt x="7743" y="724"/>
                    <a:pt x="5017" y="1192"/>
                    <a:pt x="3065" y="3724"/>
                  </a:cubicBezTo>
                  <a:cubicBezTo>
                    <a:pt x="1049" y="6337"/>
                    <a:pt x="1339" y="9983"/>
                    <a:pt x="1533" y="13289"/>
                  </a:cubicBezTo>
                  <a:cubicBezTo>
                    <a:pt x="2033" y="21774"/>
                    <a:pt x="1242" y="30291"/>
                    <a:pt x="388" y="38759"/>
                  </a:cubicBezTo>
                  <a:cubicBezTo>
                    <a:pt x="194" y="40679"/>
                    <a:pt x="0" y="42647"/>
                    <a:pt x="549" y="44486"/>
                  </a:cubicBezTo>
                  <a:cubicBezTo>
                    <a:pt x="2146" y="49825"/>
                    <a:pt x="8146" y="50631"/>
                    <a:pt x="12905" y="51131"/>
                  </a:cubicBezTo>
                  <a:cubicBezTo>
                    <a:pt x="14251" y="51278"/>
                    <a:pt x="15907" y="51389"/>
                    <a:pt x="17690" y="51389"/>
                  </a:cubicBezTo>
                  <a:cubicBezTo>
                    <a:pt x="23724" y="51389"/>
                    <a:pt x="31218" y="50126"/>
                    <a:pt x="33148" y="44760"/>
                  </a:cubicBezTo>
                  <a:cubicBezTo>
                    <a:pt x="34197" y="41824"/>
                    <a:pt x="34277" y="38630"/>
                    <a:pt x="34068" y="35501"/>
                  </a:cubicBezTo>
                  <a:cubicBezTo>
                    <a:pt x="33487" y="26629"/>
                    <a:pt x="32793" y="17596"/>
                    <a:pt x="31132" y="8837"/>
                  </a:cubicBezTo>
                  <a:cubicBezTo>
                    <a:pt x="30471" y="5321"/>
                    <a:pt x="29600" y="1788"/>
                    <a:pt x="25744" y="514"/>
                  </a:cubicBezTo>
                  <a:cubicBezTo>
                    <a:pt x="24567" y="127"/>
                    <a:pt x="23309" y="62"/>
                    <a:pt x="22067" y="30"/>
                  </a:cubicBezTo>
                  <a:cubicBezTo>
                    <a:pt x="21298" y="11"/>
                    <a:pt x="20530" y="1"/>
                    <a:pt x="197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38"/>
          <p:cNvSpPr txBox="1">
            <a:spLocks noGrp="1"/>
          </p:cNvSpPr>
          <p:nvPr>
            <p:ph type="ctrTitle"/>
          </p:nvPr>
        </p:nvSpPr>
        <p:spPr>
          <a:xfrm>
            <a:off x="1827170" y="1678810"/>
            <a:ext cx="5489660" cy="1255800"/>
          </a:xfrm>
          <a:prstGeom prst="rect">
            <a:avLst/>
          </a:prstGeom>
        </p:spPr>
        <p:txBody>
          <a:bodyPr spcFirstLastPara="1" wrap="square" lIns="91425" tIns="91425" rIns="91425" bIns="91425" anchor="b" anchorCtr="0">
            <a:noAutofit/>
          </a:bodyPr>
          <a:lstStyle/>
          <a:p>
            <a:r>
              <a:rPr lang="en-US" altLang="zh-TW" sz="2400" b="0" dirty="0">
                <a:latin typeface="+mj-lt"/>
              </a:rPr>
              <a:t>Performance Analysis of Joint Precoding and MUD</a:t>
            </a:r>
            <a:br>
              <a:rPr lang="en-US" altLang="zh-TW" sz="2400" b="0" dirty="0">
                <a:latin typeface="+mj-lt"/>
              </a:rPr>
            </a:br>
            <a:r>
              <a:rPr lang="en-US" altLang="zh-TW" sz="2400" b="0" dirty="0">
                <a:latin typeface="+mj-lt"/>
              </a:rPr>
              <a:t>Techniques in Multibeam Satellite Systems</a:t>
            </a:r>
            <a:endParaRPr sz="2400" dirty="0">
              <a:latin typeface="+mj-lt"/>
            </a:endParaRPr>
          </a:p>
        </p:txBody>
      </p:sp>
      <p:sp>
        <p:nvSpPr>
          <p:cNvPr id="271" name="Google Shape;271;p38"/>
          <p:cNvSpPr txBox="1">
            <a:spLocks noGrp="1"/>
          </p:cNvSpPr>
          <p:nvPr>
            <p:ph type="subTitle" idx="1"/>
          </p:nvPr>
        </p:nvSpPr>
        <p:spPr>
          <a:xfrm>
            <a:off x="2796596" y="3000010"/>
            <a:ext cx="3739983" cy="567167"/>
          </a:xfrm>
          <a:prstGeom prst="rect">
            <a:avLst/>
          </a:prstGeom>
        </p:spPr>
        <p:txBody>
          <a:bodyPr spcFirstLastPara="1" wrap="square" lIns="91425" tIns="91425" rIns="91425" bIns="91425" anchor="t" anchorCtr="0">
            <a:noAutofit/>
          </a:bodyPr>
          <a:lstStyle/>
          <a:p>
            <a:pPr marL="0" lvl="0" indent="0"/>
            <a:r>
              <a:rPr lang="en-US" altLang="zh-TW" sz="1200" dirty="0">
                <a:hlinkClick r:id="rId3"/>
              </a:rPr>
              <a:t>2016 IEEE Global Communications Conference (GLOBECOM)</a:t>
            </a:r>
            <a:endParaRPr lang="en-US" altLang="zh-TW" sz="1200" dirty="0"/>
          </a:p>
          <a:p>
            <a:pPr marL="0" lvl="0" indent="0"/>
            <a:endParaRPr lang="en-US" altLang="zh-TW" sz="1200" dirty="0"/>
          </a:p>
          <a:p>
            <a:pPr marL="0" lvl="0" indent="0"/>
            <a:r>
              <a:rPr lang="en-US" altLang="zh-TW" sz="900" dirty="0">
                <a:latin typeface="+mn-lt"/>
              </a:rPr>
              <a:t>Miguel A´ </a:t>
            </a:r>
            <a:r>
              <a:rPr lang="en-US" altLang="zh-TW" sz="900" dirty="0" err="1">
                <a:latin typeface="+mn-lt"/>
              </a:rPr>
              <a:t>ngel</a:t>
            </a:r>
            <a:r>
              <a:rPr lang="en-US" altLang="zh-TW" sz="900" dirty="0">
                <a:latin typeface="+mn-lt"/>
              </a:rPr>
              <a:t> </a:t>
            </a:r>
            <a:r>
              <a:rPr lang="en-US" altLang="zh-TW" sz="900" dirty="0" err="1">
                <a:latin typeface="+mn-lt"/>
              </a:rPr>
              <a:t>Va´zquez</a:t>
            </a:r>
            <a:r>
              <a:rPr lang="en-US" altLang="zh-TW" sz="900" dirty="0">
                <a:latin typeface="+mn-lt"/>
              </a:rPr>
              <a:t>★, </a:t>
            </a:r>
            <a:r>
              <a:rPr lang="en-US" altLang="zh-TW" sz="900" dirty="0" err="1">
                <a:latin typeface="+mn-lt"/>
              </a:rPr>
              <a:t>Ma`rius</a:t>
            </a:r>
            <a:r>
              <a:rPr lang="en-US" altLang="zh-TW" sz="900" dirty="0">
                <a:latin typeface="+mn-lt"/>
              </a:rPr>
              <a:t> </a:t>
            </a:r>
            <a:r>
              <a:rPr lang="en-US" altLang="zh-TW" sz="900" dirty="0" err="1">
                <a:latin typeface="+mn-lt"/>
              </a:rPr>
              <a:t>Caus</a:t>
            </a:r>
            <a:r>
              <a:rPr lang="en-US" altLang="zh-TW" sz="900" dirty="0">
                <a:latin typeface="+mn-lt"/>
              </a:rPr>
              <a:t>★, Ana </a:t>
            </a:r>
            <a:r>
              <a:rPr lang="en-US" altLang="zh-TW" sz="900" dirty="0" err="1">
                <a:latin typeface="+mn-lt"/>
              </a:rPr>
              <a:t>Pe´rez-Neira</a:t>
            </a:r>
            <a:r>
              <a:rPr lang="en-US" altLang="zh-TW" sz="900" dirty="0">
                <a:latin typeface="+mn-lt"/>
              </a:rPr>
              <a:t>★†</a:t>
            </a:r>
          </a:p>
          <a:p>
            <a:pPr marL="0" lvl="0" indent="0"/>
            <a:r>
              <a:rPr lang="en-US" altLang="zh-TW" sz="900" dirty="0">
                <a:latin typeface="+mn-lt"/>
              </a:rPr>
              <a:t>Centre </a:t>
            </a:r>
            <a:r>
              <a:rPr lang="en-US" altLang="zh-TW" sz="900" dirty="0" err="1">
                <a:latin typeface="+mn-lt"/>
              </a:rPr>
              <a:t>Tecnol`ogic</a:t>
            </a:r>
            <a:r>
              <a:rPr lang="en-US" altLang="zh-TW" sz="900" dirty="0">
                <a:latin typeface="+mn-lt"/>
              </a:rPr>
              <a:t> de </a:t>
            </a:r>
            <a:r>
              <a:rPr lang="en-US" altLang="zh-TW" sz="900" dirty="0" err="1">
                <a:latin typeface="+mn-lt"/>
              </a:rPr>
              <a:t>Telecomunicacions</a:t>
            </a:r>
            <a:r>
              <a:rPr lang="en-US" altLang="zh-TW" sz="900" dirty="0">
                <a:latin typeface="+mn-lt"/>
              </a:rPr>
              <a:t> de Catalunya (CTTC)</a:t>
            </a:r>
          </a:p>
          <a:p>
            <a:pPr marL="0" lvl="0" indent="0"/>
            <a:r>
              <a:rPr lang="en-US" altLang="zh-TW" sz="900" dirty="0">
                <a:latin typeface="+mn-lt"/>
              </a:rPr>
              <a:t>† Dept. of Signal Theory and Communications </a:t>
            </a:r>
            <a:r>
              <a:rPr lang="en-US" altLang="zh-TW" sz="900" dirty="0" err="1">
                <a:latin typeface="+mn-lt"/>
              </a:rPr>
              <a:t>Universitat</a:t>
            </a:r>
            <a:r>
              <a:rPr lang="en-US" altLang="zh-TW" sz="900" dirty="0">
                <a:latin typeface="+mn-lt"/>
              </a:rPr>
              <a:t> </a:t>
            </a:r>
            <a:r>
              <a:rPr lang="en-US" altLang="zh-TW" sz="900" dirty="0" err="1">
                <a:latin typeface="+mn-lt"/>
              </a:rPr>
              <a:t>Polit`ecnica</a:t>
            </a:r>
            <a:r>
              <a:rPr lang="en-US" altLang="zh-TW" sz="900" dirty="0">
                <a:latin typeface="+mn-lt"/>
              </a:rPr>
              <a:t> de Catalunya</a:t>
            </a:r>
          </a:p>
          <a:p>
            <a:pPr marL="0" lvl="0" indent="0"/>
            <a:endParaRPr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18"/>
        <p:cNvGrpSpPr/>
        <p:nvPr/>
      </p:nvGrpSpPr>
      <p:grpSpPr>
        <a:xfrm>
          <a:off x="0" y="0"/>
          <a:ext cx="0" cy="0"/>
          <a:chOff x="0" y="0"/>
          <a:chExt cx="0" cy="0"/>
        </a:xfrm>
      </p:grpSpPr>
      <p:sp>
        <p:nvSpPr>
          <p:cNvPr id="319" name="Google Shape;319;p42"/>
          <p:cNvSpPr txBox="1">
            <a:spLocks noGrp="1"/>
          </p:cNvSpPr>
          <p:nvPr>
            <p:ph type="title" idx="2"/>
          </p:nvPr>
        </p:nvSpPr>
        <p:spPr>
          <a:xfrm>
            <a:off x="641275" y="381075"/>
            <a:ext cx="2426700" cy="10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dirty="0"/>
              <a:t>Agenda</a:t>
            </a:r>
            <a:endParaRPr dirty="0"/>
          </a:p>
        </p:txBody>
      </p:sp>
      <p:sp>
        <p:nvSpPr>
          <p:cNvPr id="320" name="Google Shape;320;p42"/>
          <p:cNvSpPr txBox="1">
            <a:spLocks noGrp="1"/>
          </p:cNvSpPr>
          <p:nvPr>
            <p:ph type="title"/>
          </p:nvPr>
        </p:nvSpPr>
        <p:spPr>
          <a:xfrm>
            <a:off x="5584700" y="476875"/>
            <a:ext cx="2737200" cy="479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Introduction</a:t>
            </a:r>
            <a:endParaRPr dirty="0"/>
          </a:p>
        </p:txBody>
      </p:sp>
      <p:sp>
        <p:nvSpPr>
          <p:cNvPr id="322" name="Google Shape;322;p42"/>
          <p:cNvSpPr txBox="1">
            <a:spLocks noGrp="1"/>
          </p:cNvSpPr>
          <p:nvPr>
            <p:ph type="title" idx="3"/>
          </p:nvPr>
        </p:nvSpPr>
        <p:spPr>
          <a:xfrm>
            <a:off x="5584700" y="1332518"/>
            <a:ext cx="2737200" cy="479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System Model</a:t>
            </a:r>
            <a:endParaRPr dirty="0"/>
          </a:p>
        </p:txBody>
      </p:sp>
      <p:sp>
        <p:nvSpPr>
          <p:cNvPr id="324" name="Google Shape;324;p42"/>
          <p:cNvSpPr txBox="1">
            <a:spLocks noGrp="1"/>
          </p:cNvSpPr>
          <p:nvPr>
            <p:ph type="title" idx="5"/>
          </p:nvPr>
        </p:nvSpPr>
        <p:spPr>
          <a:xfrm>
            <a:off x="5584700" y="2173412"/>
            <a:ext cx="2737200" cy="479100"/>
          </a:xfrm>
          <a:prstGeom prst="rect">
            <a:avLst/>
          </a:prstGeom>
        </p:spPr>
        <p:txBody>
          <a:bodyPr spcFirstLastPara="1" wrap="square" lIns="91425" tIns="91425" rIns="91425" bIns="91425" anchor="b" anchorCtr="0">
            <a:noAutofit/>
          </a:bodyPr>
          <a:lstStyle/>
          <a:p>
            <a:pPr lvl="0"/>
            <a:r>
              <a:rPr lang="en-US" dirty="0"/>
              <a:t>PRECODING DESIGNS</a:t>
            </a:r>
            <a:endParaRPr dirty="0"/>
          </a:p>
        </p:txBody>
      </p:sp>
      <p:sp>
        <p:nvSpPr>
          <p:cNvPr id="326" name="Google Shape;326;p42"/>
          <p:cNvSpPr txBox="1">
            <a:spLocks noGrp="1"/>
          </p:cNvSpPr>
          <p:nvPr>
            <p:ph type="title" idx="7"/>
          </p:nvPr>
        </p:nvSpPr>
        <p:spPr>
          <a:xfrm>
            <a:off x="5584700" y="3014306"/>
            <a:ext cx="2737200" cy="479100"/>
          </a:xfrm>
          <a:prstGeom prst="rect">
            <a:avLst/>
          </a:prstGeom>
        </p:spPr>
        <p:txBody>
          <a:bodyPr spcFirstLastPara="1" wrap="square" lIns="91425" tIns="91425" rIns="91425" bIns="91425" anchor="b" anchorCtr="0">
            <a:noAutofit/>
          </a:bodyPr>
          <a:lstStyle/>
          <a:p>
            <a:pPr lvl="0"/>
            <a:r>
              <a:rPr lang="en-US" dirty="0"/>
              <a:t>CAPACITY ANALYSIS</a:t>
            </a:r>
            <a:endParaRPr dirty="0"/>
          </a:p>
        </p:txBody>
      </p:sp>
      <p:sp>
        <p:nvSpPr>
          <p:cNvPr id="328" name="Google Shape;328;p42"/>
          <p:cNvSpPr txBox="1">
            <a:spLocks noGrp="1"/>
          </p:cNvSpPr>
          <p:nvPr>
            <p:ph type="title" idx="9"/>
          </p:nvPr>
        </p:nvSpPr>
        <p:spPr>
          <a:xfrm>
            <a:off x="5584700" y="3855200"/>
            <a:ext cx="2737200" cy="479100"/>
          </a:xfrm>
          <a:prstGeom prst="rect">
            <a:avLst/>
          </a:prstGeom>
        </p:spPr>
        <p:txBody>
          <a:bodyPr spcFirstLastPara="1" wrap="square" lIns="91425" tIns="91425" rIns="91425" bIns="91425" anchor="b" anchorCtr="0">
            <a:noAutofit/>
          </a:bodyPr>
          <a:lstStyle/>
          <a:p>
            <a:pPr lvl="0"/>
            <a:r>
              <a:rPr lang="en-US" dirty="0"/>
              <a:t>NUMERICAL RESULTS</a:t>
            </a:r>
            <a:endParaRPr dirty="0"/>
          </a:p>
        </p:txBody>
      </p:sp>
      <p:sp>
        <p:nvSpPr>
          <p:cNvPr id="330" name="Google Shape;330;p42"/>
          <p:cNvSpPr/>
          <p:nvPr/>
        </p:nvSpPr>
        <p:spPr>
          <a:xfrm>
            <a:off x="4950550" y="716475"/>
            <a:ext cx="339300" cy="339300"/>
          </a:xfrm>
          <a:prstGeom prst="roundRect">
            <a:avLst>
              <a:gd name="adj" fmla="val 16667"/>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2"/>
          <p:cNvSpPr/>
          <p:nvPr/>
        </p:nvSpPr>
        <p:spPr>
          <a:xfrm>
            <a:off x="4950550" y="1561200"/>
            <a:ext cx="339300" cy="339300"/>
          </a:xfrm>
          <a:prstGeom prst="roundRect">
            <a:avLst>
              <a:gd name="adj" fmla="val 16667"/>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2"/>
          <p:cNvSpPr/>
          <p:nvPr/>
        </p:nvSpPr>
        <p:spPr>
          <a:xfrm>
            <a:off x="4950550" y="2409475"/>
            <a:ext cx="339300" cy="339300"/>
          </a:xfrm>
          <a:prstGeom prst="roundRect">
            <a:avLst>
              <a:gd name="adj" fmla="val 16667"/>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2"/>
          <p:cNvSpPr/>
          <p:nvPr/>
        </p:nvSpPr>
        <p:spPr>
          <a:xfrm>
            <a:off x="4950550" y="3250363"/>
            <a:ext cx="339300" cy="339300"/>
          </a:xfrm>
          <a:prstGeom prst="roundRect">
            <a:avLst>
              <a:gd name="adj" fmla="val 16667"/>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2"/>
          <p:cNvSpPr/>
          <p:nvPr/>
        </p:nvSpPr>
        <p:spPr>
          <a:xfrm>
            <a:off x="4950550" y="4091263"/>
            <a:ext cx="339300" cy="339300"/>
          </a:xfrm>
          <a:prstGeom prst="roundRect">
            <a:avLst>
              <a:gd name="adj" fmla="val 16667"/>
            </a:avLst>
          </a:prstGeom>
          <a:no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副標題 1"/>
          <p:cNvSpPr>
            <a:spLocks noGrp="1"/>
          </p:cNvSpPr>
          <p:nvPr>
            <p:ph type="subTitle" idx="1"/>
          </p:nvPr>
        </p:nvSpPr>
        <p:spPr/>
        <p:txBody>
          <a:bodyPr/>
          <a:lstStyle/>
          <a:p>
            <a:endParaRPr lang="zh-TW" altLang="en-US"/>
          </a:p>
        </p:txBody>
      </p:sp>
      <p:sp>
        <p:nvSpPr>
          <p:cNvPr id="3" name="副標題 2"/>
          <p:cNvSpPr>
            <a:spLocks noGrp="1"/>
          </p:cNvSpPr>
          <p:nvPr>
            <p:ph type="subTitle" idx="4"/>
          </p:nvPr>
        </p:nvSpPr>
        <p:spPr/>
        <p:txBody>
          <a:bodyPr/>
          <a:lstStyle/>
          <a:p>
            <a:endParaRPr lang="zh-TW" altLang="en-US"/>
          </a:p>
        </p:txBody>
      </p:sp>
      <p:sp>
        <p:nvSpPr>
          <p:cNvPr id="4" name="副標題 3"/>
          <p:cNvSpPr>
            <a:spLocks noGrp="1"/>
          </p:cNvSpPr>
          <p:nvPr>
            <p:ph type="subTitle" idx="6"/>
          </p:nvPr>
        </p:nvSpPr>
        <p:spPr/>
        <p:txBody>
          <a:bodyPr/>
          <a:lstStyle/>
          <a:p>
            <a:endParaRPr lang="zh-TW" altLang="en-US"/>
          </a:p>
        </p:txBody>
      </p:sp>
      <p:sp>
        <p:nvSpPr>
          <p:cNvPr id="5" name="副標題 4"/>
          <p:cNvSpPr>
            <a:spLocks noGrp="1"/>
          </p:cNvSpPr>
          <p:nvPr>
            <p:ph type="subTitle" idx="8"/>
          </p:nvPr>
        </p:nvSpPr>
        <p:spPr/>
        <p:txBody>
          <a:bodyPr/>
          <a:lstStyle/>
          <a:p>
            <a:endParaRPr lang="zh-TW" altLang="en-US"/>
          </a:p>
        </p:txBody>
      </p:sp>
      <p:sp>
        <p:nvSpPr>
          <p:cNvPr id="6" name="副標題 5"/>
          <p:cNvSpPr>
            <a:spLocks noGrp="1"/>
          </p:cNvSpPr>
          <p:nvPr>
            <p:ph type="subTitle" idx="13"/>
          </p:nvPr>
        </p:nvSpPr>
        <p:spPr/>
        <p:txBody>
          <a:bodyPr/>
          <a:lstStyle/>
          <a:p>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9"/>
          <p:cNvSpPr txBox="1">
            <a:spLocks noGrp="1"/>
          </p:cNvSpPr>
          <p:nvPr>
            <p:ph type="body" idx="1"/>
          </p:nvPr>
        </p:nvSpPr>
        <p:spPr>
          <a:xfrm>
            <a:off x="970800" y="1211525"/>
            <a:ext cx="7202400" cy="3228600"/>
          </a:xfrm>
          <a:prstGeom prst="rect">
            <a:avLst/>
          </a:prstGeom>
        </p:spPr>
        <p:txBody>
          <a:bodyPr spcFirstLastPara="1" wrap="square" lIns="91425" tIns="91425" rIns="91425" bIns="91425" anchor="t" anchorCtr="0">
            <a:noAutofit/>
          </a:bodyPr>
          <a:lstStyle/>
          <a:p>
            <a:pPr marL="0" lvl="0" indent="0">
              <a:buNone/>
            </a:pPr>
            <a:r>
              <a:rPr lang="en-US" sz="1250" dirty="0"/>
              <a:t>	Broadband ubiquitous connectivity is one of the key requirements of the fifth generation (5G) communications. Indeed, providing a large data rate (50 Mbit/s - 1 Gbit/s) everywhere and anytime is a very challenging feature. Under this context and considering the elevated capital expenditures for deploying backhaul networks in low populated areas, the use of the satellite component is becoming attractive as an essential backhaul element for 5G communications.</a:t>
            </a:r>
          </a:p>
          <a:p>
            <a:pPr marL="0" lvl="0" indent="0">
              <a:buNone/>
            </a:pPr>
            <a:endParaRPr lang="en-US" sz="1250" dirty="0"/>
          </a:p>
          <a:p>
            <a:pPr marL="0" lvl="0" indent="0">
              <a:buNone/>
            </a:pPr>
            <a:r>
              <a:rPr lang="en-US" sz="1250" dirty="0"/>
              <a:t>	Both academia and industry are investigating novel approaches to conceive satellite systems able to attend near a Terabit per second forward link capacity in order to serve a huge number of simultaneous users. As a matter of fact, this can only be done if the different beams that provide connectivity to the user terminals share all the available bandwidth.</a:t>
            </a:r>
          </a:p>
          <a:p>
            <a:pPr marL="0" lvl="0" indent="0">
              <a:buNone/>
            </a:pPr>
            <a:r>
              <a:rPr lang="en-US" sz="1250" dirty="0"/>
              <a:t>This aggressive frequency reuse scheme leads to a large increase of the inter-beam interference, making interference mitigation (IM) techniques mandatory.</a:t>
            </a:r>
            <a:endParaRPr sz="1250" dirty="0"/>
          </a:p>
        </p:txBody>
      </p:sp>
      <p:sp>
        <p:nvSpPr>
          <p:cNvPr id="277" name="Google Shape;277;p39"/>
          <p:cNvSpPr txBox="1">
            <a:spLocks noGrp="1"/>
          </p:cNvSpPr>
          <p:nvPr>
            <p:ph type="title"/>
          </p:nvPr>
        </p:nvSpPr>
        <p:spPr>
          <a:xfrm>
            <a:off x="514650" y="569302"/>
            <a:ext cx="8114700" cy="463200"/>
          </a:xfrm>
          <a:prstGeom prst="rect">
            <a:avLst/>
          </a:prstGeom>
        </p:spPr>
        <p:txBody>
          <a:bodyPr spcFirstLastPara="1" wrap="square" lIns="91425" tIns="91425" rIns="91425" bIns="91425" anchor="b" anchorCtr="0">
            <a:noAutofit/>
          </a:bodyPr>
          <a:lstStyle/>
          <a:p>
            <a:pPr lvl="0"/>
            <a:r>
              <a:rPr lang="en-US" dirty="0"/>
              <a:t>INTRODUCTION</a:t>
            </a: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76;p39">
            <a:extLst>
              <a:ext uri="{FF2B5EF4-FFF2-40B4-BE49-F238E27FC236}">
                <a16:creationId xmlns="" xmlns:a16="http://schemas.microsoft.com/office/drawing/2014/main" id="{263A533C-90A2-4D38-84E0-A51EB0A1CD9E}"/>
              </a:ext>
            </a:extLst>
          </p:cNvPr>
          <p:cNvSpPr txBox="1">
            <a:spLocks/>
          </p:cNvSpPr>
          <p:nvPr/>
        </p:nvSpPr>
        <p:spPr>
          <a:xfrm>
            <a:off x="970800" y="1634858"/>
            <a:ext cx="7202400" cy="3228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50" dirty="0"/>
              <a:t>	Inter-beam interference in the forward link can be mitigated</a:t>
            </a:r>
            <a:r>
              <a:rPr lang="zh-TW" altLang="en-US" sz="1250" dirty="0"/>
              <a:t> </a:t>
            </a:r>
            <a:r>
              <a:rPr lang="en-US" sz="1250" dirty="0"/>
              <a:t>either at the receiver or at the transmitter side. While receiver</a:t>
            </a:r>
            <a:r>
              <a:rPr lang="zh-TW" altLang="en-US" sz="1250" dirty="0"/>
              <a:t> </a:t>
            </a:r>
            <a:r>
              <a:rPr lang="en-US" sz="1250" dirty="0"/>
              <a:t>based (multiuser detection ) IM increases the complexity</a:t>
            </a:r>
          </a:p>
          <a:p>
            <a:r>
              <a:rPr lang="en-US" sz="1250" dirty="0"/>
              <a:t>and cost of the user terminal, </a:t>
            </a:r>
            <a:r>
              <a:rPr lang="en-US" sz="1250" dirty="0" err="1"/>
              <a:t>trasmitter</a:t>
            </a:r>
            <a:r>
              <a:rPr lang="en-US" sz="1250" dirty="0"/>
              <a:t> based (precoding)</a:t>
            </a:r>
            <a:r>
              <a:rPr lang="zh-TW" altLang="en-US" sz="1250" dirty="0"/>
              <a:t> </a:t>
            </a:r>
            <a:r>
              <a:rPr lang="en-US" sz="1250" dirty="0"/>
              <a:t>IM assumes that the receiver performs single user detection</a:t>
            </a:r>
            <a:r>
              <a:rPr lang="zh-TW" altLang="en-US" sz="1250" dirty="0"/>
              <a:t> </a:t>
            </a:r>
            <a:r>
              <a:rPr lang="en-US" sz="1250" dirty="0"/>
              <a:t>leading to substantial reduction of the receiver complexity</a:t>
            </a:r>
          </a:p>
          <a:p>
            <a:endParaRPr lang="en-US" sz="1250" dirty="0"/>
          </a:p>
          <a:p>
            <a:r>
              <a:rPr lang="en-US" altLang="zh-TW" dirty="0"/>
              <a:t>However, precoding needs to waste communication resources</a:t>
            </a:r>
            <a:r>
              <a:rPr lang="zh-TW" altLang="en-US" dirty="0"/>
              <a:t> </a:t>
            </a:r>
            <a:r>
              <a:rPr lang="en-US" altLang="zh-TW" dirty="0"/>
              <a:t>for feeding back the channel state information to the gateway.</a:t>
            </a:r>
            <a:r>
              <a:rPr lang="zh-TW" altLang="en-US" dirty="0"/>
              <a:t> </a:t>
            </a:r>
            <a:r>
              <a:rPr lang="en-US" altLang="zh-TW" dirty="0"/>
              <a:t>In addition, even though the transmitter has an accurate version</a:t>
            </a:r>
            <a:r>
              <a:rPr lang="zh-TW" altLang="en-US" dirty="0"/>
              <a:t> </a:t>
            </a:r>
            <a:r>
              <a:rPr lang="en-US" altLang="zh-TW" dirty="0"/>
              <a:t>of the channel matrix, the achievable rates are reduced due to</a:t>
            </a:r>
            <a:r>
              <a:rPr lang="zh-TW" altLang="en-US" dirty="0"/>
              <a:t> </a:t>
            </a:r>
            <a:r>
              <a:rPr lang="en-US" altLang="zh-TW" dirty="0"/>
              <a:t>multicast transmission of general satellite standards [4] and</a:t>
            </a:r>
            <a:r>
              <a:rPr lang="zh-TW" altLang="en-US" dirty="0"/>
              <a:t> </a:t>
            </a:r>
            <a:r>
              <a:rPr lang="en-US" altLang="zh-TW" dirty="0"/>
              <a:t>other impairments</a:t>
            </a:r>
            <a:endParaRPr lang="en-US" sz="1250" dirty="0"/>
          </a:p>
        </p:txBody>
      </p:sp>
      <p:sp>
        <p:nvSpPr>
          <p:cNvPr id="7" name="Google Shape;277;p39">
            <a:extLst>
              <a:ext uri="{FF2B5EF4-FFF2-40B4-BE49-F238E27FC236}">
                <a16:creationId xmlns="" xmlns:a16="http://schemas.microsoft.com/office/drawing/2014/main" id="{D8F53F46-9E63-4C79-B078-F9FC9A072619}"/>
              </a:ext>
            </a:extLst>
          </p:cNvPr>
          <p:cNvSpPr txBox="1">
            <a:spLocks noGrp="1"/>
          </p:cNvSpPr>
          <p:nvPr>
            <p:ph type="title"/>
          </p:nvPr>
        </p:nvSpPr>
        <p:spPr>
          <a:xfrm>
            <a:off x="514650" y="569302"/>
            <a:ext cx="8114700" cy="463200"/>
          </a:xfrm>
          <a:prstGeom prst="rect">
            <a:avLst/>
          </a:prstGeom>
        </p:spPr>
        <p:txBody>
          <a:bodyPr spcFirstLastPara="1" wrap="square" lIns="91425" tIns="91425" rIns="91425" bIns="91425" anchor="b" anchorCtr="0">
            <a:noAutofit/>
          </a:bodyPr>
          <a:lstStyle/>
          <a:p>
            <a:pPr lvl="0"/>
            <a:r>
              <a:rPr lang="en-US" dirty="0"/>
              <a:t>INTRODUCTION</a:t>
            </a:r>
            <a:endParaRPr dirty="0"/>
          </a:p>
        </p:txBody>
      </p:sp>
    </p:spTree>
    <p:extLst>
      <p:ext uri="{BB962C8B-B14F-4D97-AF65-F5344CB8AC3E}">
        <p14:creationId xmlns:p14="http://schemas.microsoft.com/office/powerpoint/2010/main" val="23655143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 xmlns:a16="http://schemas.microsoft.com/office/drawing/2014/main" id="{266A1B75-9A30-41DD-9A5B-5CAC32073970}"/>
              </a:ext>
            </a:extLst>
          </p:cNvPr>
          <p:cNvSpPr>
            <a:spLocks noGrp="1"/>
          </p:cNvSpPr>
          <p:nvPr>
            <p:ph type="body" idx="1"/>
          </p:nvPr>
        </p:nvSpPr>
        <p:spPr/>
        <p:txBody>
          <a:bodyPr/>
          <a:lstStyle/>
          <a:p>
            <a:pPr marL="152400" indent="0">
              <a:buNone/>
            </a:pPr>
            <a:r>
              <a:rPr lang="en-US" altLang="zh-TW" sz="1600" dirty="0"/>
              <a:t>	As a general statement, electing either to perform IM at the receiver or at the transmitter requires a deep cost-performance analysis considering the peculiarities of a certain coverage area. However, for the multiuser detection (MUD) case it is evident that the receiver cannot detect more than 2 signals simultaneously due to the exponential increase of the complexity.</a:t>
            </a:r>
          </a:p>
          <a:p>
            <a:pPr marL="152400" indent="0">
              <a:buNone/>
            </a:pPr>
            <a:endParaRPr lang="en-US" altLang="zh-TW" sz="1600" dirty="0"/>
          </a:p>
          <a:p>
            <a:pPr marL="152400" indent="0">
              <a:buNone/>
            </a:pPr>
            <a:r>
              <a:rPr lang="en-US" altLang="zh-TW" sz="1600" dirty="0"/>
              <a:t>If more simultaneous two sources are to be detected, additional diversity such as spatial or code ones should be incorporated; thus, allowing an interference cancellation stage previous to the MUD. Consequently, the receiver based IM approach can only get rid of the largest interference signal, leading to not-so-large signal-to-noise-plus-interference ratio (SINR). This limits the frequency reuse among beams and in general it is only considered a frequency reuse factor of 2 [6], [7] ; thus, offering a limited achievable system throughput.</a:t>
            </a:r>
            <a:endParaRPr lang="zh-TW" altLang="en-US" sz="1600" dirty="0"/>
          </a:p>
        </p:txBody>
      </p:sp>
      <p:sp>
        <p:nvSpPr>
          <p:cNvPr id="3" name="標題 2">
            <a:extLst>
              <a:ext uri="{FF2B5EF4-FFF2-40B4-BE49-F238E27FC236}">
                <a16:creationId xmlns="" xmlns:a16="http://schemas.microsoft.com/office/drawing/2014/main" id="{FBC3AEA0-09F1-4B37-9CBF-7808DFEB41AF}"/>
              </a:ext>
            </a:extLst>
          </p:cNvPr>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25970237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 xmlns:a16="http://schemas.microsoft.com/office/drawing/2014/main" id="{266A1B75-9A30-41DD-9A5B-5CAC32073970}"/>
              </a:ext>
            </a:extLst>
          </p:cNvPr>
          <p:cNvSpPr>
            <a:spLocks noGrp="1"/>
          </p:cNvSpPr>
          <p:nvPr>
            <p:ph type="body" idx="1"/>
          </p:nvPr>
        </p:nvSpPr>
        <p:spPr/>
        <p:txBody>
          <a:bodyPr/>
          <a:lstStyle/>
          <a:p>
            <a:pPr marL="152400" indent="0">
              <a:buNone/>
            </a:pPr>
            <a:r>
              <a:rPr lang="en-US" altLang="zh-TW" sz="1600" dirty="0"/>
              <a:t>	Furthermore, precoding suffers from additional limitations. Indeed, one of the main challenges is the feeder link excessive traffic requirements since it has to transmit all the </a:t>
            </a:r>
            <a:r>
              <a:rPr lang="en-US" altLang="zh-TW" sz="1600" dirty="0" err="1"/>
              <a:t>precoded</a:t>
            </a:r>
            <a:r>
              <a:rPr lang="en-US" altLang="zh-TW" sz="1600" dirty="0"/>
              <a:t> data from the gateway to the satellite payload. Even though this link is placed at the Q/V band where a large bandwidth is available, the use of multiple gateways is required [8]. Since the data is </a:t>
            </a:r>
            <a:r>
              <a:rPr lang="en-US" altLang="zh-TW" sz="1600" dirty="0" err="1"/>
              <a:t>precoded</a:t>
            </a:r>
            <a:r>
              <a:rPr lang="en-US" altLang="zh-TW" sz="1600" dirty="0"/>
              <a:t> in isolated geographic areas, the precoding technique shall be reconsidered [9]. Based on the results of [9], even though the gateways exchange all the channel state information, the precoding gains are limited compared to the single gateway case.</a:t>
            </a:r>
            <a:endParaRPr lang="zh-TW" altLang="en-US" sz="1600" dirty="0"/>
          </a:p>
        </p:txBody>
      </p:sp>
      <p:sp>
        <p:nvSpPr>
          <p:cNvPr id="3" name="標題 2">
            <a:extLst>
              <a:ext uri="{FF2B5EF4-FFF2-40B4-BE49-F238E27FC236}">
                <a16:creationId xmlns="" xmlns:a16="http://schemas.microsoft.com/office/drawing/2014/main" id="{FBC3AEA0-09F1-4B37-9CBF-7808DFEB41AF}"/>
              </a:ext>
            </a:extLst>
          </p:cNvPr>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3462265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 xmlns:a16="http://schemas.microsoft.com/office/drawing/2014/main" id="{8629ACD2-2DC0-4B1C-B31E-EAAFE72C57F8}"/>
              </a:ext>
            </a:extLst>
          </p:cNvPr>
          <p:cNvSpPr>
            <a:spLocks noGrp="1"/>
          </p:cNvSpPr>
          <p:nvPr>
            <p:ph type="body" idx="1"/>
          </p:nvPr>
        </p:nvSpPr>
        <p:spPr/>
        <p:txBody>
          <a:bodyPr/>
          <a:lstStyle/>
          <a:p>
            <a:r>
              <a:rPr lang="en-US" altLang="zh-TW" dirty="0"/>
              <a:t>In light of the above discussion, this paper investigates how to improve the current precoding limitations [4] by means of considering that the receivers are able to perform MUD. In contrast to the case where single user detection is considered, the user terminal can increase its achievable rate by decoding the signals from its </a:t>
            </a:r>
            <a:r>
              <a:rPr lang="en-US" altLang="zh-TW" dirty="0" err="1"/>
              <a:t>neighbouring</a:t>
            </a:r>
            <a:r>
              <a:rPr lang="en-US" altLang="zh-TW" dirty="0"/>
              <a:t> beams. In this work, a preliminary evaluation in terms of capacity is presented. To simplify the analysis, a unicast satellite transmission (one user served per frame) is considered as well as perfect channel state information and single gateway architecture.</a:t>
            </a:r>
          </a:p>
          <a:p>
            <a:endParaRPr lang="en-US" altLang="zh-TW" dirty="0"/>
          </a:p>
          <a:p>
            <a:r>
              <a:rPr lang="en-US" altLang="zh-TW" dirty="0"/>
              <a:t>In contrast to the aforementioned works, this paper conducts a capacity analysis when different decoding strategies and precoding techniques are applied. The numerical results are performed with a real multibeam radiation pattern, making out validations close to the real performance. As it is expected, the use of IM at the receiver side jointly with current precoding techniques yield to a large increase of the overall throughput. The contributions of the paper are twofold. First, we evaluate different receiver strategies without the use of precoding and; posteriorly, we show how precoding increases the system achievable rate. Moreover, a novel precoding technique is first evaluated for multibeam satellite systems and it is observed that larger throughputs can be obtained compared to the current state of the art.</a:t>
            </a:r>
            <a:endParaRPr lang="zh-TW" altLang="en-US" dirty="0"/>
          </a:p>
        </p:txBody>
      </p:sp>
      <p:sp>
        <p:nvSpPr>
          <p:cNvPr id="3" name="標題 2">
            <a:extLst>
              <a:ext uri="{FF2B5EF4-FFF2-40B4-BE49-F238E27FC236}">
                <a16:creationId xmlns="" xmlns:a16="http://schemas.microsoft.com/office/drawing/2014/main" id="{FB3E927A-0E02-4792-A21F-57ECEA76ACD3}"/>
              </a:ext>
            </a:extLst>
          </p:cNvPr>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1232928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2"/>
        <p:cNvGrpSpPr/>
        <p:nvPr/>
      </p:nvGrpSpPr>
      <p:grpSpPr>
        <a:xfrm>
          <a:off x="0" y="0"/>
          <a:ext cx="0" cy="0"/>
          <a:chOff x="0" y="0"/>
          <a:chExt cx="0" cy="0"/>
        </a:xfrm>
      </p:grpSpPr>
      <p:sp>
        <p:nvSpPr>
          <p:cNvPr id="283" name="Google Shape;283;p40"/>
          <p:cNvSpPr txBox="1">
            <a:spLocks noGrp="1"/>
          </p:cNvSpPr>
          <p:nvPr>
            <p:ph type="title"/>
          </p:nvPr>
        </p:nvSpPr>
        <p:spPr>
          <a:xfrm>
            <a:off x="1270050" y="862425"/>
            <a:ext cx="6603900" cy="952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System model</a:t>
            </a:r>
            <a:endParaRPr dirty="0"/>
          </a:p>
        </p:txBody>
      </p:sp>
      <p:sp>
        <p:nvSpPr>
          <p:cNvPr id="3" name="副標題 2">
            <a:extLst>
              <a:ext uri="{FF2B5EF4-FFF2-40B4-BE49-F238E27FC236}">
                <a16:creationId xmlns="" xmlns:a16="http://schemas.microsoft.com/office/drawing/2014/main" id="{FF82D78A-F7AC-4B03-9A56-8E644899AF11}"/>
              </a:ext>
            </a:extLst>
          </p:cNvPr>
          <p:cNvSpPr>
            <a:spLocks noGrp="1"/>
          </p:cNvSpPr>
          <p:nvPr>
            <p:ph type="subTitle" idx="1"/>
          </p:nvPr>
        </p:nvSpPr>
        <p:spPr/>
        <p:txBody>
          <a:bodyPr/>
          <a:lstStyle/>
          <a:p>
            <a:endParaRPr lang="zh-TW" altLang="en-US"/>
          </a:p>
        </p:txBody>
      </p:sp>
      <p:sp>
        <p:nvSpPr>
          <p:cNvPr id="5" name="副標題 4">
            <a:extLst>
              <a:ext uri="{FF2B5EF4-FFF2-40B4-BE49-F238E27FC236}">
                <a16:creationId xmlns="" xmlns:a16="http://schemas.microsoft.com/office/drawing/2014/main" id="{C92BDA01-D31F-4842-B13E-3B9B17E1DCC0}"/>
              </a:ext>
            </a:extLst>
          </p:cNvPr>
          <p:cNvSpPr>
            <a:spLocks noGrp="1"/>
          </p:cNvSpPr>
          <p:nvPr>
            <p:ph type="subTitle" idx="1"/>
          </p:nvPr>
        </p:nvSpPr>
        <p:spPr/>
        <p:txBody>
          <a:bodyPr/>
          <a:lstStyle/>
          <a:p>
            <a:endParaRPr lang="zh-TW" altLang="en-US"/>
          </a:p>
        </p:txBody>
      </p:sp>
      <p:sp>
        <p:nvSpPr>
          <p:cNvPr id="7" name="副標題 6">
            <a:extLst>
              <a:ext uri="{FF2B5EF4-FFF2-40B4-BE49-F238E27FC236}">
                <a16:creationId xmlns="" xmlns:a16="http://schemas.microsoft.com/office/drawing/2014/main" id="{E28B1581-995A-4E19-A97F-0DC7818090CC}"/>
              </a:ext>
            </a:extLst>
          </p:cNvPr>
          <p:cNvSpPr>
            <a:spLocks noGrp="1"/>
          </p:cNvSpPr>
          <p:nvPr>
            <p:ph type="subTitle" idx="1"/>
          </p:nvPr>
        </p:nvSpPr>
        <p:spPr/>
        <p:txBody>
          <a:bodyPr/>
          <a:lstStyle/>
          <a:p>
            <a:endParaRPr lang="zh-TW"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8868B120-1A7E-4D0D-979B-6F4CD7E1B175}"/>
              </a:ext>
            </a:extLst>
          </p:cNvPr>
          <p:cNvSpPr>
            <a:spLocks noGrp="1"/>
          </p:cNvSpPr>
          <p:nvPr>
            <p:ph type="title"/>
          </p:nvPr>
        </p:nvSpPr>
        <p:spPr/>
        <p:txBody>
          <a:bodyPr/>
          <a:lstStyle/>
          <a:p>
            <a:r>
              <a:rPr lang="en-US" altLang="zh-TW" dirty="0"/>
              <a:t>System Model</a:t>
            </a:r>
            <a:endParaRPr lang="zh-TW" altLang="en-US" dirty="0"/>
          </a:p>
        </p:txBody>
      </p:sp>
      <p:sp>
        <p:nvSpPr>
          <p:cNvPr id="3" name="Google Shape;276;p39">
            <a:extLst>
              <a:ext uri="{FF2B5EF4-FFF2-40B4-BE49-F238E27FC236}">
                <a16:creationId xmlns="" xmlns:a16="http://schemas.microsoft.com/office/drawing/2014/main" id="{F0FE3D32-26AC-4CE0-88E6-3BE161CE0381}"/>
              </a:ext>
            </a:extLst>
          </p:cNvPr>
          <p:cNvSpPr txBox="1">
            <a:spLocks/>
          </p:cNvSpPr>
          <p:nvPr/>
        </p:nvSpPr>
        <p:spPr>
          <a:xfrm>
            <a:off x="970800" y="1634858"/>
            <a:ext cx="7202400" cy="3228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50" dirty="0"/>
              <a:t>	Let us consider a multibeam satellite system where the satellite is equipped with an array fed reflector antenna with a total number of feeds equal to 𝑁. These feed signals are</a:t>
            </a:r>
          </a:p>
          <a:p>
            <a:r>
              <a:rPr lang="en-US" sz="1250" dirty="0"/>
              <a:t>combined and they generate a beam radiation pattern forming a total number of 𝐾 beams. In this work we have focused on the case where 𝐾 ≥ 𝑁.</a:t>
            </a:r>
          </a:p>
          <a:p>
            <a:r>
              <a:rPr lang="en-US" sz="1250" dirty="0"/>
              <a:t>	The multibeam radiation pattern supports data multiplexing among beams leading to an efficient communication since rate allocation can be performed separately for each beam. Unfortunately, adjacent beams create multiuser interference which becomes the major bottleneck of the communication.</a:t>
            </a:r>
          </a:p>
          <a:p>
            <a:r>
              <a:rPr lang="en-US" sz="1250" dirty="0"/>
              <a:t>	In case the system designer targets larger achievable throughputs, frequency reuse among beams is compulsory so as interference mitigation techniques either at the user terminals (MUD) or at the transmit side (precoding).</a:t>
            </a:r>
          </a:p>
          <a:p>
            <a:endParaRPr lang="en-US" sz="1250" dirty="0"/>
          </a:p>
          <a:p>
            <a:r>
              <a:rPr lang="en-US" sz="1250" dirty="0"/>
              <a:t>This paper focuses on the combination of both.</a:t>
            </a:r>
          </a:p>
        </p:txBody>
      </p:sp>
    </p:spTree>
    <p:extLst>
      <p:ext uri="{BB962C8B-B14F-4D97-AF65-F5344CB8AC3E}">
        <p14:creationId xmlns:p14="http://schemas.microsoft.com/office/powerpoint/2010/main" val="27442474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6" name="矩形 5">
            <a:extLst>
              <a:ext uri="{FF2B5EF4-FFF2-40B4-BE49-F238E27FC236}">
                <a16:creationId xmlns="" xmlns:a16="http://schemas.microsoft.com/office/drawing/2014/main" id="{4D11D966-0BA5-404B-8756-D6F35245F25B}"/>
              </a:ext>
            </a:extLst>
          </p:cNvPr>
          <p:cNvSpPr/>
          <p:nvPr/>
        </p:nvSpPr>
        <p:spPr>
          <a:xfrm>
            <a:off x="986910" y="589353"/>
            <a:ext cx="7040880" cy="707886"/>
          </a:xfrm>
          <a:prstGeom prst="rect">
            <a:avLst/>
          </a:prstGeom>
        </p:spPr>
        <p:txBody>
          <a:bodyPr wrap="square">
            <a:spAutoFit/>
          </a:bodyPr>
          <a:lstStyle/>
          <a:p>
            <a:r>
              <a:rPr lang="en-US" altLang="zh-TW" sz="2000" dirty="0">
                <a:latin typeface="+mn-lt"/>
              </a:rPr>
              <a:t>Considering that all beams radiate in the same frequency band, the receive signal can be modelled as</a:t>
            </a:r>
            <a:endParaRPr lang="zh-TW" altLang="en-US" sz="2000" dirty="0">
              <a:latin typeface="+mn-lt"/>
            </a:endParaRPr>
          </a:p>
        </p:txBody>
      </p:sp>
      <p:sp>
        <p:nvSpPr>
          <p:cNvPr id="7" name="矩形 6">
            <a:extLst>
              <a:ext uri="{FF2B5EF4-FFF2-40B4-BE49-F238E27FC236}">
                <a16:creationId xmlns="" xmlns:a16="http://schemas.microsoft.com/office/drawing/2014/main" id="{D9B29BF8-745F-4956-804F-66AA283CD58B}"/>
              </a:ext>
            </a:extLst>
          </p:cNvPr>
          <p:cNvSpPr/>
          <p:nvPr/>
        </p:nvSpPr>
        <p:spPr>
          <a:xfrm>
            <a:off x="2624907" y="1396954"/>
            <a:ext cx="3764887" cy="369332"/>
          </a:xfrm>
          <a:prstGeom prst="rect">
            <a:avLst/>
          </a:prstGeom>
        </p:spPr>
        <p:txBody>
          <a:bodyPr wrap="square">
            <a:spAutoFit/>
          </a:bodyPr>
          <a:lstStyle/>
          <a:p>
            <a:r>
              <a:rPr lang="en-US" altLang="zh-TW" sz="1800" b="1" dirty="0">
                <a:latin typeface="+mn-lt"/>
              </a:rPr>
              <a:t>y </a:t>
            </a:r>
            <a:r>
              <a:rPr lang="en-US" altLang="zh-TW" sz="1800" dirty="0">
                <a:latin typeface="+mn-lt"/>
              </a:rPr>
              <a:t>= </a:t>
            </a:r>
            <a:r>
              <a:rPr lang="en-US" altLang="zh-TW" sz="1800" b="1" dirty="0">
                <a:latin typeface="+mn-lt"/>
              </a:rPr>
              <a:t>Hx </a:t>
            </a:r>
            <a:r>
              <a:rPr lang="en-US" altLang="zh-TW" sz="1800" dirty="0">
                <a:latin typeface="+mn-lt"/>
              </a:rPr>
              <a:t>+ </a:t>
            </a:r>
            <a:r>
              <a:rPr lang="en-US" altLang="zh-TW" sz="1800" b="1" dirty="0">
                <a:latin typeface="+mn-lt"/>
              </a:rPr>
              <a:t>n</a:t>
            </a:r>
            <a:r>
              <a:rPr lang="en-US" altLang="zh-TW" sz="1800" i="1" dirty="0">
                <a:latin typeface="+mn-lt"/>
              </a:rPr>
              <a:t>,                    </a:t>
            </a:r>
            <a:r>
              <a:rPr lang="en-US" altLang="zh-TW" sz="1800" i="1" dirty="0">
                <a:latin typeface="CMMI10"/>
              </a:rPr>
              <a:t>(1)</a:t>
            </a:r>
            <a:endParaRPr lang="zh-TW" altLang="en-US" sz="1800" dirty="0"/>
          </a:p>
        </p:txBody>
      </p:sp>
      <mc:AlternateContent xmlns:mc="http://schemas.openxmlformats.org/markup-compatibility/2006" xmlns:a14="http://schemas.microsoft.com/office/drawing/2010/main">
        <mc:Choice Requires="a14">
          <p:sp>
            <p:nvSpPr>
              <p:cNvPr id="8" name="矩形 7">
                <a:extLst>
                  <a:ext uri="{FF2B5EF4-FFF2-40B4-BE49-F238E27FC236}">
                    <a16:creationId xmlns="" xmlns:a16="http://schemas.microsoft.com/office/drawing/2014/main" id="{5206844C-D5A7-4B16-B666-FC34D1F8303B}"/>
                  </a:ext>
                </a:extLst>
              </p:cNvPr>
              <p:cNvSpPr/>
              <p:nvPr/>
            </p:nvSpPr>
            <p:spPr>
              <a:xfrm>
                <a:off x="627246" y="1766286"/>
                <a:ext cx="7760208" cy="2048702"/>
              </a:xfrm>
              <a:prstGeom prst="rect">
                <a:avLst/>
              </a:prstGeom>
            </p:spPr>
            <p:txBody>
              <a:bodyPr wrap="square">
                <a:spAutoFit/>
              </a:bodyPr>
              <a:lstStyle/>
              <a:p>
                <a:r>
                  <a:rPr lang="en-US" altLang="zh-TW" sz="1800" dirty="0">
                    <a:latin typeface="+mn-lt"/>
                  </a:rPr>
                  <a:t>being </a:t>
                </a:r>
                <a:r>
                  <a:rPr lang="en-US" altLang="zh-TW" sz="1800" b="1" dirty="0">
                    <a:latin typeface="+mn-lt"/>
                  </a:rPr>
                  <a:t>y </a:t>
                </a:r>
                <a:r>
                  <a:rPr lang="en-US" altLang="zh-TW" sz="1800" i="1" dirty="0">
                    <a:latin typeface="+mn-lt"/>
                  </a:rPr>
                  <a:t>∈ </a:t>
                </a:r>
                <a14:m>
                  <m:oMath xmlns:m="http://schemas.openxmlformats.org/officeDocument/2006/math">
                    <m:sSup>
                      <m:sSupPr>
                        <m:ctrlPr>
                          <a:rPr lang="en-US" altLang="zh-TW" sz="1800" i="1" dirty="0" smtClean="0">
                            <a:latin typeface="Cambria Math" panose="02040503050406030204" pitchFamily="18" charset="0"/>
                          </a:rPr>
                        </m:ctrlPr>
                      </m:sSupPr>
                      <m:e>
                        <m:r>
                          <m:rPr>
                            <m:nor/>
                          </m:rPr>
                          <a:rPr lang="en-US" altLang="zh-TW" sz="1800" dirty="0">
                            <a:latin typeface="+mn-lt"/>
                          </a:rPr>
                          <m:t>ℂ</m:t>
                        </m:r>
                      </m:e>
                      <m:sup>
                        <m:r>
                          <a:rPr lang="en-US" altLang="zh-TW" sz="1800" b="0" i="1" dirty="0" smtClean="0">
                            <a:latin typeface="Cambria Math" panose="02040503050406030204" pitchFamily="18" charset="0"/>
                          </a:rPr>
                          <m:t>𝐾𝑥</m:t>
                        </m:r>
                        <m:r>
                          <a:rPr lang="en-US" altLang="zh-TW" sz="1800" b="0" i="1" dirty="0" smtClean="0">
                            <a:latin typeface="Cambria Math" panose="02040503050406030204" pitchFamily="18" charset="0"/>
                          </a:rPr>
                          <m:t>1</m:t>
                        </m:r>
                      </m:sup>
                    </m:sSup>
                  </m:oMath>
                </a14:m>
                <a:r>
                  <a:rPr lang="en-US" altLang="zh-TW" sz="1800" dirty="0">
                    <a:latin typeface="+mn-lt"/>
                  </a:rPr>
                  <a:t> the vector containing the received signals at each user terminal. Vector </a:t>
                </a:r>
                <a:r>
                  <a:rPr lang="en-US" altLang="zh-TW" sz="1800" b="1" dirty="0">
                    <a:latin typeface="+mn-lt"/>
                  </a:rPr>
                  <a:t>n </a:t>
                </a:r>
                <a:r>
                  <a:rPr lang="en-US" altLang="zh-TW" sz="1800" i="1" dirty="0">
                    <a:latin typeface="+mn-lt"/>
                  </a:rPr>
                  <a:t>∈ </a:t>
                </a:r>
                <a14:m>
                  <m:oMath xmlns:m="http://schemas.openxmlformats.org/officeDocument/2006/math">
                    <m:sSup>
                      <m:sSupPr>
                        <m:ctrlPr>
                          <a:rPr lang="en-US" altLang="zh-TW" sz="1800" i="1" dirty="0">
                            <a:latin typeface="Cambria Math" panose="02040503050406030204" pitchFamily="18" charset="0"/>
                          </a:rPr>
                        </m:ctrlPr>
                      </m:sSupPr>
                      <m:e>
                        <m:r>
                          <m:rPr>
                            <m:nor/>
                          </m:rPr>
                          <a:rPr lang="en-US" altLang="zh-TW" sz="1800" dirty="0">
                            <a:latin typeface="+mn-lt"/>
                          </a:rPr>
                          <m:t>ℂ</m:t>
                        </m:r>
                      </m:e>
                      <m:sup>
                        <m:r>
                          <a:rPr lang="en-US" altLang="zh-TW" sz="1800" i="1" dirty="0">
                            <a:latin typeface="Cambria Math" panose="02040503050406030204" pitchFamily="18" charset="0"/>
                          </a:rPr>
                          <m:t>𝐾𝑥</m:t>
                        </m:r>
                        <m:r>
                          <a:rPr lang="en-US" altLang="zh-TW" sz="1800" i="1" dirty="0">
                            <a:latin typeface="Cambria Math" panose="02040503050406030204" pitchFamily="18" charset="0"/>
                          </a:rPr>
                          <m:t>1</m:t>
                        </m:r>
                      </m:sup>
                    </m:sSup>
                  </m:oMath>
                </a14:m>
                <a:r>
                  <a:rPr lang="en-US" altLang="zh-TW" sz="1800" dirty="0">
                    <a:latin typeface="+mn-lt"/>
                  </a:rPr>
                  <a:t> contains the noise terms of each user terminal. The entries of this vector are assumed to be Gaussian distributed with zero mean, variance equal to 1 and uncorrelated with both the desired signal and the rest of</a:t>
                </a:r>
              </a:p>
              <a:p>
                <a:r>
                  <a:rPr lang="fr-FR" altLang="zh-TW" sz="1800" dirty="0">
                    <a:latin typeface="+mn-lt"/>
                  </a:rPr>
                  <a:t>noise entries (i.e. </a:t>
                </a:r>
                <a:r>
                  <a:rPr lang="zh-TW" altLang="fr-FR" sz="1800" i="1" dirty="0">
                    <a:latin typeface="+mn-lt"/>
                  </a:rPr>
                  <a:t>𝐸</a:t>
                </a:r>
                <a:r>
                  <a:rPr lang="zh-TW" altLang="en-US" sz="1800" i="1" dirty="0">
                    <a:latin typeface="+mn-lt"/>
                  </a:rPr>
                  <a:t> </a:t>
                </a:r>
                <a:r>
                  <a:rPr lang="en-US" altLang="zh-TW" sz="1800" dirty="0">
                    <a:latin typeface="+mn-lt"/>
                  </a:rPr>
                  <a:t>[</a:t>
                </a:r>
                <a14:m>
                  <m:oMath xmlns:m="http://schemas.openxmlformats.org/officeDocument/2006/math">
                    <m:sSup>
                      <m:sSupPr>
                        <m:ctrlPr>
                          <a:rPr lang="en-US" altLang="zh-TW" sz="1800" i="1" dirty="0">
                            <a:latin typeface="Cambria Math" panose="02040503050406030204" pitchFamily="18" charset="0"/>
                          </a:rPr>
                        </m:ctrlPr>
                      </m:sSupPr>
                      <m:e>
                        <m:r>
                          <m:rPr>
                            <m:nor/>
                          </m:rPr>
                          <a:rPr lang="en-US" altLang="zh-TW" sz="1800" b="0" i="0" dirty="0" smtClean="0">
                            <a:latin typeface="+mn-lt"/>
                          </a:rPr>
                          <m:t>nn</m:t>
                        </m:r>
                      </m:e>
                      <m:sup>
                        <m:r>
                          <a:rPr lang="en-US" altLang="zh-TW" sz="1800" b="0" i="1" dirty="0" smtClean="0">
                            <a:latin typeface="Cambria Math" panose="02040503050406030204" pitchFamily="18" charset="0"/>
                          </a:rPr>
                          <m:t>𝐻</m:t>
                        </m:r>
                      </m:sup>
                    </m:sSup>
                  </m:oMath>
                </a14:m>
                <a:r>
                  <a:rPr lang="en-US" altLang="zh-TW" sz="1800" dirty="0">
                    <a:latin typeface="+mn-lt"/>
                  </a:rPr>
                  <a:t> ] =</a:t>
                </a:r>
                <a14:m>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𝐼</m:t>
                        </m:r>
                      </m:e>
                      <m:sub>
                        <m:r>
                          <a:rPr lang="en-US" altLang="zh-TW" sz="1800" b="0" i="1" smtClean="0">
                            <a:latin typeface="Cambria Math" panose="02040503050406030204" pitchFamily="18" charset="0"/>
                          </a:rPr>
                          <m:t>𝐾</m:t>
                        </m:r>
                      </m:sub>
                    </m:sSub>
                  </m:oMath>
                </a14:m>
                <a:r>
                  <a:rPr lang="en-US" altLang="zh-TW" sz="1800" dirty="0">
                    <a:latin typeface="+mn-lt"/>
                  </a:rPr>
                  <a:t>). The channel matrix can be described as follows:</a:t>
                </a:r>
                <a:endParaRPr lang="zh-TW" altLang="en-US" sz="1800" dirty="0">
                  <a:latin typeface="+mn-lt"/>
                </a:endParaRPr>
              </a:p>
            </p:txBody>
          </p:sp>
        </mc:Choice>
        <mc:Fallback xmlns="">
          <p:sp>
            <p:nvSpPr>
              <p:cNvPr id="8" name="矩形 7">
                <a:extLst>
                  <a:ext uri="{FF2B5EF4-FFF2-40B4-BE49-F238E27FC236}">
                    <a16:creationId xmlns:a16="http://schemas.microsoft.com/office/drawing/2014/main" xmlns:a14="http://schemas.microsoft.com/office/drawing/2010/main" xmlns="" id="{5206844C-D5A7-4B16-B666-FC34D1F8303B}"/>
                  </a:ext>
                </a:extLst>
              </p:cNvPr>
              <p:cNvSpPr>
                <a:spLocks noRot="1" noChangeAspect="1" noMove="1" noResize="1" noEditPoints="1" noAdjustHandles="1" noChangeArrowheads="1" noChangeShapeType="1" noTextEdit="1"/>
              </p:cNvSpPr>
              <p:nvPr/>
            </p:nvSpPr>
            <p:spPr>
              <a:xfrm>
                <a:off x="627246" y="1766286"/>
                <a:ext cx="7760208" cy="2048702"/>
              </a:xfrm>
              <a:prstGeom prst="rect">
                <a:avLst/>
              </a:prstGeom>
              <a:blipFill rotWithShape="0">
                <a:blip r:embed="rId3"/>
                <a:stretch>
                  <a:fillRect l="-707" t="-893" b="-5060"/>
                </a:stretch>
              </a:blipFill>
            </p:spPr>
            <p:txBody>
              <a:bodyPr/>
              <a:lstStyle/>
              <a:p>
                <a:r>
                  <a:rPr lang="zh-TW" altLang="en-US">
                    <a:noFill/>
                  </a:rPr>
                  <a:t> </a:t>
                </a:r>
              </a:p>
            </p:txBody>
          </p:sp>
        </mc:Fallback>
      </mc:AlternateContent>
      <p:sp>
        <p:nvSpPr>
          <p:cNvPr id="9" name="矩形 8">
            <a:extLst>
              <a:ext uri="{FF2B5EF4-FFF2-40B4-BE49-F238E27FC236}">
                <a16:creationId xmlns="" xmlns:a16="http://schemas.microsoft.com/office/drawing/2014/main" id="{0FDE11A0-BCBA-4DAA-A4AB-21D917BF364C}"/>
              </a:ext>
            </a:extLst>
          </p:cNvPr>
          <p:cNvSpPr/>
          <p:nvPr/>
        </p:nvSpPr>
        <p:spPr>
          <a:xfrm>
            <a:off x="2624907" y="4284035"/>
            <a:ext cx="3421684" cy="307777"/>
          </a:xfrm>
          <a:prstGeom prst="rect">
            <a:avLst/>
          </a:prstGeom>
        </p:spPr>
        <p:txBody>
          <a:bodyPr wrap="square">
            <a:spAutoFit/>
          </a:bodyPr>
          <a:lstStyle/>
          <a:p>
            <a:r>
              <a:rPr lang="en-US" altLang="zh-TW" b="1" dirty="0">
                <a:latin typeface="+mn-lt"/>
              </a:rPr>
              <a:t>H </a:t>
            </a:r>
            <a:r>
              <a:rPr lang="en-US" altLang="zh-TW" dirty="0">
                <a:latin typeface="+mn-lt"/>
              </a:rPr>
              <a:t>= </a:t>
            </a:r>
            <a:r>
              <a:rPr lang="en-US" altLang="zh-TW" b="1" dirty="0">
                <a:latin typeface="+mn-lt"/>
              </a:rPr>
              <a:t>AG</a:t>
            </a:r>
            <a:r>
              <a:rPr lang="en-US" altLang="zh-TW" i="1" dirty="0">
                <a:latin typeface="+mn-lt"/>
              </a:rPr>
              <a:t>,                                     (2)</a:t>
            </a:r>
            <a:endParaRPr lang="zh-TW" altLang="en-US" dirty="0">
              <a:latin typeface="+mn-lt"/>
            </a:endParaRPr>
          </a:p>
        </p:txBody>
      </p:sp>
    </p:spTree>
    <p:extLst>
      <p:ext uri="{BB962C8B-B14F-4D97-AF65-F5344CB8AC3E}">
        <p14:creationId xmlns:p14="http://schemas.microsoft.com/office/powerpoint/2010/main" val="14788898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字版面配置區 3">
                <a:extLst>
                  <a:ext uri="{FF2B5EF4-FFF2-40B4-BE49-F238E27FC236}">
                    <a16:creationId xmlns="" xmlns:a16="http://schemas.microsoft.com/office/drawing/2014/main" id="{266A1B75-9A30-41DD-9A5B-5CAC32073970}"/>
                  </a:ext>
                </a:extLst>
              </p:cNvPr>
              <p:cNvSpPr>
                <a:spLocks noGrp="1"/>
              </p:cNvSpPr>
              <p:nvPr>
                <p:ph type="body" idx="1"/>
              </p:nvPr>
            </p:nvSpPr>
            <p:spPr/>
            <p:txBody>
              <a:bodyPr/>
              <a:lstStyle/>
              <a:p>
                <a:pPr marL="152400" indent="0">
                  <a:buNone/>
                </a:pPr>
                <a:r>
                  <a:rPr lang="en-US" altLang="zh-TW" sz="1800" dirty="0" smtClean="0">
                    <a:latin typeface="+mn-lt"/>
                  </a:rPr>
                  <a:t>	</a:t>
                </a:r>
              </a:p>
              <a:p>
                <a:pPr marL="152400" indent="0">
                  <a:buNone/>
                </a:pPr>
                <a:r>
                  <a:rPr lang="en-US" altLang="zh-TW" sz="1800" dirty="0">
                    <a:latin typeface="+mn-lt"/>
                  </a:rPr>
                  <a:t>	</a:t>
                </a:r>
                <a:r>
                  <a:rPr lang="en-US" altLang="zh-TW" sz="1800" dirty="0" smtClean="0">
                    <a:latin typeface="+mn-lt"/>
                  </a:rPr>
                  <a:t>Matrix </a:t>
                </a:r>
                <a:r>
                  <a:rPr lang="en-US" altLang="zh-TW" sz="1800" dirty="0">
                    <a:latin typeface="+mn-lt"/>
                  </a:rPr>
                  <a:t>G ∈ </a:t>
                </a:r>
                <a14:m>
                  <m:oMath xmlns:m="http://schemas.openxmlformats.org/officeDocument/2006/math">
                    <m:sSubSup>
                      <m:sSubSupPr>
                        <m:ctrlPr>
                          <a:rPr lang="en-US" altLang="zh-TW" sz="1800" i="1">
                            <a:latin typeface="Cambria Math" panose="02040503050406030204" pitchFamily="18" charset="0"/>
                          </a:rPr>
                        </m:ctrlPr>
                      </m:sSubSupPr>
                      <m:e>
                        <m:r>
                          <m:rPr>
                            <m:nor/>
                          </m:rPr>
                          <a:rPr lang="en-US" altLang="zh-TW" sz="1800" dirty="0">
                            <a:latin typeface="+mn-lt"/>
                          </a:rPr>
                          <m:t>ℝ</m:t>
                        </m:r>
                      </m:e>
                      <m:sub/>
                      <m:sup>
                        <m:r>
                          <a:rPr lang="en-US" altLang="zh-TW" sz="1800" b="0" i="1" smtClean="0">
                            <a:latin typeface="Cambria Math" panose="02040503050406030204" pitchFamily="18" charset="0"/>
                          </a:rPr>
                          <m:t>𝐾𝑥𝑁</m:t>
                        </m:r>
                      </m:sup>
                    </m:sSubSup>
                  </m:oMath>
                </a14:m>
                <a:r>
                  <a:rPr lang="zh-TW" altLang="en-US" sz="1800" dirty="0">
                    <a:latin typeface="+mn-lt"/>
                  </a:rPr>
                  <a:t> </a:t>
                </a:r>
                <a:r>
                  <a:rPr lang="en-US" altLang="zh-TW" sz="1800" dirty="0" smtClean="0">
                    <a:latin typeface="+mn-lt"/>
                  </a:rPr>
                  <a:t>takes</a:t>
                </a:r>
                <a:r>
                  <a:rPr lang="zh-TW" altLang="en-US" sz="1800" dirty="0" smtClean="0">
                    <a:latin typeface="+mn-lt"/>
                  </a:rPr>
                  <a:t> </a:t>
                </a:r>
                <a:r>
                  <a:rPr lang="en-US" altLang="zh-TW" sz="1800" dirty="0" smtClean="0">
                    <a:latin typeface="+mn-lt"/>
                  </a:rPr>
                  <a:t>into </a:t>
                </a:r>
                <a:r>
                  <a:rPr lang="en-US" altLang="zh-TW" sz="1800" dirty="0">
                    <a:latin typeface="+mn-lt"/>
                  </a:rPr>
                  <a:t>account the rest of gain and loss factors. Its (</a:t>
                </a:r>
                <a:r>
                  <a:rPr lang="zh-TW" altLang="en-US" sz="1800" dirty="0">
                    <a:latin typeface="+mn-lt"/>
                  </a:rPr>
                  <a:t>𝑘</a:t>
                </a:r>
                <a:r>
                  <a:rPr lang="en-US" altLang="zh-TW" sz="1800" dirty="0">
                    <a:latin typeface="+mn-lt"/>
                  </a:rPr>
                  <a:t>, </a:t>
                </a:r>
                <a:r>
                  <a:rPr lang="zh-TW" altLang="en-US" sz="1800" dirty="0">
                    <a:latin typeface="+mn-lt"/>
                  </a:rPr>
                  <a:t>𝑛</a:t>
                </a:r>
                <a:r>
                  <a:rPr lang="en-US" altLang="zh-TW" sz="1800" dirty="0">
                    <a:latin typeface="+mn-lt"/>
                  </a:rPr>
                  <a:t>)-</a:t>
                </a:r>
                <a:r>
                  <a:rPr lang="en-US" altLang="zh-TW" sz="1800" dirty="0" err="1">
                    <a:latin typeface="+mn-lt"/>
                  </a:rPr>
                  <a:t>th</a:t>
                </a:r>
                <a:r>
                  <a:rPr lang="en-US" altLang="zh-TW" sz="1800" dirty="0">
                    <a:latin typeface="+mn-lt"/>
                  </a:rPr>
                  <a:t> </a:t>
                </a:r>
                <a:r>
                  <a:rPr lang="en-US" altLang="zh-TW" sz="1800" dirty="0" smtClean="0">
                    <a:latin typeface="+mn-lt"/>
                  </a:rPr>
                  <a:t>entry</a:t>
                </a:r>
                <a:r>
                  <a:rPr lang="zh-TW" altLang="en-US" sz="1800" dirty="0" smtClean="0">
                    <a:latin typeface="+mn-lt"/>
                  </a:rPr>
                  <a:t> </a:t>
                </a:r>
                <a:r>
                  <a:rPr lang="en-US" altLang="zh-TW" sz="1800" dirty="0" smtClean="0">
                    <a:latin typeface="+mn-lt"/>
                  </a:rPr>
                  <a:t>can </a:t>
                </a:r>
                <a:r>
                  <a:rPr lang="en-US" altLang="zh-TW" sz="1800" dirty="0">
                    <a:latin typeface="+mn-lt"/>
                  </a:rPr>
                  <a:t>be described as </a:t>
                </a:r>
                <a:r>
                  <a:rPr lang="en-US" altLang="zh-TW" sz="1800" dirty="0" smtClean="0">
                    <a:latin typeface="+mn-lt"/>
                  </a:rPr>
                  <a:t>follows</a:t>
                </a:r>
              </a:p>
              <a:p>
                <a:pPr marL="152400" indent="0">
                  <a:buNone/>
                </a:pPr>
                <a:endParaRPr lang="en-US" altLang="zh-TW" sz="1600" dirty="0"/>
              </a:p>
              <a:p>
                <a:pPr marL="152400" indent="0" algn="ctr">
                  <a:buNone/>
                </a:pPr>
                <a:endParaRPr lang="en-US" altLang="zh-TW" sz="2400" i="1" dirty="0">
                  <a:latin typeface="Cambria Math" panose="02040503050406030204" pitchFamily="18" charset="0"/>
                </a:endParaRPr>
              </a:p>
              <a:p>
                <a:pPr marL="152400" indent="0" algn="ctr">
                  <a:buNone/>
                </a:pPr>
                <a14:m>
                  <m:oMath xmlns:m="http://schemas.openxmlformats.org/officeDocument/2006/math">
                    <m:sSubSup>
                      <m:sSubSupPr>
                        <m:ctrlPr>
                          <a:rPr lang="en-US" altLang="zh-TW" sz="2400" i="1" smtClean="0">
                            <a:latin typeface="Cambria Math" panose="02040503050406030204" pitchFamily="18" charset="0"/>
                          </a:rPr>
                        </m:ctrlPr>
                      </m:sSubSupPr>
                      <m:e>
                        <m:d>
                          <m:dPr>
                            <m:ctrlPr>
                              <a:rPr lang="en-US" altLang="zh-TW" sz="2400" i="1">
                                <a:latin typeface="Cambria Math" panose="02040503050406030204" pitchFamily="18" charset="0"/>
                              </a:rPr>
                            </m:ctrlPr>
                          </m:dPr>
                          <m:e>
                            <m:r>
                              <m:rPr>
                                <m:sty m:val="p"/>
                              </m:rPr>
                              <a:rPr lang="en-US" altLang="zh-TW" sz="2400" i="1">
                                <a:latin typeface="Cambria Math" panose="02040503050406030204" pitchFamily="18" charset="0"/>
                              </a:rPr>
                              <m:t>G</m:t>
                            </m:r>
                          </m:e>
                        </m:d>
                      </m:e>
                      <m:sub>
                        <m:r>
                          <a:rPr lang="en-US" altLang="zh-TW" sz="2400" b="0" i="1" smtClean="0">
                            <a:latin typeface="Cambria Math" panose="02040503050406030204" pitchFamily="18" charset="0"/>
                          </a:rPr>
                          <m:t>𝑘</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sub>
                      <m:sup/>
                    </m:sSubSup>
                  </m:oMath>
                </a14:m>
                <a:r>
                  <a:rPr lang="en-US" altLang="zh-TW" sz="2400" dirty="0" smtClean="0"/>
                  <a:t>= </a:t>
                </a:r>
                <a14:m>
                  <m:oMath xmlns:m="http://schemas.openxmlformats.org/officeDocument/2006/math">
                    <m:f>
                      <m:fPr>
                        <m:ctrlPr>
                          <a:rPr lang="en-US" altLang="zh-TW" sz="2400" i="1" smtClean="0">
                            <a:latin typeface="Cambria Math" panose="02040503050406030204" pitchFamily="18" charset="0"/>
                          </a:rPr>
                        </m:ctrlPr>
                      </m:fPr>
                      <m:num>
                        <m:sSubSup>
                          <m:sSubSupPr>
                            <m:ctrlPr>
                              <a:rPr lang="en-US" altLang="zh-TW" sz="2400" i="1">
                                <a:latin typeface="Cambria Math" panose="02040503050406030204" pitchFamily="18" charset="0"/>
                              </a:rPr>
                            </m:ctrlPr>
                          </m:sSubSupPr>
                          <m:e>
                            <m:r>
                              <a:rPr lang="en-US" altLang="zh-TW" sz="2400" b="0" i="1" smtClean="0">
                                <a:latin typeface="Cambria Math" panose="02040503050406030204" pitchFamily="18" charset="0"/>
                              </a:rPr>
                              <m:t>𝐺</m:t>
                            </m:r>
                          </m:e>
                          <m:sub>
                            <m:r>
                              <a:rPr lang="en-US" altLang="zh-TW" sz="2400" b="0" i="1" smtClean="0">
                                <a:latin typeface="Cambria Math" panose="02040503050406030204" pitchFamily="18" charset="0"/>
                              </a:rPr>
                              <m:t>𝑅</m:t>
                            </m:r>
                          </m:sub>
                          <m:sup/>
                        </m:sSubSup>
                        <m:sSubSup>
                          <m:sSubSupPr>
                            <m:ctrlPr>
                              <a:rPr lang="en-US" altLang="zh-TW" sz="2400" i="1">
                                <a:latin typeface="Cambria Math" panose="02040503050406030204" pitchFamily="18" charset="0"/>
                              </a:rPr>
                            </m:ctrlPr>
                          </m:sSubSupPr>
                          <m:e>
                            <m:r>
                              <a:rPr lang="en-US" altLang="zh-TW" sz="2400" b="0" i="1" smtClean="0">
                                <a:latin typeface="Cambria Math" panose="02040503050406030204" pitchFamily="18" charset="0"/>
                              </a:rPr>
                              <m:t>𝑎</m:t>
                            </m:r>
                          </m:e>
                          <m:sub>
                            <m:r>
                              <a:rPr lang="en-US" altLang="zh-TW" sz="2400" i="1">
                                <a:latin typeface="Cambria Math" panose="02040503050406030204" pitchFamily="18" charset="0"/>
                              </a:rPr>
                              <m:t>𝑘𝑛</m:t>
                            </m:r>
                          </m:sub>
                          <m:sup/>
                        </m:sSubSup>
                      </m:num>
                      <m:den>
                        <m:r>
                          <a:rPr lang="en-US" altLang="zh-TW" sz="2400" b="0" i="1" smtClean="0">
                            <a:latin typeface="Cambria Math" panose="02040503050406030204" pitchFamily="18" charset="0"/>
                          </a:rPr>
                          <m:t>4</m:t>
                        </m:r>
                        <m:r>
                          <a:rPr lang="zh-TW" altLang="en-US" sz="2400" b="0" i="1" smtClean="0">
                            <a:latin typeface="Cambria Math" panose="02040503050406030204" pitchFamily="18" charset="0"/>
                          </a:rPr>
                          <m:t>𝜋</m:t>
                        </m:r>
                        <m:f>
                          <m:fPr>
                            <m:ctrlPr>
                              <a:rPr lang="en-US" altLang="zh-TW" sz="2400" b="0" i="1" smtClean="0">
                                <a:latin typeface="Cambria Math" panose="02040503050406030204" pitchFamily="18" charset="0"/>
                              </a:rPr>
                            </m:ctrlPr>
                          </m:fPr>
                          <m:num>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𝑑</m:t>
                                </m:r>
                              </m:e>
                              <m:sub>
                                <m:r>
                                  <a:rPr lang="en-US" altLang="zh-TW" sz="2400" b="0" i="1" smtClean="0">
                                    <a:latin typeface="Cambria Math" panose="02040503050406030204" pitchFamily="18" charset="0"/>
                                  </a:rPr>
                                  <m:t>𝑘</m:t>
                                </m:r>
                              </m:sub>
                            </m:sSub>
                          </m:num>
                          <m:den>
                            <m:r>
                              <m:rPr>
                                <m:nor/>
                              </m:rPr>
                              <a:rPr lang="el-GR" altLang="zh-TW" sz="2400"/>
                              <m:t>λ</m:t>
                            </m:r>
                          </m:den>
                        </m:f>
                        <m:rad>
                          <m:radPr>
                            <m:degHide m:val="on"/>
                            <m:ctrlPr>
                              <a:rPr lang="en-US" altLang="zh-TW" sz="2400" i="1">
                                <a:latin typeface="Cambria Math" panose="02040503050406030204" pitchFamily="18" charset="0"/>
                              </a:rPr>
                            </m:ctrlPr>
                          </m:radPr>
                          <m:deg/>
                          <m:e>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𝐾</m:t>
                                </m:r>
                              </m:e>
                              <m:sub>
                                <m:r>
                                  <a:rPr lang="en-US" altLang="zh-TW" sz="2400" i="1">
                                    <a:latin typeface="Cambria Math" panose="02040503050406030204" pitchFamily="18" charset="0"/>
                                  </a:rPr>
                                  <m:t>𝐵</m:t>
                                </m:r>
                              </m:sub>
                              <m:sup/>
                            </m:sSubSup>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𝑇</m:t>
                                </m:r>
                              </m:e>
                              <m:sub>
                                <m:r>
                                  <a:rPr lang="en-US" altLang="zh-TW" sz="2400" i="1">
                                    <a:latin typeface="Cambria Math" panose="02040503050406030204" pitchFamily="18" charset="0"/>
                                  </a:rPr>
                                  <m:t>𝑅</m:t>
                                </m:r>
                              </m:sub>
                              <m:sup/>
                            </m:sSubSup>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𝐵</m:t>
                                </m:r>
                              </m:e>
                              <m:sub>
                                <m:r>
                                  <a:rPr lang="en-US" altLang="zh-TW" sz="2400" i="1">
                                    <a:latin typeface="Cambria Math" panose="02040503050406030204" pitchFamily="18" charset="0"/>
                                  </a:rPr>
                                  <m:t>𝑊</m:t>
                                </m:r>
                              </m:sub>
                              <m:sup/>
                            </m:sSubSup>
                          </m:e>
                        </m:rad>
                      </m:den>
                    </m:f>
                  </m:oMath>
                </a14:m>
                <a:r>
                  <a:rPr lang="zh-TW" altLang="en-US" sz="1600" dirty="0" smtClean="0"/>
                  <a:t>               </a:t>
                </a:r>
                <a:r>
                  <a:rPr lang="en-US" altLang="zh-TW" sz="1600" dirty="0" smtClean="0"/>
                  <a:t>(3)</a:t>
                </a:r>
                <a:endParaRPr lang="zh-TW" altLang="en-US" sz="1600" dirty="0"/>
              </a:p>
            </p:txBody>
          </p:sp>
        </mc:Choice>
        <mc:Fallback xmlns="">
          <p:sp>
            <p:nvSpPr>
              <p:cNvPr id="4" name="文字版面配置區 3">
                <a:extLst>
                  <a:ext uri="{FF2B5EF4-FFF2-40B4-BE49-F238E27FC236}">
                    <a16:creationId xmlns:a16="http://schemas.microsoft.com/office/drawing/2014/main" xmlns="" id="{266A1B75-9A30-41DD-9A5B-5CAC32073970}"/>
                  </a:ext>
                </a:extLst>
              </p:cNvPr>
              <p:cNvSpPr>
                <a:spLocks noGrp="1" noRot="1" noChangeAspect="1" noMove="1" noResize="1" noEditPoints="1" noAdjustHandles="1" noChangeArrowheads="1" noChangeShapeType="1" noTextEdit="1"/>
              </p:cNvSpPr>
              <p:nvPr>
                <p:ph type="body" idx="1"/>
              </p:nvPr>
            </p:nvSpPr>
            <p:spPr>
              <a:blipFill rotWithShape="0">
                <a:blip r:embed="rId3"/>
                <a:stretch>
                  <a:fillRect r="-592"/>
                </a:stretch>
              </a:blipFill>
            </p:spPr>
            <p:txBody>
              <a:bodyPr/>
              <a:lstStyle/>
              <a:p>
                <a:r>
                  <a:rPr lang="zh-TW" altLang="en-US">
                    <a:noFill/>
                  </a:rPr>
                  <a:t> </a:t>
                </a:r>
              </a:p>
            </p:txBody>
          </p:sp>
        </mc:Fallback>
      </mc:AlternateContent>
      <p:sp>
        <p:nvSpPr>
          <p:cNvPr id="3" name="標題 2">
            <a:extLst>
              <a:ext uri="{FF2B5EF4-FFF2-40B4-BE49-F238E27FC236}">
                <a16:creationId xmlns="" xmlns:a16="http://schemas.microsoft.com/office/drawing/2014/main" id="{FBC3AEA0-09F1-4B37-9CBF-7808DFEB41AF}"/>
              </a:ext>
            </a:extLst>
          </p:cNvPr>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9164587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版面配置區 1"/>
              <p:cNvSpPr>
                <a:spLocks noGrp="1"/>
              </p:cNvSpPr>
              <p:nvPr>
                <p:ph type="body" idx="1"/>
              </p:nvPr>
            </p:nvSpPr>
            <p:spPr>
              <a:xfrm>
                <a:off x="970800" y="1223400"/>
                <a:ext cx="7202400" cy="3228600"/>
              </a:xfrm>
            </p:spPr>
            <p:txBody>
              <a:bodyPr/>
              <a:lstStyle/>
              <a:p>
                <a:pPr marL="152400" indent="0">
                  <a:buNone/>
                </a:pPr>
                <a:r>
                  <a:rPr lang="en-US" altLang="zh-TW" sz="1800" dirty="0" smtClean="0"/>
                  <a:t>In order to minimize the multiuser interference generated</a:t>
                </a:r>
                <a:r>
                  <a:rPr lang="zh-TW" altLang="en-US" sz="1800" dirty="0" smtClean="0"/>
                  <a:t> </a:t>
                </a:r>
                <a:r>
                  <a:rPr lang="en-US" altLang="zh-TW" sz="1800" dirty="0" smtClean="0"/>
                  <a:t>by the full frequency reuse and the on-board </a:t>
                </a:r>
                <a:r>
                  <a:rPr lang="en-US" altLang="zh-TW" sz="1800" dirty="0" err="1" smtClean="0"/>
                  <a:t>beamforming</a:t>
                </a:r>
                <a:r>
                  <a:rPr lang="zh-TW" altLang="en-US" sz="1800" dirty="0" smtClean="0"/>
                  <a:t> </a:t>
                </a:r>
                <a:r>
                  <a:rPr lang="en-US" altLang="zh-TW" sz="1800" dirty="0" smtClean="0"/>
                  <a:t>generation, </a:t>
                </a:r>
                <a:r>
                  <a:rPr lang="en-US" altLang="zh-TW" sz="1800" dirty="0" err="1" smtClean="0"/>
                  <a:t>precoding</a:t>
                </a:r>
                <a:r>
                  <a:rPr lang="en-US" altLang="zh-TW" sz="1800" dirty="0" smtClean="0"/>
                  <a:t> is considered. Under this context, the</a:t>
                </a:r>
                <a:r>
                  <a:rPr lang="zh-TW" altLang="en-US" sz="1800" dirty="0" smtClean="0"/>
                  <a:t> </a:t>
                </a:r>
                <a:r>
                  <a:rPr lang="en-US" altLang="zh-TW" sz="1800" dirty="0" smtClean="0"/>
                  <a:t>transmitted symbol vector will be (5),</a:t>
                </a:r>
                <a:r>
                  <a:rPr lang="zh-TW" altLang="en-US" sz="1800" dirty="0" smtClean="0"/>
                  <a:t> </a:t>
                </a:r>
                <a:r>
                  <a:rPr lang="en-US" altLang="zh-TW" sz="1800" dirty="0"/>
                  <a:t>matrix W </a:t>
                </a:r>
                <a:r>
                  <a:rPr lang="en-US" altLang="zh-TW" sz="1800" dirty="0" smtClean="0"/>
                  <a:t>∈</a:t>
                </a:r>
                <a:r>
                  <a:rPr lang="zh-TW" altLang="en-US" sz="1800" dirty="0" smtClean="0"/>
                  <a:t> </a:t>
                </a:r>
                <a14:m>
                  <m:oMath xmlns:m="http://schemas.openxmlformats.org/officeDocument/2006/math">
                    <m:sSubSup>
                      <m:sSubSupPr>
                        <m:ctrlPr>
                          <a:rPr lang="en-US" altLang="zh-TW" sz="1800" i="1">
                            <a:latin typeface="Cambria Math" panose="02040503050406030204" pitchFamily="18" charset="0"/>
                          </a:rPr>
                        </m:ctrlPr>
                      </m:sSubSupPr>
                      <m:e>
                        <m:r>
                          <m:rPr>
                            <m:nor/>
                          </m:rPr>
                          <a:rPr lang="en-US" altLang="zh-TW" sz="1800" dirty="0"/>
                          <m:t>ℂ</m:t>
                        </m:r>
                      </m:e>
                      <m:sub/>
                      <m:sup>
                        <m:r>
                          <a:rPr lang="en-US" altLang="zh-TW" sz="1800" i="1">
                            <a:latin typeface="Cambria Math" panose="02040503050406030204" pitchFamily="18" charset="0"/>
                          </a:rPr>
                          <m:t>𝐾𝑥𝑁</m:t>
                        </m:r>
                      </m:sup>
                    </m:sSubSup>
                  </m:oMath>
                </a14:m>
                <a:r>
                  <a:rPr lang="en-US" altLang="zh-TW" sz="1800" dirty="0"/>
                  <a:t>is the linear </a:t>
                </a:r>
                <a:r>
                  <a:rPr lang="en-US" altLang="zh-TW" sz="1800" dirty="0" err="1"/>
                  <a:t>precoding</a:t>
                </a:r>
                <a:r>
                  <a:rPr lang="en-US" altLang="zh-TW" sz="1800" dirty="0"/>
                  <a:t> matrix to be designed. Then, </a:t>
                </a:r>
                <a:r>
                  <a:rPr lang="en-US" altLang="zh-TW" sz="1800" dirty="0" smtClean="0"/>
                  <a:t>it</a:t>
                </a:r>
                <a:r>
                  <a:rPr lang="zh-TW" altLang="en-US" sz="1800" dirty="0" smtClean="0"/>
                  <a:t> </a:t>
                </a:r>
                <a:r>
                  <a:rPr lang="en-US" altLang="zh-TW" sz="1800" dirty="0" smtClean="0"/>
                  <a:t>follows </a:t>
                </a:r>
                <a:r>
                  <a:rPr lang="en-US" altLang="zh-TW" sz="1800" dirty="0"/>
                  <a:t>that the </a:t>
                </a:r>
                <a:r>
                  <a:rPr lang="en-US" altLang="zh-TW" sz="1800" dirty="0" err="1"/>
                  <a:t>precoder</a:t>
                </a:r>
                <a:r>
                  <a:rPr lang="en-US" altLang="zh-TW" sz="1800" dirty="0"/>
                  <a:t> vector is given </a:t>
                </a:r>
                <a:r>
                  <a:rPr lang="en-US" altLang="zh-TW" sz="1800" dirty="0" smtClean="0"/>
                  <a:t>by</a:t>
                </a:r>
              </a:p>
              <a:p>
                <a:pPr marL="152400" indent="0">
                  <a:buNone/>
                </a:pPr>
                <a:r>
                  <a:rPr lang="zh-TW" altLang="en-US" sz="1800" dirty="0"/>
                  <a:t> </a:t>
                </a:r>
                <a:endParaRPr lang="en-US" altLang="zh-TW" sz="1800" dirty="0"/>
              </a:p>
              <a:p>
                <a:pPr marL="152400" indent="0">
                  <a:buNone/>
                </a:pPr>
                <a:r>
                  <a:rPr lang="en-US" altLang="zh-TW" sz="1800" dirty="0" smtClean="0"/>
                  <a:t>			x </a:t>
                </a:r>
                <a:r>
                  <a:rPr lang="en-US" altLang="zh-TW" sz="1800" dirty="0"/>
                  <a:t>= </a:t>
                </a:r>
                <a:r>
                  <a:rPr lang="en-US" altLang="zh-TW" sz="1800" b="1" dirty="0" err="1" smtClean="0"/>
                  <a:t>W</a:t>
                </a:r>
                <a:r>
                  <a:rPr lang="en-US" altLang="zh-TW" sz="1800" dirty="0" err="1" smtClean="0"/>
                  <a:t>s</a:t>
                </a:r>
                <a:r>
                  <a:rPr lang="en-US" altLang="zh-TW" sz="1800" dirty="0" smtClean="0"/>
                  <a:t>    		(5)</a:t>
                </a:r>
                <a:endParaRPr lang="zh-TW" altLang="en-US" sz="1800" dirty="0"/>
              </a:p>
            </p:txBody>
          </p:sp>
        </mc:Choice>
        <mc:Fallback xmlns="">
          <p:sp>
            <p:nvSpPr>
              <p:cNvPr id="2" name="文字版面配置區 1"/>
              <p:cNvSpPr>
                <a:spLocks noGrp="1" noRot="1" noChangeAspect="1" noMove="1" noResize="1" noEditPoints="1" noAdjustHandles="1" noChangeArrowheads="1" noChangeShapeType="1" noTextEdit="1"/>
              </p:cNvSpPr>
              <p:nvPr>
                <p:ph type="body" idx="1"/>
              </p:nvPr>
            </p:nvSpPr>
            <p:spPr>
              <a:xfrm>
                <a:off x="970800" y="1223400"/>
                <a:ext cx="7202400" cy="3228600"/>
              </a:xfrm>
              <a:blipFill rotWithShape="0">
                <a:blip r:embed="rId3"/>
                <a:stretch>
                  <a:fillRect r="-1184"/>
                </a:stretch>
              </a:blipFill>
            </p:spPr>
            <p:txBody>
              <a:bodyPr/>
              <a:lstStyle/>
              <a:p>
                <a:r>
                  <a:rPr lang="zh-TW" altLang="en-US">
                    <a:noFill/>
                  </a:rPr>
                  <a:t> </a:t>
                </a:r>
              </a:p>
            </p:txBody>
          </p:sp>
        </mc:Fallback>
      </mc:AlternateContent>
      <p:sp>
        <p:nvSpPr>
          <p:cNvPr id="3" name="標題 2"/>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4" name="矩形 3"/>
              <p:cNvSpPr/>
              <p:nvPr/>
            </p:nvSpPr>
            <p:spPr>
              <a:xfrm>
                <a:off x="970799" y="3880484"/>
                <a:ext cx="7769439" cy="1006109"/>
              </a:xfrm>
              <a:prstGeom prst="rect">
                <a:avLst/>
              </a:prstGeom>
            </p:spPr>
            <p:txBody>
              <a:bodyPr wrap="square">
                <a:spAutoFit/>
              </a:bodyPr>
              <a:lstStyle/>
              <a:p>
                <a:r>
                  <a:rPr lang="en-US" altLang="zh-TW" dirty="0" smtClean="0">
                    <a:latin typeface="+mn-lt"/>
                  </a:rPr>
                  <a:t>For notational convenience, matrix </a:t>
                </a:r>
                <a:r>
                  <a:rPr lang="en-US" altLang="zh-TW" b="1" dirty="0">
                    <a:latin typeface="+mn-lt"/>
                  </a:rPr>
                  <a:t>W </a:t>
                </a:r>
                <a:r>
                  <a:rPr lang="en-US" altLang="zh-TW" dirty="0">
                    <a:latin typeface="+mn-lt"/>
                  </a:rPr>
                  <a:t>can be decomposed</a:t>
                </a:r>
              </a:p>
              <a:p>
                <a:r>
                  <a:rPr lang="en-US" altLang="zh-TW" dirty="0">
                    <a:latin typeface="+mn-lt"/>
                  </a:rPr>
                  <a:t>as </a:t>
                </a:r>
                <a:r>
                  <a:rPr lang="en-US" altLang="zh-TW" dirty="0" smtClean="0">
                    <a:latin typeface="+mn-lt"/>
                  </a:rPr>
                  <a:t>follows</a:t>
                </a:r>
              </a:p>
              <a:p>
                <a:endParaRPr lang="en-US" altLang="zh-TW" dirty="0">
                  <a:latin typeface="+mn-lt"/>
                </a:endParaRPr>
              </a:p>
              <a:p>
                <a:pPr algn="ctr"/>
                <a:r>
                  <a:rPr lang="en-US" altLang="zh-TW" b="1" dirty="0" smtClean="0">
                    <a:latin typeface="+mn-lt"/>
                  </a:rPr>
                  <a:t>W </a:t>
                </a:r>
                <a:r>
                  <a:rPr lang="en-US" altLang="zh-TW" dirty="0" smtClean="0">
                    <a:latin typeface="+mn-lt"/>
                  </a:rPr>
                  <a:t>=  (</a:t>
                </a:r>
                <a14:m>
                  <m:oMath xmlns:m="http://schemas.openxmlformats.org/officeDocument/2006/math">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1</m:t>
                        </m:r>
                      </m:sub>
                      <m:sup/>
                    </m:sSubSup>
                  </m:oMath>
                </a14:m>
                <a:r>
                  <a:rPr lang="en-US" altLang="zh-TW" i="1" dirty="0" smtClean="0">
                    <a:latin typeface="+mn-lt"/>
                  </a:rPr>
                  <a:t>, </a:t>
                </a:r>
                <a:r>
                  <a:rPr lang="en-US" altLang="zh-TW" i="1" dirty="0">
                    <a:latin typeface="+mn-lt"/>
                  </a:rPr>
                  <a:t>. . . ,</a:t>
                </a:r>
                <a:r>
                  <a:rPr lang="en-US" altLang="zh-TW" dirty="0"/>
                  <a: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𝑤</m:t>
                        </m:r>
                      </m:e>
                      <m:sub>
                        <m:r>
                          <a:rPr lang="en-US" altLang="zh-TW" b="0" i="1" smtClean="0">
                            <a:latin typeface="Cambria Math" panose="02040503050406030204" pitchFamily="18" charset="0"/>
                          </a:rPr>
                          <m:t>𝑘</m:t>
                        </m:r>
                      </m:sub>
                      <m:sup/>
                    </m:sSubSup>
                  </m:oMath>
                </a14:m>
                <a:r>
                  <a:rPr lang="en-US" altLang="zh-TW" dirty="0">
                    <a:latin typeface="+mn-lt"/>
                  </a:rPr>
                  <a:t>) </a:t>
                </a:r>
                <a:r>
                  <a:rPr lang="en-US" altLang="zh-TW" i="1" dirty="0" smtClean="0">
                    <a:latin typeface="+mn-lt"/>
                  </a:rPr>
                  <a:t> 	</a:t>
                </a:r>
                <a:r>
                  <a:rPr lang="en-US" altLang="zh-TW" dirty="0" smtClean="0">
                    <a:latin typeface="+mn-lt"/>
                  </a:rPr>
                  <a:t>(6)</a:t>
                </a:r>
                <a:endParaRPr lang="zh-TW" altLang="en-US" dirty="0">
                  <a:latin typeface="+mn-lt"/>
                </a:endParaRPr>
              </a:p>
            </p:txBody>
          </p:sp>
        </mc:Choice>
        <mc:Fallback xmlns="">
          <p:sp>
            <p:nvSpPr>
              <p:cNvPr id="4" name="矩形 3"/>
              <p:cNvSpPr>
                <a:spLocks noRot="1" noChangeAspect="1" noMove="1" noResize="1" noEditPoints="1" noAdjustHandles="1" noChangeArrowheads="1" noChangeShapeType="1" noTextEdit="1"/>
              </p:cNvSpPr>
              <p:nvPr/>
            </p:nvSpPr>
            <p:spPr>
              <a:xfrm>
                <a:off x="970799" y="3880484"/>
                <a:ext cx="7769439" cy="1006109"/>
              </a:xfrm>
              <a:prstGeom prst="rect">
                <a:avLst/>
              </a:prstGeom>
              <a:blipFill rotWithShape="0">
                <a:blip r:embed="rId4"/>
                <a:stretch>
                  <a:fillRect l="-235" t="-1212" b="-242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839163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矩形 11"/>
              <p:cNvSpPr/>
              <p:nvPr/>
            </p:nvSpPr>
            <p:spPr>
              <a:xfrm>
                <a:off x="1973039" y="217006"/>
                <a:ext cx="6331375" cy="3451907"/>
              </a:xfrm>
              <a:prstGeom prst="rect">
                <a:avLst/>
              </a:prstGeom>
            </p:spPr>
            <p:txBody>
              <a:bodyPr wrap="square">
                <a:spAutoFit/>
              </a:bodyPr>
              <a:lstStyle/>
              <a:p>
                <a:pPr marL="152400" indent="0">
                  <a:buNone/>
                </a:pPr>
                <a:endParaRPr lang="en-US" altLang="zh-TW" sz="2400" i="1" dirty="0" smtClean="0">
                  <a:latin typeface="+mn-lt"/>
                </a:endParaRPr>
              </a:p>
              <a:p>
                <a:pPr marL="152400" indent="0">
                  <a:buNone/>
                </a:pPr>
                <a:r>
                  <a:rPr lang="en-US" altLang="zh-TW" sz="2400" dirty="0">
                    <a:latin typeface="+mn-lt"/>
                  </a:rPr>
                  <a:t>y</a:t>
                </a:r>
                <a:r>
                  <a:rPr lang="en-US" altLang="zh-TW" sz="2400" dirty="0" smtClean="0">
                    <a:latin typeface="+mn-lt"/>
                  </a:rPr>
                  <a:t> = </a:t>
                </a:r>
                <a:r>
                  <a:rPr lang="en-US" altLang="zh-TW" sz="2400" dirty="0" err="1" smtClean="0">
                    <a:latin typeface="+mn-lt"/>
                  </a:rPr>
                  <a:t>Hx</a:t>
                </a:r>
                <a:r>
                  <a:rPr lang="en-US" altLang="zh-TW" sz="2400" dirty="0" smtClean="0">
                    <a:latin typeface="+mn-lt"/>
                  </a:rPr>
                  <a:t> + n 				 (1)</a:t>
                </a:r>
                <a:endParaRPr lang="en-US" altLang="zh-TW" sz="2400" dirty="0">
                  <a:latin typeface="+mn-lt"/>
                </a:endParaRPr>
              </a:p>
              <a:p>
                <a:pPr marL="152400" indent="0">
                  <a:buNone/>
                </a:pPr>
                <a:endParaRPr lang="en-US" altLang="zh-TW" sz="2400" i="1" dirty="0" smtClean="0">
                  <a:latin typeface="+mn-lt"/>
                </a:endParaRPr>
              </a:p>
              <a:p>
                <a:pPr marL="152400" indent="0">
                  <a:buNone/>
                </a:pPr>
                <a:r>
                  <a:rPr lang="en-US" altLang="zh-TW" sz="2400" dirty="0" smtClean="0">
                    <a:latin typeface="+mn-lt"/>
                  </a:rPr>
                  <a:t>H = AG 				 (2)</a:t>
                </a:r>
                <a:endParaRPr lang="en-US" altLang="zh-TW" sz="2400" dirty="0">
                  <a:latin typeface="+mn-lt"/>
                </a:endParaRPr>
              </a:p>
              <a:p>
                <a:pPr marL="152400" indent="0">
                  <a:buNone/>
                </a:pPr>
                <a14:m>
                  <m:oMath xmlns:m="http://schemas.openxmlformats.org/officeDocument/2006/math">
                    <m:sSubSup>
                      <m:sSubSupPr>
                        <m:ctrlPr>
                          <a:rPr lang="en-US" altLang="zh-TW" sz="2400" i="1" smtClean="0">
                            <a:latin typeface="Cambria Math" panose="02040503050406030204" pitchFamily="18" charset="0"/>
                          </a:rPr>
                        </m:ctrlPr>
                      </m:sSubSupPr>
                      <m:e>
                        <m:d>
                          <m:dPr>
                            <m:ctrlPr>
                              <a:rPr lang="en-US" altLang="zh-TW" sz="2400" i="1">
                                <a:latin typeface="Cambria Math" panose="02040503050406030204" pitchFamily="18" charset="0"/>
                              </a:rPr>
                            </m:ctrlPr>
                          </m:dPr>
                          <m:e>
                            <m:r>
                              <m:rPr>
                                <m:sty m:val="p"/>
                              </m:rPr>
                              <a:rPr lang="en-US" altLang="zh-TW" sz="2400" i="1">
                                <a:latin typeface="Cambria Math" panose="02040503050406030204" pitchFamily="18" charset="0"/>
                              </a:rPr>
                              <m:t>G</m:t>
                            </m:r>
                          </m:e>
                        </m:d>
                      </m:e>
                      <m:sub>
                        <m:r>
                          <a:rPr lang="en-US" altLang="zh-TW" sz="2400" i="1">
                            <a:latin typeface="Cambria Math" panose="02040503050406030204" pitchFamily="18" charset="0"/>
                          </a:rPr>
                          <m:t>𝑘</m:t>
                        </m:r>
                        <m:r>
                          <a:rPr lang="en-US" altLang="zh-TW" sz="2400" i="1">
                            <a:latin typeface="Cambria Math" panose="02040503050406030204" pitchFamily="18" charset="0"/>
                          </a:rPr>
                          <m:t>,</m:t>
                        </m:r>
                        <m:r>
                          <a:rPr lang="en-US" altLang="zh-TW" sz="2400" i="1">
                            <a:latin typeface="Cambria Math" panose="02040503050406030204" pitchFamily="18" charset="0"/>
                          </a:rPr>
                          <m:t>𝑛</m:t>
                        </m:r>
                      </m:sub>
                      <m:sup/>
                    </m:sSubSup>
                  </m:oMath>
                </a14:m>
                <a:r>
                  <a:rPr lang="en-US" altLang="zh-TW" sz="2400" dirty="0">
                    <a:latin typeface="+mn-lt"/>
                  </a:rPr>
                  <a:t>= </a:t>
                </a:r>
                <a14:m>
                  <m:oMath xmlns:m="http://schemas.openxmlformats.org/officeDocument/2006/math">
                    <m:f>
                      <m:fPr>
                        <m:ctrlPr>
                          <a:rPr lang="en-US" altLang="zh-TW" sz="2400" i="1">
                            <a:latin typeface="Cambria Math" panose="02040503050406030204" pitchFamily="18" charset="0"/>
                          </a:rPr>
                        </m:ctrlPr>
                      </m:fPr>
                      <m:num>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𝐺</m:t>
                            </m:r>
                          </m:e>
                          <m:sub>
                            <m:r>
                              <a:rPr lang="en-US" altLang="zh-TW" sz="2400" i="1">
                                <a:latin typeface="Cambria Math" panose="02040503050406030204" pitchFamily="18" charset="0"/>
                              </a:rPr>
                              <m:t>𝑅</m:t>
                            </m:r>
                          </m:sub>
                          <m:sup/>
                        </m:sSubSup>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𝑎</m:t>
                            </m:r>
                          </m:e>
                          <m:sub>
                            <m:r>
                              <a:rPr lang="en-US" altLang="zh-TW" sz="2400" i="1">
                                <a:latin typeface="Cambria Math" panose="02040503050406030204" pitchFamily="18" charset="0"/>
                              </a:rPr>
                              <m:t>𝑘𝑛</m:t>
                            </m:r>
                          </m:sub>
                          <m:sup/>
                        </m:sSubSup>
                      </m:num>
                      <m:den>
                        <m:r>
                          <a:rPr lang="en-US" altLang="zh-TW" sz="2400" i="1">
                            <a:latin typeface="Cambria Math" panose="02040503050406030204" pitchFamily="18" charset="0"/>
                          </a:rPr>
                          <m:t>4</m:t>
                        </m:r>
                        <m:r>
                          <a:rPr lang="zh-TW" altLang="en-US" sz="2400" i="1">
                            <a:latin typeface="Cambria Math" panose="02040503050406030204" pitchFamily="18" charset="0"/>
                          </a:rPr>
                          <m:t>𝜋</m:t>
                        </m:r>
                        <m:f>
                          <m:fPr>
                            <m:ctrlPr>
                              <a:rPr lang="en-US" altLang="zh-TW" sz="2400" i="1">
                                <a:latin typeface="Cambria Math" panose="02040503050406030204" pitchFamily="18" charset="0"/>
                              </a:rPr>
                            </m:ctrlPr>
                          </m:fPr>
                          <m:num>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𝑑</m:t>
                                </m:r>
                              </m:e>
                              <m:sub>
                                <m:r>
                                  <a:rPr lang="en-US" altLang="zh-TW" sz="2400" i="1">
                                    <a:latin typeface="Cambria Math" panose="02040503050406030204" pitchFamily="18" charset="0"/>
                                  </a:rPr>
                                  <m:t>𝑘</m:t>
                                </m:r>
                              </m:sub>
                            </m:sSub>
                          </m:num>
                          <m:den>
                            <m:r>
                              <m:rPr>
                                <m:nor/>
                              </m:rPr>
                              <a:rPr lang="el-GR" altLang="zh-TW" sz="2400">
                                <a:latin typeface="+mn-lt"/>
                              </a:rPr>
                              <m:t>λ</m:t>
                            </m:r>
                          </m:den>
                        </m:f>
                        <m:rad>
                          <m:radPr>
                            <m:degHide m:val="on"/>
                            <m:ctrlPr>
                              <a:rPr lang="en-US" altLang="zh-TW" sz="2400" i="1">
                                <a:latin typeface="Cambria Math" panose="02040503050406030204" pitchFamily="18" charset="0"/>
                              </a:rPr>
                            </m:ctrlPr>
                          </m:radPr>
                          <m:deg/>
                          <m:e>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𝐾</m:t>
                                </m:r>
                              </m:e>
                              <m:sub>
                                <m:r>
                                  <a:rPr lang="en-US" altLang="zh-TW" sz="2400" i="1">
                                    <a:latin typeface="Cambria Math" panose="02040503050406030204" pitchFamily="18" charset="0"/>
                                  </a:rPr>
                                  <m:t>𝐵</m:t>
                                </m:r>
                              </m:sub>
                              <m:sup/>
                            </m:sSubSup>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𝑇</m:t>
                                </m:r>
                              </m:e>
                              <m:sub>
                                <m:r>
                                  <a:rPr lang="en-US" altLang="zh-TW" sz="2400" i="1">
                                    <a:latin typeface="Cambria Math" panose="02040503050406030204" pitchFamily="18" charset="0"/>
                                  </a:rPr>
                                  <m:t>𝑅</m:t>
                                </m:r>
                              </m:sub>
                              <m:sup/>
                            </m:sSubSup>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𝐵</m:t>
                                </m:r>
                              </m:e>
                              <m:sub>
                                <m:r>
                                  <a:rPr lang="en-US" altLang="zh-TW" sz="2400" i="1">
                                    <a:latin typeface="Cambria Math" panose="02040503050406030204" pitchFamily="18" charset="0"/>
                                  </a:rPr>
                                  <m:t>𝑊</m:t>
                                </m:r>
                              </m:sub>
                              <m:sup/>
                            </m:sSubSup>
                          </m:e>
                        </m:rad>
                      </m:den>
                    </m:f>
                  </m:oMath>
                </a14:m>
                <a:r>
                  <a:rPr lang="zh-TW" altLang="en-US" sz="2400" dirty="0">
                    <a:latin typeface="+mn-lt"/>
                  </a:rPr>
                  <a:t>         </a:t>
                </a:r>
                <a:r>
                  <a:rPr lang="zh-TW" altLang="en-US" sz="2400" dirty="0" smtClean="0">
                    <a:latin typeface="+mn-lt"/>
                  </a:rPr>
                  <a:t> </a:t>
                </a:r>
                <a:r>
                  <a:rPr lang="en-US" altLang="zh-TW" sz="2400" dirty="0" smtClean="0">
                    <a:latin typeface="+mn-lt"/>
                  </a:rPr>
                  <a:t>	</a:t>
                </a:r>
                <a:r>
                  <a:rPr lang="en-US" altLang="zh-TW" sz="2400" dirty="0" smtClean="0">
                    <a:latin typeface="+mn-lt"/>
                  </a:rPr>
                  <a:t> </a:t>
                </a:r>
                <a:r>
                  <a:rPr lang="en-US" altLang="zh-TW" sz="2400" dirty="0" smtClean="0">
                    <a:latin typeface="+mn-lt"/>
                  </a:rPr>
                  <a:t>(</a:t>
                </a:r>
                <a:r>
                  <a:rPr lang="en-US" altLang="zh-TW" sz="2400" dirty="0">
                    <a:latin typeface="+mn-lt"/>
                  </a:rPr>
                  <a:t>3</a:t>
                </a:r>
                <a:r>
                  <a:rPr lang="en-US" altLang="zh-TW" sz="2400" dirty="0" smtClean="0">
                    <a:latin typeface="+mn-lt"/>
                  </a:rPr>
                  <a:t>)</a:t>
                </a:r>
              </a:p>
              <a:p>
                <a:pPr marL="152400"/>
                <a:endParaRPr lang="en-US" altLang="zh-TW" sz="2400" dirty="0">
                  <a:latin typeface="+mn-lt"/>
                </a:endParaRPr>
              </a:p>
              <a:p>
                <a:pPr marL="152400"/>
                <a:r>
                  <a:rPr lang="en-US" altLang="zh-TW" sz="2400" dirty="0">
                    <a:latin typeface="+mn-lt"/>
                  </a:rPr>
                  <a:t>x</a:t>
                </a:r>
                <a:r>
                  <a:rPr lang="en-US" altLang="zh-TW" sz="2400" dirty="0" smtClean="0">
                    <a:latin typeface="+mn-lt"/>
                  </a:rPr>
                  <a:t> = </a:t>
                </a:r>
                <a:r>
                  <a:rPr lang="en-US" altLang="zh-TW" sz="2400" dirty="0" err="1" smtClean="0">
                    <a:latin typeface="+mn-lt"/>
                  </a:rPr>
                  <a:t>Ws</a:t>
                </a:r>
                <a:r>
                  <a:rPr lang="en-US" altLang="zh-TW" sz="2400" dirty="0" smtClean="0">
                    <a:latin typeface="+mn-lt"/>
                  </a:rPr>
                  <a:t>				 (5)</a:t>
                </a:r>
                <a:endParaRPr lang="zh-TW" altLang="en-US" sz="2400" dirty="0">
                  <a:latin typeface="+mn-lt"/>
                </a:endParaRPr>
              </a:p>
              <a:p>
                <a:pPr marL="152400" indent="0">
                  <a:buNone/>
                </a:pPr>
                <a:endParaRPr lang="zh-TW" altLang="en-US" sz="1100" dirty="0">
                  <a:latin typeface="+mn-lt"/>
                </a:endParaRPr>
              </a:p>
            </p:txBody>
          </p:sp>
        </mc:Choice>
        <mc:Fallback>
          <p:sp>
            <p:nvSpPr>
              <p:cNvPr id="12" name="矩形 11"/>
              <p:cNvSpPr>
                <a:spLocks noRot="1" noChangeAspect="1" noMove="1" noResize="1" noEditPoints="1" noAdjustHandles="1" noChangeArrowheads="1" noChangeShapeType="1" noTextEdit="1"/>
              </p:cNvSpPr>
              <p:nvPr/>
            </p:nvSpPr>
            <p:spPr>
              <a:xfrm>
                <a:off x="1973039" y="217006"/>
                <a:ext cx="6331375" cy="3451907"/>
              </a:xfrm>
              <a:prstGeom prst="rect">
                <a:avLst/>
              </a:prstGeom>
              <a:blipFill rotWithShape="0">
                <a:blip r:embed="rId2"/>
                <a:stretch>
                  <a:fillRect/>
                </a:stretch>
              </a:blipFill>
            </p:spPr>
            <p:txBody>
              <a:bodyPr/>
              <a:lstStyle/>
              <a:p>
                <a:r>
                  <a:rPr lang="zh-TW" altLang="en-US">
                    <a:noFill/>
                  </a:rPr>
                  <a:t> </a:t>
                </a:r>
              </a:p>
            </p:txBody>
          </p:sp>
        </mc:Fallback>
      </mc:AlternateContent>
      <p:sp>
        <p:nvSpPr>
          <p:cNvPr id="13" name="圓角矩形圖說文字 12"/>
          <p:cNvSpPr/>
          <p:nvPr/>
        </p:nvSpPr>
        <p:spPr>
          <a:xfrm>
            <a:off x="451262" y="1175657"/>
            <a:ext cx="1068780" cy="1235034"/>
          </a:xfrm>
          <a:prstGeom prst="wedgeRoundRectCallout">
            <a:avLst>
              <a:gd name="adj1" fmla="val 67005"/>
              <a:gd name="adj2" fmla="val -2211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n w="0"/>
                <a:solidFill>
                  <a:schemeClr val="tx1"/>
                </a:solidFill>
                <a:effectLst>
                  <a:outerShdw blurRad="38100" dist="19050" dir="2700000" algn="tl" rotWithShape="0">
                    <a:schemeClr val="dk1">
                      <a:alpha val="40000"/>
                    </a:schemeClr>
                  </a:outerShdw>
                </a:effectLst>
              </a:rPr>
              <a:t>Channel matrix</a:t>
            </a:r>
            <a:endParaRPr lang="zh-TW" altLang="en-US" dirty="0">
              <a:ln w="0"/>
              <a:solidFill>
                <a:schemeClr val="tx1"/>
              </a:solidFill>
              <a:effectLst>
                <a:outerShdw blurRad="38100" dist="19050" dir="2700000" algn="tl" rotWithShape="0">
                  <a:schemeClr val="dk1">
                    <a:alpha val="40000"/>
                  </a:schemeClr>
                </a:outerShdw>
              </a:effectLst>
            </a:endParaRPr>
          </a:p>
        </p:txBody>
      </p:sp>
      <p:sp>
        <p:nvSpPr>
          <p:cNvPr id="14" name="圓角矩形圖說文字 13"/>
          <p:cNvSpPr/>
          <p:nvPr/>
        </p:nvSpPr>
        <p:spPr>
          <a:xfrm>
            <a:off x="556161" y="1793174"/>
            <a:ext cx="1068780" cy="1235034"/>
          </a:xfrm>
          <a:prstGeom prst="wedgeRoundRectCallout">
            <a:avLst>
              <a:gd name="adj1" fmla="val 67005"/>
              <a:gd name="adj2" fmla="val -22115"/>
              <a:gd name="adj3" fmla="val 1666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n w="0"/>
                <a:solidFill>
                  <a:schemeClr val="tx1"/>
                </a:solidFill>
                <a:effectLst>
                  <a:outerShdw blurRad="38100" dist="19050" dir="2700000" algn="tl" rotWithShape="0">
                    <a:schemeClr val="dk1">
                      <a:alpha val="40000"/>
                    </a:schemeClr>
                  </a:outerShdw>
                </a:effectLst>
              </a:rPr>
              <a:t>Gain and loss factor</a:t>
            </a:r>
            <a:endParaRPr lang="zh-TW" altLang="en-US" dirty="0">
              <a:ln w="0"/>
              <a:solidFill>
                <a:schemeClr val="tx1"/>
              </a:solidFill>
              <a:effectLst>
                <a:outerShdw blurRad="38100" dist="19050" dir="2700000" algn="tl" rotWithShape="0">
                  <a:schemeClr val="dk1">
                    <a:alpha val="40000"/>
                  </a:schemeClr>
                </a:outerShdw>
              </a:effectLst>
            </a:endParaRPr>
          </a:p>
        </p:txBody>
      </p:sp>
      <p:sp>
        <p:nvSpPr>
          <p:cNvPr id="15" name="圓角矩形圖說文字 14"/>
          <p:cNvSpPr/>
          <p:nvPr/>
        </p:nvSpPr>
        <p:spPr>
          <a:xfrm>
            <a:off x="661060" y="2814453"/>
            <a:ext cx="1068780" cy="1235034"/>
          </a:xfrm>
          <a:prstGeom prst="wedgeRoundRectCallout">
            <a:avLst>
              <a:gd name="adj1" fmla="val 67005"/>
              <a:gd name="adj2" fmla="val -22115"/>
              <a:gd name="adj3" fmla="val 16667"/>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n w="0"/>
                <a:solidFill>
                  <a:schemeClr val="tx1"/>
                </a:solidFill>
                <a:effectLst>
                  <a:outerShdw blurRad="38100" dist="19050" dir="2700000" algn="tl" rotWithShape="0">
                    <a:schemeClr val="dk1">
                      <a:alpha val="40000"/>
                    </a:schemeClr>
                  </a:outerShdw>
                </a:effectLst>
              </a:rPr>
              <a:t>W = linear </a:t>
            </a:r>
            <a:r>
              <a:rPr lang="en-US" altLang="zh-TW" dirty="0" err="1" smtClean="0">
                <a:ln w="0"/>
                <a:solidFill>
                  <a:schemeClr val="tx1"/>
                </a:solidFill>
                <a:effectLst>
                  <a:outerShdw blurRad="38100" dist="19050" dir="2700000" algn="tl" rotWithShape="0">
                    <a:schemeClr val="dk1">
                      <a:alpha val="40000"/>
                    </a:schemeClr>
                  </a:outerShdw>
                </a:effectLst>
              </a:rPr>
              <a:t>precoding</a:t>
            </a:r>
            <a:r>
              <a:rPr lang="en-US" altLang="zh-TW" dirty="0" smtClean="0">
                <a:ln w="0"/>
                <a:solidFill>
                  <a:schemeClr val="tx1"/>
                </a:solidFill>
                <a:effectLst>
                  <a:outerShdw blurRad="38100" dist="19050" dir="2700000" algn="tl" rotWithShape="0">
                    <a:schemeClr val="dk1">
                      <a:alpha val="40000"/>
                    </a:schemeClr>
                  </a:outerShdw>
                </a:effectLst>
              </a:rPr>
              <a:t> matrix</a:t>
            </a:r>
            <a:endParaRPr lang="zh-TW" alt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6040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1000"/>
                                        <p:tgtEl>
                                          <p:spTgt spid="13"/>
                                        </p:tgtEl>
                                      </p:cBhvr>
                                    </p:animEffect>
                                    <p:anim calcmode="lin" valueType="num">
                                      <p:cBhvr>
                                        <p:cTn id="14" dur="1000"/>
                                        <p:tgtEl>
                                          <p:spTgt spid="13"/>
                                        </p:tgtEl>
                                        <p:attrNameLst>
                                          <p:attrName>ppt_x</p:attrName>
                                        </p:attrNameLst>
                                      </p:cBhvr>
                                      <p:tavLst>
                                        <p:tav tm="0">
                                          <p:val>
                                            <p:strVal val="ppt_x"/>
                                          </p:val>
                                        </p:tav>
                                        <p:tav tm="100000">
                                          <p:val>
                                            <p:strVal val="ppt_x"/>
                                          </p:val>
                                        </p:tav>
                                      </p:tavLst>
                                    </p:anim>
                                    <p:anim calcmode="lin" valueType="num">
                                      <p:cBhvr>
                                        <p:cTn id="15" dur="1000"/>
                                        <p:tgtEl>
                                          <p:spTgt spid="13"/>
                                        </p:tgtEl>
                                        <p:attrNameLst>
                                          <p:attrName>ppt_y</p:attrName>
                                        </p:attrNameLst>
                                      </p:cBhvr>
                                      <p:tavLst>
                                        <p:tav tm="0">
                                          <p:val>
                                            <p:strVal val="ppt_y"/>
                                          </p:val>
                                        </p:tav>
                                        <p:tav tm="100000">
                                          <p:val>
                                            <p:strVal val="ppt_y+.1"/>
                                          </p:val>
                                        </p:tav>
                                      </p:tavLst>
                                    </p:anim>
                                    <p:set>
                                      <p:cBhvr>
                                        <p:cTn id="16" dur="1" fill="hold">
                                          <p:stCondLst>
                                            <p:cond delay="999"/>
                                          </p:stCondLst>
                                        </p:cTn>
                                        <p:tgtEl>
                                          <p:spTgt spid="1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1" nodeType="clickEffect">
                                  <p:stCondLst>
                                    <p:cond delay="0"/>
                                  </p:stCondLst>
                                  <p:childTnLst>
                                    <p:animEffect transition="out" filter="fade">
                                      <p:cBhvr>
                                        <p:cTn id="27" dur="1000"/>
                                        <p:tgtEl>
                                          <p:spTgt spid="14"/>
                                        </p:tgtEl>
                                      </p:cBhvr>
                                    </p:animEffect>
                                    <p:anim calcmode="lin" valueType="num">
                                      <p:cBhvr>
                                        <p:cTn id="28" dur="1000"/>
                                        <p:tgtEl>
                                          <p:spTgt spid="14"/>
                                        </p:tgtEl>
                                        <p:attrNameLst>
                                          <p:attrName>ppt_x</p:attrName>
                                        </p:attrNameLst>
                                      </p:cBhvr>
                                      <p:tavLst>
                                        <p:tav tm="0">
                                          <p:val>
                                            <p:strVal val="ppt_x"/>
                                          </p:val>
                                        </p:tav>
                                        <p:tav tm="100000">
                                          <p:val>
                                            <p:strVal val="ppt_x"/>
                                          </p:val>
                                        </p:tav>
                                      </p:tavLst>
                                    </p:anim>
                                    <p:anim calcmode="lin" valueType="num">
                                      <p:cBhvr>
                                        <p:cTn id="29" dur="1000"/>
                                        <p:tgtEl>
                                          <p:spTgt spid="14"/>
                                        </p:tgtEl>
                                        <p:attrNameLst>
                                          <p:attrName>ppt_y</p:attrName>
                                        </p:attrNameLst>
                                      </p:cBhvr>
                                      <p:tavLst>
                                        <p:tav tm="0">
                                          <p:val>
                                            <p:strVal val="ppt_y"/>
                                          </p:val>
                                        </p:tav>
                                        <p:tav tm="100000">
                                          <p:val>
                                            <p:strVal val="ppt_y+.1"/>
                                          </p:val>
                                        </p:tav>
                                      </p:tavLst>
                                    </p:anim>
                                    <p:set>
                                      <p:cBhvr>
                                        <p:cTn id="30" dur="1" fill="hold">
                                          <p:stCondLst>
                                            <p:cond delay="999"/>
                                          </p:stCondLst>
                                        </p:cTn>
                                        <p:tgtEl>
                                          <p:spTgt spid="1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1" nodeType="clickEffect">
                                  <p:stCondLst>
                                    <p:cond delay="0"/>
                                  </p:stCondLst>
                                  <p:childTnLst>
                                    <p:animEffect transition="out" filter="fade">
                                      <p:cBhvr>
                                        <p:cTn id="41" dur="1000"/>
                                        <p:tgtEl>
                                          <p:spTgt spid="15"/>
                                        </p:tgtEl>
                                      </p:cBhvr>
                                    </p:animEffect>
                                    <p:anim calcmode="lin" valueType="num">
                                      <p:cBhvr>
                                        <p:cTn id="42" dur="1000"/>
                                        <p:tgtEl>
                                          <p:spTgt spid="15"/>
                                        </p:tgtEl>
                                        <p:attrNameLst>
                                          <p:attrName>ppt_x</p:attrName>
                                        </p:attrNameLst>
                                      </p:cBhvr>
                                      <p:tavLst>
                                        <p:tav tm="0">
                                          <p:val>
                                            <p:strVal val="ppt_x"/>
                                          </p:val>
                                        </p:tav>
                                        <p:tav tm="100000">
                                          <p:val>
                                            <p:strVal val="ppt_x"/>
                                          </p:val>
                                        </p:tav>
                                      </p:tavLst>
                                    </p:anim>
                                    <p:anim calcmode="lin" valueType="num">
                                      <p:cBhvr>
                                        <p:cTn id="43" dur="1000"/>
                                        <p:tgtEl>
                                          <p:spTgt spid="15"/>
                                        </p:tgtEl>
                                        <p:attrNameLst>
                                          <p:attrName>ppt_y</p:attrName>
                                        </p:attrNameLst>
                                      </p:cBhvr>
                                      <p:tavLst>
                                        <p:tav tm="0">
                                          <p:val>
                                            <p:strVal val="ppt_y"/>
                                          </p:val>
                                        </p:tav>
                                        <p:tav tm="100000">
                                          <p:val>
                                            <p:strVal val="ppt_y+.1"/>
                                          </p:val>
                                        </p:tav>
                                      </p:tavLst>
                                    </p:anim>
                                    <p:set>
                                      <p:cBhvr>
                                        <p:cTn id="44" dur="1" fill="hold">
                                          <p:stCondLst>
                                            <p:cond delay="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5" grpId="0" animBg="1"/>
      <p:bldP spid="1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0"/>
          <p:cNvSpPr txBox="1">
            <a:spLocks noGrp="1"/>
          </p:cNvSpPr>
          <p:nvPr>
            <p:ph type="title"/>
          </p:nvPr>
        </p:nvSpPr>
        <p:spPr>
          <a:xfrm>
            <a:off x="1270050" y="862425"/>
            <a:ext cx="6603900" cy="952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err="1" smtClean="0"/>
              <a:t>Precoding</a:t>
            </a:r>
            <a:r>
              <a:rPr lang="en-US" dirty="0" smtClean="0"/>
              <a:t> Design</a:t>
            </a:r>
            <a:endParaRPr dirty="0"/>
          </a:p>
        </p:txBody>
      </p:sp>
      <p:sp>
        <p:nvSpPr>
          <p:cNvPr id="3" name="副標題 2">
            <a:extLst>
              <a:ext uri="{FF2B5EF4-FFF2-40B4-BE49-F238E27FC236}">
                <a16:creationId xmlns="" xmlns:a16="http://schemas.microsoft.com/office/drawing/2014/main" id="{FF82D78A-F7AC-4B03-9A56-8E644899AF11}"/>
              </a:ext>
            </a:extLst>
          </p:cNvPr>
          <p:cNvSpPr>
            <a:spLocks noGrp="1"/>
          </p:cNvSpPr>
          <p:nvPr>
            <p:ph type="subTitle" idx="1"/>
          </p:nvPr>
        </p:nvSpPr>
        <p:spPr/>
        <p:txBody>
          <a:bodyPr/>
          <a:lstStyle/>
          <a:p>
            <a:endParaRPr lang="zh-TW" altLang="en-US"/>
          </a:p>
        </p:txBody>
      </p:sp>
      <p:sp>
        <p:nvSpPr>
          <p:cNvPr id="5" name="副標題 4">
            <a:extLst>
              <a:ext uri="{FF2B5EF4-FFF2-40B4-BE49-F238E27FC236}">
                <a16:creationId xmlns="" xmlns:a16="http://schemas.microsoft.com/office/drawing/2014/main" id="{C92BDA01-D31F-4842-B13E-3B9B17E1DCC0}"/>
              </a:ext>
            </a:extLst>
          </p:cNvPr>
          <p:cNvSpPr>
            <a:spLocks noGrp="1"/>
          </p:cNvSpPr>
          <p:nvPr>
            <p:ph type="subTitle" idx="1"/>
          </p:nvPr>
        </p:nvSpPr>
        <p:spPr/>
        <p:txBody>
          <a:bodyPr/>
          <a:lstStyle/>
          <a:p>
            <a:endParaRPr lang="zh-TW" altLang="en-US"/>
          </a:p>
        </p:txBody>
      </p:sp>
      <p:sp>
        <p:nvSpPr>
          <p:cNvPr id="7" name="副標題 6">
            <a:extLst>
              <a:ext uri="{FF2B5EF4-FFF2-40B4-BE49-F238E27FC236}">
                <a16:creationId xmlns="" xmlns:a16="http://schemas.microsoft.com/office/drawing/2014/main" id="{E28B1581-995A-4E19-A97F-0DC7818090CC}"/>
              </a:ext>
            </a:extLst>
          </p:cNvPr>
          <p:cNvSpPr>
            <a:spLocks noGrp="1"/>
          </p:cNvSpPr>
          <p:nvPr>
            <p:ph type="subTitle" idx="1"/>
          </p:nvPr>
        </p:nvSpPr>
        <p:spPr/>
        <p:txBody>
          <a:bodyPr/>
          <a:lstStyle/>
          <a:p>
            <a:endParaRPr lang="zh-TW" altLang="en-US" dirty="0"/>
          </a:p>
        </p:txBody>
      </p:sp>
    </p:spTree>
    <p:extLst>
      <p:ext uri="{BB962C8B-B14F-4D97-AF65-F5344CB8AC3E}">
        <p14:creationId xmlns:p14="http://schemas.microsoft.com/office/powerpoint/2010/main" val="42034419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3"/>
          <p:cNvSpPr/>
          <p:nvPr/>
        </p:nvSpPr>
        <p:spPr>
          <a:xfrm>
            <a:off x="1005937" y="2213526"/>
            <a:ext cx="3396000" cy="3091500"/>
          </a:xfrm>
          <a:prstGeom prst="roundRect">
            <a:avLst>
              <a:gd name="adj" fmla="val 10236"/>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3"/>
          <p:cNvSpPr txBox="1">
            <a:spLocks noGrp="1"/>
          </p:cNvSpPr>
          <p:nvPr>
            <p:ph type="subTitle" idx="4294967295"/>
          </p:nvPr>
        </p:nvSpPr>
        <p:spPr>
          <a:xfrm>
            <a:off x="1433742" y="2962626"/>
            <a:ext cx="2572792" cy="414300"/>
          </a:xfrm>
          <a:prstGeom prst="rect">
            <a:avLst/>
          </a:prstGeom>
        </p:spPr>
        <p:txBody>
          <a:bodyPr spcFirstLastPara="1" wrap="square" lIns="91425" tIns="91425" rIns="91425" bIns="91425" anchor="t" anchorCtr="0">
            <a:noAutofit/>
          </a:bodyPr>
          <a:lstStyle/>
          <a:p>
            <a:pPr marL="0" lvl="0" indent="0">
              <a:spcAft>
                <a:spcPts val="1600"/>
              </a:spcAft>
              <a:buNone/>
            </a:pPr>
            <a:r>
              <a:rPr lang="zh-TW" altLang="en-US" sz="1400" dirty="0"/>
              <a:t>零抑制</a:t>
            </a:r>
            <a:r>
              <a:rPr lang="zh-TW" altLang="en-US" sz="1400" dirty="0" smtClean="0"/>
              <a:t>等化器</a:t>
            </a:r>
            <a:r>
              <a:rPr lang="en-US" altLang="zh-TW" sz="1400" dirty="0" smtClean="0"/>
              <a:t>:</a:t>
            </a:r>
          </a:p>
          <a:p>
            <a:pPr marL="0" lvl="0" indent="0">
              <a:spcAft>
                <a:spcPts val="1600"/>
              </a:spcAft>
              <a:buNone/>
            </a:pPr>
            <a:r>
              <a:rPr lang="en-US" altLang="zh-TW" sz="1400" dirty="0"/>
              <a:t>ZF</a:t>
            </a:r>
            <a:r>
              <a:rPr lang="zh-TW" altLang="en-US" sz="1400" dirty="0"/>
              <a:t>等化器候確實可以將無線通道雜訊 消除，但是缺點卻放大了</a:t>
            </a:r>
            <a:r>
              <a:rPr lang="en-US" altLang="zh-TW" sz="1400" dirty="0"/>
              <a:t>AWGN</a:t>
            </a:r>
            <a:r>
              <a:rPr lang="zh-TW" altLang="en-US" sz="1400" dirty="0"/>
              <a:t>雜訊，所以說</a:t>
            </a:r>
            <a:r>
              <a:rPr lang="en-US" altLang="zh-TW" sz="1400" dirty="0"/>
              <a:t>ZF</a:t>
            </a:r>
            <a:r>
              <a:rPr lang="zh-TW" altLang="en-US" sz="1400" dirty="0"/>
              <a:t>等化器 比較適合用再信號雜訊比</a:t>
            </a:r>
            <a:r>
              <a:rPr lang="en-US" altLang="zh-TW" sz="1400" dirty="0"/>
              <a:t>(Signal to Noise Ratio ,SNR)</a:t>
            </a:r>
            <a:r>
              <a:rPr lang="zh-TW" altLang="en-US" sz="1400" dirty="0"/>
              <a:t>比較 大的時</a:t>
            </a:r>
            <a:r>
              <a:rPr lang="zh-TW" altLang="en-US" sz="1400" dirty="0" smtClean="0"/>
              <a:t>後 </a:t>
            </a:r>
            <a:endParaRPr sz="1400" dirty="0"/>
          </a:p>
        </p:txBody>
      </p:sp>
      <p:sp>
        <p:nvSpPr>
          <p:cNvPr id="352" name="Google Shape;352;p43"/>
          <p:cNvSpPr/>
          <p:nvPr/>
        </p:nvSpPr>
        <p:spPr>
          <a:xfrm>
            <a:off x="1005937" y="2213526"/>
            <a:ext cx="3396000" cy="608700"/>
          </a:xfrm>
          <a:prstGeom prst="round2SameRect">
            <a:avLst>
              <a:gd name="adj1" fmla="val 50000"/>
              <a:gd name="adj2"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sz="2000" b="1" dirty="0" smtClean="0">
                <a:solidFill>
                  <a:schemeClr val="dk1"/>
                </a:solidFill>
                <a:latin typeface="Architects Daughter"/>
                <a:ea typeface="Architects Daughter"/>
                <a:cs typeface="Architects Daughter"/>
                <a:sym typeface="Architects Daughter"/>
              </a:rPr>
              <a:t>ZF</a:t>
            </a:r>
            <a:endParaRPr sz="2000" dirty="0"/>
          </a:p>
        </p:txBody>
      </p:sp>
      <p:sp>
        <p:nvSpPr>
          <p:cNvPr id="353" name="Google Shape;353;p43"/>
          <p:cNvSpPr/>
          <p:nvPr/>
        </p:nvSpPr>
        <p:spPr>
          <a:xfrm>
            <a:off x="4693937" y="2213526"/>
            <a:ext cx="3396000" cy="3091500"/>
          </a:xfrm>
          <a:prstGeom prst="roundRect">
            <a:avLst>
              <a:gd name="adj" fmla="val 10236"/>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3"/>
          <p:cNvSpPr/>
          <p:nvPr/>
        </p:nvSpPr>
        <p:spPr>
          <a:xfrm>
            <a:off x="4693937" y="2213526"/>
            <a:ext cx="3396000" cy="608700"/>
          </a:xfrm>
          <a:prstGeom prst="round2SameRect">
            <a:avLst>
              <a:gd name="adj1" fmla="val 50000"/>
              <a:gd name="adj2" fmla="val 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smtClean="0">
                <a:solidFill>
                  <a:schemeClr val="dk1"/>
                </a:solidFill>
                <a:latin typeface="Architects Daughter"/>
                <a:ea typeface="Architects Daughter"/>
                <a:cs typeface="Architects Daughter"/>
                <a:sym typeface="Architects Daughter"/>
              </a:rPr>
              <a:t>M</a:t>
            </a:r>
            <a:r>
              <a:rPr lang="en-US" altLang="zh-TW" sz="2000" b="1" dirty="0" smtClean="0">
                <a:solidFill>
                  <a:schemeClr val="dk1"/>
                </a:solidFill>
                <a:latin typeface="Architects Daughter"/>
                <a:ea typeface="Architects Daughter"/>
                <a:cs typeface="Architects Daughter"/>
                <a:sym typeface="Architects Daughter"/>
              </a:rPr>
              <a:t>MSE</a:t>
            </a:r>
            <a:endParaRPr sz="2000" dirty="0"/>
          </a:p>
        </p:txBody>
      </p:sp>
      <p:sp>
        <p:nvSpPr>
          <p:cNvPr id="3" name="矩形 2"/>
          <p:cNvSpPr/>
          <p:nvPr/>
        </p:nvSpPr>
        <p:spPr>
          <a:xfrm>
            <a:off x="1433742" y="610297"/>
            <a:ext cx="6118420" cy="1200329"/>
          </a:xfrm>
          <a:prstGeom prst="rect">
            <a:avLst/>
          </a:prstGeom>
        </p:spPr>
        <p:txBody>
          <a:bodyPr wrap="square">
            <a:spAutoFit/>
          </a:bodyPr>
          <a:lstStyle/>
          <a:p>
            <a:r>
              <a:rPr lang="en-US" altLang="zh-TW" sz="1800" dirty="0" smtClean="0"/>
              <a:t>	</a:t>
            </a:r>
            <a:r>
              <a:rPr lang="zh-TW" altLang="en-US" sz="1800" dirty="0" smtClean="0"/>
              <a:t>Attending </a:t>
            </a:r>
            <a:r>
              <a:rPr lang="zh-TW" altLang="en-US" sz="1800" dirty="0"/>
              <a:t>to the performance computational complexity trade-off the adequate precoding schemes are zero-forcing (ZF) and minimum mean square error (MMSE) under a simple scaling factor power </a:t>
            </a:r>
            <a:r>
              <a:rPr lang="zh-TW" altLang="en-US" sz="1800" dirty="0" smtClean="0"/>
              <a:t>allocation</a:t>
            </a:r>
            <a:r>
              <a:rPr lang="en-US" altLang="zh-TW" dirty="0" smtClean="0"/>
              <a:t>.</a:t>
            </a:r>
            <a:endParaRPr lang="zh-TW" altLang="en-US" dirty="0"/>
          </a:p>
        </p:txBody>
      </p:sp>
      <p:sp>
        <p:nvSpPr>
          <p:cNvPr id="25" name="Google Shape;345;p43"/>
          <p:cNvSpPr txBox="1">
            <a:spLocks/>
          </p:cNvSpPr>
          <p:nvPr/>
        </p:nvSpPr>
        <p:spPr>
          <a:xfrm>
            <a:off x="4979370" y="2962626"/>
            <a:ext cx="2572792" cy="41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Catamaran"/>
              <a:buChar char="●"/>
              <a:defRPr sz="1800" b="0" i="0" u="none" strike="noStrike" cap="none">
                <a:solidFill>
                  <a:schemeClr val="dk1"/>
                </a:solidFill>
                <a:latin typeface="Catamaran"/>
                <a:ea typeface="Catamaran"/>
                <a:cs typeface="Catamaran"/>
                <a:sym typeface="Catamaran"/>
              </a:defRPr>
            </a:lvl1pPr>
            <a:lvl2pPr marL="914400" marR="0" lvl="1" indent="-317500" algn="l" rtl="0">
              <a:lnSpc>
                <a:spcPct val="100000"/>
              </a:lnSpc>
              <a:spcBef>
                <a:spcPts val="1600"/>
              </a:spcBef>
              <a:spcAft>
                <a:spcPts val="0"/>
              </a:spcAft>
              <a:buClr>
                <a:schemeClr val="dk1"/>
              </a:buClr>
              <a:buSzPts val="1400"/>
              <a:buFont typeface="Catamaran"/>
              <a:buChar char="○"/>
              <a:defRPr sz="1400" b="0" i="0" u="none" strike="noStrike" cap="none">
                <a:solidFill>
                  <a:schemeClr val="dk1"/>
                </a:solidFill>
                <a:latin typeface="Catamaran"/>
                <a:ea typeface="Catamaran"/>
                <a:cs typeface="Catamaran"/>
                <a:sym typeface="Catamaran"/>
              </a:defRPr>
            </a:lvl2pPr>
            <a:lvl3pPr marL="1371600" marR="0" lvl="2" indent="-317500" algn="l" rtl="0">
              <a:lnSpc>
                <a:spcPct val="100000"/>
              </a:lnSpc>
              <a:spcBef>
                <a:spcPts val="1600"/>
              </a:spcBef>
              <a:spcAft>
                <a:spcPts val="0"/>
              </a:spcAft>
              <a:buClr>
                <a:schemeClr val="dk1"/>
              </a:buClr>
              <a:buSzPts val="1400"/>
              <a:buFont typeface="Catamaran"/>
              <a:buChar char="■"/>
              <a:defRPr sz="1400" b="0" i="0" u="none" strike="noStrike" cap="none">
                <a:solidFill>
                  <a:schemeClr val="dk1"/>
                </a:solidFill>
                <a:latin typeface="Catamaran"/>
                <a:ea typeface="Catamaran"/>
                <a:cs typeface="Catamaran"/>
                <a:sym typeface="Catamaran"/>
              </a:defRPr>
            </a:lvl3pPr>
            <a:lvl4pPr marL="1828800" marR="0" lvl="3" indent="-317500" algn="l" rtl="0">
              <a:lnSpc>
                <a:spcPct val="100000"/>
              </a:lnSpc>
              <a:spcBef>
                <a:spcPts val="1600"/>
              </a:spcBef>
              <a:spcAft>
                <a:spcPts val="0"/>
              </a:spcAft>
              <a:buClr>
                <a:schemeClr val="dk1"/>
              </a:buClr>
              <a:buSzPts val="1400"/>
              <a:buFont typeface="Catamaran"/>
              <a:buChar char="●"/>
              <a:defRPr sz="1400" b="0" i="0" u="none" strike="noStrike" cap="none">
                <a:solidFill>
                  <a:schemeClr val="dk1"/>
                </a:solidFill>
                <a:latin typeface="Catamaran"/>
                <a:ea typeface="Catamaran"/>
                <a:cs typeface="Catamaran"/>
                <a:sym typeface="Catamaran"/>
              </a:defRPr>
            </a:lvl4pPr>
            <a:lvl5pPr marL="2286000" marR="0" lvl="4" indent="-317500" algn="l" rtl="0">
              <a:lnSpc>
                <a:spcPct val="100000"/>
              </a:lnSpc>
              <a:spcBef>
                <a:spcPts val="1600"/>
              </a:spcBef>
              <a:spcAft>
                <a:spcPts val="0"/>
              </a:spcAft>
              <a:buClr>
                <a:schemeClr val="dk1"/>
              </a:buClr>
              <a:buSzPts val="1400"/>
              <a:buFont typeface="Catamaran"/>
              <a:buChar char="○"/>
              <a:defRPr sz="1400" b="0" i="0" u="none" strike="noStrike" cap="none">
                <a:solidFill>
                  <a:schemeClr val="dk1"/>
                </a:solidFill>
                <a:latin typeface="Catamaran"/>
                <a:ea typeface="Catamaran"/>
                <a:cs typeface="Catamaran"/>
                <a:sym typeface="Catamaran"/>
              </a:defRPr>
            </a:lvl5pPr>
            <a:lvl6pPr marL="2743200" marR="0" lvl="5" indent="-317500" algn="l" rtl="0">
              <a:lnSpc>
                <a:spcPct val="100000"/>
              </a:lnSpc>
              <a:spcBef>
                <a:spcPts val="1600"/>
              </a:spcBef>
              <a:spcAft>
                <a:spcPts val="0"/>
              </a:spcAft>
              <a:buClr>
                <a:schemeClr val="dk1"/>
              </a:buClr>
              <a:buSzPts val="1400"/>
              <a:buFont typeface="Catamaran"/>
              <a:buChar char="■"/>
              <a:defRPr sz="1400" b="0" i="0" u="none" strike="noStrike" cap="none">
                <a:solidFill>
                  <a:schemeClr val="dk1"/>
                </a:solidFill>
                <a:latin typeface="Catamaran"/>
                <a:ea typeface="Catamaran"/>
                <a:cs typeface="Catamaran"/>
                <a:sym typeface="Catamaran"/>
              </a:defRPr>
            </a:lvl6pPr>
            <a:lvl7pPr marL="3200400" marR="0" lvl="6" indent="-317500" algn="l" rtl="0">
              <a:lnSpc>
                <a:spcPct val="100000"/>
              </a:lnSpc>
              <a:spcBef>
                <a:spcPts val="1600"/>
              </a:spcBef>
              <a:spcAft>
                <a:spcPts val="0"/>
              </a:spcAft>
              <a:buClr>
                <a:schemeClr val="dk1"/>
              </a:buClr>
              <a:buSzPts val="1400"/>
              <a:buFont typeface="Catamaran"/>
              <a:buChar char="●"/>
              <a:defRPr sz="1400" b="0" i="0" u="none" strike="noStrike" cap="none">
                <a:solidFill>
                  <a:schemeClr val="dk1"/>
                </a:solidFill>
                <a:latin typeface="Catamaran"/>
                <a:ea typeface="Catamaran"/>
                <a:cs typeface="Catamaran"/>
                <a:sym typeface="Catamaran"/>
              </a:defRPr>
            </a:lvl7pPr>
            <a:lvl8pPr marL="3657600" marR="0" lvl="7" indent="-317500" algn="l" rtl="0">
              <a:lnSpc>
                <a:spcPct val="100000"/>
              </a:lnSpc>
              <a:spcBef>
                <a:spcPts val="1600"/>
              </a:spcBef>
              <a:spcAft>
                <a:spcPts val="0"/>
              </a:spcAft>
              <a:buClr>
                <a:schemeClr val="dk1"/>
              </a:buClr>
              <a:buSzPts val="1400"/>
              <a:buFont typeface="Catamaran"/>
              <a:buChar char="○"/>
              <a:defRPr sz="1400" b="0" i="0" u="none" strike="noStrike" cap="none">
                <a:solidFill>
                  <a:schemeClr val="dk1"/>
                </a:solidFill>
                <a:latin typeface="Catamaran"/>
                <a:ea typeface="Catamaran"/>
                <a:cs typeface="Catamaran"/>
                <a:sym typeface="Catamaran"/>
              </a:defRPr>
            </a:lvl8pPr>
            <a:lvl9pPr marL="4114800" marR="0" lvl="8" indent="-317500" algn="l" rtl="0">
              <a:lnSpc>
                <a:spcPct val="100000"/>
              </a:lnSpc>
              <a:spcBef>
                <a:spcPts val="1600"/>
              </a:spcBef>
              <a:spcAft>
                <a:spcPts val="1600"/>
              </a:spcAft>
              <a:buClr>
                <a:schemeClr val="dk1"/>
              </a:buClr>
              <a:buSzPts val="1400"/>
              <a:buFont typeface="Catamaran"/>
              <a:buChar char="■"/>
              <a:defRPr sz="1400" b="0" i="0" u="none" strike="noStrike" cap="none">
                <a:solidFill>
                  <a:schemeClr val="dk1"/>
                </a:solidFill>
                <a:latin typeface="Catamaran"/>
                <a:ea typeface="Catamaran"/>
                <a:cs typeface="Catamaran"/>
                <a:sym typeface="Catamaran"/>
              </a:defRPr>
            </a:lvl9pPr>
          </a:lstStyle>
          <a:p>
            <a:pPr marL="0" indent="0">
              <a:spcAft>
                <a:spcPts val="1600"/>
              </a:spcAft>
              <a:buNone/>
            </a:pPr>
            <a:r>
              <a:rPr lang="zh-TW" altLang="en-US" sz="1400" dirty="0" smtClean="0"/>
              <a:t>最小均方等化器</a:t>
            </a:r>
            <a:r>
              <a:rPr lang="en-US" altLang="zh-TW" sz="1400" dirty="0" smtClean="0"/>
              <a:t>:</a:t>
            </a:r>
          </a:p>
          <a:p>
            <a:pPr marL="0" indent="0">
              <a:spcAft>
                <a:spcPts val="1600"/>
              </a:spcAft>
              <a:buNone/>
            </a:pPr>
            <a:r>
              <a:rPr lang="en-US" altLang="zh-TW" sz="1400" dirty="0"/>
              <a:t>MMSE</a:t>
            </a:r>
            <a:r>
              <a:rPr lang="zh-TW" altLang="en-US" sz="1400" dirty="0"/>
              <a:t>等化器則是在則是使設計估測通道信號及實際信號的均方誤差為最小，雖然不能完全消除</a:t>
            </a:r>
            <a:r>
              <a:rPr lang="en-US" altLang="zh-TW" sz="1400" dirty="0"/>
              <a:t>ISI</a:t>
            </a:r>
            <a:r>
              <a:rPr lang="zh-TW" altLang="en-US" sz="1400" dirty="0"/>
              <a:t>但不會造成雜訊的放大</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84422" y="566686"/>
            <a:ext cx="6328610" cy="646331"/>
          </a:xfrm>
          <a:prstGeom prst="rect">
            <a:avLst/>
          </a:prstGeom>
        </p:spPr>
        <p:txBody>
          <a:bodyPr wrap="square">
            <a:spAutoFit/>
          </a:bodyPr>
          <a:lstStyle/>
          <a:p>
            <a:r>
              <a:rPr lang="zh-TW" altLang="en-US" sz="1800" dirty="0"/>
              <a:t>if </a:t>
            </a:r>
            <a:r>
              <a:rPr lang="zh-TW" altLang="en-US" sz="1800" dirty="0" smtClean="0"/>
              <a:t>the payload </a:t>
            </a:r>
            <a:r>
              <a:rPr lang="zh-TW" altLang="en-US" sz="1800" dirty="0"/>
              <a:t>is equipped with flexible multiport amplifiers </a:t>
            </a:r>
            <a:r>
              <a:rPr lang="zh-TW" altLang="en-US" sz="1800" dirty="0" smtClean="0"/>
              <a:t>where the </a:t>
            </a:r>
            <a:r>
              <a:rPr lang="zh-TW" altLang="en-US" sz="1800" dirty="0"/>
              <a:t>total power is shared among them,</a:t>
            </a:r>
          </a:p>
        </p:txBody>
      </p:sp>
      <p:pic>
        <p:nvPicPr>
          <p:cNvPr id="5" name="圖片 4"/>
          <p:cNvPicPr>
            <a:picLocks noChangeAspect="1"/>
          </p:cNvPicPr>
          <p:nvPr/>
        </p:nvPicPr>
        <p:blipFill>
          <a:blip r:embed="rId3"/>
          <a:stretch>
            <a:fillRect/>
          </a:stretch>
        </p:blipFill>
        <p:spPr>
          <a:xfrm>
            <a:off x="2398042" y="1375860"/>
            <a:ext cx="5730066" cy="1210929"/>
          </a:xfrm>
          <a:prstGeom prst="rect">
            <a:avLst/>
          </a:prstGeom>
        </p:spPr>
      </p:pic>
      <p:pic>
        <p:nvPicPr>
          <p:cNvPr id="6" name="圖片 5"/>
          <p:cNvPicPr>
            <a:picLocks noChangeAspect="1"/>
          </p:cNvPicPr>
          <p:nvPr/>
        </p:nvPicPr>
        <p:blipFill>
          <a:blip r:embed="rId4"/>
          <a:stretch>
            <a:fillRect/>
          </a:stretch>
        </p:blipFill>
        <p:spPr>
          <a:xfrm>
            <a:off x="2398042" y="3758615"/>
            <a:ext cx="5789920" cy="1246522"/>
          </a:xfrm>
          <a:prstGeom prst="rect">
            <a:avLst/>
          </a:prstGeom>
        </p:spPr>
      </p:pic>
      <p:sp>
        <p:nvSpPr>
          <p:cNvPr id="8" name="矩形 7"/>
          <p:cNvSpPr/>
          <p:nvPr/>
        </p:nvSpPr>
        <p:spPr>
          <a:xfrm>
            <a:off x="1684421" y="2911092"/>
            <a:ext cx="6051883" cy="646331"/>
          </a:xfrm>
          <a:prstGeom prst="rect">
            <a:avLst/>
          </a:prstGeom>
        </p:spPr>
        <p:txBody>
          <a:bodyPr wrap="square">
            <a:spAutoFit/>
          </a:bodyPr>
          <a:lstStyle/>
          <a:p>
            <a:r>
              <a:rPr lang="en-US" altLang="zh-TW" sz="1800" dirty="0"/>
              <a:t>if </a:t>
            </a:r>
            <a:r>
              <a:rPr lang="en-US" altLang="zh-TW" sz="1800" dirty="0" smtClean="0"/>
              <a:t>the</a:t>
            </a:r>
            <a:r>
              <a:rPr lang="zh-TW" altLang="en-US" sz="1800" dirty="0" smtClean="0"/>
              <a:t> </a:t>
            </a:r>
            <a:r>
              <a:rPr lang="en-US" altLang="zh-TW" sz="1800" dirty="0" smtClean="0"/>
              <a:t>aforementioned </a:t>
            </a:r>
            <a:r>
              <a:rPr lang="en-US" altLang="zh-TW" sz="1800" dirty="0"/>
              <a:t>power sharing among feeds does not </a:t>
            </a:r>
            <a:r>
              <a:rPr lang="en-US" altLang="zh-TW" sz="1800" dirty="0" smtClean="0"/>
              <a:t>exist</a:t>
            </a:r>
            <a:r>
              <a:rPr lang="zh-TW" altLang="en-US" sz="1800" dirty="0" smtClean="0"/>
              <a:t> </a:t>
            </a:r>
            <a:r>
              <a:rPr lang="en-US" altLang="zh-TW" sz="1800" dirty="0" smtClean="0"/>
              <a:t>and </a:t>
            </a:r>
            <a:r>
              <a:rPr lang="en-US" altLang="zh-TW" sz="1800" dirty="0"/>
              <a:t>each feed</a:t>
            </a:r>
            <a:endParaRPr lang="zh-TW" altLang="en-US" sz="1800" dirty="0"/>
          </a:p>
        </p:txBody>
      </p:sp>
    </p:spTree>
    <p:extLst>
      <p:ext uri="{BB962C8B-B14F-4D97-AF65-F5344CB8AC3E}">
        <p14:creationId xmlns:p14="http://schemas.microsoft.com/office/powerpoint/2010/main" val="6519129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91126" y="204034"/>
            <a:ext cx="7543800" cy="1200329"/>
          </a:xfrm>
          <a:prstGeom prst="rect">
            <a:avLst/>
          </a:prstGeom>
        </p:spPr>
        <p:txBody>
          <a:bodyPr wrap="square">
            <a:spAutoFit/>
          </a:bodyPr>
          <a:lstStyle/>
          <a:p>
            <a:r>
              <a:rPr lang="en-US" altLang="zh-TW" sz="1800" dirty="0"/>
              <a:t>While ZF technique nulls the inter-beam interference </a:t>
            </a:r>
            <a:r>
              <a:rPr lang="en-US" altLang="zh-TW" sz="1800" dirty="0" smtClean="0"/>
              <a:t>if </a:t>
            </a:r>
            <a:r>
              <a:rPr lang="zh-TW" altLang="en-US" sz="1800" dirty="0" smtClean="0"/>
              <a:t>𝑁</a:t>
            </a:r>
            <a:r>
              <a:rPr lang="zh-TW" altLang="en-US" sz="1800" dirty="0"/>
              <a:t> ≥ 𝐾</a:t>
            </a:r>
            <a:r>
              <a:rPr lang="en-US" altLang="zh-TW" sz="1800" dirty="0"/>
              <a:t>, MMSE design leaves certain interference with the </a:t>
            </a:r>
            <a:r>
              <a:rPr lang="en-US" altLang="zh-TW" sz="1800" dirty="0" smtClean="0"/>
              <a:t>aim of </a:t>
            </a:r>
            <a:r>
              <a:rPr lang="en-US" altLang="zh-TW" sz="1800" dirty="0"/>
              <a:t>increasing the SNR of the desired signal. </a:t>
            </a:r>
            <a:r>
              <a:rPr lang="en-US" altLang="zh-TW" sz="1800" dirty="0" smtClean="0"/>
              <a:t>Mathematically, the </a:t>
            </a:r>
            <a:r>
              <a:rPr lang="en-US" altLang="zh-TW" sz="1800" dirty="0" err="1"/>
              <a:t>precoding</a:t>
            </a:r>
            <a:r>
              <a:rPr lang="en-US" altLang="zh-TW" sz="1800" dirty="0"/>
              <a:t> design takes the form of a regularized ZF scheme</a:t>
            </a:r>
            <a:endParaRPr lang="zh-TW" altLang="en-US" sz="1800" dirty="0"/>
          </a:p>
        </p:txBody>
      </p:sp>
      <p:pic>
        <p:nvPicPr>
          <p:cNvPr id="2" name="圖片 1"/>
          <p:cNvPicPr>
            <a:picLocks noChangeAspect="1"/>
          </p:cNvPicPr>
          <p:nvPr/>
        </p:nvPicPr>
        <p:blipFill>
          <a:blip r:embed="rId3"/>
          <a:stretch>
            <a:fillRect/>
          </a:stretch>
        </p:blipFill>
        <p:spPr>
          <a:xfrm>
            <a:off x="2337883" y="1648140"/>
            <a:ext cx="5572125" cy="1019175"/>
          </a:xfrm>
          <a:prstGeom prst="rect">
            <a:avLst/>
          </a:prstGeom>
        </p:spPr>
      </p:pic>
    </p:spTree>
    <p:extLst>
      <p:ext uri="{BB962C8B-B14F-4D97-AF65-F5344CB8AC3E}">
        <p14:creationId xmlns:p14="http://schemas.microsoft.com/office/powerpoint/2010/main" val="14658107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91126" y="204034"/>
            <a:ext cx="7543800" cy="646331"/>
          </a:xfrm>
          <a:prstGeom prst="rect">
            <a:avLst/>
          </a:prstGeom>
        </p:spPr>
        <p:txBody>
          <a:bodyPr wrap="square">
            <a:spAutoFit/>
          </a:bodyPr>
          <a:lstStyle/>
          <a:p>
            <a:r>
              <a:rPr lang="en-US" altLang="zh-TW" sz="1800" dirty="0" smtClean="0"/>
              <a:t>	In </a:t>
            </a:r>
            <a:r>
              <a:rPr lang="en-US" altLang="zh-TW" sz="1800" dirty="0"/>
              <a:t>this paper we will evaluate an additional </a:t>
            </a:r>
            <a:r>
              <a:rPr lang="en-US" altLang="zh-TW" sz="1800" dirty="0" err="1" smtClean="0"/>
              <a:t>precoding</a:t>
            </a:r>
            <a:r>
              <a:rPr lang="zh-TW" altLang="en-US" sz="1800" dirty="0"/>
              <a:t> </a:t>
            </a:r>
            <a:r>
              <a:rPr lang="en-US" altLang="zh-TW" sz="1800" dirty="0" smtClean="0"/>
              <a:t>design </a:t>
            </a:r>
            <a:r>
              <a:rPr lang="en-US" altLang="zh-TW" sz="1800" dirty="0"/>
              <a:t>based on the signal-to-leakage-interference optimization.</a:t>
            </a:r>
            <a:endParaRPr lang="zh-TW" altLang="en-US" sz="1800" dirty="0"/>
          </a:p>
        </p:txBody>
      </p:sp>
      <p:pic>
        <p:nvPicPr>
          <p:cNvPr id="6" name="圖片 5"/>
          <p:cNvPicPr>
            <a:picLocks noChangeAspect="1"/>
          </p:cNvPicPr>
          <p:nvPr/>
        </p:nvPicPr>
        <p:blipFill>
          <a:blip r:embed="rId3"/>
          <a:stretch>
            <a:fillRect/>
          </a:stretch>
        </p:blipFill>
        <p:spPr>
          <a:xfrm>
            <a:off x="2471988" y="2174205"/>
            <a:ext cx="5928581" cy="1507457"/>
          </a:xfrm>
          <a:prstGeom prst="rect">
            <a:avLst/>
          </a:prstGeom>
        </p:spPr>
      </p:pic>
      <p:pic>
        <p:nvPicPr>
          <p:cNvPr id="7" name="圖片 6"/>
          <p:cNvPicPr>
            <a:picLocks noChangeAspect="1"/>
          </p:cNvPicPr>
          <p:nvPr/>
        </p:nvPicPr>
        <p:blipFill>
          <a:blip r:embed="rId4"/>
          <a:stretch>
            <a:fillRect/>
          </a:stretch>
        </p:blipFill>
        <p:spPr>
          <a:xfrm>
            <a:off x="2634415" y="980822"/>
            <a:ext cx="6003610" cy="1494172"/>
          </a:xfrm>
          <a:prstGeom prst="rect">
            <a:avLst/>
          </a:prstGeom>
        </p:spPr>
      </p:pic>
      <p:sp>
        <p:nvSpPr>
          <p:cNvPr id="8" name="矩形 7"/>
          <p:cNvSpPr/>
          <p:nvPr/>
        </p:nvSpPr>
        <p:spPr>
          <a:xfrm>
            <a:off x="950495" y="3798834"/>
            <a:ext cx="7687530" cy="1077218"/>
          </a:xfrm>
          <a:prstGeom prst="rect">
            <a:avLst/>
          </a:prstGeom>
        </p:spPr>
        <p:txBody>
          <a:bodyPr wrap="square">
            <a:spAutoFit/>
          </a:bodyPr>
          <a:lstStyle/>
          <a:p>
            <a:r>
              <a:rPr lang="zh-TW" altLang="en-US" sz="1600" dirty="0"/>
              <a:t>As mentioned earlier, apart from the ZF technique, both MMSE and SLNR do not completely null the interference power levels, in order to increase the desired user SNR. The next section describes how these remaining interfering signals can be used for increasing the achievable rates by means of different decoding strategies.</a:t>
            </a:r>
          </a:p>
        </p:txBody>
      </p:sp>
    </p:spTree>
    <p:extLst>
      <p:ext uri="{BB962C8B-B14F-4D97-AF65-F5344CB8AC3E}">
        <p14:creationId xmlns:p14="http://schemas.microsoft.com/office/powerpoint/2010/main" val="24315378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0"/>
          <p:cNvSpPr txBox="1">
            <a:spLocks noGrp="1"/>
          </p:cNvSpPr>
          <p:nvPr>
            <p:ph type="title"/>
          </p:nvPr>
        </p:nvSpPr>
        <p:spPr>
          <a:xfrm>
            <a:off x="505326" y="1969330"/>
            <a:ext cx="7873950" cy="952800"/>
          </a:xfrm>
          <a:prstGeom prst="rect">
            <a:avLst/>
          </a:prstGeom>
        </p:spPr>
        <p:txBody>
          <a:bodyPr spcFirstLastPara="1" wrap="square" lIns="91425" tIns="91425" rIns="91425" bIns="91425" anchor="b" anchorCtr="0">
            <a:noAutofit/>
          </a:bodyPr>
          <a:lstStyle/>
          <a:p>
            <a:pPr lvl="0"/>
            <a:r>
              <a:rPr lang="en-US" dirty="0"/>
              <a:t>CAPACITY </a:t>
            </a:r>
            <a:r>
              <a:rPr lang="en-US" dirty="0" smtClean="0"/>
              <a:t/>
            </a:r>
            <a:br>
              <a:rPr lang="en-US" dirty="0" smtClean="0"/>
            </a:br>
            <a:r>
              <a:rPr lang="en-US" dirty="0" smtClean="0"/>
              <a:t>ANALYSIS</a:t>
            </a:r>
            <a:endParaRPr dirty="0"/>
          </a:p>
        </p:txBody>
      </p:sp>
    </p:spTree>
    <p:extLst>
      <p:ext uri="{BB962C8B-B14F-4D97-AF65-F5344CB8AC3E}">
        <p14:creationId xmlns:p14="http://schemas.microsoft.com/office/powerpoint/2010/main" val="2741831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54241" y="625718"/>
            <a:ext cx="6737685" cy="584775"/>
          </a:xfrm>
          <a:prstGeom prst="rect">
            <a:avLst/>
          </a:prstGeom>
        </p:spPr>
        <p:txBody>
          <a:bodyPr wrap="square">
            <a:spAutoFit/>
          </a:bodyPr>
          <a:lstStyle/>
          <a:p>
            <a:r>
              <a:rPr lang="en-US" altLang="zh-TW" sz="1600" dirty="0" smtClean="0"/>
              <a:t>	</a:t>
            </a:r>
            <a:r>
              <a:rPr lang="zh-TW" altLang="en-US" sz="1600" dirty="0" smtClean="0"/>
              <a:t>When </a:t>
            </a:r>
            <a:r>
              <a:rPr lang="zh-TW" altLang="en-US" sz="1600" dirty="0"/>
              <a:t>the transmitted data is linearly precoded, the signal received by the ith user can be expressed as</a:t>
            </a:r>
          </a:p>
        </p:txBody>
      </p:sp>
      <p:pic>
        <p:nvPicPr>
          <p:cNvPr id="6" name="圖片 5"/>
          <p:cNvPicPr>
            <a:picLocks noChangeAspect="1"/>
          </p:cNvPicPr>
          <p:nvPr/>
        </p:nvPicPr>
        <p:blipFill>
          <a:blip r:embed="rId3"/>
          <a:stretch>
            <a:fillRect/>
          </a:stretch>
        </p:blipFill>
        <p:spPr>
          <a:xfrm>
            <a:off x="1035718" y="1325729"/>
            <a:ext cx="6736681" cy="1186831"/>
          </a:xfrm>
          <a:prstGeom prst="rect">
            <a:avLst/>
          </a:prstGeom>
          <a:ln>
            <a:noFill/>
          </a:ln>
          <a:effectLst>
            <a:outerShdw blurRad="190500" algn="tl" rotWithShape="0">
              <a:srgbClr val="000000">
                <a:alpha val="70000"/>
              </a:srgbClr>
            </a:outerShdw>
          </a:effectLst>
        </p:spPr>
      </p:pic>
      <p:sp>
        <p:nvSpPr>
          <p:cNvPr id="7" name="矩形 6"/>
          <p:cNvSpPr/>
          <p:nvPr/>
        </p:nvSpPr>
        <p:spPr>
          <a:xfrm>
            <a:off x="938463" y="3176976"/>
            <a:ext cx="6412832" cy="646331"/>
          </a:xfrm>
          <a:prstGeom prst="rect">
            <a:avLst/>
          </a:prstGeom>
        </p:spPr>
        <p:txBody>
          <a:bodyPr wrap="square">
            <a:spAutoFit/>
          </a:bodyPr>
          <a:lstStyle/>
          <a:p>
            <a:r>
              <a:rPr lang="zh-TW" altLang="en-US" sz="1800" dirty="0"/>
              <a:t>Building upon (14), the rest of the section is devoted to provide the rate bounds for different decoding strategies</a:t>
            </a:r>
          </a:p>
        </p:txBody>
      </p:sp>
      <mc:AlternateContent xmlns:mc="http://schemas.openxmlformats.org/markup-compatibility/2006" xmlns:a14="http://schemas.microsoft.com/office/drawing/2010/main">
        <mc:Choice Requires="a14">
          <p:sp>
            <p:nvSpPr>
              <p:cNvPr id="8" name="矩形 7"/>
              <p:cNvSpPr/>
              <p:nvPr/>
            </p:nvSpPr>
            <p:spPr>
              <a:xfrm>
                <a:off x="938463" y="4217433"/>
                <a:ext cx="6833936" cy="759952"/>
              </a:xfrm>
              <a:prstGeom prst="rect">
                <a:avLst/>
              </a:prstGeom>
            </p:spPr>
            <p:txBody>
              <a:bodyPr wrap="square">
                <a:spAutoFit/>
              </a:bodyPr>
              <a:lstStyle/>
              <a:p>
                <a:r>
                  <a:rPr lang="en-US" altLang="zh-TW" sz="1600" dirty="0" smtClean="0">
                    <a:latin typeface="+mn-lt"/>
                  </a:rPr>
                  <a:t>For the ease of exposition, from here onwards we will use</a:t>
                </a:r>
                <a:r>
                  <a:rPr lang="zh-TW" altLang="en-US" sz="1600" dirty="0" smtClean="0">
                    <a:latin typeface="+mn-lt"/>
                  </a:rPr>
                  <a:t> </a:t>
                </a:r>
                <a14:m>
                  <m:oMath xmlns:m="http://schemas.openxmlformats.org/officeDocument/2006/math">
                    <m:sSubSup>
                      <m:sSubSupPr>
                        <m:ctrlPr>
                          <a:rPr lang="en-US" altLang="zh-TW" sz="1600" i="1">
                            <a:latin typeface="Cambria Math" panose="02040503050406030204" pitchFamily="18" charset="0"/>
                          </a:rPr>
                        </m:ctrlPr>
                      </m:sSubSupPr>
                      <m:e>
                        <m:r>
                          <m:rPr>
                            <m:nor/>
                          </m:rPr>
                          <a:rPr lang="zh-TW" altLang="en-US" sz="1600" i="1"/>
                          <m:t>𝛽</m:t>
                        </m:r>
                      </m:e>
                      <m:sub>
                        <m:r>
                          <a:rPr lang="en-US" altLang="zh-TW" sz="1600" b="0" i="1" smtClean="0">
                            <a:latin typeface="Cambria Math" panose="02040503050406030204" pitchFamily="18" charset="0"/>
                          </a:rPr>
                          <m:t>𝑖</m:t>
                        </m:r>
                        <m:r>
                          <a:rPr lang="en-US" altLang="zh-TW" sz="1600" i="1">
                            <a:latin typeface="Cambria Math" panose="02040503050406030204" pitchFamily="18" charset="0"/>
                          </a:rPr>
                          <m:t>,</m:t>
                        </m:r>
                        <m:r>
                          <a:rPr lang="en-US" altLang="zh-TW" sz="1600" b="0" i="1" smtClean="0">
                            <a:latin typeface="Cambria Math" panose="02040503050406030204" pitchFamily="18" charset="0"/>
                          </a:rPr>
                          <m:t>𝑙</m:t>
                        </m:r>
                      </m:sub>
                      <m:sup/>
                    </m:sSubSup>
                  </m:oMath>
                </a14:m>
                <a:r>
                  <a:rPr lang="en-US" altLang="zh-TW" sz="1600" dirty="0">
                    <a:latin typeface="+mn-lt"/>
                  </a:rPr>
                  <a:t>= </a:t>
                </a:r>
                <a14:m>
                  <m:oMath xmlns:m="http://schemas.openxmlformats.org/officeDocument/2006/math">
                    <m:sSup>
                      <m:sSupPr>
                        <m:ctrlPr>
                          <a:rPr lang="en-US" altLang="zh-TW" sz="1600" i="1" smtClean="0">
                            <a:latin typeface="Cambria Math" panose="02040503050406030204" pitchFamily="18" charset="0"/>
                          </a:rPr>
                        </m:ctrlPr>
                      </m:sSupPr>
                      <m:e>
                        <m:r>
                          <m:rPr>
                            <m:nor/>
                          </m:rPr>
                          <a:rPr lang="en-US" altLang="zh-TW" sz="1600" dirty="0"/>
                          <m:t>∣</m:t>
                        </m:r>
                        <m:r>
                          <m:rPr>
                            <m:nor/>
                          </m:rPr>
                          <a:rPr lang="zh-TW" altLang="en-US" sz="1600" dirty="0"/>
                          <m:t>𝛾</m:t>
                        </m:r>
                        <m:sSubSup>
                          <m:sSubSupPr>
                            <m:ctrlPr>
                              <a:rPr lang="en-US" altLang="zh-TW" sz="1600" i="1">
                                <a:latin typeface="Cambria Math" panose="02040503050406030204" pitchFamily="18" charset="0"/>
                              </a:rPr>
                            </m:ctrlPr>
                          </m:sSubSupPr>
                          <m:e>
                            <m:r>
                              <m:rPr>
                                <m:nor/>
                              </m:rPr>
                              <a:rPr lang="en-US" altLang="zh-TW" sz="1600" i="1"/>
                              <m:t>h</m:t>
                            </m:r>
                          </m:e>
                          <m:sub>
                            <m:r>
                              <a:rPr lang="en-US" altLang="zh-TW" sz="1600" i="1">
                                <a:latin typeface="Cambria Math" panose="02040503050406030204" pitchFamily="18" charset="0"/>
                              </a:rPr>
                              <m:t>𝑖</m:t>
                            </m:r>
                          </m:sub>
                          <m:sup/>
                        </m:sSubSup>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𝑤</m:t>
                            </m:r>
                          </m:e>
                          <m:sub>
                            <m:r>
                              <a:rPr lang="en-US" altLang="zh-TW" sz="1600" i="1">
                                <a:latin typeface="Cambria Math" panose="02040503050406030204" pitchFamily="18" charset="0"/>
                              </a:rPr>
                              <m:t>𝑙</m:t>
                            </m:r>
                          </m:sub>
                          <m:sup/>
                        </m:sSubSup>
                        <m:r>
                          <m:rPr>
                            <m:nor/>
                          </m:rPr>
                          <a:rPr lang="en-US" altLang="zh-TW" sz="1600" dirty="0"/>
                          <m:t>∣</m:t>
                        </m:r>
                      </m:e>
                      <m:sup>
                        <m:r>
                          <a:rPr lang="en-US" altLang="zh-TW" sz="1600" b="0" i="1" smtClean="0">
                            <a:latin typeface="Cambria Math" panose="02040503050406030204" pitchFamily="18" charset="0"/>
                          </a:rPr>
                          <m:t>2</m:t>
                        </m:r>
                      </m:sup>
                    </m:sSup>
                  </m:oMath>
                </a14:m>
                <a:r>
                  <a:rPr lang="en-US" altLang="zh-TW" sz="1600" dirty="0" smtClean="0">
                    <a:latin typeface="+mn-lt"/>
                  </a:rPr>
                  <a:t> </a:t>
                </a:r>
                <a:r>
                  <a:rPr lang="en-US" altLang="zh-TW" sz="1600" dirty="0">
                    <a:latin typeface="+mn-lt"/>
                  </a:rPr>
                  <a:t>to characterize the channel quality metrics</a:t>
                </a:r>
                <a:endParaRPr lang="zh-TW" altLang="en-US" sz="1600" dirty="0">
                  <a:latin typeface="+mn-lt"/>
                </a:endParaRPr>
              </a:p>
            </p:txBody>
          </p:sp>
        </mc:Choice>
        <mc:Fallback xmlns="">
          <p:sp>
            <p:nvSpPr>
              <p:cNvPr id="8" name="矩形 7"/>
              <p:cNvSpPr>
                <a:spLocks noRot="1" noChangeAspect="1" noMove="1" noResize="1" noEditPoints="1" noAdjustHandles="1" noChangeArrowheads="1" noChangeShapeType="1" noTextEdit="1"/>
              </p:cNvSpPr>
              <p:nvPr/>
            </p:nvSpPr>
            <p:spPr>
              <a:xfrm>
                <a:off x="938463" y="4217433"/>
                <a:ext cx="6833936" cy="759952"/>
              </a:xfrm>
              <a:prstGeom prst="rect">
                <a:avLst/>
              </a:prstGeom>
              <a:blipFill rotWithShape="0">
                <a:blip r:embed="rId4"/>
                <a:stretch>
                  <a:fillRect l="-535" b="-64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688337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47919" y="697346"/>
            <a:ext cx="3347391" cy="369332"/>
          </a:xfrm>
          <a:prstGeom prst="rect">
            <a:avLst/>
          </a:prstGeom>
        </p:spPr>
        <p:txBody>
          <a:bodyPr wrap="none">
            <a:spAutoFit/>
          </a:bodyPr>
          <a:lstStyle/>
          <a:p>
            <a:r>
              <a:rPr lang="en-US" altLang="zh-TW" sz="1800" i="1" dirty="0">
                <a:latin typeface="Times-Italic"/>
              </a:rPr>
              <a:t>A. Interference as </a:t>
            </a:r>
            <a:r>
              <a:rPr lang="en-US" altLang="zh-TW" sz="1800" i="1" dirty="0" smtClean="0">
                <a:latin typeface="Times-Italic"/>
              </a:rPr>
              <a:t>noise</a:t>
            </a:r>
            <a:r>
              <a:rPr lang="zh-TW" altLang="en-US" sz="1800" i="1" dirty="0" smtClean="0">
                <a:latin typeface="Times-Italic"/>
              </a:rPr>
              <a:t>    </a:t>
            </a:r>
            <a:r>
              <a:rPr lang="en-US" altLang="zh-TW" sz="1800" i="1" dirty="0" smtClean="0">
                <a:latin typeface="Times-Italic"/>
              </a:rPr>
              <a:t>(IAN)</a:t>
            </a:r>
            <a:endParaRPr lang="zh-TW" altLang="en-US" sz="1800" dirty="0"/>
          </a:p>
        </p:txBody>
      </p:sp>
      <p:sp>
        <p:nvSpPr>
          <p:cNvPr id="4" name="矩形 3"/>
          <p:cNvSpPr/>
          <p:nvPr/>
        </p:nvSpPr>
        <p:spPr>
          <a:xfrm>
            <a:off x="647919" y="1372802"/>
            <a:ext cx="7240831" cy="1200329"/>
          </a:xfrm>
          <a:prstGeom prst="rect">
            <a:avLst/>
          </a:prstGeom>
        </p:spPr>
        <p:txBody>
          <a:bodyPr wrap="square">
            <a:spAutoFit/>
          </a:bodyPr>
          <a:lstStyle/>
          <a:p>
            <a:r>
              <a:rPr lang="en-US" altLang="zh-TW" sz="1800" dirty="0" smtClean="0"/>
              <a:t>	</a:t>
            </a:r>
            <a:r>
              <a:rPr lang="zh-TW" altLang="en-US" sz="1800" dirty="0" smtClean="0"/>
              <a:t>Resorting </a:t>
            </a:r>
            <a:r>
              <a:rPr lang="zh-TW" altLang="en-US" sz="1800" dirty="0"/>
              <a:t>to this receiver structure, the interfering signals that come from adjacent beams are treated as noise. Under the Gaussian signaling assumption, the maximum achievable rate becomes</a:t>
            </a:r>
          </a:p>
        </p:txBody>
      </p:sp>
      <p:pic>
        <p:nvPicPr>
          <p:cNvPr id="5" name="圖片 4"/>
          <p:cNvPicPr>
            <a:picLocks noChangeAspect="1"/>
          </p:cNvPicPr>
          <p:nvPr/>
        </p:nvPicPr>
        <p:blipFill>
          <a:blip r:embed="rId3"/>
          <a:stretch>
            <a:fillRect/>
          </a:stretch>
        </p:blipFill>
        <p:spPr>
          <a:xfrm>
            <a:off x="1835567" y="2879255"/>
            <a:ext cx="5400675" cy="16192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192593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27541" y="601093"/>
            <a:ext cx="5057795" cy="369332"/>
          </a:xfrm>
          <a:prstGeom prst="rect">
            <a:avLst/>
          </a:prstGeom>
        </p:spPr>
        <p:txBody>
          <a:bodyPr wrap="none">
            <a:spAutoFit/>
          </a:bodyPr>
          <a:lstStyle/>
          <a:p>
            <a:r>
              <a:rPr lang="en-US" altLang="zh-TW" sz="1800" i="1" dirty="0">
                <a:latin typeface="Times-Italic"/>
              </a:rPr>
              <a:t>B. Simultaneous Non-unique </a:t>
            </a:r>
            <a:r>
              <a:rPr lang="en-US" altLang="zh-TW" sz="1800" i="1" dirty="0" smtClean="0">
                <a:latin typeface="Times-Italic"/>
              </a:rPr>
              <a:t>Decoding</a:t>
            </a:r>
            <a:r>
              <a:rPr lang="zh-TW" altLang="en-US" sz="1800" i="1" dirty="0" smtClean="0">
                <a:latin typeface="Times-Italic"/>
              </a:rPr>
              <a:t>   </a:t>
            </a:r>
            <a:r>
              <a:rPr lang="en-US" altLang="zh-TW" sz="1800" i="1" dirty="0" smtClean="0">
                <a:latin typeface="Times-Italic"/>
              </a:rPr>
              <a:t>(SND)</a:t>
            </a:r>
            <a:endParaRPr lang="zh-TW" altLang="en-US" sz="1800" dirty="0"/>
          </a:p>
        </p:txBody>
      </p:sp>
      <p:sp>
        <p:nvSpPr>
          <p:cNvPr id="3" name="矩形 2"/>
          <p:cNvSpPr/>
          <p:nvPr/>
        </p:nvSpPr>
        <p:spPr>
          <a:xfrm>
            <a:off x="627540" y="1205485"/>
            <a:ext cx="8179575" cy="2246769"/>
          </a:xfrm>
          <a:prstGeom prst="rect">
            <a:avLst/>
          </a:prstGeom>
        </p:spPr>
        <p:txBody>
          <a:bodyPr wrap="square">
            <a:spAutoFit/>
          </a:bodyPr>
          <a:lstStyle/>
          <a:p>
            <a:r>
              <a:rPr lang="en-US" altLang="zh-TW" dirty="0" smtClean="0"/>
              <a:t>	</a:t>
            </a:r>
            <a:r>
              <a:rPr lang="zh-TW" altLang="en-US" dirty="0" smtClean="0"/>
              <a:t>The </a:t>
            </a:r>
            <a:r>
              <a:rPr lang="zh-TW" altLang="en-US" dirty="0"/>
              <a:t>beauty of single user detector schemes stems from the fact that the implementation of the receiver is very simple</a:t>
            </a:r>
            <a:r>
              <a:rPr lang="zh-TW" altLang="en-US" dirty="0" smtClean="0"/>
              <a:t>. That </a:t>
            </a:r>
            <a:r>
              <a:rPr lang="zh-TW" altLang="en-US" dirty="0"/>
              <a:t>is because the streams can be independently decoded and, thus, the complexity does not grow with the number of beams</a:t>
            </a:r>
            <a:r>
              <a:rPr lang="zh-TW" altLang="en-US" dirty="0" smtClean="0"/>
              <a:t>.</a:t>
            </a:r>
            <a:r>
              <a:rPr lang="en-US" altLang="zh-TW" dirty="0"/>
              <a:t> However, if the magnitude of the unwanted and the desired signals are similar, the system is limited by the interference and, consequently, the capacity is significantly degraded. To overcome this issue, it is necessary to take into account the structure of the interference instead of treating it as noise</a:t>
            </a:r>
            <a:r>
              <a:rPr lang="en-US" altLang="zh-TW" dirty="0" smtClean="0"/>
              <a:t>.</a:t>
            </a:r>
          </a:p>
          <a:p>
            <a:endParaRPr lang="en-US" altLang="zh-TW" dirty="0"/>
          </a:p>
          <a:p>
            <a:r>
              <a:rPr lang="en-US" altLang="zh-TW" dirty="0"/>
              <a:t>	Bearing this in mind, we propose to leverage on the interference by grouping the beams in pairs, so that the number of disjoint sets is equal to </a:t>
            </a:r>
            <a:r>
              <a:rPr lang="zh-TW" altLang="en-US" dirty="0" smtClean="0"/>
              <a:t>𝐾</a:t>
            </a:r>
            <a:r>
              <a:rPr lang="en-US" altLang="zh-TW" dirty="0" smtClean="0"/>
              <a:t>/2 </a:t>
            </a:r>
            <a:r>
              <a:rPr lang="en-US" altLang="zh-TW" dirty="0"/>
              <a:t>. In this case, the system of equations that characterize a given pair of beams is given by</a:t>
            </a:r>
            <a:endParaRPr lang="zh-TW" altLang="en-US" dirty="0"/>
          </a:p>
        </p:txBody>
      </p:sp>
      <p:pic>
        <p:nvPicPr>
          <p:cNvPr id="5" name="圖片 4"/>
          <p:cNvPicPr>
            <a:picLocks noChangeAspect="1"/>
          </p:cNvPicPr>
          <p:nvPr/>
        </p:nvPicPr>
        <p:blipFill>
          <a:blip r:embed="rId3"/>
          <a:stretch>
            <a:fillRect/>
          </a:stretch>
        </p:blipFill>
        <p:spPr>
          <a:xfrm>
            <a:off x="1831252" y="3452254"/>
            <a:ext cx="5772150" cy="16097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369693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938462" y="661814"/>
                <a:ext cx="7170822" cy="2807756"/>
              </a:xfrm>
              <a:prstGeom prst="rect">
                <a:avLst/>
              </a:prstGeom>
            </p:spPr>
            <p:txBody>
              <a:bodyPr wrap="square">
                <a:spAutoFit/>
              </a:bodyPr>
              <a:lstStyle/>
              <a:p>
                <a:r>
                  <a:rPr lang="en-US" altLang="zh-TW" sz="2000" dirty="0" smtClean="0">
                    <a:latin typeface="+mn-lt"/>
                  </a:rPr>
                  <a:t>In this scenario the simultaneous </a:t>
                </a:r>
                <a:r>
                  <a:rPr lang="en-US" altLang="zh-TW" sz="2000" dirty="0" err="1" smtClean="0">
                    <a:latin typeface="+mn-lt"/>
                  </a:rPr>
                  <a:t>nonunique</a:t>
                </a:r>
                <a:r>
                  <a:rPr lang="zh-TW" altLang="en-US" sz="2000" dirty="0" smtClean="0">
                    <a:latin typeface="+mn-lt"/>
                  </a:rPr>
                  <a:t> </a:t>
                </a:r>
                <a:r>
                  <a:rPr lang="en-US" altLang="zh-TW" sz="2000" dirty="0" smtClean="0">
                    <a:latin typeface="+mn-lt"/>
                  </a:rPr>
                  <a:t>decoding </a:t>
                </a:r>
                <a:r>
                  <a:rPr lang="en-US" altLang="zh-TW" sz="2000" dirty="0">
                    <a:latin typeface="+mn-lt"/>
                  </a:rPr>
                  <a:t>(SND) is the optimal </a:t>
                </a:r>
                <a:r>
                  <a:rPr lang="en-US" altLang="zh-TW" sz="2000" dirty="0" smtClean="0">
                    <a:latin typeface="+mn-lt"/>
                  </a:rPr>
                  <a:t>strategy.</a:t>
                </a:r>
                <a:r>
                  <a:rPr lang="en-US" altLang="zh-TW" sz="2000" dirty="0"/>
                  <a:t> </a:t>
                </a:r>
                <a:r>
                  <a:rPr lang="en-US" altLang="zh-TW" sz="2000" dirty="0" smtClean="0"/>
                  <a:t> The</a:t>
                </a:r>
                <a:r>
                  <a:rPr lang="en-US" altLang="zh-TW" sz="2000" dirty="0"/>
                  <a:t> </a:t>
                </a:r>
                <a:r>
                  <a:rPr lang="en-US" altLang="zh-TW" sz="2000" dirty="0" smtClean="0"/>
                  <a:t>idea </a:t>
                </a:r>
                <a:r>
                  <a:rPr lang="en-US" altLang="zh-TW" sz="2000" dirty="0"/>
                  <a:t>is that each receiver should try to jointly decode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𝑠</m:t>
                        </m:r>
                      </m:e>
                      <m:sub>
                        <m:r>
                          <a:rPr lang="en-US" altLang="zh-TW" sz="2000" b="0" i="1" smtClean="0">
                            <a:latin typeface="Cambria Math" panose="02040503050406030204" pitchFamily="18" charset="0"/>
                          </a:rPr>
                          <m:t>𝑖</m:t>
                        </m:r>
                      </m:sub>
                      <m:sup/>
                    </m:sSubSup>
                  </m:oMath>
                </a14:m>
                <a:r>
                  <a:rPr lang="en-US" altLang="zh-TW" sz="2000" dirty="0" smtClean="0"/>
                  <a:t>and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𝑠</m:t>
                        </m:r>
                      </m:e>
                      <m:sub>
                        <m:r>
                          <a:rPr lang="en-US" altLang="zh-TW" sz="2000" b="0" i="1" smtClean="0">
                            <a:latin typeface="Cambria Math" panose="02040503050406030204" pitchFamily="18" charset="0"/>
                          </a:rPr>
                          <m:t>𝑘</m:t>
                        </m:r>
                      </m:sub>
                      <m:sup/>
                    </m:sSubSup>
                  </m:oMath>
                </a14:m>
                <a:r>
                  <a:rPr lang="en-US" altLang="zh-TW" sz="2000" dirty="0"/>
                  <a:t>, but the user located in the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𝑖</m:t>
                        </m:r>
                      </m:e>
                      <m:sub>
                        <m:r>
                          <a:rPr lang="en-US" altLang="zh-TW" sz="2000" b="0" i="1" smtClean="0">
                            <a:latin typeface="Cambria Math" panose="02040503050406030204" pitchFamily="18" charset="0"/>
                          </a:rPr>
                          <m:t>𝑡h</m:t>
                        </m:r>
                      </m:sub>
                      <m:sup/>
                    </m:sSubSup>
                  </m:oMath>
                </a14:m>
                <a:r>
                  <a:rPr lang="en-US" altLang="zh-TW" sz="2000" dirty="0"/>
                  <a:t>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𝑘</m:t>
                        </m:r>
                      </m:e>
                      <m:sub>
                        <m:r>
                          <a:rPr lang="en-US" altLang="zh-TW" sz="2000" b="0" i="1" smtClean="0">
                            <a:latin typeface="Cambria Math" panose="02040503050406030204" pitchFamily="18" charset="0"/>
                          </a:rPr>
                          <m:t>𝑡h</m:t>
                        </m:r>
                      </m:sub>
                      <m:sup/>
                    </m:sSubSup>
                  </m:oMath>
                </a14:m>
                <a:r>
                  <a:rPr lang="en-US" altLang="zh-TW" sz="2000" dirty="0"/>
                  <a:t>) beam does </a:t>
                </a:r>
                <a:r>
                  <a:rPr lang="en-US" altLang="zh-TW" sz="2000" dirty="0" smtClean="0"/>
                  <a:t>not care </a:t>
                </a:r>
                <a:r>
                  <a:rPr lang="en-US" altLang="zh-TW" sz="2000" dirty="0"/>
                  <a:t>about the errors </a:t>
                </a:r>
                <a:r>
                  <a:rPr lang="en-US" altLang="zh-TW" sz="2000" dirty="0" smtClean="0"/>
                  <a:t>when </a:t>
                </a:r>
                <a:r>
                  <a:rPr lang="en-US" altLang="zh-TW" sz="2000" dirty="0"/>
                  <a:t>decoding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𝑠</m:t>
                        </m:r>
                      </m:e>
                      <m:sub>
                        <m:r>
                          <a:rPr lang="en-US" altLang="zh-TW" sz="2000" b="0" i="1" smtClean="0">
                            <a:latin typeface="Cambria Math" panose="02040503050406030204" pitchFamily="18" charset="0"/>
                          </a:rPr>
                          <m:t>𝑘</m:t>
                        </m:r>
                      </m:sub>
                      <m:sup/>
                    </m:sSubSup>
                    <m:r>
                      <a:rPr lang="en-US" altLang="zh-TW" sz="2000" i="1">
                        <a:latin typeface="Cambria Math" panose="02040503050406030204" pitchFamily="18" charset="0"/>
                      </a:rPr>
                      <m:t> </m:t>
                    </m:r>
                  </m:oMath>
                </a14:m>
                <a:r>
                  <a:rPr lang="en-US" altLang="zh-TW" sz="2000" dirty="0" smtClean="0"/>
                  <a:t>(</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𝑠</m:t>
                        </m:r>
                      </m:e>
                      <m:sub>
                        <m:r>
                          <a:rPr lang="en-US" altLang="zh-TW" sz="2000" i="1">
                            <a:latin typeface="Cambria Math" panose="02040503050406030204" pitchFamily="18" charset="0"/>
                          </a:rPr>
                          <m:t>𝑖</m:t>
                        </m:r>
                      </m:sub>
                      <m:sup/>
                    </m:sSubSup>
                  </m:oMath>
                </a14:m>
                <a:r>
                  <a:rPr lang="en-US" altLang="zh-TW" sz="2000" dirty="0" smtClean="0"/>
                  <a:t>).</a:t>
                </a:r>
                <a:r>
                  <a:rPr lang="zh-TW" altLang="en-US" sz="2000" dirty="0" smtClean="0"/>
                  <a:t> </a:t>
                </a:r>
                <a:r>
                  <a:rPr lang="en-US" altLang="zh-TW" sz="2000" dirty="0"/>
                  <a:t>Concerning the capacity analysis, when the rate assigned to the </a:t>
                </a:r>
                <a:r>
                  <a:rPr lang="en-US" altLang="zh-TW" sz="2000" dirty="0" err="1"/>
                  <a:t>kth</a:t>
                </a:r>
                <a:r>
                  <a:rPr lang="en-US" altLang="zh-TW" sz="2000" dirty="0"/>
                  <a:t> beam is fixed, i.e.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𝑆𝑁𝐷</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𝑘</m:t>
                        </m:r>
                      </m:sub>
                      <m:sup/>
                    </m:sSubSup>
                  </m:oMath>
                </a14:m>
                <a:r>
                  <a:rPr lang="en-US" altLang="zh-TW" sz="2000" dirty="0" smtClean="0"/>
                  <a:t> </a:t>
                </a:r>
                <a:r>
                  <a:rPr lang="en-US" altLang="zh-TW" sz="2000" dirty="0"/>
                  <a:t>the maximum achievable rate of the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𝑖</m:t>
                        </m:r>
                      </m:e>
                      <m:sub>
                        <m:r>
                          <a:rPr lang="en-US" altLang="zh-TW" sz="2000" i="1">
                            <a:latin typeface="Cambria Math" panose="02040503050406030204" pitchFamily="18" charset="0"/>
                          </a:rPr>
                          <m:t>𝑡h</m:t>
                        </m:r>
                      </m:sub>
                      <m:sup/>
                    </m:sSubSup>
                  </m:oMath>
                </a14:m>
                <a:r>
                  <a:rPr lang="en-US" altLang="zh-TW" sz="2000" dirty="0"/>
                  <a:t> beam for the Gaussian distribution </a:t>
                </a:r>
                <a:r>
                  <a:rPr lang="en-US" altLang="zh-TW" sz="2000" dirty="0" smtClean="0"/>
                  <a:t>reads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𝑅</m:t>
                        </m:r>
                      </m:e>
                      <m:sub>
                        <m:r>
                          <a:rPr lang="en-US" altLang="zh-TW" sz="2000" i="1">
                            <a:latin typeface="Cambria Math" panose="02040503050406030204" pitchFamily="18" charset="0"/>
                          </a:rPr>
                          <m:t>𝑆𝑁𝐷</m:t>
                        </m:r>
                      </m:sub>
                      <m:sup/>
                    </m:sSubSup>
                  </m:oMath>
                </a14:m>
                <a:endParaRPr lang="zh-TW" altLang="en-US" sz="2000" dirty="0">
                  <a:latin typeface="+mn-lt"/>
                </a:endParaRPr>
              </a:p>
            </p:txBody>
          </p:sp>
        </mc:Choice>
        <mc:Fallback xmlns="">
          <p:sp>
            <p:nvSpPr>
              <p:cNvPr id="2" name="矩形 1"/>
              <p:cNvSpPr>
                <a:spLocks noRot="1" noChangeAspect="1" noMove="1" noResize="1" noEditPoints="1" noAdjustHandles="1" noChangeArrowheads="1" noChangeShapeType="1" noTextEdit="1"/>
              </p:cNvSpPr>
              <p:nvPr/>
            </p:nvSpPr>
            <p:spPr>
              <a:xfrm>
                <a:off x="938462" y="661814"/>
                <a:ext cx="7170822" cy="2807756"/>
              </a:xfrm>
              <a:prstGeom prst="rect">
                <a:avLst/>
              </a:prstGeom>
              <a:blipFill rotWithShape="0">
                <a:blip r:embed="rId3"/>
                <a:stretch>
                  <a:fillRect l="-935" t="-1087" b="-347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14843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0" y="0"/>
            <a:ext cx="5666130" cy="5245767"/>
          </a:xfrm>
          <a:prstGeom prst="rect">
            <a:avLst/>
          </a:prstGeom>
        </p:spPr>
      </p:pic>
      <p:sp>
        <p:nvSpPr>
          <p:cNvPr id="4" name="矩形 3"/>
          <p:cNvSpPr/>
          <p:nvPr/>
        </p:nvSpPr>
        <p:spPr>
          <a:xfrm>
            <a:off x="5931568" y="326055"/>
            <a:ext cx="3092116" cy="1384995"/>
          </a:xfrm>
          <a:prstGeom prst="rect">
            <a:avLst/>
          </a:prstGeom>
        </p:spPr>
        <p:txBody>
          <a:bodyPr wrap="square">
            <a:spAutoFit/>
          </a:bodyPr>
          <a:lstStyle/>
          <a:p>
            <a:r>
              <a:rPr lang="zh-TW" altLang="en-US" dirty="0"/>
              <a:t>Concerning the capacity analysis, when the rate assigned to the kth beam is fixed, i.e. 𝑅SND, k, the maximum achievable rate of the ith beam for the Gaussian distribution reads</a:t>
            </a:r>
          </a:p>
        </p:txBody>
      </p:sp>
    </p:spTree>
    <p:extLst>
      <p:ext uri="{BB962C8B-B14F-4D97-AF65-F5344CB8AC3E}">
        <p14:creationId xmlns:p14="http://schemas.microsoft.com/office/powerpoint/2010/main" val="32559196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8147" y="578155"/>
            <a:ext cx="7387390" cy="646331"/>
          </a:xfrm>
          <a:prstGeom prst="rect">
            <a:avLst/>
          </a:prstGeom>
        </p:spPr>
        <p:txBody>
          <a:bodyPr wrap="square">
            <a:spAutoFit/>
          </a:bodyPr>
          <a:lstStyle/>
          <a:p>
            <a:r>
              <a:rPr lang="en-US" altLang="zh-TW" sz="1800" dirty="0" smtClean="0"/>
              <a:t>	</a:t>
            </a:r>
            <a:r>
              <a:rPr lang="zh-TW" altLang="en-US" sz="1800" dirty="0" smtClean="0"/>
              <a:t>It </a:t>
            </a:r>
            <a:r>
              <a:rPr lang="zh-TW" altLang="en-US" sz="1800" dirty="0"/>
              <a:t>is particularly noteworthy that the rate region that is jointly achievable in the ith and kth beams is the </a:t>
            </a:r>
            <a:r>
              <a:rPr lang="zh-TW" altLang="en-US" sz="1800" dirty="0" smtClean="0"/>
              <a:t>intersection </a:t>
            </a:r>
            <a:r>
              <a:rPr lang="en-US" altLang="zh-TW" sz="1800" dirty="0"/>
              <a:t>of (17) and (20).</a:t>
            </a:r>
            <a:endParaRPr lang="zh-TW" altLang="en-US" sz="1800" dirty="0"/>
          </a:p>
        </p:txBody>
      </p:sp>
      <p:pic>
        <p:nvPicPr>
          <p:cNvPr id="3" name="圖片 2"/>
          <p:cNvPicPr>
            <a:picLocks noChangeAspect="1"/>
          </p:cNvPicPr>
          <p:nvPr/>
        </p:nvPicPr>
        <p:blipFill>
          <a:blip r:embed="rId3"/>
          <a:stretch>
            <a:fillRect/>
          </a:stretch>
        </p:blipFill>
        <p:spPr>
          <a:xfrm>
            <a:off x="733926" y="1467850"/>
            <a:ext cx="4133817" cy="3242511"/>
          </a:xfrm>
          <a:prstGeom prst="rect">
            <a:avLst/>
          </a:prstGeom>
        </p:spPr>
      </p:pic>
      <p:sp>
        <p:nvSpPr>
          <p:cNvPr id="4" name="矩形 3"/>
          <p:cNvSpPr/>
          <p:nvPr/>
        </p:nvSpPr>
        <p:spPr>
          <a:xfrm>
            <a:off x="5185609" y="1733187"/>
            <a:ext cx="3616459" cy="738664"/>
          </a:xfrm>
          <a:prstGeom prst="rect">
            <a:avLst/>
          </a:prstGeom>
        </p:spPr>
        <p:txBody>
          <a:bodyPr wrap="square">
            <a:spAutoFit/>
          </a:bodyPr>
          <a:lstStyle/>
          <a:p>
            <a:r>
              <a:rPr lang="zh-TW" altLang="en-US" dirty="0"/>
              <a:t>In this case, the highest sum-rate is determined by one of the corner points, which are achievable by a SIC receiver.</a:t>
            </a:r>
          </a:p>
        </p:txBody>
      </p:sp>
    </p:spTree>
    <p:extLst>
      <p:ext uri="{BB962C8B-B14F-4D97-AF65-F5344CB8AC3E}">
        <p14:creationId xmlns:p14="http://schemas.microsoft.com/office/powerpoint/2010/main" val="39416513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30179" y="423432"/>
            <a:ext cx="6978316" cy="738664"/>
          </a:xfrm>
          <a:prstGeom prst="rect">
            <a:avLst/>
          </a:prstGeom>
        </p:spPr>
        <p:txBody>
          <a:bodyPr wrap="square">
            <a:spAutoFit/>
          </a:bodyPr>
          <a:lstStyle/>
          <a:p>
            <a:r>
              <a:rPr lang="en-US" altLang="zh-TW" dirty="0" smtClean="0"/>
              <a:t>	</a:t>
            </a:r>
            <a:r>
              <a:rPr lang="zh-TW" altLang="en-US" dirty="0" smtClean="0"/>
              <a:t>Figure </a:t>
            </a:r>
            <a:r>
              <a:rPr lang="zh-TW" altLang="en-US" dirty="0"/>
              <a:t>2 presents the empirical cumulative distributed </a:t>
            </a:r>
            <a:r>
              <a:rPr lang="zh-TW" altLang="en-US" dirty="0" smtClean="0"/>
              <a:t>function (CDF</a:t>
            </a:r>
            <a:r>
              <a:rPr lang="zh-TW" altLang="en-US" dirty="0"/>
              <a:t>) of the data rate whenever the </a:t>
            </a:r>
            <a:r>
              <a:rPr lang="zh-TW" altLang="en-US" dirty="0" smtClean="0"/>
              <a:t>receivers implement SND </a:t>
            </a:r>
            <a:r>
              <a:rPr lang="zh-TW" altLang="en-US" dirty="0"/>
              <a:t>or IAN with different precoding techniques.</a:t>
            </a:r>
          </a:p>
        </p:txBody>
      </p:sp>
      <p:pic>
        <p:nvPicPr>
          <p:cNvPr id="3" name="圖片 2"/>
          <p:cNvPicPr>
            <a:picLocks noChangeAspect="1"/>
          </p:cNvPicPr>
          <p:nvPr/>
        </p:nvPicPr>
        <p:blipFill>
          <a:blip r:embed="rId3"/>
          <a:stretch>
            <a:fillRect/>
          </a:stretch>
        </p:blipFill>
        <p:spPr>
          <a:xfrm>
            <a:off x="2064920" y="1061286"/>
            <a:ext cx="5743575" cy="3790950"/>
          </a:xfrm>
          <a:prstGeom prst="rect">
            <a:avLst/>
          </a:prstGeom>
        </p:spPr>
      </p:pic>
    </p:spTree>
    <p:extLst>
      <p:ext uri="{BB962C8B-B14F-4D97-AF65-F5344CB8AC3E}">
        <p14:creationId xmlns:p14="http://schemas.microsoft.com/office/powerpoint/2010/main" val="18571209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26431" y="458964"/>
            <a:ext cx="7146758" cy="1200329"/>
          </a:xfrm>
          <a:prstGeom prst="rect">
            <a:avLst/>
          </a:prstGeom>
        </p:spPr>
        <p:txBody>
          <a:bodyPr wrap="square">
            <a:spAutoFit/>
          </a:bodyPr>
          <a:lstStyle/>
          <a:p>
            <a:r>
              <a:rPr lang="en-US" altLang="zh-TW" sz="1800" dirty="0" smtClean="0">
                <a:latin typeface="Times-Roman"/>
              </a:rPr>
              <a:t>	</a:t>
            </a:r>
            <a:r>
              <a:rPr lang="en-US" altLang="zh-TW" sz="1800" dirty="0" smtClean="0">
                <a:latin typeface="+mn-lt"/>
              </a:rPr>
              <a:t>In </a:t>
            </a:r>
            <a:r>
              <a:rPr lang="en-US" altLang="zh-TW" sz="1800" dirty="0">
                <a:latin typeface="+mn-lt"/>
              </a:rPr>
              <a:t>this figure we can observe that SND receiver </a:t>
            </a:r>
            <a:r>
              <a:rPr lang="en-US" altLang="zh-TW" sz="1800" dirty="0" smtClean="0">
                <a:latin typeface="+mn-lt"/>
              </a:rPr>
              <a:t>technique</a:t>
            </a:r>
            <a:r>
              <a:rPr lang="zh-TW" altLang="en-US" sz="1800" dirty="0" smtClean="0">
                <a:latin typeface="+mn-lt"/>
              </a:rPr>
              <a:t> </a:t>
            </a:r>
            <a:r>
              <a:rPr lang="en-US" altLang="zh-TW" sz="1800" dirty="0" smtClean="0">
                <a:latin typeface="+mn-lt"/>
              </a:rPr>
              <a:t>increases </a:t>
            </a:r>
            <a:r>
              <a:rPr lang="en-US" altLang="zh-TW" sz="1800" dirty="0">
                <a:latin typeface="+mn-lt"/>
              </a:rPr>
              <a:t>the sum-rate in all </a:t>
            </a:r>
            <a:r>
              <a:rPr lang="en-US" altLang="zh-TW" sz="1800" dirty="0" err="1">
                <a:latin typeface="+mn-lt"/>
              </a:rPr>
              <a:t>precoding</a:t>
            </a:r>
            <a:r>
              <a:rPr lang="en-US" altLang="zh-TW" sz="1800" dirty="0">
                <a:latin typeface="+mn-lt"/>
              </a:rPr>
              <a:t> schemes. Precisely, </a:t>
            </a:r>
            <a:r>
              <a:rPr lang="en-US" altLang="zh-TW" sz="1800" dirty="0" smtClean="0">
                <a:latin typeface="+mn-lt"/>
              </a:rPr>
              <a:t>it</a:t>
            </a:r>
            <a:r>
              <a:rPr lang="zh-TW" altLang="en-US" sz="1800" dirty="0" smtClean="0">
                <a:latin typeface="+mn-lt"/>
              </a:rPr>
              <a:t> </a:t>
            </a:r>
            <a:r>
              <a:rPr lang="en-US" altLang="zh-TW" sz="1800" dirty="0" smtClean="0">
                <a:latin typeface="+mn-lt"/>
              </a:rPr>
              <a:t>increases </a:t>
            </a:r>
            <a:r>
              <a:rPr lang="en-US" altLang="zh-TW" sz="1800" dirty="0">
                <a:latin typeface="+mn-lt"/>
              </a:rPr>
              <a:t>the system capacity a factor of 23% in the </a:t>
            </a:r>
            <a:r>
              <a:rPr lang="en-US" altLang="zh-TW" sz="1800" dirty="0" smtClean="0">
                <a:latin typeface="+mn-lt"/>
              </a:rPr>
              <a:t>MMSE</a:t>
            </a:r>
            <a:r>
              <a:rPr lang="zh-TW" altLang="en-US" sz="1800" dirty="0" smtClean="0">
                <a:latin typeface="+mn-lt"/>
              </a:rPr>
              <a:t> </a:t>
            </a:r>
            <a:r>
              <a:rPr lang="en-US" altLang="zh-TW" sz="1800" dirty="0" smtClean="0">
                <a:latin typeface="+mn-lt"/>
              </a:rPr>
              <a:t>and </a:t>
            </a:r>
            <a:r>
              <a:rPr lang="en-US" altLang="zh-TW" sz="1800" dirty="0">
                <a:latin typeface="+mn-lt"/>
              </a:rPr>
              <a:t>ZF case where as for the SLNR it increases the </a:t>
            </a:r>
            <a:r>
              <a:rPr lang="en-US" altLang="zh-TW" sz="1800" dirty="0" smtClean="0">
                <a:latin typeface="+mn-lt"/>
              </a:rPr>
              <a:t>sum-rate</a:t>
            </a:r>
            <a:r>
              <a:rPr lang="zh-TW" altLang="en-US" sz="1800" dirty="0" smtClean="0">
                <a:latin typeface="+mn-lt"/>
              </a:rPr>
              <a:t> </a:t>
            </a:r>
            <a:r>
              <a:rPr lang="en-US" altLang="zh-TW" sz="1800" dirty="0" smtClean="0">
                <a:latin typeface="+mn-lt"/>
              </a:rPr>
              <a:t>18</a:t>
            </a:r>
            <a:r>
              <a:rPr lang="en-US" altLang="zh-TW" sz="1800" dirty="0">
                <a:latin typeface="+mn-lt"/>
              </a:rPr>
              <a:t>%.</a:t>
            </a:r>
            <a:endParaRPr lang="zh-TW" altLang="en-US" sz="1800" dirty="0">
              <a:latin typeface="+mn-lt"/>
            </a:endParaRPr>
          </a:p>
        </p:txBody>
      </p:sp>
      <p:pic>
        <p:nvPicPr>
          <p:cNvPr id="3" name="圖片 2"/>
          <p:cNvPicPr>
            <a:picLocks noChangeAspect="1"/>
          </p:cNvPicPr>
          <p:nvPr/>
        </p:nvPicPr>
        <p:blipFill>
          <a:blip r:embed="rId3"/>
          <a:stretch>
            <a:fillRect/>
          </a:stretch>
        </p:blipFill>
        <p:spPr>
          <a:xfrm>
            <a:off x="2363452" y="1659293"/>
            <a:ext cx="4272715" cy="3349308"/>
          </a:xfrm>
          <a:prstGeom prst="rect">
            <a:avLst/>
          </a:prstGeom>
        </p:spPr>
      </p:pic>
    </p:spTree>
    <p:extLst>
      <p:ext uri="{BB962C8B-B14F-4D97-AF65-F5344CB8AC3E}">
        <p14:creationId xmlns:p14="http://schemas.microsoft.com/office/powerpoint/2010/main" val="9575011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283;p40"/>
          <p:cNvSpPr txBox="1">
            <a:spLocks/>
          </p:cNvSpPr>
          <p:nvPr/>
        </p:nvSpPr>
        <p:spPr>
          <a:xfrm>
            <a:off x="516409" y="484123"/>
            <a:ext cx="7873950" cy="95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Architects Daughter"/>
              <a:buNone/>
              <a:defRPr sz="6000" b="1" i="0" u="none" strike="noStrike" cap="none">
                <a:solidFill>
                  <a:schemeClr val="dk1"/>
                </a:solidFill>
                <a:latin typeface="Architects Daughter"/>
                <a:ea typeface="Architects Daughter"/>
                <a:cs typeface="Architects Daughter"/>
                <a:sym typeface="Architects Daughter"/>
              </a:defRPr>
            </a:lvl1pPr>
            <a:lvl2pPr marR="0" lvl="1"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9pPr>
          </a:lstStyle>
          <a:p>
            <a:r>
              <a:rPr lang="en-US" dirty="0" smtClean="0"/>
              <a:t>Conclusion</a:t>
            </a:r>
            <a:endParaRPr lang="en-US" dirty="0"/>
          </a:p>
        </p:txBody>
      </p:sp>
      <p:sp>
        <p:nvSpPr>
          <p:cNvPr id="8" name="矩形 7"/>
          <p:cNvSpPr/>
          <p:nvPr/>
        </p:nvSpPr>
        <p:spPr>
          <a:xfrm>
            <a:off x="1280159" y="1436923"/>
            <a:ext cx="7110199" cy="1169551"/>
          </a:xfrm>
          <a:prstGeom prst="rect">
            <a:avLst/>
          </a:prstGeom>
        </p:spPr>
        <p:txBody>
          <a:bodyPr wrap="square">
            <a:spAutoFit/>
          </a:bodyPr>
          <a:lstStyle/>
          <a:p>
            <a:r>
              <a:rPr lang="zh-TW" altLang="en-US" dirty="0"/>
              <a:t>This paper investigates how high performance receivers </a:t>
            </a:r>
            <a:r>
              <a:rPr lang="zh-TW" altLang="en-US" dirty="0" smtClean="0"/>
              <a:t>can increase </a:t>
            </a:r>
            <a:r>
              <a:rPr lang="zh-TW" altLang="en-US" dirty="0"/>
              <a:t>the data rate of precoding techniques in </a:t>
            </a:r>
            <a:r>
              <a:rPr lang="zh-TW" altLang="en-US" dirty="0" smtClean="0"/>
              <a:t>multibeam satellite </a:t>
            </a:r>
            <a:r>
              <a:rPr lang="zh-TW" altLang="en-US" dirty="0"/>
              <a:t>systems. SND is able to significantly increase </a:t>
            </a:r>
            <a:r>
              <a:rPr lang="zh-TW" altLang="en-US" dirty="0" smtClean="0"/>
              <a:t>the </a:t>
            </a:r>
            <a:r>
              <a:rPr lang="en-US" altLang="zh-TW" dirty="0"/>
              <a:t>achievable rates of a simple </a:t>
            </a:r>
            <a:r>
              <a:rPr lang="en-US" altLang="zh-TW" dirty="0" err="1"/>
              <a:t>precoding</a:t>
            </a:r>
            <a:r>
              <a:rPr lang="en-US" altLang="zh-TW" dirty="0"/>
              <a:t> operation with IAN. In</a:t>
            </a:r>
          </a:p>
          <a:p>
            <a:r>
              <a:rPr lang="en-US" altLang="zh-TW" dirty="0"/>
              <a:t>contrast to other studies, we point out that SLNR </a:t>
            </a:r>
            <a:r>
              <a:rPr lang="en-US" altLang="zh-TW" dirty="0" err="1" smtClean="0"/>
              <a:t>precoding</a:t>
            </a:r>
            <a:r>
              <a:rPr lang="en-US" altLang="zh-TW" dirty="0"/>
              <a:t> </a:t>
            </a:r>
            <a:r>
              <a:rPr lang="en-US" altLang="zh-TW" dirty="0" smtClean="0"/>
              <a:t>offers </a:t>
            </a:r>
            <a:r>
              <a:rPr lang="en-US" altLang="zh-TW" dirty="0"/>
              <a:t>higher data rates compared to ZF and MMSE </a:t>
            </a:r>
            <a:r>
              <a:rPr lang="en-US" altLang="zh-TW" dirty="0" smtClean="0"/>
              <a:t>both under </a:t>
            </a:r>
            <a:r>
              <a:rPr lang="en-US" altLang="zh-TW" dirty="0"/>
              <a:t>IAN and SND.</a:t>
            </a:r>
            <a:endParaRPr lang="zh-TW" altLang="en-US" dirty="0"/>
          </a:p>
        </p:txBody>
      </p:sp>
    </p:spTree>
    <p:extLst>
      <p:ext uri="{BB962C8B-B14F-4D97-AF65-F5344CB8AC3E}">
        <p14:creationId xmlns:p14="http://schemas.microsoft.com/office/powerpoint/2010/main" val="23646250"/>
      </p:ext>
    </p:extLst>
  </p:cSld>
  <p:clrMapOvr>
    <a:masterClrMapping/>
  </p:clrMapOvr>
  <p:timing>
    <p:tnLst>
      <p:par>
        <p:cTn id="1" dur="indefinite" restart="never" nodeType="tmRoot"/>
      </p:par>
    </p:tnLst>
  </p:timing>
</p:sld>
</file>

<file path=ppt/theme/theme1.xml><?xml version="1.0" encoding="utf-8"?>
<a:theme xmlns:a="http://schemas.openxmlformats.org/drawingml/2006/main" name="Weekly Lesson Planner by Slidesgo">
  <a:themeElements>
    <a:clrScheme name="Simple Light">
      <a:dk1>
        <a:srgbClr val="3F3C3B"/>
      </a:dk1>
      <a:lt1>
        <a:srgbClr val="FFFFFF"/>
      </a:lt1>
      <a:dk2>
        <a:srgbClr val="F8E9AC"/>
      </a:dk2>
      <a:lt2>
        <a:srgbClr val="FCCACA"/>
      </a:lt2>
      <a:accent1>
        <a:srgbClr val="A8DAFF"/>
      </a:accent1>
      <a:accent2>
        <a:srgbClr val="4785B3"/>
      </a:accent2>
      <a:accent3>
        <a:srgbClr val="FF9B99"/>
      </a:accent3>
      <a:accent4>
        <a:srgbClr val="EB7E7C"/>
      </a:accent4>
      <a:accent5>
        <a:srgbClr val="C7AC7D"/>
      </a:accent5>
      <a:accent6>
        <a:srgbClr val="B7954E"/>
      </a:accent6>
      <a:hlink>
        <a:srgbClr val="3F3C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TotalTime>
  <Words>2529</Words>
  <Application>Microsoft Office PowerPoint</Application>
  <PresentationFormat>如螢幕大小 (16:9)</PresentationFormat>
  <Paragraphs>174</Paragraphs>
  <Slides>28</Slides>
  <Notes>27</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28</vt:i4>
      </vt:variant>
    </vt:vector>
  </HeadingPairs>
  <TitlesOfParts>
    <vt:vector size="37" baseType="lpstr">
      <vt:lpstr>Cambria Math</vt:lpstr>
      <vt:lpstr>CMMI10</vt:lpstr>
      <vt:lpstr>Catamaran</vt:lpstr>
      <vt:lpstr>Times-Roman</vt:lpstr>
      <vt:lpstr>Times-Italic</vt:lpstr>
      <vt:lpstr>Arial</vt:lpstr>
      <vt:lpstr>Architects Daughter</vt:lpstr>
      <vt:lpstr>新細明體</vt:lpstr>
      <vt:lpstr>Weekly Lesson Planner by Slidesgo</vt:lpstr>
      <vt:lpstr>Performance Analysis of Joint Precoding and MUD Techniques in Multibeam Satellite Systems</vt:lpstr>
      <vt:lpstr>Agenda</vt:lpstr>
      <vt:lpstr>INTRODUCTION</vt:lpstr>
      <vt:lpstr>INTRODUCTION</vt:lpstr>
      <vt:lpstr>PowerPoint 簡報</vt:lpstr>
      <vt:lpstr>PowerPoint 簡報</vt:lpstr>
      <vt:lpstr>PowerPoint 簡報</vt:lpstr>
      <vt:lpstr>System model</vt:lpstr>
      <vt:lpstr>System Model</vt:lpstr>
      <vt:lpstr>PowerPoint 簡報</vt:lpstr>
      <vt:lpstr>PowerPoint 簡報</vt:lpstr>
      <vt:lpstr>PowerPoint 簡報</vt:lpstr>
      <vt:lpstr>PowerPoint 簡報</vt:lpstr>
      <vt:lpstr>Precoding Design</vt:lpstr>
      <vt:lpstr>PowerPoint 簡報</vt:lpstr>
      <vt:lpstr>PowerPoint 簡報</vt:lpstr>
      <vt:lpstr>PowerPoint 簡報</vt:lpstr>
      <vt:lpstr>PowerPoint 簡報</vt:lpstr>
      <vt:lpstr>CAPACITY  ANALYSIS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Analysis of Joint Precoding and MUD Techniques in Multibeam Satellite Systems</dc:title>
  <cp:lastModifiedBy>祺淵 黃</cp:lastModifiedBy>
  <cp:revision>118</cp:revision>
  <dcterms:modified xsi:type="dcterms:W3CDTF">2020-05-01T04:59:41Z</dcterms:modified>
</cp:coreProperties>
</file>