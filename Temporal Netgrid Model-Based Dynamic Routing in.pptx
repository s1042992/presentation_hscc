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33"/>
  </p:notesMasterIdLst>
  <p:sldIdLst>
    <p:sldId id="256" r:id="rId2"/>
    <p:sldId id="258" r:id="rId3"/>
    <p:sldId id="259" r:id="rId4"/>
    <p:sldId id="260" r:id="rId5"/>
    <p:sldId id="298" r:id="rId6"/>
    <p:sldId id="299" r:id="rId7"/>
    <p:sldId id="262" r:id="rId8"/>
    <p:sldId id="263" r:id="rId9"/>
    <p:sldId id="300" r:id="rId10"/>
    <p:sldId id="267" r:id="rId11"/>
    <p:sldId id="301" r:id="rId12"/>
    <p:sldId id="302" r:id="rId13"/>
    <p:sldId id="303" r:id="rId14"/>
    <p:sldId id="304" r:id="rId15"/>
    <p:sldId id="306" r:id="rId16"/>
    <p:sldId id="271" r:id="rId17"/>
    <p:sldId id="308" r:id="rId18"/>
    <p:sldId id="307" r:id="rId19"/>
    <p:sldId id="274" r:id="rId20"/>
    <p:sldId id="309" r:id="rId21"/>
    <p:sldId id="310" r:id="rId22"/>
    <p:sldId id="311" r:id="rId23"/>
    <p:sldId id="312" r:id="rId24"/>
    <p:sldId id="313" r:id="rId25"/>
    <p:sldId id="275" r:id="rId26"/>
    <p:sldId id="277" r:id="rId27"/>
    <p:sldId id="316" r:id="rId28"/>
    <p:sldId id="279" r:id="rId29"/>
    <p:sldId id="314" r:id="rId30"/>
    <p:sldId id="315" r:id="rId31"/>
    <p:sldId id="280" r:id="rId32"/>
  </p:sldIdLst>
  <p:sldSz cx="9144000" cy="5143500" type="screen16x9"/>
  <p:notesSz cx="6858000" cy="9144000"/>
  <p:embeddedFontLst>
    <p:embeddedFont>
      <p:font typeface="Cambria Math" panose="02040503050406030204" pitchFamily="18" charset="0"/>
      <p:regular r:id="rId34"/>
    </p:embeddedFont>
    <p:embeddedFont>
      <p:font typeface="Exo 2" panose="02020500000000000000" charset="0"/>
      <p:regular r:id="rId35"/>
      <p:bold r:id="rId36"/>
      <p:italic r:id="rId37"/>
      <p:boldItalic r:id="rId38"/>
    </p:embeddedFont>
    <p:embeddedFont>
      <p:font typeface="Fira Sans Extra Condensed Medium" panose="02020500000000000000" charset="0"/>
      <p:regular r:id="rId39"/>
      <p:bold r:id="rId40"/>
      <p:italic r:id="rId41"/>
      <p:boldItalic r:id="rId42"/>
    </p:embeddedFont>
    <p:embeddedFont>
      <p:font typeface="Roboto Condensed" panose="02020500000000000000" charset="0"/>
      <p:regular r:id="rId43"/>
      <p:bold r:id="rId44"/>
      <p:italic r:id="rId45"/>
      <p:boldItalic r:id="rId46"/>
    </p:embeddedFont>
    <p:embeddedFont>
      <p:font typeface="Roboto Condensed Light" panose="02020500000000000000" charset="0"/>
      <p:regular r:id="rId47"/>
      <p:bold r:id="rId48"/>
      <p:italic r:id="rId49"/>
      <p:boldItalic r:id="rId50"/>
    </p:embeddedFont>
    <p:embeddedFont>
      <p:font typeface="Squada One" panose="02020500000000000000"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623E14-597C-47E4-A144-D462374CB9F8}">
  <a:tblStyle styleId="{99623E14-597C-47E4-A144-D462374CB9F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34" autoAdjust="0"/>
  </p:normalViewPr>
  <p:slideViewPr>
    <p:cSldViewPr snapToGrid="0">
      <p:cViewPr varScale="1">
        <p:scale>
          <a:sx n="125" d="100"/>
          <a:sy n="125" d="100"/>
        </p:scale>
        <p:origin x="11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2875943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這篇主要時提出了一個不基於衛星數量與座標的一種大規模小型衛星的路由演算法，他是基於他所提出的一個叫</a:t>
            </a:r>
            <a:r>
              <a:rPr lang="en-US" altLang="zh-TW" dirty="0" err="1"/>
              <a:t>netgrid</a:t>
            </a:r>
            <a:r>
              <a:rPr lang="zh-TW" altLang="en-US" dirty="0"/>
              <a:t>的一種方式，簡單來說她把空間分割成好幾個立方體，基於這個</a:t>
            </a:r>
            <a:r>
              <a:rPr lang="en-US" altLang="zh-TW" dirty="0" err="1"/>
              <a:t>netgrid</a:t>
            </a:r>
            <a:r>
              <a:rPr lang="zh-TW" altLang="en-US"/>
              <a:t>來尋找最佳路徑。</a:t>
            </a:r>
            <a:endParaRPr dirty="0"/>
          </a:p>
        </p:txBody>
      </p:sp>
    </p:spTree>
    <p:extLst>
      <p:ext uri="{BB962C8B-B14F-4D97-AF65-F5344CB8AC3E}">
        <p14:creationId xmlns:p14="http://schemas.microsoft.com/office/powerpoint/2010/main" val="2024367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40422e07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40422e07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5017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58d3b44f0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58d3b44f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585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近幾年，由於人們對於隨時隨地且無縫的通訊需求提升，因此</a:t>
            </a:r>
            <a:r>
              <a:rPr lang="en-US" altLang="zh-TW" dirty="0"/>
              <a:t>LEO</a:t>
            </a:r>
            <a:r>
              <a:rPr lang="zh-TW" altLang="en-US" dirty="0"/>
              <a:t> </a:t>
            </a:r>
            <a:r>
              <a:rPr lang="en-US" altLang="zh-TW" dirty="0"/>
              <a:t>small satellite networks</a:t>
            </a:r>
            <a:r>
              <a:rPr lang="zh-TW" altLang="en-US" dirty="0"/>
              <a:t>的研究引起了越來越多的關注，因為跟</a:t>
            </a:r>
            <a:r>
              <a:rPr lang="en-US" altLang="zh-TW" dirty="0"/>
              <a:t>MEO</a:t>
            </a:r>
            <a:r>
              <a:rPr lang="zh-TW" altLang="en-US" dirty="0"/>
              <a:t>與</a:t>
            </a:r>
            <a:r>
              <a:rPr lang="en-US" altLang="zh-TW" dirty="0"/>
              <a:t>GEO</a:t>
            </a:r>
            <a:r>
              <a:rPr lang="zh-TW" altLang="en-US" dirty="0"/>
              <a:t>相比， </a:t>
            </a:r>
            <a:r>
              <a:rPr lang="en-US" altLang="zh-TW" dirty="0"/>
              <a:t>LEO</a:t>
            </a:r>
            <a:r>
              <a:rPr lang="zh-TW" altLang="en-US" dirty="0"/>
              <a:t>不僅在發射及維護上更具便利性，還能實現更高的</a:t>
            </a:r>
            <a:r>
              <a:rPr lang="en-US" altLang="zh-TW" dirty="0"/>
              <a:t>throughput </a:t>
            </a:r>
            <a:r>
              <a:rPr lang="zh-TW" altLang="en-US" dirty="0"/>
              <a:t>與較短的</a:t>
            </a:r>
            <a:r>
              <a:rPr lang="en-US" altLang="zh-TW" dirty="0"/>
              <a:t>propagation delay. </a:t>
            </a:r>
            <a:r>
              <a:rPr lang="zh-TW" altLang="en-US" dirty="0"/>
              <a:t> 像是 </a:t>
            </a:r>
            <a:r>
              <a:rPr lang="en-US" altLang="zh-TW" dirty="0"/>
              <a:t>Airbus</a:t>
            </a:r>
            <a:r>
              <a:rPr lang="zh-TW" altLang="en-US" dirty="0"/>
              <a:t>的</a:t>
            </a:r>
            <a:r>
              <a:rPr lang="en-US" altLang="zh-TW" dirty="0" err="1"/>
              <a:t>OneWeb</a:t>
            </a:r>
            <a:r>
              <a:rPr lang="en-US" altLang="zh-TW" baseline="0" dirty="0"/>
              <a:t> </a:t>
            </a:r>
            <a:r>
              <a:rPr lang="zh-TW" altLang="en-US" baseline="0" dirty="0"/>
              <a:t>以及</a:t>
            </a:r>
            <a:r>
              <a:rPr lang="en-US" altLang="zh-TW" baseline="0" dirty="0"/>
              <a:t>Google</a:t>
            </a:r>
            <a:r>
              <a:rPr lang="zh-TW" altLang="en-US" baseline="0" dirty="0"/>
              <a:t>的</a:t>
            </a:r>
            <a:r>
              <a:rPr lang="en-US" altLang="zh-TW" baseline="0" dirty="0" err="1"/>
              <a:t>SpaceX</a:t>
            </a:r>
            <a:r>
              <a:rPr lang="zh-TW" altLang="en-US" baseline="0" dirty="0"/>
              <a:t> 都在著手進行大規模的小型衛星網路，以建立一個全球性的</a:t>
            </a:r>
            <a:r>
              <a:rPr lang="en-US" altLang="zh-TW" baseline="0" dirty="0"/>
              <a:t>constellation</a:t>
            </a:r>
            <a:r>
              <a:rPr lang="zh-TW" altLang="en-US" baseline="0" dirty="0"/>
              <a:t> 以提供全世界使用。 那根據他們的計畫表示，</a:t>
            </a:r>
            <a:r>
              <a:rPr lang="en-US" altLang="zh-TW" baseline="0" dirty="0"/>
              <a:t>airbus</a:t>
            </a:r>
            <a:r>
              <a:rPr lang="zh-TW" altLang="en-US" baseline="0" dirty="0"/>
              <a:t>大概會用到</a:t>
            </a:r>
            <a:r>
              <a:rPr lang="en-US" altLang="zh-TW" baseline="0" dirty="0"/>
              <a:t>600</a:t>
            </a:r>
            <a:r>
              <a:rPr lang="zh-TW" altLang="en-US" baseline="0" dirty="0"/>
              <a:t>多顆衛星，而</a:t>
            </a:r>
            <a:r>
              <a:rPr lang="en-US" altLang="zh-TW" baseline="0" dirty="0" err="1"/>
              <a:t>google</a:t>
            </a:r>
            <a:r>
              <a:rPr lang="zh-TW" altLang="en-US" baseline="0" dirty="0"/>
              <a:t>的則達到</a:t>
            </a:r>
            <a:r>
              <a:rPr lang="en-US" altLang="zh-TW" baseline="0" dirty="0"/>
              <a:t>1000</a:t>
            </a:r>
            <a:r>
              <a:rPr lang="zh-TW" altLang="en-US" baseline="0" dirty="0"/>
              <a:t>顆以上。</a:t>
            </a:r>
            <a:endParaRPr dirty="0"/>
          </a:p>
        </p:txBody>
      </p:sp>
    </p:spTree>
    <p:extLst>
      <p:ext uri="{BB962C8B-B14F-4D97-AF65-F5344CB8AC3E}">
        <p14:creationId xmlns:p14="http://schemas.microsoft.com/office/powerpoint/2010/main" val="170224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由於動態環境包括衛星運動和時變衛星間的連接，衛星路由比地面路由更加複雜。為了在衛星網絡中實現有效的數據傳遞，已經在路由設計上做了很多努力。在調度的路由方案中，通過充分利用周期性衛星的軌跡，可以預先預測拓撲，以減輕機載狀態收集的開銷，但因為這種</a:t>
            </a:r>
            <a:r>
              <a:rPr lang="en-US" altLang="zh-TW" sz="1100" b="0" i="0" u="none" strike="noStrike" cap="none" dirty="0">
                <a:solidFill>
                  <a:srgbClr val="000000"/>
                </a:solidFill>
                <a:effectLst/>
                <a:latin typeface="Arial"/>
                <a:ea typeface="Arial"/>
                <a:cs typeface="Arial"/>
                <a:sym typeface="Arial"/>
              </a:rPr>
              <a:t>schedule routing</a:t>
            </a:r>
            <a:r>
              <a:rPr lang="en-US" altLang="zh-TW" sz="1100" b="0" i="0" u="none" strike="noStrike" cap="none" baseline="0" dirty="0">
                <a:solidFill>
                  <a:srgbClr val="000000"/>
                </a:solidFill>
                <a:effectLst/>
                <a:latin typeface="Arial"/>
                <a:ea typeface="Arial"/>
                <a:cs typeface="Arial"/>
                <a:sym typeface="Arial"/>
              </a:rPr>
              <a:t> </a:t>
            </a:r>
            <a:r>
              <a:rPr lang="zh-TW" altLang="en-US" sz="1100" b="0" i="0" u="none" strike="noStrike" cap="none" baseline="0" dirty="0">
                <a:solidFill>
                  <a:srgbClr val="000000"/>
                </a:solidFill>
                <a:effectLst/>
                <a:latin typeface="Arial"/>
                <a:ea typeface="Arial"/>
                <a:cs typeface="Arial"/>
                <a:sym typeface="Arial"/>
              </a:rPr>
              <a:t>沒辦法反映衛星網路中的實時狀況，為了解決這問題，也有人提出了 </a:t>
            </a:r>
            <a:r>
              <a:rPr lang="en-US" altLang="zh-TW" sz="1100" b="0" i="0" u="none" strike="noStrike" cap="none" dirty="0">
                <a:solidFill>
                  <a:srgbClr val="000000"/>
                </a:solidFill>
                <a:effectLst/>
                <a:latin typeface="Arial"/>
                <a:ea typeface="Arial"/>
                <a:cs typeface="Arial"/>
                <a:sym typeface="Arial"/>
              </a:rPr>
              <a:t>opportunistic routing </a:t>
            </a:r>
            <a:r>
              <a:rPr lang="zh-TW" altLang="en-US" sz="1100" b="0" i="0" u="none" strike="noStrike" cap="none" dirty="0">
                <a:solidFill>
                  <a:srgbClr val="000000"/>
                </a:solidFill>
                <a:effectLst/>
                <a:latin typeface="Arial"/>
                <a:ea typeface="Arial"/>
                <a:cs typeface="Arial"/>
                <a:sym typeface="Arial"/>
              </a:rPr>
              <a:t>，這種</a:t>
            </a:r>
            <a:r>
              <a:rPr lang="en-US" altLang="zh-TW" sz="1100" b="0" i="0" u="none" strike="noStrike" cap="none" dirty="0">
                <a:solidFill>
                  <a:srgbClr val="000000"/>
                </a:solidFill>
                <a:effectLst/>
                <a:latin typeface="Arial"/>
                <a:ea typeface="Arial"/>
                <a:cs typeface="Arial"/>
                <a:sym typeface="Arial"/>
              </a:rPr>
              <a:t>routing</a:t>
            </a:r>
            <a:r>
              <a:rPr lang="zh-TW" altLang="en-US" sz="1100" b="0" i="0" u="none" strike="noStrike" cap="none" dirty="0">
                <a:solidFill>
                  <a:srgbClr val="000000"/>
                </a:solidFill>
                <a:effectLst/>
                <a:latin typeface="Arial"/>
                <a:ea typeface="Arial"/>
                <a:cs typeface="Arial"/>
                <a:sym typeface="Arial"/>
              </a:rPr>
              <a:t>方式主要是在每個節點去蒐集網路的狀態，但是這種方式就會造成整個網路的</a:t>
            </a:r>
            <a:r>
              <a:rPr lang="en-US" altLang="zh-TW" sz="1100" b="0" i="0" u="none" strike="noStrike" cap="none" dirty="0">
                <a:solidFill>
                  <a:srgbClr val="000000"/>
                </a:solidFill>
                <a:effectLst/>
                <a:latin typeface="Arial"/>
                <a:ea typeface="Arial"/>
                <a:cs typeface="Arial"/>
                <a:sym typeface="Arial"/>
              </a:rPr>
              <a:t>overhead</a:t>
            </a:r>
            <a:r>
              <a:rPr lang="zh-TW" altLang="en-US" sz="1100" b="0" i="0" u="none" strike="noStrike" cap="none" dirty="0">
                <a:solidFill>
                  <a:srgbClr val="000000"/>
                </a:solidFill>
                <a:effectLst/>
                <a:latin typeface="Arial"/>
                <a:ea typeface="Arial"/>
                <a:cs typeface="Arial"/>
                <a:sym typeface="Arial"/>
              </a:rPr>
              <a:t>很大，為減少這些</a:t>
            </a:r>
            <a:r>
              <a:rPr lang="en-US" altLang="zh-TW" sz="1100" b="0" i="0" u="none" strike="noStrike" cap="none" dirty="0">
                <a:solidFill>
                  <a:srgbClr val="000000"/>
                </a:solidFill>
                <a:effectLst/>
                <a:latin typeface="Arial"/>
                <a:ea typeface="Arial"/>
                <a:cs typeface="Arial"/>
                <a:sym typeface="Arial"/>
              </a:rPr>
              <a:t>overhead,</a:t>
            </a:r>
            <a:r>
              <a:rPr lang="zh-TW" altLang="en-US" sz="1100" b="0" i="0" u="none" strike="noStrike" cap="none" dirty="0">
                <a:solidFill>
                  <a:srgbClr val="000000"/>
                </a:solidFill>
                <a:effectLst/>
                <a:latin typeface="Arial"/>
                <a:ea typeface="Arial"/>
                <a:cs typeface="Arial"/>
                <a:sym typeface="Arial"/>
              </a:rPr>
              <a:t> 有些研究採取多層衛星結構，基本想法是將</a:t>
            </a:r>
            <a:r>
              <a:rPr lang="en-US" altLang="zh-TW" sz="1100" b="0" i="0" u="none" strike="noStrike" cap="none" dirty="0">
                <a:solidFill>
                  <a:srgbClr val="000000"/>
                </a:solidFill>
                <a:effectLst/>
                <a:latin typeface="Arial"/>
                <a:ea typeface="Arial"/>
                <a:cs typeface="Arial"/>
                <a:sym typeface="Arial"/>
              </a:rPr>
              <a:t>MEO</a:t>
            </a:r>
            <a:r>
              <a:rPr lang="zh-TW" altLang="en-US" sz="1100" b="0" i="0" u="none" strike="noStrike" cap="none" dirty="0">
                <a:solidFill>
                  <a:srgbClr val="000000"/>
                </a:solidFill>
                <a:effectLst/>
                <a:latin typeface="Arial"/>
                <a:ea typeface="Arial"/>
                <a:cs typeface="Arial"/>
                <a:sym typeface="Arial"/>
              </a:rPr>
              <a:t> 或</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這種高層衛星當管理者，負責</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的狀態蒐集與計算</a:t>
            </a:r>
            <a:r>
              <a:rPr lang="en-US" altLang="zh-TW" sz="1100" b="0" i="0" u="none" strike="noStrike" cap="none" dirty="0">
                <a:solidFill>
                  <a:srgbClr val="000000"/>
                </a:solidFill>
                <a:effectLst/>
                <a:latin typeface="Arial"/>
                <a:ea typeface="Arial"/>
                <a:cs typeface="Arial"/>
                <a:sym typeface="Arial"/>
              </a:rPr>
              <a:t>routing table</a:t>
            </a:r>
            <a:r>
              <a:rPr lang="zh-TW" altLang="en-US" sz="1100" b="0" i="0" u="none" strike="noStrike" cap="none" dirty="0">
                <a:solidFill>
                  <a:srgbClr val="000000"/>
                </a:solidFill>
                <a:effectLst/>
                <a:latin typeface="Arial"/>
                <a:ea typeface="Arial"/>
                <a:cs typeface="Arial"/>
                <a:sym typeface="Arial"/>
              </a:rPr>
              <a:t>，但因為成本昂貴，且</a:t>
            </a:r>
            <a:r>
              <a:rPr lang="en-US" altLang="zh-TW" sz="1100" b="0" i="0" u="none" strike="noStrike" cap="none" dirty="0">
                <a:solidFill>
                  <a:srgbClr val="000000"/>
                </a:solidFill>
                <a:effectLst/>
                <a:latin typeface="Arial"/>
                <a:ea typeface="Arial"/>
                <a:cs typeface="Arial"/>
                <a:sym typeface="Arial"/>
              </a:rPr>
              <a:t>propagation delay </a:t>
            </a:r>
            <a:r>
              <a:rPr lang="zh-TW" altLang="en-US" sz="1100" b="0" i="0" u="none" strike="noStrike" cap="none" dirty="0">
                <a:solidFill>
                  <a:srgbClr val="000000"/>
                </a:solidFill>
                <a:effectLst/>
                <a:latin typeface="Arial"/>
                <a:ea typeface="Arial"/>
                <a:cs typeface="Arial"/>
                <a:sym typeface="Arial"/>
              </a:rPr>
              <a:t>比較長，所以實際應用很少考慮這種架構，也因為高度動態的拓撲變化，上述兩種</a:t>
            </a:r>
            <a:r>
              <a:rPr lang="en-US" altLang="zh-TW" sz="1100" b="0" i="0" u="none" strike="noStrike" cap="none" dirty="0">
                <a:solidFill>
                  <a:srgbClr val="000000"/>
                </a:solidFill>
                <a:effectLst/>
                <a:latin typeface="Arial"/>
                <a:ea typeface="Arial"/>
                <a:cs typeface="Arial"/>
                <a:sym typeface="Arial"/>
              </a:rPr>
              <a:t>routing scheme</a:t>
            </a:r>
            <a:r>
              <a:rPr lang="zh-TW" altLang="en-US" sz="1100" b="0" i="0" u="none" strike="noStrike" cap="none" dirty="0">
                <a:solidFill>
                  <a:srgbClr val="000000"/>
                </a:solidFill>
                <a:effectLst/>
                <a:latin typeface="Arial"/>
                <a:ea typeface="Arial"/>
                <a:cs typeface="Arial"/>
                <a:sym typeface="Arial"/>
              </a:rPr>
              <a:t>都不能直接用在大規模小型衛星上面。</a:t>
            </a:r>
            <a:endParaRPr dirty="0"/>
          </a:p>
        </p:txBody>
      </p:sp>
    </p:spTree>
    <p:extLst>
      <p:ext uri="{BB962C8B-B14F-4D97-AF65-F5344CB8AC3E}">
        <p14:creationId xmlns:p14="http://schemas.microsoft.com/office/powerpoint/2010/main" val="2608128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本</a:t>
            </a:r>
            <a:r>
              <a:rPr lang="en-US" altLang="zh-TW" dirty="0"/>
              <a:t>paper</a:t>
            </a:r>
            <a:r>
              <a:rPr lang="zh-TW" altLang="en-US" dirty="0"/>
              <a:t>的主要貢獻有以下幾點：</a:t>
            </a:r>
            <a:r>
              <a:rPr lang="en-US" altLang="zh-TW" dirty="0"/>
              <a:t>1.</a:t>
            </a:r>
            <a:r>
              <a:rPr lang="zh-TW" altLang="en-US" dirty="0"/>
              <a:t>提出了一個時空連續的時間網格模型</a:t>
            </a:r>
            <a:r>
              <a:rPr lang="en-US" altLang="zh-TW" dirty="0"/>
              <a:t>(</a:t>
            </a:r>
            <a:r>
              <a:rPr lang="zh-TW" altLang="en-US" dirty="0"/>
              <a:t>以下叫他</a:t>
            </a:r>
            <a:r>
              <a:rPr lang="en-US" altLang="zh-TW" dirty="0"/>
              <a:t>TNM)</a:t>
            </a:r>
            <a:r>
              <a:rPr lang="zh-TW" altLang="en-US" dirty="0"/>
              <a:t>來描述大規模小型衛星的時變拓樸，在</a:t>
            </a:r>
            <a:r>
              <a:rPr lang="en-US" altLang="zh-TW" dirty="0"/>
              <a:t>TNM</a:t>
            </a:r>
            <a:r>
              <a:rPr lang="zh-TW" altLang="en-US" dirty="0"/>
              <a:t>中，我們使用靜態立方體</a:t>
            </a:r>
            <a:r>
              <a:rPr lang="en-US" altLang="zh-TW" dirty="0"/>
              <a:t>(</a:t>
            </a:r>
            <a:r>
              <a:rPr lang="en-US" altLang="zh-TW" dirty="0" err="1"/>
              <a:t>netgrids</a:t>
            </a:r>
            <a:r>
              <a:rPr lang="en-US" altLang="zh-TW" dirty="0"/>
              <a:t>)</a:t>
            </a:r>
            <a:r>
              <a:rPr lang="zh-TW" altLang="en-US" dirty="0"/>
              <a:t>來代替衛星座標。這樣的話</a:t>
            </a:r>
            <a:r>
              <a:rPr lang="en-US" altLang="zh-TW" dirty="0"/>
              <a:t>TNM</a:t>
            </a:r>
            <a:r>
              <a:rPr lang="zh-TW" altLang="en-US" dirty="0"/>
              <a:t>可以記錄時間連續的拓樸信息，並且每顆衛星僅需要儲存庫定數量的</a:t>
            </a:r>
            <a:r>
              <a:rPr lang="en-US" altLang="zh-TW" dirty="0" err="1"/>
              <a:t>netgrids</a:t>
            </a:r>
            <a:r>
              <a:rPr lang="zh-TW" altLang="en-US" dirty="0"/>
              <a:t>。第二點，他們提出了一種多層</a:t>
            </a:r>
            <a:r>
              <a:rPr lang="en-US" altLang="zh-TW" dirty="0" err="1"/>
              <a:t>netgrid</a:t>
            </a:r>
            <a:r>
              <a:rPr lang="zh-TW" altLang="en-US" dirty="0"/>
              <a:t>的劃分方法，並分析劃分層數與描述精度的關係，最後基於</a:t>
            </a:r>
            <a:r>
              <a:rPr lang="en-US" altLang="zh-TW" dirty="0"/>
              <a:t>TNM</a:t>
            </a:r>
            <a:r>
              <a:rPr lang="zh-TW" altLang="en-US" dirty="0"/>
              <a:t>，提出了一種高效且低複雜的路由方法，此演算法的複雜度僅與</a:t>
            </a:r>
            <a:r>
              <a:rPr lang="en-US" altLang="zh-TW" dirty="0" err="1"/>
              <a:t>netgrid</a:t>
            </a:r>
            <a:r>
              <a:rPr lang="zh-TW" altLang="en-US" dirty="0"/>
              <a:t>的數量有關，而與衛星的數量無關，因此跟傳統路由方法比起來複雜度可以大大降低。</a:t>
            </a:r>
            <a:endParaRPr dirty="0"/>
          </a:p>
        </p:txBody>
      </p:sp>
    </p:spTree>
    <p:extLst>
      <p:ext uri="{BB962C8B-B14F-4D97-AF65-F5344CB8AC3E}">
        <p14:creationId xmlns:p14="http://schemas.microsoft.com/office/powerpoint/2010/main" val="2544809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58d3b44f08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58d3b44f08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5340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58d3b44f08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58d3b44f08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Scheduled routing scheme</a:t>
            </a:r>
            <a:r>
              <a:rPr lang="zh-TW" altLang="en-US" dirty="0"/>
              <a:t>就是一開始就先進行一次路徑規劃，那每個節點根據</a:t>
            </a:r>
            <a:r>
              <a:rPr lang="en-US" altLang="zh-TW" dirty="0"/>
              <a:t>packet</a:t>
            </a:r>
            <a:r>
              <a:rPr lang="zh-TW" altLang="en-US" dirty="0"/>
              <a:t>上的標頭黨，來得知要下一個要轉送的是哪個節點，好處是複雜度低，但是彈性不高。</a:t>
            </a:r>
            <a:endParaRPr dirty="0"/>
          </a:p>
        </p:txBody>
      </p:sp>
    </p:spTree>
    <p:extLst>
      <p:ext uri="{BB962C8B-B14F-4D97-AF65-F5344CB8AC3E}">
        <p14:creationId xmlns:p14="http://schemas.microsoft.com/office/powerpoint/2010/main" val="3014123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58d3b44f08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58d3b44f08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在機會路由方案中，像是</a:t>
            </a:r>
            <a:r>
              <a:rPr lang="en-US" altLang="zh-TW" sz="1100" b="0" i="0" u="none" strike="noStrike" cap="none" dirty="0">
                <a:solidFill>
                  <a:srgbClr val="000000"/>
                </a:solidFill>
                <a:effectLst/>
                <a:latin typeface="Arial"/>
                <a:ea typeface="Arial"/>
                <a:cs typeface="Arial"/>
                <a:sym typeface="Arial"/>
              </a:rPr>
              <a:t>TLR</a:t>
            </a:r>
            <a:r>
              <a:rPr lang="zh-TW" altLang="en-US" sz="1100" b="0" i="0" u="none" strike="noStrike" cap="none" dirty="0">
                <a:solidFill>
                  <a:srgbClr val="000000"/>
                </a:solidFill>
                <a:effectLst/>
                <a:latin typeface="Arial"/>
                <a:ea typeface="Arial"/>
                <a:cs typeface="Arial"/>
                <a:sym typeface="Arial"/>
              </a:rPr>
              <a:t>考慮了基於</a:t>
            </a:r>
            <a:r>
              <a:rPr lang="en-US" altLang="zh-TW" sz="1100" b="0" i="0" u="none" strike="noStrike" cap="none" dirty="0">
                <a:solidFill>
                  <a:srgbClr val="000000"/>
                </a:solidFill>
                <a:effectLst/>
                <a:latin typeface="Arial"/>
                <a:ea typeface="Arial"/>
                <a:cs typeface="Arial"/>
                <a:sym typeface="Arial"/>
              </a:rPr>
              <a:t>on-board</a:t>
            </a:r>
            <a:r>
              <a:rPr lang="zh-TW" altLang="en-US" sz="1100" b="0" i="0" u="none" strike="noStrike" cap="none" dirty="0">
                <a:solidFill>
                  <a:srgbClr val="000000"/>
                </a:solidFill>
                <a:effectLst/>
                <a:latin typeface="Arial"/>
                <a:ea typeface="Arial"/>
                <a:cs typeface="Arial"/>
                <a:sym typeface="Arial"/>
              </a:rPr>
              <a:t>狀態收集的路由過程，也就是將</a:t>
            </a:r>
            <a:r>
              <a:rPr lang="en-US" altLang="zh-TW" sz="1100" b="0" i="0" u="none" strike="noStrike" cap="none" dirty="0" err="1">
                <a:solidFill>
                  <a:srgbClr val="000000"/>
                </a:solidFill>
                <a:effectLst/>
                <a:latin typeface="Arial"/>
                <a:ea typeface="Arial"/>
                <a:cs typeface="Arial"/>
                <a:sym typeface="Arial"/>
              </a:rPr>
              <a:t>dijkstra</a:t>
            </a:r>
            <a:r>
              <a:rPr lang="zh-TW" altLang="en-US" sz="1100" b="0" i="0" u="none" strike="noStrike" cap="none" dirty="0">
                <a:solidFill>
                  <a:srgbClr val="000000"/>
                </a:solidFill>
                <a:effectLst/>
                <a:latin typeface="Arial"/>
                <a:ea typeface="Arial"/>
                <a:cs typeface="Arial"/>
                <a:sym typeface="Arial"/>
              </a:rPr>
              <a:t>應用在衛星上，在每個</a:t>
            </a:r>
            <a:r>
              <a:rPr lang="en-US" altLang="zh-TW" sz="1100" b="0" i="0" u="none" strike="noStrike" cap="none" dirty="0">
                <a:solidFill>
                  <a:srgbClr val="000000"/>
                </a:solidFill>
                <a:effectLst/>
                <a:latin typeface="Arial"/>
                <a:ea typeface="Arial"/>
                <a:cs typeface="Arial"/>
                <a:sym typeface="Arial"/>
              </a:rPr>
              <a:t>node</a:t>
            </a:r>
            <a:r>
              <a:rPr lang="zh-TW" altLang="en-US" sz="1100" b="0" i="0" u="none" strike="noStrike" cap="none" dirty="0">
                <a:solidFill>
                  <a:srgbClr val="000000"/>
                </a:solidFill>
                <a:effectLst/>
                <a:latin typeface="Arial"/>
                <a:ea typeface="Arial"/>
                <a:cs typeface="Arial"/>
                <a:sym typeface="Arial"/>
              </a:rPr>
              <a:t>的時候尋找下一個的最佳解。這樣可以更好地響應動態拓撲變化和不可預測的鏈路中斷，</a:t>
            </a:r>
            <a:endParaRPr dirty="0"/>
          </a:p>
        </p:txBody>
      </p:sp>
    </p:spTree>
    <p:extLst>
      <p:ext uri="{BB962C8B-B14F-4D97-AF65-F5344CB8AC3E}">
        <p14:creationId xmlns:p14="http://schemas.microsoft.com/office/powerpoint/2010/main" val="3674488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58d3b44f08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58d3b44f08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4861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TGM</a:t>
            </a:r>
            <a:r>
              <a:rPr lang="zh-TW" altLang="en-US" sz="1100" b="0" i="0" u="none" strike="noStrike" cap="none" dirty="0">
                <a:solidFill>
                  <a:srgbClr val="000000"/>
                </a:solidFill>
                <a:effectLst/>
                <a:latin typeface="Arial"/>
                <a:ea typeface="Arial"/>
                <a:cs typeface="Arial"/>
                <a:sym typeface="Arial"/>
              </a:rPr>
              <a:t>是一種根據時間不同而有不同拓譜圖的一種拓樸表現方式，上面的</a:t>
            </a:r>
            <a:r>
              <a:rPr lang="en-US" altLang="zh-TW" sz="1100" b="0" i="0" u="none" strike="noStrike" cap="none" dirty="0">
                <a:solidFill>
                  <a:srgbClr val="000000"/>
                </a:solidFill>
                <a:effectLst/>
                <a:latin typeface="Arial"/>
                <a:ea typeface="Arial"/>
                <a:cs typeface="Arial"/>
                <a:sym typeface="Arial"/>
              </a:rPr>
              <a:t>v</a:t>
            </a:r>
            <a:r>
              <a:rPr lang="zh-TW" altLang="en-US" sz="1100" b="0" i="0" u="none" strike="noStrike" cap="none" dirty="0">
                <a:solidFill>
                  <a:srgbClr val="000000"/>
                </a:solidFill>
                <a:effectLst/>
                <a:latin typeface="Arial"/>
                <a:ea typeface="Arial"/>
                <a:cs typeface="Arial"/>
                <a:sym typeface="Arial"/>
              </a:rPr>
              <a:t>就是</a:t>
            </a:r>
            <a:r>
              <a:rPr lang="en-US" altLang="zh-TW" sz="1100" b="0" i="0" u="none" strike="noStrike" cap="none" dirty="0">
                <a:solidFill>
                  <a:srgbClr val="000000"/>
                </a:solidFill>
                <a:effectLst/>
                <a:latin typeface="Arial"/>
                <a:ea typeface="Arial"/>
                <a:cs typeface="Arial"/>
                <a:sym typeface="Arial"/>
              </a:rPr>
              <a:t>node</a:t>
            </a:r>
            <a:r>
              <a:rPr lang="zh-TW" altLang="en-US" sz="1100" b="0" i="0" u="none" strike="noStrike" cap="none" dirty="0">
                <a:solidFill>
                  <a:srgbClr val="000000"/>
                </a:solidFill>
                <a:effectLst/>
                <a:latin typeface="Arial"/>
                <a:ea typeface="Arial"/>
                <a:cs typeface="Arial"/>
                <a:sym typeface="Arial"/>
              </a:rPr>
              <a:t>，</a:t>
            </a:r>
            <a:r>
              <a:rPr lang="en-US" altLang="zh-TW" sz="1100" b="0" i="0" u="none" strike="noStrike" cap="none" dirty="0">
                <a:solidFill>
                  <a:srgbClr val="000000"/>
                </a:solidFill>
                <a:effectLst/>
                <a:latin typeface="Arial"/>
                <a:ea typeface="Arial"/>
                <a:cs typeface="Arial"/>
                <a:sym typeface="Arial"/>
              </a:rPr>
              <a:t>t</a:t>
            </a:r>
            <a:r>
              <a:rPr lang="zh-TW" altLang="en-US" sz="1100" b="0" i="0" u="none" strike="noStrike" cap="none" dirty="0">
                <a:solidFill>
                  <a:srgbClr val="000000"/>
                </a:solidFill>
                <a:effectLst/>
                <a:latin typeface="Arial"/>
                <a:ea typeface="Arial"/>
                <a:cs typeface="Arial"/>
                <a:sym typeface="Arial"/>
              </a:rPr>
              <a:t>就是時間 。因為這種表現方式它的時間是離散的，這種時間離散的模型會導致拓譜不準確</a:t>
            </a:r>
            <a:endParaRPr dirty="0"/>
          </a:p>
        </p:txBody>
      </p:sp>
    </p:spTree>
    <p:extLst>
      <p:ext uri="{BB962C8B-B14F-4D97-AF65-F5344CB8AC3E}">
        <p14:creationId xmlns:p14="http://schemas.microsoft.com/office/powerpoint/2010/main" val="4202599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那在這篇提出的叫做</a:t>
            </a:r>
            <a:r>
              <a:rPr lang="en-US" altLang="zh-TW" dirty="0"/>
              <a:t>TNM</a:t>
            </a:r>
            <a:r>
              <a:rPr lang="zh-TW" altLang="en-US" dirty="0"/>
              <a:t> 是</a:t>
            </a:r>
            <a:r>
              <a:rPr lang="en-US" altLang="zh-TW" dirty="0"/>
              <a:t>temporal </a:t>
            </a:r>
            <a:r>
              <a:rPr lang="en-US" altLang="zh-TW" dirty="0" err="1"/>
              <a:t>netgrid</a:t>
            </a:r>
            <a:r>
              <a:rPr lang="en-US" altLang="zh-TW" dirty="0"/>
              <a:t> based model</a:t>
            </a:r>
            <a:r>
              <a:rPr lang="zh-TW" altLang="en-US" dirty="0"/>
              <a:t>，他是將空間分割成立方體，並用網格來表示衛星所在位置而不是座標，同時會記錄每個衛星在每個網格中停留的進入與出去的時間，像是可以看到在</a:t>
            </a:r>
            <a:r>
              <a:rPr lang="en-US" altLang="zh-TW" dirty="0"/>
              <a:t>t0~t1</a:t>
            </a:r>
            <a:r>
              <a:rPr lang="zh-TW" altLang="en-US" dirty="0"/>
              <a:t>時 </a:t>
            </a:r>
            <a:r>
              <a:rPr lang="en-US" altLang="zh-TW" dirty="0"/>
              <a:t>v1</a:t>
            </a:r>
            <a:r>
              <a:rPr lang="zh-TW" altLang="en-US" dirty="0"/>
              <a:t>是落在</a:t>
            </a:r>
            <a:r>
              <a:rPr lang="en-US" altLang="zh-TW" dirty="0"/>
              <a:t>C1,1 </a:t>
            </a:r>
            <a:r>
              <a:rPr lang="zh-TW" altLang="en-US" dirty="0"/>
              <a:t>而在</a:t>
            </a:r>
            <a:r>
              <a:rPr lang="en-US" altLang="zh-TW" dirty="0"/>
              <a:t>t1~t2</a:t>
            </a:r>
            <a:r>
              <a:rPr lang="zh-TW" altLang="en-US" dirty="0"/>
              <a:t>時 </a:t>
            </a:r>
            <a:r>
              <a:rPr lang="en-US" altLang="zh-TW" dirty="0"/>
              <a:t>v1</a:t>
            </a:r>
            <a:r>
              <a:rPr lang="zh-TW" altLang="en-US" dirty="0"/>
              <a:t>離開</a:t>
            </a:r>
            <a:r>
              <a:rPr lang="en-US" altLang="zh-TW" dirty="0"/>
              <a:t>c1,1</a:t>
            </a:r>
            <a:r>
              <a:rPr lang="zh-TW" altLang="en-US" dirty="0"/>
              <a:t>來到 </a:t>
            </a:r>
            <a:r>
              <a:rPr lang="en-US" altLang="zh-TW" dirty="0"/>
              <a:t>c2,1</a:t>
            </a:r>
            <a:r>
              <a:rPr lang="zh-TW" altLang="en-US" dirty="0"/>
              <a:t>，因此可以知道每個衛星在任何時間的位置</a:t>
            </a:r>
            <a:endParaRPr lang="en-US" altLang="zh-TW" dirty="0"/>
          </a:p>
        </p:txBody>
      </p:sp>
    </p:spTree>
    <p:extLst>
      <p:ext uri="{BB962C8B-B14F-4D97-AF65-F5344CB8AC3E}">
        <p14:creationId xmlns:p14="http://schemas.microsoft.com/office/powerpoint/2010/main" val="1636744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為了要保存這些訊息，要建置一個</a:t>
            </a:r>
            <a:r>
              <a:rPr lang="en-US" altLang="zh-TW" dirty="0"/>
              <a:t>tuple </a:t>
            </a:r>
            <a:r>
              <a:rPr lang="zh-TW" altLang="en-US" dirty="0"/>
              <a:t>， 裡面要存的是衛星編號，衛星週期，以及進出的時間， 然後將這些訊息放入</a:t>
            </a:r>
            <a:r>
              <a:rPr lang="en-US" altLang="zh-TW" dirty="0" err="1"/>
              <a:t>netgrid</a:t>
            </a:r>
            <a:r>
              <a:rPr lang="en-US" altLang="zh-TW" dirty="0"/>
              <a:t> </a:t>
            </a:r>
            <a:r>
              <a:rPr lang="en-US" altLang="zh-TW" dirty="0" err="1"/>
              <a:t>Ci</a:t>
            </a:r>
            <a:r>
              <a:rPr lang="en-US" altLang="zh-TW" dirty="0"/>
              <a:t> </a:t>
            </a:r>
            <a:r>
              <a:rPr lang="zh-TW" altLang="en-US" dirty="0"/>
              <a:t>然後所有的</a:t>
            </a:r>
            <a:r>
              <a:rPr lang="en-US" altLang="zh-TW" dirty="0"/>
              <a:t>ci</a:t>
            </a:r>
            <a:r>
              <a:rPr lang="zh-TW" altLang="en-US" dirty="0"/>
              <a:t>會組成一個</a:t>
            </a:r>
            <a:r>
              <a:rPr lang="en-US" altLang="zh-TW" dirty="0" err="1"/>
              <a:t>netgrid</a:t>
            </a:r>
            <a:r>
              <a:rPr lang="en-US" altLang="zh-TW" dirty="0"/>
              <a:t> table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01729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為了加速搜尋</a:t>
            </a:r>
            <a:r>
              <a:rPr lang="en-US" altLang="zh-TW" dirty="0" err="1"/>
              <a:t>netgrid</a:t>
            </a:r>
            <a:r>
              <a:rPr lang="zh-TW" altLang="en-US" dirty="0"/>
              <a:t>，這邊使用</a:t>
            </a:r>
            <a:r>
              <a:rPr lang="en-US" altLang="zh-TW" dirty="0" err="1"/>
              <a:t>hashmap</a:t>
            </a:r>
            <a:r>
              <a:rPr lang="en-US" altLang="zh-TW" dirty="0"/>
              <a:t> </a:t>
            </a:r>
            <a:r>
              <a:rPr lang="zh-TW" altLang="en-US" dirty="0"/>
              <a:t>來分配</a:t>
            </a:r>
            <a:r>
              <a:rPr lang="en-US" altLang="zh-TW" dirty="0"/>
              <a:t>memory address. </a:t>
            </a:r>
            <a:r>
              <a:rPr lang="zh-TW" altLang="en-US" dirty="0"/>
              <a:t>每個</a:t>
            </a:r>
            <a:r>
              <a:rPr lang="en-US" altLang="zh-TW" dirty="0" err="1"/>
              <a:t>netgrid</a:t>
            </a:r>
            <a:r>
              <a:rPr lang="en-US" altLang="zh-TW" dirty="0"/>
              <a:t> </a:t>
            </a:r>
            <a:r>
              <a:rPr lang="zh-TW" altLang="en-US" dirty="0"/>
              <a:t>要</a:t>
            </a:r>
            <a:r>
              <a:rPr lang="en-US" altLang="zh-TW" dirty="0"/>
              <a:t>mapping</a:t>
            </a:r>
            <a:r>
              <a:rPr lang="zh-TW" altLang="en-US" dirty="0"/>
              <a:t>到一個</a:t>
            </a:r>
            <a:r>
              <a:rPr lang="en-US" altLang="zh-TW" dirty="0"/>
              <a:t>array entry </a:t>
            </a:r>
            <a:r>
              <a:rPr lang="zh-TW" altLang="en-US" dirty="0"/>
              <a:t>中 但是透過</a:t>
            </a:r>
            <a:r>
              <a:rPr lang="en-US" altLang="zh-TW" dirty="0"/>
              <a:t>hash function</a:t>
            </a:r>
            <a:r>
              <a:rPr lang="zh-TW" altLang="en-US" dirty="0"/>
              <a:t> 還是會有機會隊到同一個</a:t>
            </a:r>
            <a:r>
              <a:rPr lang="en-US" altLang="zh-TW" dirty="0"/>
              <a:t>array </a:t>
            </a:r>
            <a:r>
              <a:rPr lang="zh-TW" altLang="en-US" dirty="0"/>
              <a:t>，所以會用</a:t>
            </a:r>
            <a:r>
              <a:rPr lang="en-US" altLang="zh-TW" dirty="0"/>
              <a:t>linked list</a:t>
            </a:r>
            <a:r>
              <a:rPr lang="zh-TW" altLang="en-US" dirty="0"/>
              <a:t>去串後來也</a:t>
            </a:r>
            <a:r>
              <a:rPr lang="en-US" altLang="zh-TW" dirty="0"/>
              <a:t>map</a:t>
            </a:r>
            <a:r>
              <a:rPr lang="zh-TW" altLang="en-US" dirty="0"/>
              <a:t>到同樣</a:t>
            </a:r>
            <a:r>
              <a:rPr lang="en-US" altLang="zh-TW" dirty="0"/>
              <a:t>entry</a:t>
            </a:r>
            <a:r>
              <a:rPr lang="zh-TW" altLang="en-US" dirty="0"/>
              <a:t>的</a:t>
            </a:r>
            <a:r>
              <a:rPr lang="en-US" altLang="zh-TW" dirty="0" err="1"/>
              <a:t>netgrid</a:t>
            </a:r>
            <a:r>
              <a:rPr lang="en-US" altLang="zh-TW" dirty="0"/>
              <a:t>, </a:t>
            </a:r>
            <a:r>
              <a:rPr lang="zh-TW" altLang="en-US" dirty="0"/>
              <a:t>，</a:t>
            </a:r>
            <a:endParaRPr dirty="0"/>
          </a:p>
        </p:txBody>
      </p:sp>
    </p:spTree>
    <p:extLst>
      <p:ext uri="{BB962C8B-B14F-4D97-AF65-F5344CB8AC3E}">
        <p14:creationId xmlns:p14="http://schemas.microsoft.com/office/powerpoint/2010/main" val="1449103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如果</a:t>
            </a:r>
            <a:r>
              <a:rPr lang="en-US" altLang="zh-TW" dirty="0"/>
              <a:t>satellite v </a:t>
            </a:r>
            <a:r>
              <a:rPr lang="zh-TW" altLang="en-US" dirty="0"/>
              <a:t>在給定的時間點</a:t>
            </a:r>
            <a:r>
              <a:rPr lang="en-US" altLang="zh-TW" dirty="0"/>
              <a:t>t</a:t>
            </a:r>
            <a:r>
              <a:rPr lang="zh-TW" altLang="en-US" dirty="0"/>
              <a:t> ，他鄰近的</a:t>
            </a:r>
            <a:r>
              <a:rPr lang="en-US" altLang="zh-TW" dirty="0" err="1"/>
              <a:t>netgrid</a:t>
            </a:r>
            <a:r>
              <a:rPr lang="en-US" altLang="zh-TW" dirty="0"/>
              <a:t> </a:t>
            </a:r>
            <a:r>
              <a:rPr lang="zh-TW" altLang="en-US" dirty="0"/>
              <a:t>若位於</a:t>
            </a:r>
            <a:r>
              <a:rPr lang="en-US" altLang="zh-TW" dirty="0"/>
              <a:t>v</a:t>
            </a:r>
            <a:r>
              <a:rPr lang="zh-TW" altLang="en-US" dirty="0"/>
              <a:t>的通訊範圍內，則將這些</a:t>
            </a:r>
            <a:r>
              <a:rPr lang="en-US" altLang="zh-TW" dirty="0" err="1"/>
              <a:t>netgrids</a:t>
            </a:r>
            <a:r>
              <a:rPr lang="zh-TW" altLang="en-US" dirty="0"/>
              <a:t>定義為</a:t>
            </a:r>
            <a:r>
              <a:rPr lang="en-US" altLang="zh-TW" dirty="0"/>
              <a:t>v</a:t>
            </a:r>
            <a:r>
              <a:rPr lang="zh-TW" altLang="en-US" dirty="0"/>
              <a:t>的</a:t>
            </a:r>
            <a:r>
              <a:rPr lang="en-US" altLang="zh-TW" dirty="0"/>
              <a:t>effective </a:t>
            </a:r>
            <a:r>
              <a:rPr lang="en-US" altLang="zh-TW" dirty="0" err="1"/>
              <a:t>netgrids</a:t>
            </a:r>
            <a:r>
              <a:rPr lang="en-US" altLang="zh-TW" dirty="0"/>
              <a:t>.</a:t>
            </a:r>
            <a:r>
              <a:rPr lang="zh-TW" altLang="en-US" dirty="0"/>
              <a:t> 裡面會存</a:t>
            </a:r>
            <a:r>
              <a:rPr lang="en-US" altLang="zh-TW" dirty="0"/>
              <a:t>table data</a:t>
            </a:r>
            <a:r>
              <a:rPr lang="zh-TW" altLang="en-US" dirty="0"/>
              <a:t>也就剛剛講到要存的資料，就是衛星編號，進出這個</a:t>
            </a:r>
            <a:r>
              <a:rPr lang="en-US" altLang="zh-TW" dirty="0" err="1"/>
              <a:t>netgrid</a:t>
            </a:r>
            <a:r>
              <a:rPr lang="zh-TW" altLang="en-US" dirty="0"/>
              <a:t>的時間以及衛星週期。</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然後為了加快搜尋於是用二元樹讓每查找的時間複雜度變為</a:t>
            </a:r>
            <a:r>
              <a:rPr lang="en-US" altLang="zh-TW" dirty="0"/>
              <a:t>O(</a:t>
            </a:r>
            <a:r>
              <a:rPr lang="en-US" altLang="zh-TW" dirty="0" err="1"/>
              <a:t>logN</a:t>
            </a:r>
            <a:r>
              <a:rPr lang="en-US" altLang="zh-TW" dirty="0"/>
              <a:t>)</a:t>
            </a:r>
            <a:r>
              <a:rPr lang="zh-TW" altLang="en-US" dirty="0"/>
              <a:t> ，若總共要查的</a:t>
            </a:r>
            <a:r>
              <a:rPr lang="en-US" altLang="zh-TW" dirty="0" err="1"/>
              <a:t>netgrid</a:t>
            </a:r>
            <a:r>
              <a:rPr lang="zh-TW" altLang="en-US" dirty="0"/>
              <a:t>數量為</a:t>
            </a:r>
            <a:r>
              <a:rPr lang="en-US" altLang="zh-TW" dirty="0"/>
              <a:t>F</a:t>
            </a:r>
            <a:r>
              <a:rPr lang="zh-TW" altLang="en-US" dirty="0"/>
              <a:t>，則整個搜尋過程複雜度為</a:t>
            </a:r>
            <a:r>
              <a:rPr lang="en-US" altLang="zh-TW" dirty="0"/>
              <a:t>O(Flog(n))</a:t>
            </a:r>
            <a:endParaRPr lang="zh-TW" alt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920779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58d3b44f08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58d3b44f08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4816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因為儲存的方式變成用網格來記錄衛星位置，因此看到左邊這張圖，假設我知道我的衛星在</a:t>
            </a:r>
            <a:r>
              <a:rPr lang="en-US" altLang="zh-TW" dirty="0"/>
              <a:t>C22</a:t>
            </a:r>
            <a:r>
              <a:rPr lang="zh-TW" altLang="en-US" dirty="0"/>
              <a:t>的</a:t>
            </a:r>
            <a:r>
              <a:rPr lang="en-US" altLang="zh-TW" dirty="0" err="1"/>
              <a:t>netgrid</a:t>
            </a:r>
            <a:r>
              <a:rPr lang="zh-TW" altLang="en-US" dirty="0"/>
              <a:t>之中，但實際上我不知道他到底是在這個</a:t>
            </a:r>
            <a:r>
              <a:rPr lang="en-US" altLang="zh-TW" dirty="0" err="1"/>
              <a:t>netgrid</a:t>
            </a:r>
            <a:r>
              <a:rPr lang="zh-TW" altLang="en-US" dirty="0"/>
              <a:t>的哪裡，為了確保你在這個網格內任何位置都可以進行通訊，我們就要找出可接受的最小通訊半徑。</a:t>
            </a:r>
            <a:endParaRPr lang="en-US" altLang="zh-TW" dirty="0"/>
          </a:p>
          <a:p>
            <a:r>
              <a:rPr lang="zh-TW" altLang="en-US" dirty="0"/>
              <a:t>可以看到</a:t>
            </a:r>
            <a:r>
              <a:rPr lang="en-US" altLang="zh-TW" dirty="0"/>
              <a:t>S, S1,S2,S3 </a:t>
            </a:r>
            <a:r>
              <a:rPr lang="zh-TW" altLang="en-US" dirty="0"/>
              <a:t>分別代表</a:t>
            </a:r>
            <a:r>
              <a:rPr lang="en-US" altLang="zh-TW" dirty="0" err="1"/>
              <a:t>netgrid</a:t>
            </a:r>
            <a:r>
              <a:rPr lang="en-US" altLang="zh-TW" baseline="0" dirty="0"/>
              <a:t> C2,2</a:t>
            </a:r>
            <a:r>
              <a:rPr lang="zh-TW" altLang="en-US" baseline="0" dirty="0"/>
              <a:t> ，</a:t>
            </a:r>
            <a:r>
              <a:rPr lang="en-US" altLang="zh-TW" baseline="0" dirty="0"/>
              <a:t>4</a:t>
            </a:r>
            <a:r>
              <a:rPr lang="zh-TW" altLang="en-US" baseline="0" dirty="0"/>
              <a:t>個角落的位置，我們將這</a:t>
            </a:r>
            <a:r>
              <a:rPr lang="en-US" altLang="zh-TW" baseline="0" dirty="0"/>
              <a:t>4</a:t>
            </a:r>
            <a:r>
              <a:rPr lang="zh-TW" altLang="en-US" baseline="0" dirty="0"/>
              <a:t>個點為圓心，以通訊半徑畫出四個圓，重疊的部分就是藍色的區域，接著就是用微積分算出他們的共同通訊範圍，因為這張圖是平面的，所以看起來很簡單，但實際上是立體的類球體，中間有一部份內容都是數學在算那個球體，所以我這邊只講他想表達的概念，也就是說當我們把</a:t>
            </a:r>
            <a:r>
              <a:rPr lang="en-US" altLang="zh-TW" baseline="0" dirty="0" err="1"/>
              <a:t>netgrid</a:t>
            </a:r>
            <a:r>
              <a:rPr lang="zh-TW" altLang="en-US" baseline="0" dirty="0"/>
              <a:t>的長度單位變小，我們就可以得到更精確的通訊範圍，右邊的部分就是將原本的</a:t>
            </a:r>
            <a:r>
              <a:rPr lang="en-US" altLang="zh-TW" baseline="0" dirty="0" err="1"/>
              <a:t>netgrid</a:t>
            </a:r>
            <a:r>
              <a:rPr lang="zh-TW" altLang="en-US" baseline="0" dirty="0"/>
              <a:t>長度變</a:t>
            </a:r>
            <a:r>
              <a:rPr lang="en-US" altLang="zh-TW" baseline="0" dirty="0"/>
              <a:t>1/2</a:t>
            </a:r>
            <a:r>
              <a:rPr lang="zh-TW" altLang="en-US" baseline="0" dirty="0"/>
              <a:t>，可以看到藍色面積有變大。</a:t>
            </a:r>
            <a:endParaRPr lang="en-US" altLang="zh-TW" dirty="0"/>
          </a:p>
          <a:p>
            <a:r>
              <a:rPr lang="zh-TW" altLang="en-US" dirty="0"/>
              <a:t>，</a:t>
            </a:r>
          </a:p>
        </p:txBody>
      </p:sp>
    </p:spTree>
    <p:extLst>
      <p:ext uri="{BB962C8B-B14F-4D97-AF65-F5344CB8AC3E}">
        <p14:creationId xmlns:p14="http://schemas.microsoft.com/office/powerpoint/2010/main" val="1300180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他把不同的</a:t>
            </a:r>
            <a:r>
              <a:rPr lang="en-US" altLang="zh-TW" sz="1100" b="0" i="0" u="none" strike="noStrike" cap="none" dirty="0" err="1">
                <a:solidFill>
                  <a:srgbClr val="000000"/>
                </a:solidFill>
                <a:effectLst/>
                <a:latin typeface="Arial"/>
                <a:ea typeface="Arial"/>
                <a:cs typeface="Arial"/>
                <a:sym typeface="Arial"/>
              </a:rPr>
              <a:t>netgrid</a:t>
            </a:r>
            <a:r>
              <a:rPr lang="zh-TW" altLang="en-US" sz="1100" b="0" i="0" u="none" strike="noStrike" cap="none" dirty="0">
                <a:solidFill>
                  <a:srgbClr val="000000"/>
                </a:solidFill>
                <a:effectLst/>
                <a:latin typeface="Arial"/>
                <a:ea typeface="Arial"/>
                <a:cs typeface="Arial"/>
                <a:sym typeface="Arial"/>
              </a:rPr>
              <a:t>長度單位叫做第一層、第二層、以此類推，那以下就是層根通訊半徑的關西式 。</a:t>
            </a:r>
            <a:r>
              <a:rPr lang="en-US" altLang="zh-TW" sz="1100" b="0" i="0" u="none" strike="noStrike" cap="none" dirty="0">
                <a:solidFill>
                  <a:srgbClr val="000000"/>
                </a:solidFill>
                <a:effectLst/>
                <a:latin typeface="Arial"/>
                <a:ea typeface="Arial"/>
                <a:cs typeface="Arial"/>
                <a:sym typeface="Arial"/>
              </a:rPr>
              <a:t>Ra</a:t>
            </a:r>
            <a:r>
              <a:rPr lang="zh-TW" altLang="en-US" sz="1100" b="0" i="0" u="none" strike="noStrike" cap="none" dirty="0">
                <a:solidFill>
                  <a:srgbClr val="000000"/>
                </a:solidFill>
                <a:effectLst/>
                <a:latin typeface="Arial"/>
                <a:ea typeface="Arial"/>
                <a:cs typeface="Arial"/>
                <a:sym typeface="Arial"/>
              </a:rPr>
              <a:t>就是通訊半徑。</a:t>
            </a:r>
            <a:br>
              <a:rPr lang="en-US" altLang="zh-TW" dirty="0"/>
            </a:br>
            <a:endParaRPr dirty="0"/>
          </a:p>
        </p:txBody>
      </p:sp>
    </p:spTree>
    <p:extLst>
      <p:ext uri="{BB962C8B-B14F-4D97-AF65-F5344CB8AC3E}">
        <p14:creationId xmlns:p14="http://schemas.microsoft.com/office/powerpoint/2010/main" val="2705294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58d3b44f08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58d3b44f08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73087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有兩個原因讓作者提出</a:t>
            </a:r>
            <a:r>
              <a:rPr lang="en-US" altLang="zh-TW" dirty="0"/>
              <a:t>beacon protocol </a:t>
            </a:r>
            <a:r>
              <a:rPr lang="zh-TW" altLang="en-US" dirty="0"/>
              <a:t>，第一點是為了要適應衛星網路中的動態環境，譬如不可預測的</a:t>
            </a:r>
            <a:r>
              <a:rPr lang="en-US" altLang="zh-TW" baseline="0" dirty="0"/>
              <a:t>link interruption </a:t>
            </a:r>
            <a:r>
              <a:rPr lang="zh-TW" altLang="en-US" dirty="0"/>
              <a:t>，或是</a:t>
            </a:r>
            <a:r>
              <a:rPr lang="en-US" altLang="zh-TW" baseline="0" dirty="0"/>
              <a:t>node</a:t>
            </a:r>
            <a:r>
              <a:rPr lang="zh-TW" altLang="en-US" baseline="0" dirty="0"/>
              <a:t> </a:t>
            </a:r>
            <a:r>
              <a:rPr lang="en-US" altLang="zh-TW" baseline="0" dirty="0"/>
              <a:t>failure</a:t>
            </a:r>
            <a:r>
              <a:rPr lang="zh-TW" altLang="en-US" dirty="0"/>
              <a:t>等等，第二個是要減少</a:t>
            </a:r>
            <a:r>
              <a:rPr lang="en-US" altLang="zh-TW" dirty="0"/>
              <a:t>TNM</a:t>
            </a:r>
            <a:r>
              <a:rPr lang="zh-TW" altLang="en-US" dirty="0"/>
              <a:t>中精度犧牲的影響。總而言之</a:t>
            </a:r>
            <a:r>
              <a:rPr lang="en-US" altLang="zh-TW" dirty="0"/>
              <a:t>beacon protocol</a:t>
            </a:r>
            <a:r>
              <a:rPr lang="zh-TW" altLang="en-US" dirty="0"/>
              <a:t>的主要目的是定期蒐集鄰居衛星的狀態以進行路徑選擇，譬如</a:t>
            </a:r>
            <a:r>
              <a:rPr lang="en-US" altLang="zh-TW" dirty="0"/>
              <a:t>queuing delay , transmission rate</a:t>
            </a:r>
            <a:r>
              <a:rPr lang="zh-TW" altLang="en-US" dirty="0"/>
              <a:t> 等等。在</a:t>
            </a:r>
            <a:r>
              <a:rPr lang="en-US" altLang="zh-TW" dirty="0"/>
              <a:t>beacon</a:t>
            </a:r>
            <a:r>
              <a:rPr lang="en-US" altLang="zh-TW" baseline="0" dirty="0"/>
              <a:t> protocol</a:t>
            </a:r>
            <a:r>
              <a:rPr lang="zh-TW" altLang="en-US" baseline="0" dirty="0"/>
              <a:t>中，每個衛星會定期廣播自己的</a:t>
            </a:r>
            <a:r>
              <a:rPr lang="en-US" altLang="zh-TW" baseline="0" dirty="0"/>
              <a:t>beacon package </a:t>
            </a:r>
            <a:r>
              <a:rPr lang="zh-TW" altLang="en-US" baseline="0" dirty="0"/>
              <a:t>當其他衛星收到後會將發送者設為</a:t>
            </a:r>
            <a:r>
              <a:rPr lang="en-US" altLang="zh-TW" baseline="0" dirty="0"/>
              <a:t>alive neighbor</a:t>
            </a:r>
            <a:r>
              <a:rPr lang="zh-TW" altLang="en-US" baseline="0" dirty="0"/>
              <a:t>，並保存</a:t>
            </a:r>
            <a:r>
              <a:rPr lang="en-US" altLang="zh-TW" baseline="0" dirty="0"/>
              <a:t>beacon package</a:t>
            </a:r>
            <a:r>
              <a:rPr lang="zh-TW" altLang="en-US" baseline="0" dirty="0"/>
              <a:t>夾帶的相關訊息</a:t>
            </a:r>
            <a:r>
              <a:rPr lang="en-US" altLang="zh-TW" baseline="0" dirty="0"/>
              <a:t>(</a:t>
            </a:r>
            <a:r>
              <a:rPr lang="zh-TW" altLang="en-US" baseline="0" dirty="0"/>
              <a:t>例如廣播週期跟</a:t>
            </a:r>
            <a:r>
              <a:rPr lang="en-US" altLang="zh-TW" baseline="0" dirty="0"/>
              <a:t>transmission rate</a:t>
            </a:r>
            <a:r>
              <a:rPr lang="zh-TW" altLang="en-US" baseline="0" dirty="0"/>
              <a:t>等等</a:t>
            </a:r>
            <a:r>
              <a:rPr lang="en-US" altLang="zh-TW" baseline="0" dirty="0"/>
              <a:t>)</a:t>
            </a:r>
            <a:r>
              <a:rPr lang="zh-TW" altLang="en-US" baseline="0" dirty="0"/>
              <a:t>，為了要偵測</a:t>
            </a:r>
            <a:r>
              <a:rPr lang="en-US" altLang="zh-TW" baseline="0" dirty="0"/>
              <a:t>link interruption </a:t>
            </a:r>
            <a:r>
              <a:rPr lang="zh-TW" altLang="en-US" baseline="0" dirty="0"/>
              <a:t>跟 </a:t>
            </a:r>
            <a:r>
              <a:rPr lang="en-US" altLang="zh-TW" baseline="0" dirty="0"/>
              <a:t>node</a:t>
            </a:r>
            <a:r>
              <a:rPr lang="zh-TW" altLang="en-US" baseline="0" dirty="0"/>
              <a:t> </a:t>
            </a:r>
            <a:r>
              <a:rPr lang="en-US" altLang="zh-TW" baseline="0" dirty="0"/>
              <a:t>failure </a:t>
            </a:r>
            <a:r>
              <a:rPr lang="zh-TW" altLang="en-US" baseline="0" dirty="0"/>
              <a:t>經過</a:t>
            </a:r>
            <a:r>
              <a:rPr lang="en-US" altLang="zh-TW" baseline="0" dirty="0"/>
              <a:t>3</a:t>
            </a:r>
            <a:r>
              <a:rPr lang="zh-TW" altLang="en-US" baseline="0" dirty="0"/>
              <a:t>個傳輸週期後，若過程中沒有再收到他的訊號，則將此</a:t>
            </a:r>
            <a:r>
              <a:rPr lang="en-US" altLang="zh-TW" baseline="0" dirty="0"/>
              <a:t>neighbor</a:t>
            </a:r>
            <a:r>
              <a:rPr lang="zh-TW" altLang="en-US" baseline="0" dirty="0"/>
              <a:t>刪除。</a:t>
            </a:r>
            <a:endParaRPr dirty="0"/>
          </a:p>
        </p:txBody>
      </p:sp>
    </p:spTree>
    <p:extLst>
      <p:ext uri="{BB962C8B-B14F-4D97-AF65-F5344CB8AC3E}">
        <p14:creationId xmlns:p14="http://schemas.microsoft.com/office/powerpoint/2010/main" val="30529908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先來介紹他的演算法，首先要講的是</a:t>
            </a:r>
            <a:r>
              <a:rPr lang="en-US" altLang="zh-TW" dirty="0"/>
              <a:t>neighbor</a:t>
            </a:r>
            <a:r>
              <a:rPr lang="en-US" altLang="zh-TW" baseline="0" dirty="0"/>
              <a:t> nodes check</a:t>
            </a:r>
            <a:r>
              <a:rPr lang="zh-TW" altLang="en-US" baseline="0" dirty="0"/>
              <a:t>，這邊主要負責的是找出</a:t>
            </a:r>
            <a:r>
              <a:rPr lang="en-US" altLang="zh-TW" baseline="0" dirty="0" err="1"/>
              <a:t>netgrid</a:t>
            </a:r>
            <a:r>
              <a:rPr lang="zh-TW" altLang="en-US" baseline="0" dirty="0"/>
              <a:t>的其他</a:t>
            </a:r>
            <a:r>
              <a:rPr lang="en-US" altLang="zh-TW" baseline="0" dirty="0"/>
              <a:t>alive neighbor</a:t>
            </a:r>
            <a:r>
              <a:rPr lang="zh-TW" altLang="en-US" baseline="0" dirty="0"/>
              <a:t>。首先先檢查目標點 </a:t>
            </a:r>
            <a:r>
              <a:rPr lang="en-US" altLang="zh-TW" baseline="0" dirty="0"/>
              <a:t>d</a:t>
            </a:r>
            <a:r>
              <a:rPr lang="zh-TW" altLang="en-US" baseline="0" dirty="0"/>
              <a:t> 是不是一開始就是他的</a:t>
            </a:r>
            <a:r>
              <a:rPr lang="en-US" altLang="zh-TW" baseline="0" dirty="0"/>
              <a:t>alive neighbor</a:t>
            </a:r>
            <a:r>
              <a:rPr lang="zh-TW" altLang="en-US" baseline="0" dirty="0"/>
              <a:t>，如果剛好就是，就先將</a:t>
            </a:r>
            <a:r>
              <a:rPr lang="en-US" altLang="zh-TW" baseline="0" dirty="0"/>
              <a:t>d</a:t>
            </a:r>
            <a:r>
              <a:rPr lang="zh-TW" altLang="en-US" baseline="0" dirty="0"/>
              <a:t>的所處的</a:t>
            </a:r>
            <a:r>
              <a:rPr lang="en-US" altLang="zh-TW" baseline="0" dirty="0" err="1"/>
              <a:t>netgrid</a:t>
            </a:r>
            <a:r>
              <a:rPr lang="zh-TW" altLang="en-US" baseline="0" dirty="0"/>
              <a:t>加到</a:t>
            </a:r>
            <a:r>
              <a:rPr lang="en-US" altLang="zh-TW" baseline="0" dirty="0" err="1"/>
              <a:t>netgrid</a:t>
            </a:r>
            <a:r>
              <a:rPr lang="en-US" altLang="zh-TW" baseline="0" dirty="0"/>
              <a:t> table</a:t>
            </a:r>
            <a:r>
              <a:rPr lang="zh-TW" altLang="en-US" baseline="0" dirty="0"/>
              <a:t>中然後將傳輸所需要的時間以及路徑加入到</a:t>
            </a:r>
            <a:r>
              <a:rPr lang="en-US" altLang="zh-TW" baseline="0" dirty="0"/>
              <a:t>router table</a:t>
            </a:r>
            <a:r>
              <a:rPr lang="zh-TW" altLang="en-US" baseline="0" dirty="0"/>
              <a:t>中 ， 若</a:t>
            </a:r>
            <a:r>
              <a:rPr lang="en-US" altLang="zh-TW" baseline="0" dirty="0"/>
              <a:t>d</a:t>
            </a:r>
            <a:r>
              <a:rPr lang="zh-TW" altLang="en-US" baseline="0" dirty="0"/>
              <a:t>不是</a:t>
            </a:r>
            <a:r>
              <a:rPr lang="en-US" altLang="zh-TW" baseline="0" dirty="0"/>
              <a:t>alive neighbor</a:t>
            </a:r>
            <a:r>
              <a:rPr lang="zh-TW" altLang="en-US" baseline="0" dirty="0"/>
              <a:t>，則先遍立每個</a:t>
            </a:r>
            <a:r>
              <a:rPr lang="en-US" altLang="zh-TW" baseline="0" dirty="0"/>
              <a:t>alive neighbor node v </a:t>
            </a:r>
            <a:r>
              <a:rPr lang="zh-TW" altLang="en-US" baseline="0" dirty="0"/>
              <a:t>，將</a:t>
            </a:r>
            <a:r>
              <a:rPr lang="en-US" altLang="zh-TW" baseline="0" dirty="0"/>
              <a:t>v</a:t>
            </a:r>
            <a:r>
              <a:rPr lang="zh-TW" altLang="en-US" baseline="0" dirty="0"/>
              <a:t>所屬</a:t>
            </a:r>
            <a:r>
              <a:rPr lang="en-US" altLang="zh-TW" baseline="0" dirty="0" err="1"/>
              <a:t>netgrid</a:t>
            </a:r>
            <a:r>
              <a:rPr lang="en-US" altLang="zh-TW" baseline="0" dirty="0"/>
              <a:t> C’</a:t>
            </a:r>
            <a:r>
              <a:rPr lang="zh-TW" altLang="en-US" baseline="0" dirty="0"/>
              <a:t> 加入</a:t>
            </a:r>
            <a:r>
              <a:rPr lang="en-US" altLang="zh-TW" baseline="0" dirty="0"/>
              <a:t>neighbor </a:t>
            </a:r>
            <a:r>
              <a:rPr lang="en-US" altLang="zh-TW" baseline="0" dirty="0" err="1"/>
              <a:t>netgrid</a:t>
            </a:r>
            <a:r>
              <a:rPr lang="en-US" altLang="zh-TW" baseline="0" dirty="0"/>
              <a:t> set, </a:t>
            </a:r>
            <a:r>
              <a:rPr lang="zh-TW" altLang="en-US" baseline="0" dirty="0"/>
              <a:t>並檢查在這次建置走到此</a:t>
            </a:r>
            <a:r>
              <a:rPr lang="en-US" altLang="zh-TW" baseline="0" dirty="0" err="1"/>
              <a:t>netgrid</a:t>
            </a:r>
            <a:r>
              <a:rPr lang="zh-TW" altLang="en-US" baseline="0" dirty="0"/>
              <a:t>的</a:t>
            </a:r>
            <a:r>
              <a:rPr lang="en-US" altLang="zh-TW" baseline="0" dirty="0"/>
              <a:t>router table</a:t>
            </a:r>
            <a:r>
              <a:rPr lang="zh-TW" altLang="en-US" baseline="0" dirty="0"/>
              <a:t>是否小於之前所要花的時間，</a:t>
            </a:r>
            <a:endParaRPr lang="en-US" altLang="zh-TW" baseline="0" dirty="0"/>
          </a:p>
          <a:p>
            <a:pPr marL="0" lvl="0" indent="0" algn="l" rtl="0">
              <a:spcBef>
                <a:spcPts val="0"/>
              </a:spcBef>
              <a:spcAft>
                <a:spcPts val="0"/>
              </a:spcAft>
              <a:buNone/>
            </a:pPr>
            <a:r>
              <a:rPr lang="en-US" altLang="zh-TW" baseline="0" dirty="0"/>
              <a:t> </a:t>
            </a:r>
            <a:r>
              <a:rPr lang="zh-TW" altLang="en-US" baseline="0" dirty="0"/>
              <a:t>如果新的</a:t>
            </a:r>
            <a:r>
              <a:rPr lang="en-US" altLang="zh-TW" baseline="0" dirty="0"/>
              <a:t>router table</a:t>
            </a:r>
            <a:r>
              <a:rPr lang="zh-TW" altLang="en-US" baseline="0" dirty="0"/>
              <a:t>所需的時間比較短，就把它更新。也就是這邊做完就會會找到從</a:t>
            </a:r>
            <a:r>
              <a:rPr lang="en-US" altLang="zh-TW" baseline="0" dirty="0"/>
              <a:t>source node</a:t>
            </a:r>
            <a:r>
              <a:rPr lang="zh-TW" altLang="en-US" baseline="0" dirty="0"/>
              <a:t>到所有附近有效鄰居</a:t>
            </a:r>
            <a:r>
              <a:rPr lang="en-US" altLang="zh-TW" baseline="0" dirty="0" err="1"/>
              <a:t>netgrid</a:t>
            </a:r>
            <a:r>
              <a:rPr lang="zh-TW" altLang="en-US" baseline="0" dirty="0"/>
              <a:t>的最短路徑。</a:t>
            </a:r>
            <a:endParaRPr lang="en-US" altLang="zh-TW" baseline="0" dirty="0"/>
          </a:p>
        </p:txBody>
      </p:sp>
    </p:spTree>
    <p:extLst>
      <p:ext uri="{BB962C8B-B14F-4D97-AF65-F5344CB8AC3E}">
        <p14:creationId xmlns:p14="http://schemas.microsoft.com/office/powerpoint/2010/main" val="1247492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baseline="0" dirty="0"/>
              <a:t>再來是他這邊要維持一個</a:t>
            </a:r>
            <a:r>
              <a:rPr lang="en-US" altLang="zh-TW" baseline="0" dirty="0"/>
              <a:t>priority queue, </a:t>
            </a:r>
            <a:r>
              <a:rPr lang="zh-TW" altLang="en-US" baseline="0" dirty="0"/>
              <a:t>也就是要把</a:t>
            </a:r>
            <a:r>
              <a:rPr lang="en-US" altLang="zh-TW" baseline="0" dirty="0"/>
              <a:t>neighbors</a:t>
            </a:r>
            <a:r>
              <a:rPr lang="zh-TW" altLang="en-US" baseline="0" dirty="0"/>
              <a:t>裡面</a:t>
            </a:r>
            <a:r>
              <a:rPr lang="en-US" altLang="zh-TW" baseline="0" dirty="0"/>
              <a:t>cost </a:t>
            </a:r>
            <a:r>
              <a:rPr lang="zh-TW" altLang="en-US" baseline="0" dirty="0"/>
              <a:t>最小的排最前面， 第一步先從</a:t>
            </a:r>
            <a:r>
              <a:rPr lang="en-US" altLang="zh-TW" baseline="0" dirty="0"/>
              <a:t>neighbor</a:t>
            </a:r>
            <a:r>
              <a:rPr lang="zh-TW" altLang="en-US" baseline="0" dirty="0"/>
              <a:t>裡找到非原本</a:t>
            </a:r>
            <a:r>
              <a:rPr lang="en-US" altLang="zh-TW" baseline="0" dirty="0"/>
              <a:t>set</a:t>
            </a:r>
            <a:r>
              <a:rPr lang="zh-TW" altLang="en-US" baseline="0" dirty="0"/>
              <a:t>的</a:t>
            </a:r>
            <a:r>
              <a:rPr lang="en-US" altLang="zh-TW" baseline="0" dirty="0" err="1"/>
              <a:t>netgrid</a:t>
            </a:r>
            <a:r>
              <a:rPr lang="zh-TW" altLang="en-US" baseline="0" dirty="0"/>
              <a:t>，並且它的傳輸時間小於給定的結束時間，然後計算預計的傳輸時間 </a:t>
            </a:r>
            <a:r>
              <a:rPr lang="en-US" altLang="zh-TW" baseline="0" dirty="0"/>
              <a:t>(</a:t>
            </a:r>
            <a:r>
              <a:rPr lang="zh-TW" altLang="en-US" baseline="0" dirty="0"/>
              <a:t>也就是</a:t>
            </a:r>
            <a:r>
              <a:rPr lang="en-US" altLang="zh-TW" baseline="0" dirty="0"/>
              <a:t>transmission delay + propagation delay)</a:t>
            </a:r>
            <a:r>
              <a:rPr lang="zh-TW" altLang="en-US" baseline="0" dirty="0"/>
              <a:t>， 那如果新的傳輸時間大於舊的就將傳輸時間跟路徑更新到</a:t>
            </a:r>
            <a:r>
              <a:rPr lang="en-US" altLang="zh-TW" baseline="0" dirty="0"/>
              <a:t>Queue</a:t>
            </a:r>
            <a:r>
              <a:rPr lang="zh-TW" altLang="en-US" baseline="0" dirty="0"/>
              <a:t>上。</a:t>
            </a:r>
            <a:endParaRPr lang="en-US" altLang="zh-TW" baseline="0" dirty="0"/>
          </a:p>
        </p:txBody>
      </p:sp>
    </p:spTree>
    <p:extLst>
      <p:ext uri="{BB962C8B-B14F-4D97-AF65-F5344CB8AC3E}">
        <p14:creationId xmlns:p14="http://schemas.microsoft.com/office/powerpoint/2010/main" val="3966583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一開始先初始化就是先利用剛剛介紹的第一個演算法來找尋附近</a:t>
            </a:r>
            <a:r>
              <a:rPr lang="en-US" altLang="zh-TW" dirty="0"/>
              <a:t>neighbor</a:t>
            </a:r>
            <a:r>
              <a:rPr lang="zh-TW" altLang="en-US" dirty="0"/>
              <a:t>，來</a:t>
            </a:r>
            <a:r>
              <a:rPr lang="en-US" altLang="zh-TW" dirty="0"/>
              <a:t>update</a:t>
            </a:r>
            <a:r>
              <a:rPr lang="zh-TW" altLang="en-US" dirty="0"/>
              <a:t>它的</a:t>
            </a:r>
            <a:r>
              <a:rPr lang="en-US" altLang="zh-TW" dirty="0"/>
              <a:t>router table, </a:t>
            </a:r>
            <a:r>
              <a:rPr lang="zh-TW" altLang="en-US" dirty="0"/>
              <a:t>並且設定結束時間為開始時間</a:t>
            </a:r>
            <a:r>
              <a:rPr lang="en-US" altLang="zh-TW" dirty="0"/>
              <a:t>+</a:t>
            </a:r>
            <a:r>
              <a:rPr lang="zh-TW" altLang="en-US" dirty="0"/>
              <a:t>一個</a:t>
            </a:r>
            <a:r>
              <a:rPr lang="en-US" altLang="zh-TW" dirty="0"/>
              <a:t>TTL</a:t>
            </a:r>
            <a:r>
              <a:rPr lang="zh-TW" altLang="en-US" dirty="0"/>
              <a:t> </a:t>
            </a:r>
            <a:r>
              <a:rPr lang="en-US" altLang="zh-TW" dirty="0"/>
              <a:t>time </a:t>
            </a:r>
            <a:r>
              <a:rPr lang="zh-TW" altLang="en-US" dirty="0"/>
              <a:t> </a:t>
            </a:r>
            <a:endParaRPr lang="en-US" altLang="zh-TW" dirty="0"/>
          </a:p>
          <a:p>
            <a:pPr marL="158750" indent="0">
              <a:buNone/>
            </a:pPr>
            <a:r>
              <a:rPr lang="zh-TW" altLang="en-US" dirty="0"/>
              <a:t>先從</a:t>
            </a:r>
            <a:r>
              <a:rPr lang="en-US" altLang="zh-TW" dirty="0"/>
              <a:t>source</a:t>
            </a:r>
            <a:r>
              <a:rPr lang="en-US" altLang="zh-TW" baseline="0" dirty="0"/>
              <a:t> node </a:t>
            </a:r>
            <a:r>
              <a:rPr lang="zh-TW" altLang="en-US" baseline="0" dirty="0"/>
              <a:t>開始找與</a:t>
            </a:r>
            <a:r>
              <a:rPr lang="en-US" altLang="zh-TW" baseline="0" dirty="0"/>
              <a:t>source</a:t>
            </a:r>
            <a:r>
              <a:rPr lang="zh-TW" altLang="en-US" baseline="0" dirty="0"/>
              <a:t>點的</a:t>
            </a:r>
            <a:r>
              <a:rPr lang="en-US" altLang="zh-TW" baseline="0" dirty="0"/>
              <a:t>neighbor</a:t>
            </a:r>
            <a:r>
              <a:rPr lang="zh-TW" altLang="en-US" baseline="0" dirty="0"/>
              <a:t>中找到一個在</a:t>
            </a:r>
            <a:r>
              <a:rPr lang="en-US" altLang="zh-TW" baseline="0" dirty="0"/>
              <a:t>search set </a:t>
            </a:r>
            <a:r>
              <a:rPr lang="en-US" altLang="zh-TW" baseline="0" dirty="0" err="1"/>
              <a:t>Sd</a:t>
            </a:r>
            <a:r>
              <a:rPr lang="en-US" altLang="zh-TW" baseline="0" dirty="0"/>
              <a:t> </a:t>
            </a:r>
            <a:r>
              <a:rPr lang="zh-TW" altLang="en-US" baseline="0" dirty="0"/>
              <a:t>的</a:t>
            </a:r>
            <a:r>
              <a:rPr lang="en-US" altLang="zh-TW" baseline="0" dirty="0" err="1"/>
              <a:t>netgrid</a:t>
            </a:r>
            <a:r>
              <a:rPr lang="zh-TW" altLang="en-US" baseline="0" dirty="0"/>
              <a:t> </a:t>
            </a:r>
            <a:r>
              <a:rPr lang="en-US" altLang="zh-TW" baseline="0" dirty="0"/>
              <a:t>C’</a:t>
            </a:r>
            <a:r>
              <a:rPr lang="zh-TW" altLang="en-US" baseline="0" dirty="0"/>
              <a:t>， 並把</a:t>
            </a:r>
            <a:r>
              <a:rPr lang="en-US" altLang="zh-TW" baseline="0" dirty="0"/>
              <a:t>C’</a:t>
            </a:r>
            <a:r>
              <a:rPr lang="zh-TW" altLang="en-US" baseline="0" dirty="0"/>
              <a:t>加入到</a:t>
            </a:r>
            <a:r>
              <a:rPr lang="en-US" altLang="zh-TW" baseline="0" dirty="0" err="1"/>
              <a:t>Sd</a:t>
            </a:r>
            <a:r>
              <a:rPr lang="zh-TW" altLang="en-US" baseline="0" dirty="0"/>
              <a:t>中 接著找出</a:t>
            </a:r>
            <a:r>
              <a:rPr lang="en-US" altLang="zh-TW" baseline="0" dirty="0"/>
              <a:t> C’</a:t>
            </a:r>
            <a:r>
              <a:rPr lang="zh-TW" altLang="en-US" baseline="0" dirty="0"/>
              <a:t>在</a:t>
            </a:r>
            <a:r>
              <a:rPr lang="en-US" altLang="zh-TW" baseline="0" dirty="0" err="1"/>
              <a:t>ts</a:t>
            </a:r>
            <a:r>
              <a:rPr lang="zh-TW" altLang="en-US" baseline="0" dirty="0"/>
              <a:t>時的</a:t>
            </a:r>
            <a:r>
              <a:rPr lang="en-US" altLang="zh-TW" baseline="0" dirty="0"/>
              <a:t>effective neighbor </a:t>
            </a:r>
            <a:r>
              <a:rPr lang="en-US" altLang="zh-TW" baseline="0" dirty="0" err="1"/>
              <a:t>netgrid</a:t>
            </a:r>
            <a:r>
              <a:rPr lang="en-US" altLang="zh-TW" baseline="0" dirty="0"/>
              <a:t>. </a:t>
            </a:r>
            <a:r>
              <a:rPr lang="zh-TW" altLang="en-US" baseline="0" dirty="0"/>
              <a:t>然後執行第二個介紹的演算法來</a:t>
            </a:r>
            <a:r>
              <a:rPr lang="en-US" altLang="zh-TW" baseline="0" dirty="0"/>
              <a:t>update</a:t>
            </a:r>
            <a:r>
              <a:rPr lang="zh-TW" altLang="en-US" baseline="0" dirty="0"/>
              <a:t> </a:t>
            </a:r>
            <a:r>
              <a:rPr lang="en-US" altLang="zh-TW" baseline="0" dirty="0"/>
              <a:t>priority queue,</a:t>
            </a:r>
            <a:r>
              <a:rPr lang="zh-TW" altLang="en-US" baseline="0" dirty="0"/>
              <a:t> 重複執行直到都找完所有鄰居，然後所有都找完以後再從那個</a:t>
            </a:r>
            <a:r>
              <a:rPr lang="en-US" altLang="zh-TW" baseline="0" dirty="0"/>
              <a:t>priority queue</a:t>
            </a:r>
            <a:r>
              <a:rPr lang="zh-TW" altLang="en-US" baseline="0" dirty="0"/>
              <a:t>裡提取第一個</a:t>
            </a:r>
            <a:r>
              <a:rPr lang="en-US" altLang="zh-TW" baseline="0" dirty="0" err="1"/>
              <a:t>netgrid</a:t>
            </a:r>
            <a:r>
              <a:rPr lang="zh-TW" altLang="en-US" baseline="0" dirty="0"/>
              <a:t>，並加入到</a:t>
            </a:r>
            <a:r>
              <a:rPr lang="en-US" altLang="zh-TW" baseline="0" dirty="0"/>
              <a:t>routing table</a:t>
            </a:r>
            <a:r>
              <a:rPr lang="zh-TW" altLang="en-US" baseline="0" dirty="0"/>
              <a:t>重複此步驟直到</a:t>
            </a:r>
            <a:r>
              <a:rPr lang="en-US" altLang="zh-TW" baseline="0" dirty="0"/>
              <a:t>queue</a:t>
            </a:r>
            <a:r>
              <a:rPr lang="zh-TW" altLang="en-US" baseline="0" dirty="0"/>
              <a:t>為空，然後再重新開始下一輪。其實就跟</a:t>
            </a:r>
            <a:r>
              <a:rPr lang="en-US" altLang="zh-TW" baseline="0" dirty="0" err="1"/>
              <a:t>dijkstra</a:t>
            </a:r>
            <a:r>
              <a:rPr lang="zh-TW" altLang="en-US" baseline="0" dirty="0"/>
              <a:t>很像</a:t>
            </a:r>
            <a:endParaRPr lang="zh-TW" altLang="en-US" dirty="0"/>
          </a:p>
        </p:txBody>
      </p:sp>
    </p:spTree>
    <p:extLst>
      <p:ext uri="{BB962C8B-B14F-4D97-AF65-F5344CB8AC3E}">
        <p14:creationId xmlns:p14="http://schemas.microsoft.com/office/powerpoint/2010/main" val="1303000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58d3b44f08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437" name="Google Shape;437;g58d3b44f08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那它跟</a:t>
                </a:r>
                <a:r>
                  <a:rPr lang="en-US" altLang="zh-TW" dirty="0" err="1"/>
                  <a:t>dijkstra</a:t>
                </a:r>
                <a:r>
                  <a:rPr lang="zh-TW" altLang="en-US" dirty="0"/>
                  <a:t>最不一樣的就是他不用走所有的點，只要走</a:t>
                </a:r>
                <a:r>
                  <a:rPr lang="en-US" altLang="zh-TW" dirty="0"/>
                  <a:t>non–empty </a:t>
                </a:r>
                <a:r>
                  <a:rPr lang="en-US" altLang="zh-TW" dirty="0" err="1"/>
                  <a:t>netgrid</a:t>
                </a:r>
                <a:r>
                  <a:rPr lang="en-US" altLang="zh-TW" dirty="0"/>
                  <a:t> </a:t>
                </a:r>
                <a:r>
                  <a:rPr lang="zh-TW" altLang="en-US" dirty="0"/>
                  <a:t>就好，因此複雜度相對較低， 如果說 </a:t>
                </a:r>
                <a14:m>
                  <m:oMath xmlns:m="http://schemas.openxmlformats.org/officeDocument/2006/math">
                    <m:bar>
                      <m:barPr>
                        <m:pos m:val="top"/>
                        <m:ctrlPr>
                          <a:rPr lang="en-US" altLang="zh-TW" sz="1100" i="1" dirty="0" smtClean="0">
                            <a:latin typeface="Cambria Math" panose="02040503050406030204" pitchFamily="18" charset="0"/>
                          </a:rPr>
                        </m:ctrlPr>
                      </m:barPr>
                      <m:e>
                        <m:sSub>
                          <m:sSubPr>
                            <m:ctrlPr>
                              <a:rPr lang="en-US" altLang="zh-TW" sz="1100" i="1">
                                <a:latin typeface="Cambria Math" panose="02040503050406030204" pitchFamily="18" charset="0"/>
                              </a:rPr>
                            </m:ctrlPr>
                          </m:sSubPr>
                          <m:e>
                            <m:r>
                              <a:rPr lang="en-US" altLang="zh-TW" sz="1100" b="0" i="1" smtClean="0">
                                <a:latin typeface="Cambria Math" panose="02040503050406030204" pitchFamily="18" charset="0"/>
                              </a:rPr>
                              <m:t> </m:t>
                            </m:r>
                            <m:r>
                              <a:rPr lang="en-US" altLang="zh-TW" sz="1100" i="1">
                                <a:latin typeface="Cambria Math" panose="02040503050406030204" pitchFamily="18" charset="0"/>
                              </a:rPr>
                              <m:t>𝑁</m:t>
                            </m:r>
                          </m:e>
                          <m:sub>
                            <m:r>
                              <a:rPr lang="en-US" altLang="zh-TW" sz="1100" i="1">
                                <a:latin typeface="Cambria Math" panose="02040503050406030204" pitchFamily="18" charset="0"/>
                              </a:rPr>
                              <m:t>𝑛</m:t>
                            </m:r>
                          </m:sub>
                        </m:sSub>
                      </m:e>
                    </m:bar>
                  </m:oMath>
                </a14:m>
                <a:r>
                  <a:rPr lang="en-US" dirty="0"/>
                  <a:t> </a:t>
                </a:r>
                <a:r>
                  <a:rPr lang="zh-TW" altLang="en-US" dirty="0"/>
                  <a:t>是平均的 </a:t>
                </a:r>
                <a:r>
                  <a:rPr lang="en-US" altLang="zh-TW" dirty="0"/>
                  <a:t>non-empty</a:t>
                </a:r>
                <a:r>
                  <a:rPr lang="en-US" altLang="zh-TW" baseline="0" dirty="0"/>
                  <a:t> </a:t>
                </a:r>
                <a:r>
                  <a:rPr lang="en-US" altLang="zh-TW" baseline="0" dirty="0" err="1"/>
                  <a:t>netgrid</a:t>
                </a:r>
                <a:r>
                  <a:rPr lang="zh-TW" altLang="en-US" baseline="0" dirty="0"/>
                  <a:t>數量的話，維持一個</a:t>
                </a:r>
                <a:r>
                  <a:rPr lang="en-US" altLang="zh-TW" baseline="0" dirty="0"/>
                  <a:t>priority</a:t>
                </a:r>
                <a:r>
                  <a:rPr lang="zh-TW" altLang="en-US" baseline="0" dirty="0"/>
                  <a:t>的時間複雜度是</a:t>
                </a:r>
                <a:r>
                  <a:rPr lang="en-US" altLang="zh-TW" baseline="0" dirty="0"/>
                  <a:t>O(</a:t>
                </a:r>
                <a14:m>
                  <m:oMath xmlns:m="http://schemas.openxmlformats.org/officeDocument/2006/math">
                    <m:bar>
                      <m:barPr>
                        <m:pos m:val="top"/>
                        <m:ctrlPr>
                          <a:rPr lang="en-US" altLang="zh-TW" sz="1100" i="1" dirty="0" smtClean="0">
                            <a:latin typeface="Cambria Math" panose="02040503050406030204" pitchFamily="18" charset="0"/>
                          </a:rPr>
                        </m:ctrlPr>
                      </m:barPr>
                      <m:e>
                        <m:sSub>
                          <m:sSubPr>
                            <m:ctrlPr>
                              <a:rPr lang="en-US" altLang="zh-TW" sz="1100" i="1">
                                <a:latin typeface="Cambria Math" panose="02040503050406030204" pitchFamily="18" charset="0"/>
                              </a:rPr>
                            </m:ctrlPr>
                          </m:sSubPr>
                          <m:e>
                            <m:r>
                              <a:rPr lang="en-US" altLang="zh-TW" sz="1100" b="0" i="1" smtClean="0">
                                <a:latin typeface="Cambria Math" panose="02040503050406030204" pitchFamily="18" charset="0"/>
                              </a:rPr>
                              <m:t> </m:t>
                            </m:r>
                            <m:r>
                              <a:rPr lang="en-US" altLang="zh-TW" sz="1100" i="1">
                                <a:latin typeface="Cambria Math" panose="02040503050406030204" pitchFamily="18" charset="0"/>
                              </a:rPr>
                              <m:t>𝑁</m:t>
                            </m:r>
                          </m:e>
                          <m:sub>
                            <m:r>
                              <a:rPr lang="en-US" altLang="zh-TW" sz="1100" i="1">
                                <a:latin typeface="Cambria Math" panose="02040503050406030204" pitchFamily="18" charset="0"/>
                              </a:rPr>
                              <m:t>𝑛</m:t>
                            </m:r>
                          </m:sub>
                        </m:sSub>
                      </m:e>
                    </m:bar>
                  </m:oMath>
                </a14:m>
                <a:r>
                  <a:rPr lang="en-US" altLang="zh-TW" dirty="0"/>
                  <a:t>)</a:t>
                </a:r>
                <a:r>
                  <a:rPr lang="zh-TW" altLang="en-US" dirty="0"/>
                  <a:t>，每次其實都要找一次所有的</a:t>
                </a:r>
                <a:r>
                  <a:rPr lang="en-US" altLang="zh-TW" dirty="0"/>
                  <a:t>non-empty </a:t>
                </a:r>
                <a:r>
                  <a:rPr lang="en-US" altLang="zh-TW" dirty="0" err="1"/>
                  <a:t>netgrid</a:t>
                </a:r>
                <a:r>
                  <a:rPr lang="en-US" altLang="zh-TW" dirty="0"/>
                  <a:t> </a:t>
                </a:r>
                <a:r>
                  <a:rPr lang="zh-TW" altLang="en-US" dirty="0"/>
                  <a:t>而計算每次的傳輸時間就要用到</a:t>
                </a:r>
                <a:r>
                  <a:rPr lang="en-US" altLang="zh-TW" dirty="0"/>
                  <a:t>En </a:t>
                </a:r>
                <a:r>
                  <a:rPr lang="zh-TW" altLang="en-US" dirty="0"/>
                  <a:t>，所以總時間複雜度就是</a:t>
                </a:r>
                <a:r>
                  <a:rPr lang="en-US" altLang="zh-TW" dirty="0"/>
                  <a:t>O(N</a:t>
                </a:r>
                <a:r>
                  <a:rPr lang="zh-TW" altLang="en-US" dirty="0"/>
                  <a:t>平方</a:t>
                </a:r>
                <a:r>
                  <a:rPr lang="en-US" altLang="zh-TW" dirty="0"/>
                  <a:t>+E)</a:t>
                </a:r>
                <a:r>
                  <a:rPr lang="zh-TW" altLang="en-US" dirty="0"/>
                  <a:t>，優點就是他不會因為衛星的數量改變他的時間複雜度，他的時間複雜度是根據你的</a:t>
                </a:r>
                <a:r>
                  <a:rPr lang="en-US" altLang="zh-TW" dirty="0" err="1"/>
                  <a:t>netgrid</a:t>
                </a:r>
                <a:r>
                  <a:rPr lang="zh-TW" altLang="en-US" dirty="0"/>
                  <a:t>定的大小 也就是 前面所說的層級概念，層級越高 精準度越高，時間複雜度也變高，因為</a:t>
                </a:r>
                <a:r>
                  <a:rPr lang="en-US" altLang="zh-TW" dirty="0" err="1"/>
                  <a:t>netgrid</a:t>
                </a:r>
                <a:r>
                  <a:rPr lang="zh-TW" altLang="en-US" dirty="0"/>
                  <a:t>數量變多。 </a:t>
                </a:r>
                <a:endParaRPr dirty="0"/>
              </a:p>
            </p:txBody>
          </p:sp>
        </mc:Choice>
        <mc:Fallback xmlns="">
          <p:sp>
            <p:nvSpPr>
              <p:cNvPr id="437" name="Google Shape;437;g58d3b44f08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那它跟</a:t>
                </a:r>
                <a:r>
                  <a:rPr lang="en-US" altLang="zh-TW" dirty="0" err="1" smtClean="0"/>
                  <a:t>dijkstra</a:t>
                </a:r>
                <a:r>
                  <a:rPr lang="zh-TW" altLang="en-US" dirty="0" smtClean="0"/>
                  <a:t>最不一樣的就是他不用走所有的點，只要走</a:t>
                </a:r>
                <a:r>
                  <a:rPr lang="en-US" altLang="zh-TW" dirty="0" smtClean="0"/>
                  <a:t>non–empty </a:t>
                </a:r>
                <a:r>
                  <a:rPr lang="en-US" altLang="zh-TW" dirty="0" err="1" smtClean="0"/>
                  <a:t>netgrid</a:t>
                </a:r>
                <a:r>
                  <a:rPr lang="en-US" altLang="zh-TW" dirty="0" smtClean="0"/>
                  <a:t> </a:t>
                </a:r>
                <a:r>
                  <a:rPr lang="zh-TW" altLang="en-US" dirty="0" smtClean="0"/>
                  <a:t>就好，因此複雜度相對較低， 如果說 </a:t>
                </a:r>
                <a:r>
                  <a:rPr lang="en-US" altLang="zh-TW" sz="1100" i="0" dirty="0" smtClean="0">
                    <a:latin typeface="Cambria Math" panose="02040503050406030204" pitchFamily="18" charset="0"/>
                  </a:rPr>
                  <a:t>¯(</a:t>
                </a:r>
                <a:r>
                  <a:rPr lang="en-US" altLang="zh-TW" sz="1100" i="0">
                    <a:latin typeface="Cambria Math" panose="02040503050406030204" pitchFamily="18" charset="0"/>
                  </a:rPr>
                  <a:t>〖</a:t>
                </a:r>
                <a:r>
                  <a:rPr lang="en-US" altLang="zh-TW" sz="1100" b="0" i="0" smtClean="0">
                    <a:latin typeface="Cambria Math" panose="02040503050406030204" pitchFamily="18" charset="0"/>
                  </a:rPr>
                  <a:t> </a:t>
                </a:r>
                <a:r>
                  <a:rPr lang="en-US" altLang="zh-TW" sz="1100" i="0">
                    <a:latin typeface="Cambria Math" panose="02040503050406030204" pitchFamily="18" charset="0"/>
                  </a:rPr>
                  <a:t>𝑁〗_𝑛 </a:t>
                </a:r>
                <a:r>
                  <a:rPr lang="en-US" altLang="zh-TW" sz="1100" i="0" dirty="0" smtClean="0">
                    <a:latin typeface="Cambria Math" panose="02040503050406030204" pitchFamily="18" charset="0"/>
                  </a:rPr>
                  <a:t>)</a:t>
                </a:r>
                <a:r>
                  <a:rPr lang="en-US" dirty="0" smtClean="0"/>
                  <a:t> </a:t>
                </a:r>
                <a:r>
                  <a:rPr lang="zh-TW" altLang="en-US" dirty="0" smtClean="0"/>
                  <a:t>是平均的 </a:t>
                </a:r>
                <a:r>
                  <a:rPr lang="en-US" altLang="zh-TW" dirty="0" smtClean="0"/>
                  <a:t>non-empty</a:t>
                </a:r>
                <a:r>
                  <a:rPr lang="en-US" altLang="zh-TW" baseline="0" dirty="0" smtClean="0"/>
                  <a:t> </a:t>
                </a:r>
                <a:r>
                  <a:rPr lang="en-US" altLang="zh-TW" baseline="0" dirty="0" err="1" smtClean="0"/>
                  <a:t>netgrid</a:t>
                </a:r>
                <a:r>
                  <a:rPr lang="zh-TW" altLang="en-US" baseline="0" dirty="0" smtClean="0"/>
                  <a:t>數量的話，維持一個</a:t>
                </a:r>
                <a:r>
                  <a:rPr lang="en-US" altLang="zh-TW" baseline="0" dirty="0" smtClean="0"/>
                  <a:t>priority</a:t>
                </a:r>
                <a:r>
                  <a:rPr lang="zh-TW" altLang="en-US" baseline="0" dirty="0" smtClean="0"/>
                  <a:t>的時間複雜度是</a:t>
                </a:r>
                <a:r>
                  <a:rPr lang="en-US" altLang="zh-TW" baseline="0" dirty="0" smtClean="0"/>
                  <a:t>O(</a:t>
                </a:r>
                <a:r>
                  <a:rPr lang="en-US" altLang="zh-TW" sz="1100" i="0" dirty="0" smtClean="0">
                    <a:latin typeface="Cambria Math" panose="02040503050406030204" pitchFamily="18" charset="0"/>
                  </a:rPr>
                  <a:t>¯(</a:t>
                </a:r>
                <a:r>
                  <a:rPr lang="en-US" altLang="zh-TW" sz="1100" i="0">
                    <a:latin typeface="Cambria Math" panose="02040503050406030204" pitchFamily="18" charset="0"/>
                  </a:rPr>
                  <a:t>〖</a:t>
                </a:r>
                <a:r>
                  <a:rPr lang="en-US" altLang="zh-TW" sz="1100" b="0" i="0" smtClean="0">
                    <a:latin typeface="Cambria Math" panose="02040503050406030204" pitchFamily="18" charset="0"/>
                  </a:rPr>
                  <a:t> </a:t>
                </a:r>
                <a:r>
                  <a:rPr lang="en-US" altLang="zh-TW" sz="1100" i="0">
                    <a:latin typeface="Cambria Math" panose="02040503050406030204" pitchFamily="18" charset="0"/>
                  </a:rPr>
                  <a:t>𝑁〗_𝑛 </a:t>
                </a:r>
                <a:r>
                  <a:rPr lang="en-US" altLang="zh-TW" sz="1100" i="0" dirty="0" smtClean="0">
                    <a:latin typeface="Cambria Math" panose="02040503050406030204" pitchFamily="18" charset="0"/>
                  </a:rPr>
                  <a:t>)</a:t>
                </a:r>
                <a:r>
                  <a:rPr lang="en-US" altLang="zh-TW" dirty="0" smtClean="0"/>
                  <a:t>)</a:t>
                </a:r>
                <a:r>
                  <a:rPr lang="zh-TW" altLang="en-US" dirty="0" smtClean="0"/>
                  <a:t>，每次其實都要找一次所有的</a:t>
                </a:r>
                <a:r>
                  <a:rPr lang="en-US" altLang="zh-TW" dirty="0" smtClean="0"/>
                  <a:t>non-empty </a:t>
                </a:r>
                <a:r>
                  <a:rPr lang="en-US" altLang="zh-TW" dirty="0" err="1" smtClean="0"/>
                  <a:t>netgrid</a:t>
                </a:r>
                <a:r>
                  <a:rPr lang="en-US" altLang="zh-TW" dirty="0" smtClean="0"/>
                  <a:t> </a:t>
                </a:r>
                <a:r>
                  <a:rPr lang="zh-TW" altLang="en-US" dirty="0" smtClean="0"/>
                  <a:t>而計算每次的傳輸時間就要用到</a:t>
                </a:r>
                <a:r>
                  <a:rPr lang="en-US" altLang="zh-TW" dirty="0" smtClean="0"/>
                  <a:t>En </a:t>
                </a:r>
                <a:r>
                  <a:rPr lang="zh-TW" altLang="en-US" dirty="0" smtClean="0"/>
                  <a:t>，所以總時間複雜度就是</a:t>
                </a:r>
                <a:r>
                  <a:rPr lang="en-US" altLang="zh-TW" dirty="0" smtClean="0"/>
                  <a:t>O(N</a:t>
                </a:r>
                <a:r>
                  <a:rPr lang="zh-TW" altLang="en-US" dirty="0" smtClean="0"/>
                  <a:t>平方</a:t>
                </a:r>
                <a:r>
                  <a:rPr lang="en-US" altLang="zh-TW" dirty="0" smtClean="0"/>
                  <a:t>+E)</a:t>
                </a:r>
                <a:r>
                  <a:rPr lang="zh-TW" altLang="en-US" dirty="0" smtClean="0"/>
                  <a:t>，優點就是他不會因為衛星的數量改變他的時間複雜度，他的時間複雜度是根據你的</a:t>
                </a:r>
                <a:r>
                  <a:rPr lang="en-US" altLang="zh-TW" dirty="0" err="1" smtClean="0"/>
                  <a:t>netgrid</a:t>
                </a:r>
                <a:r>
                  <a:rPr lang="zh-TW" altLang="en-US" dirty="0" smtClean="0"/>
                  <a:t>定的大小 也就是 前面所說的層級概念，層級越高 精準度越高，時間複雜度也變高，因為</a:t>
                </a:r>
                <a:r>
                  <a:rPr lang="en-US" altLang="zh-TW" dirty="0" err="1" smtClean="0"/>
                  <a:t>netgrid</a:t>
                </a:r>
                <a:r>
                  <a:rPr lang="zh-TW" altLang="en-US" dirty="0" smtClean="0"/>
                  <a:t>數量變多。 </a:t>
                </a:r>
                <a:endParaRPr dirty="0"/>
              </a:p>
            </p:txBody>
          </p:sp>
        </mc:Fallback>
      </mc:AlternateContent>
    </p:spTree>
    <p:extLst>
      <p:ext uri="{BB962C8B-B14F-4D97-AF65-F5344CB8AC3E}">
        <p14:creationId xmlns:p14="http://schemas.microsoft.com/office/powerpoint/2010/main" val="3451259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419515fe0b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419515fe0b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02381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58d3b44f08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58d3b44f08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接下來會比較以下四種求路徑的演算法，第一個</a:t>
            </a:r>
            <a:r>
              <a:rPr lang="en-US" altLang="zh-TW" dirty="0"/>
              <a:t>NSR</a:t>
            </a:r>
            <a:r>
              <a:rPr lang="zh-TW" altLang="en-US" dirty="0"/>
              <a:t>就是這篇提出來的，第二個是</a:t>
            </a:r>
            <a:r>
              <a:rPr lang="en-US" altLang="zh-TW" dirty="0"/>
              <a:t>TSR</a:t>
            </a:r>
            <a:r>
              <a:rPr lang="zh-TW" altLang="en-US" dirty="0"/>
              <a:t>，那它只會在一開始做一次路徑規劃，第三種是</a:t>
            </a:r>
            <a:r>
              <a:rPr lang="en-US" altLang="zh-TW" dirty="0"/>
              <a:t>CGR</a:t>
            </a:r>
            <a:r>
              <a:rPr lang="zh-TW" altLang="en-US" dirty="0"/>
              <a:t>，它是直接用</a:t>
            </a:r>
            <a:r>
              <a:rPr lang="en-US" altLang="zh-TW" dirty="0"/>
              <a:t>node </a:t>
            </a:r>
            <a:r>
              <a:rPr lang="zh-TW" altLang="en-US" dirty="0"/>
              <a:t>來使用</a:t>
            </a:r>
            <a:r>
              <a:rPr lang="en-US" altLang="zh-TW" dirty="0" err="1"/>
              <a:t>dijkstra</a:t>
            </a:r>
            <a:r>
              <a:rPr lang="en-US" altLang="zh-TW" dirty="0"/>
              <a:t>, </a:t>
            </a:r>
            <a:r>
              <a:rPr lang="zh-TW" altLang="en-US" dirty="0"/>
              <a:t>第四種是</a:t>
            </a:r>
            <a:r>
              <a:rPr lang="en-US" altLang="zh-TW" dirty="0"/>
              <a:t>TBR</a:t>
            </a:r>
            <a:r>
              <a:rPr lang="zh-TW" altLang="en-US" dirty="0"/>
              <a:t>，他算是暴力解，因為它在每一步節點重新做最佳的路徑規劃。</a:t>
            </a:r>
            <a:endParaRPr dirty="0"/>
          </a:p>
        </p:txBody>
      </p:sp>
    </p:spTree>
    <p:extLst>
      <p:ext uri="{BB962C8B-B14F-4D97-AF65-F5344CB8AC3E}">
        <p14:creationId xmlns:p14="http://schemas.microsoft.com/office/powerpoint/2010/main" val="11086235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5465e7bc0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5465e7bc0b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那可以看到左邊封包丟失率的表現，越高代表越不好，綠色是</a:t>
            </a:r>
            <a:r>
              <a:rPr lang="en-US" altLang="zh-TW" dirty="0"/>
              <a:t>TSR</a:t>
            </a:r>
            <a:r>
              <a:rPr lang="zh-TW" altLang="en-US" dirty="0"/>
              <a:t>，也就是只做一次規劃，藍色是暴力解，想當然它的路徑最好，因此封包遺失率很低，大部分情況下，</a:t>
            </a:r>
            <a:r>
              <a:rPr lang="en-US" altLang="zh-TW" dirty="0"/>
              <a:t>NSR 2</a:t>
            </a:r>
            <a:r>
              <a:rPr lang="zh-TW" altLang="en-US" dirty="0"/>
              <a:t>跟</a:t>
            </a:r>
            <a:r>
              <a:rPr lang="en-US" altLang="zh-TW" dirty="0"/>
              <a:t>3</a:t>
            </a:r>
            <a:r>
              <a:rPr lang="zh-TW" altLang="en-US" dirty="0"/>
              <a:t>表現差不多，但當</a:t>
            </a:r>
            <a:r>
              <a:rPr lang="en-US" altLang="zh-TW" dirty="0"/>
              <a:t>data</a:t>
            </a:r>
            <a:r>
              <a:rPr lang="zh-TW" altLang="en-US" dirty="0"/>
              <a:t>大小超過</a:t>
            </a:r>
            <a:r>
              <a:rPr lang="en-US" altLang="zh-TW" dirty="0"/>
              <a:t>300KB</a:t>
            </a:r>
            <a:r>
              <a:rPr lang="zh-TW" altLang="en-US" dirty="0"/>
              <a:t>時，</a:t>
            </a:r>
            <a:r>
              <a:rPr lang="en-US" altLang="zh-TW" dirty="0"/>
              <a:t>2</a:t>
            </a:r>
            <a:r>
              <a:rPr lang="zh-TW" altLang="en-US" dirty="0"/>
              <a:t>的性能相較下降。然後比較</a:t>
            </a:r>
            <a:r>
              <a:rPr lang="en-US" altLang="zh-TW" dirty="0"/>
              <a:t>transmission delay</a:t>
            </a:r>
            <a:r>
              <a:rPr lang="zh-TW" altLang="en-US" dirty="0"/>
              <a:t>，</a:t>
            </a:r>
            <a:r>
              <a:rPr lang="en-US" altLang="zh-TW" dirty="0"/>
              <a:t> </a:t>
            </a:r>
            <a:r>
              <a:rPr lang="zh-TW" altLang="en-US" dirty="0"/>
              <a:t>當</a:t>
            </a:r>
            <a:r>
              <a:rPr lang="en-US" altLang="zh-TW" dirty="0"/>
              <a:t>packet</a:t>
            </a:r>
            <a:r>
              <a:rPr lang="zh-TW" altLang="en-US" dirty="0"/>
              <a:t>數量多的時候，</a:t>
            </a:r>
            <a:r>
              <a:rPr lang="en-US" altLang="zh-TW" dirty="0"/>
              <a:t>transmission delay</a:t>
            </a:r>
            <a:r>
              <a:rPr lang="zh-TW" altLang="en-US" dirty="0"/>
              <a:t>上升原因是因為當</a:t>
            </a:r>
            <a:r>
              <a:rPr lang="en-US" altLang="zh-TW" dirty="0"/>
              <a:t>packet</a:t>
            </a:r>
            <a:r>
              <a:rPr lang="zh-TW" altLang="en-US" dirty="0"/>
              <a:t> 數量多時，</a:t>
            </a:r>
            <a:r>
              <a:rPr lang="en-US" altLang="zh-TW" dirty="0"/>
              <a:t>topology</a:t>
            </a:r>
            <a:r>
              <a:rPr lang="zh-TW" altLang="en-US" dirty="0"/>
              <a:t>改變的機會變高， 對於</a:t>
            </a:r>
            <a:r>
              <a:rPr lang="en-US" altLang="zh-TW" dirty="0"/>
              <a:t>TSR</a:t>
            </a:r>
            <a:r>
              <a:rPr lang="zh-TW" altLang="en-US" dirty="0"/>
              <a:t>，因為只做一次路徑規劃，所以當</a:t>
            </a:r>
            <a:r>
              <a:rPr lang="en-US" altLang="zh-TW" dirty="0"/>
              <a:t>topology</a:t>
            </a:r>
            <a:r>
              <a:rPr lang="zh-TW" altLang="en-US" dirty="0"/>
              <a:t>改變時，中間的</a:t>
            </a:r>
            <a:r>
              <a:rPr lang="en-US" altLang="zh-TW" dirty="0"/>
              <a:t>link</a:t>
            </a:r>
            <a:r>
              <a:rPr lang="zh-TW" altLang="en-US" dirty="0"/>
              <a:t>可能已經斷開，只能等到他們重新連結或</a:t>
            </a:r>
            <a:r>
              <a:rPr lang="en-US" altLang="zh-TW" dirty="0"/>
              <a:t>TTL</a:t>
            </a:r>
            <a:r>
              <a:rPr lang="zh-TW" altLang="en-US" dirty="0"/>
              <a:t>時間到。</a:t>
            </a:r>
            <a:endParaRPr dirty="0"/>
          </a:p>
        </p:txBody>
      </p:sp>
    </p:spTree>
    <p:extLst>
      <p:ext uri="{BB962C8B-B14F-4D97-AF65-F5344CB8AC3E}">
        <p14:creationId xmlns:p14="http://schemas.microsoft.com/office/powerpoint/2010/main" val="8436418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由於考量到衛星的複雜環境，可能會產生</a:t>
            </a:r>
            <a:r>
              <a:rPr lang="en-US" altLang="zh-TW" dirty="0"/>
              <a:t>link</a:t>
            </a:r>
            <a:r>
              <a:rPr lang="zh-TW" altLang="en-US" dirty="0"/>
              <a:t> 的中斷，因此也要評估這些路由方法處理</a:t>
            </a:r>
            <a:r>
              <a:rPr lang="en-US" altLang="zh-TW" dirty="0"/>
              <a:t>link interruption</a:t>
            </a:r>
            <a:r>
              <a:rPr lang="zh-TW" altLang="en-US" dirty="0"/>
              <a:t>的能力。可以看到</a:t>
            </a:r>
            <a:r>
              <a:rPr lang="en-US" altLang="zh-TW" dirty="0"/>
              <a:t>TBR</a:t>
            </a:r>
            <a:r>
              <a:rPr lang="zh-TW" altLang="en-US" dirty="0"/>
              <a:t>、</a:t>
            </a:r>
            <a:r>
              <a:rPr lang="en-US" altLang="zh-TW" dirty="0"/>
              <a:t>NSR</a:t>
            </a:r>
            <a:r>
              <a:rPr lang="zh-TW" altLang="en-US" dirty="0"/>
              <a:t>、</a:t>
            </a:r>
            <a:r>
              <a:rPr lang="en-US" altLang="zh-TW" dirty="0"/>
              <a:t>CGR</a:t>
            </a:r>
            <a:r>
              <a:rPr lang="zh-TW" altLang="en-US" dirty="0"/>
              <a:t>的丟包率比較穩定，原因是因為他們可以在中間發生中斷時重新執行</a:t>
            </a:r>
            <a:r>
              <a:rPr lang="en-US" altLang="zh-TW" dirty="0"/>
              <a:t>routing process</a:t>
            </a:r>
            <a:r>
              <a:rPr lang="en-US" altLang="zh-TW" baseline="0" dirty="0"/>
              <a:t> </a:t>
            </a:r>
            <a:r>
              <a:rPr lang="zh-TW" altLang="en-US" baseline="0" dirty="0"/>
              <a:t>以代替原先的路徑，然後右邊的點對點傳輸延遲也是一樣道理，然後作者說他們的實驗結果發現這種</a:t>
            </a:r>
            <a:r>
              <a:rPr lang="en-US" altLang="zh-TW" baseline="0" dirty="0"/>
              <a:t>routing scheme</a:t>
            </a:r>
            <a:r>
              <a:rPr lang="zh-TW" altLang="en-US" baseline="0" dirty="0"/>
              <a:t>不管在甚麼中斷機率下，都很接近</a:t>
            </a:r>
            <a:r>
              <a:rPr lang="en-US" altLang="zh-TW" baseline="0" dirty="0"/>
              <a:t>TBR</a:t>
            </a:r>
            <a:r>
              <a:rPr lang="zh-TW" altLang="en-US" baseline="0" dirty="0"/>
              <a:t> 也就是暴力最佳解，因此說明了</a:t>
            </a:r>
            <a:r>
              <a:rPr lang="en-US" altLang="zh-TW" baseline="0" dirty="0"/>
              <a:t>NSR</a:t>
            </a:r>
            <a:r>
              <a:rPr lang="zh-TW" altLang="en-US" baseline="0" dirty="0"/>
              <a:t>的魯棒性</a:t>
            </a:r>
            <a:endParaRPr lang="zh-TW" altLang="en-US" dirty="0"/>
          </a:p>
        </p:txBody>
      </p:sp>
    </p:spTree>
    <p:extLst>
      <p:ext uri="{BB962C8B-B14F-4D97-AF65-F5344CB8AC3E}">
        <p14:creationId xmlns:p14="http://schemas.microsoft.com/office/powerpoint/2010/main" val="5393209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最後去比較</a:t>
            </a:r>
            <a:r>
              <a:rPr lang="en-US" altLang="zh-TW" dirty="0"/>
              <a:t>TNM</a:t>
            </a:r>
            <a:r>
              <a:rPr lang="zh-TW" altLang="en-US" dirty="0"/>
              <a:t>與</a:t>
            </a:r>
            <a:r>
              <a:rPr lang="en-US" altLang="zh-TW" dirty="0"/>
              <a:t>TGM</a:t>
            </a:r>
            <a:r>
              <a:rPr lang="zh-TW" altLang="en-US" dirty="0"/>
              <a:t> 在不同網路規模下的</a:t>
            </a:r>
            <a:r>
              <a:rPr lang="en-US" altLang="zh-TW" dirty="0"/>
              <a:t>computation cost, </a:t>
            </a:r>
            <a:r>
              <a:rPr lang="zh-TW" altLang="en-US" dirty="0"/>
              <a:t>可以看到當網路規模越大，</a:t>
            </a:r>
            <a:r>
              <a:rPr lang="en-US" altLang="zh-TW" dirty="0"/>
              <a:t>TNM</a:t>
            </a:r>
            <a:r>
              <a:rPr lang="zh-TW" altLang="en-US" dirty="0"/>
              <a:t>與</a:t>
            </a:r>
            <a:r>
              <a:rPr lang="en-US" altLang="zh-TW" dirty="0"/>
              <a:t>TGM</a:t>
            </a:r>
            <a:r>
              <a:rPr lang="zh-TW" altLang="en-US" dirty="0"/>
              <a:t>在計算</a:t>
            </a:r>
            <a:r>
              <a:rPr lang="en-US" altLang="zh-TW" dirty="0"/>
              <a:t>topology</a:t>
            </a:r>
            <a:r>
              <a:rPr lang="zh-TW" altLang="en-US" dirty="0"/>
              <a:t>以及</a:t>
            </a:r>
            <a:r>
              <a:rPr lang="en-US" altLang="zh-TW" dirty="0"/>
              <a:t>routing algorithm</a:t>
            </a:r>
            <a:r>
              <a:rPr lang="zh-TW" altLang="en-US" dirty="0"/>
              <a:t>的差異越明顯，</a:t>
            </a:r>
          </a:p>
        </p:txBody>
      </p:sp>
    </p:spTree>
    <p:extLst>
      <p:ext uri="{BB962C8B-B14F-4D97-AF65-F5344CB8AC3E}">
        <p14:creationId xmlns:p14="http://schemas.microsoft.com/office/powerpoint/2010/main" val="41054336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58c66ba33b_0_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8c66ba33b_0_9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總結就是 它們為大規模小型衛星提出了一種新的路由方案，透過本篇提出的一種可以提供時間連續的拓樸訊息圖 </a:t>
            </a:r>
            <a:r>
              <a:rPr lang="en-US" altLang="zh-TW" dirty="0"/>
              <a:t>TNM</a:t>
            </a:r>
            <a:r>
              <a:rPr lang="zh-TW" altLang="en-US" dirty="0"/>
              <a:t>，以及</a:t>
            </a:r>
            <a:r>
              <a:rPr lang="en-US" altLang="zh-TW" dirty="0"/>
              <a:t>beacon protocol</a:t>
            </a:r>
            <a:r>
              <a:rPr lang="zh-TW" altLang="en-US" dirty="0"/>
              <a:t>來根據鄰居衛星的狀態來動態調整路徑，那根據實驗結果表明所提出的方法能夠以較低的計算成本達到最優的路由性能。</a:t>
            </a:r>
            <a:endParaRPr dirty="0"/>
          </a:p>
        </p:txBody>
      </p:sp>
    </p:spTree>
    <p:extLst>
      <p:ext uri="{BB962C8B-B14F-4D97-AF65-F5344CB8AC3E}">
        <p14:creationId xmlns:p14="http://schemas.microsoft.com/office/powerpoint/2010/main" val="8201376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7">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13" name="Google Shape;13;p3"/>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4" name="Google Shape;14;p3"/>
          <p:cNvSpPr txBox="1">
            <a:spLocks noGrp="1"/>
          </p:cNvSpPr>
          <p:nvPr>
            <p:ph type="subTitle" idx="1"/>
          </p:nvPr>
        </p:nvSpPr>
        <p:spPr>
          <a:xfrm>
            <a:off x="690446" y="656478"/>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5" name="Google Shape;15;p3"/>
          <p:cNvSpPr txBox="1">
            <a:spLocks noGrp="1"/>
          </p:cNvSpPr>
          <p:nvPr>
            <p:ph type="title" idx="3" hasCustomPrompt="1"/>
          </p:nvPr>
        </p:nvSpPr>
        <p:spPr>
          <a:xfrm>
            <a:off x="2118448" y="54444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6" name="Google Shape;16;p3"/>
          <p:cNvSpPr txBox="1">
            <a:spLocks noGrp="1"/>
          </p:cNvSpPr>
          <p:nvPr>
            <p:ph type="title" idx="4" hasCustomPrompt="1"/>
          </p:nvPr>
        </p:nvSpPr>
        <p:spPr>
          <a:xfrm>
            <a:off x="2105406" y="151580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7" name="Google Shape;17;p3"/>
          <p:cNvSpPr txBox="1">
            <a:spLocks noGrp="1"/>
          </p:cNvSpPr>
          <p:nvPr>
            <p:ph type="title" idx="5" hasCustomPrompt="1"/>
          </p:nvPr>
        </p:nvSpPr>
        <p:spPr>
          <a:xfrm>
            <a:off x="2105406" y="248716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8" name="Google Shape;18;p3"/>
          <p:cNvSpPr txBox="1">
            <a:spLocks noGrp="1"/>
          </p:cNvSpPr>
          <p:nvPr>
            <p:ph type="title" idx="6" hasCustomPrompt="1"/>
          </p:nvPr>
        </p:nvSpPr>
        <p:spPr>
          <a:xfrm>
            <a:off x="5922008" y="2092638"/>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title" idx="7" hasCustomPrompt="1"/>
          </p:nvPr>
        </p:nvSpPr>
        <p:spPr>
          <a:xfrm>
            <a:off x="5922008" y="3112336"/>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 name="Google Shape;20;p3"/>
          <p:cNvSpPr txBox="1">
            <a:spLocks noGrp="1"/>
          </p:cNvSpPr>
          <p:nvPr>
            <p:ph type="title" idx="8" hasCustomPrompt="1"/>
          </p:nvPr>
        </p:nvSpPr>
        <p:spPr>
          <a:xfrm>
            <a:off x="5922008" y="4132033"/>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2" name="Google Shape;22;p3"/>
          <p:cNvSpPr txBox="1">
            <a:spLocks noGrp="1"/>
          </p:cNvSpPr>
          <p:nvPr>
            <p:ph type="subTitle" idx="13"/>
          </p:nvPr>
        </p:nvSpPr>
        <p:spPr>
          <a:xfrm>
            <a:off x="690446" y="1622677"/>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3" name="Google Shape;23;p3"/>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4" name="Google Shape;24;p3"/>
          <p:cNvSpPr txBox="1">
            <a:spLocks noGrp="1"/>
          </p:cNvSpPr>
          <p:nvPr>
            <p:ph type="subTitle" idx="15"/>
          </p:nvPr>
        </p:nvSpPr>
        <p:spPr>
          <a:xfrm>
            <a:off x="690446" y="2596156"/>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5" name="Google Shape;25;p3"/>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6" name="Google Shape;26;p3"/>
          <p:cNvSpPr txBox="1">
            <a:spLocks noGrp="1"/>
          </p:cNvSpPr>
          <p:nvPr>
            <p:ph type="subTitle" idx="17"/>
          </p:nvPr>
        </p:nvSpPr>
        <p:spPr>
          <a:xfrm>
            <a:off x="6811558" y="2230005"/>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7" name="Google Shape;27;p3"/>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8" name="Google Shape;28;p3"/>
          <p:cNvSpPr txBox="1">
            <a:spLocks noGrp="1"/>
          </p:cNvSpPr>
          <p:nvPr>
            <p:ph type="subTitle" idx="19"/>
          </p:nvPr>
        </p:nvSpPr>
        <p:spPr>
          <a:xfrm>
            <a:off x="6811558" y="3253917"/>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9" name="Google Shape;29;p3"/>
          <p:cNvSpPr txBox="1">
            <a:spLocks noGrp="1"/>
          </p:cNvSpPr>
          <p:nvPr>
            <p:ph type="ctrTitle" idx="20"/>
          </p:nvPr>
        </p:nvSpPr>
        <p:spPr>
          <a:xfrm>
            <a:off x="6811558" y="3811353"/>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30" name="Google Shape;30;p3"/>
          <p:cNvSpPr txBox="1">
            <a:spLocks noGrp="1"/>
          </p:cNvSpPr>
          <p:nvPr>
            <p:ph type="subTitle" idx="21"/>
          </p:nvPr>
        </p:nvSpPr>
        <p:spPr>
          <a:xfrm>
            <a:off x="6811558" y="4266173"/>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1">
  <p:cSld name="CUSTOM_18">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rgbClr val="FFFFFF"/>
              </a:buClr>
              <a:buSzPts val="6500"/>
              <a:buNone/>
              <a:defRPr sz="6500">
                <a:solidFill>
                  <a:srgbClr val="FFFFFF"/>
                </a:solidFill>
              </a:defRPr>
            </a:lvl2pPr>
            <a:lvl3pPr lvl="2" rtl="0">
              <a:spcBef>
                <a:spcPts val="0"/>
              </a:spcBef>
              <a:spcAft>
                <a:spcPts val="0"/>
              </a:spcAft>
              <a:buClr>
                <a:srgbClr val="FFFFFF"/>
              </a:buClr>
              <a:buSzPts val="6500"/>
              <a:buNone/>
              <a:defRPr sz="6500">
                <a:solidFill>
                  <a:srgbClr val="FFFFFF"/>
                </a:solidFill>
              </a:defRPr>
            </a:lvl3pPr>
            <a:lvl4pPr lvl="3" rtl="0">
              <a:spcBef>
                <a:spcPts val="0"/>
              </a:spcBef>
              <a:spcAft>
                <a:spcPts val="0"/>
              </a:spcAft>
              <a:buClr>
                <a:srgbClr val="FFFFFF"/>
              </a:buClr>
              <a:buSzPts val="6500"/>
              <a:buNone/>
              <a:defRPr sz="6500">
                <a:solidFill>
                  <a:srgbClr val="FFFFFF"/>
                </a:solidFill>
              </a:defRPr>
            </a:lvl4pPr>
            <a:lvl5pPr lvl="4" rtl="0">
              <a:spcBef>
                <a:spcPts val="0"/>
              </a:spcBef>
              <a:spcAft>
                <a:spcPts val="0"/>
              </a:spcAft>
              <a:buClr>
                <a:srgbClr val="FFFFFF"/>
              </a:buClr>
              <a:buSzPts val="6500"/>
              <a:buNone/>
              <a:defRPr sz="6500">
                <a:solidFill>
                  <a:srgbClr val="FFFFFF"/>
                </a:solidFill>
              </a:defRPr>
            </a:lvl5pPr>
            <a:lvl6pPr lvl="5" rtl="0">
              <a:spcBef>
                <a:spcPts val="0"/>
              </a:spcBef>
              <a:spcAft>
                <a:spcPts val="0"/>
              </a:spcAft>
              <a:buClr>
                <a:srgbClr val="FFFFFF"/>
              </a:buClr>
              <a:buSzPts val="6500"/>
              <a:buNone/>
              <a:defRPr sz="6500">
                <a:solidFill>
                  <a:srgbClr val="FFFFFF"/>
                </a:solidFill>
              </a:defRPr>
            </a:lvl6pPr>
            <a:lvl7pPr lvl="6" rtl="0">
              <a:spcBef>
                <a:spcPts val="0"/>
              </a:spcBef>
              <a:spcAft>
                <a:spcPts val="0"/>
              </a:spcAft>
              <a:buClr>
                <a:srgbClr val="FFFFFF"/>
              </a:buClr>
              <a:buSzPts val="6500"/>
              <a:buNone/>
              <a:defRPr sz="6500">
                <a:solidFill>
                  <a:srgbClr val="FFFFFF"/>
                </a:solidFill>
              </a:defRPr>
            </a:lvl7pPr>
            <a:lvl8pPr lvl="7" rtl="0">
              <a:spcBef>
                <a:spcPts val="0"/>
              </a:spcBef>
              <a:spcAft>
                <a:spcPts val="0"/>
              </a:spcAft>
              <a:buClr>
                <a:srgbClr val="FFFFFF"/>
              </a:buClr>
              <a:buSzPts val="6500"/>
              <a:buNone/>
              <a:defRPr sz="6500">
                <a:solidFill>
                  <a:srgbClr val="FFFFFF"/>
                </a:solidFill>
              </a:defRPr>
            </a:lvl8pPr>
            <a:lvl9pPr lvl="8" rtl="0">
              <a:spcBef>
                <a:spcPts val="0"/>
              </a:spcBef>
              <a:spcAft>
                <a:spcPts val="0"/>
              </a:spcAft>
              <a:buClr>
                <a:srgbClr val="FFFFFF"/>
              </a:buClr>
              <a:buSzPts val="6500"/>
              <a:buNone/>
              <a:defRPr sz="6500">
                <a:solidFill>
                  <a:srgbClr val="FFFFFF"/>
                </a:solidFill>
              </a:defRPr>
            </a:lvl9pPr>
          </a:lstStyle>
          <a:p>
            <a:endParaRPr/>
          </a:p>
        </p:txBody>
      </p:sp>
      <p:sp>
        <p:nvSpPr>
          <p:cNvPr id="33" name="Google Shape;33;p4"/>
          <p:cNvSpPr txBox="1">
            <a:spLocks noGrp="1"/>
          </p:cNvSpPr>
          <p:nvPr>
            <p:ph type="title" idx="2" hasCustomPrompt="1"/>
          </p:nvPr>
        </p:nvSpPr>
        <p:spPr>
          <a:xfrm flipH="1">
            <a:off x="1147579" y="232385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4" name="Google Shape;34;p4"/>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CUSTOM_12">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37" name="Google Shape;37;p5"/>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Design">
  <p:cSld name="CUSTOM_15">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2">
  <p:cSld name="CUSTOM_21">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
        <p:nvSpPr>
          <p:cNvPr id="42" name="Google Shape;42;p7"/>
          <p:cNvSpPr txBox="1">
            <a:spLocks noGrp="1"/>
          </p:cNvSpPr>
          <p:nvPr>
            <p:ph type="title" idx="2" hasCustomPrompt="1"/>
          </p:nvPr>
        </p:nvSpPr>
        <p:spPr>
          <a:xfrm flipH="1">
            <a:off x="4964179" y="23238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7"/>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xt + photo">
  <p:cSld name="CUSTOM_2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8"/>
          <p:cNvSpPr txBox="1">
            <a:spLocks noGrp="1"/>
          </p:cNvSpPr>
          <p:nvPr>
            <p:ph type="ctrTitle"/>
          </p:nvPr>
        </p:nvSpPr>
        <p:spPr>
          <a:xfrm>
            <a:off x="1600733" y="985228"/>
            <a:ext cx="2673600" cy="205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lvl1pPr>
            <a:lvl2pPr lvl="1" algn="r" rtl="0">
              <a:spcBef>
                <a:spcPts val="0"/>
              </a:spcBef>
              <a:spcAft>
                <a:spcPts val="0"/>
              </a:spcAft>
              <a:buClr>
                <a:srgbClr val="000000"/>
              </a:buClr>
              <a:buSzPts val="2000"/>
              <a:buNone/>
              <a:defRPr sz="2000">
                <a:solidFill>
                  <a:srgbClr val="000000"/>
                </a:solidFill>
              </a:defRPr>
            </a:lvl2pPr>
            <a:lvl3pPr lvl="2" algn="r" rtl="0">
              <a:spcBef>
                <a:spcPts val="0"/>
              </a:spcBef>
              <a:spcAft>
                <a:spcPts val="0"/>
              </a:spcAft>
              <a:buClr>
                <a:srgbClr val="000000"/>
              </a:buClr>
              <a:buSzPts val="2000"/>
              <a:buNone/>
              <a:defRPr sz="2000">
                <a:solidFill>
                  <a:srgbClr val="000000"/>
                </a:solidFill>
              </a:defRPr>
            </a:lvl3pPr>
            <a:lvl4pPr lvl="3" algn="r" rtl="0">
              <a:spcBef>
                <a:spcPts val="0"/>
              </a:spcBef>
              <a:spcAft>
                <a:spcPts val="0"/>
              </a:spcAft>
              <a:buClr>
                <a:srgbClr val="000000"/>
              </a:buClr>
              <a:buSzPts val="2000"/>
              <a:buNone/>
              <a:defRPr sz="2000">
                <a:solidFill>
                  <a:srgbClr val="000000"/>
                </a:solidFill>
              </a:defRPr>
            </a:lvl4pPr>
            <a:lvl5pPr lvl="4" algn="r" rtl="0">
              <a:spcBef>
                <a:spcPts val="0"/>
              </a:spcBef>
              <a:spcAft>
                <a:spcPts val="0"/>
              </a:spcAft>
              <a:buClr>
                <a:srgbClr val="000000"/>
              </a:buClr>
              <a:buSzPts val="2000"/>
              <a:buNone/>
              <a:defRPr sz="2000">
                <a:solidFill>
                  <a:srgbClr val="000000"/>
                </a:solidFill>
              </a:defRPr>
            </a:lvl5pPr>
            <a:lvl6pPr lvl="5" algn="r" rtl="0">
              <a:spcBef>
                <a:spcPts val="0"/>
              </a:spcBef>
              <a:spcAft>
                <a:spcPts val="0"/>
              </a:spcAft>
              <a:buClr>
                <a:srgbClr val="000000"/>
              </a:buClr>
              <a:buSzPts val="2000"/>
              <a:buNone/>
              <a:defRPr sz="2000">
                <a:solidFill>
                  <a:srgbClr val="000000"/>
                </a:solidFill>
              </a:defRPr>
            </a:lvl6pPr>
            <a:lvl7pPr lvl="6" algn="r" rtl="0">
              <a:spcBef>
                <a:spcPts val="0"/>
              </a:spcBef>
              <a:spcAft>
                <a:spcPts val="0"/>
              </a:spcAft>
              <a:buClr>
                <a:srgbClr val="000000"/>
              </a:buClr>
              <a:buSzPts val="2000"/>
              <a:buNone/>
              <a:defRPr sz="2000">
                <a:solidFill>
                  <a:srgbClr val="000000"/>
                </a:solidFill>
              </a:defRPr>
            </a:lvl7pPr>
            <a:lvl8pPr lvl="7" algn="r" rtl="0">
              <a:spcBef>
                <a:spcPts val="0"/>
              </a:spcBef>
              <a:spcAft>
                <a:spcPts val="0"/>
              </a:spcAft>
              <a:buClr>
                <a:srgbClr val="000000"/>
              </a:buClr>
              <a:buSzPts val="2000"/>
              <a:buNone/>
              <a:defRPr sz="2000">
                <a:solidFill>
                  <a:srgbClr val="000000"/>
                </a:solidFill>
              </a:defRPr>
            </a:lvl8pPr>
            <a:lvl9pPr lvl="8" algn="r" rtl="0">
              <a:spcBef>
                <a:spcPts val="0"/>
              </a:spcBef>
              <a:spcAft>
                <a:spcPts val="0"/>
              </a:spcAft>
              <a:buClr>
                <a:srgbClr val="000000"/>
              </a:buClr>
              <a:buSzPts val="2000"/>
              <a:buNone/>
              <a:defRPr sz="2000">
                <a:solidFill>
                  <a:srgbClr val="000000"/>
                </a:solidFill>
              </a:defRPr>
            </a:lvl9pPr>
          </a:lstStyle>
          <a:p>
            <a:endParaRPr/>
          </a:p>
        </p:txBody>
      </p:sp>
      <p:sp>
        <p:nvSpPr>
          <p:cNvPr id="46" name="Google Shape;46;p8"/>
          <p:cNvSpPr txBox="1">
            <a:spLocks noGrp="1"/>
          </p:cNvSpPr>
          <p:nvPr>
            <p:ph type="subTitle" idx="1"/>
          </p:nvPr>
        </p:nvSpPr>
        <p:spPr>
          <a:xfrm>
            <a:off x="1179233" y="3058425"/>
            <a:ext cx="3095100" cy="178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100">
                <a:solidFill>
                  <a:srgbClr val="000000"/>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47" name="Google Shape;47;p8"/>
          <p:cNvSpPr txBox="1">
            <a:spLocks noGrp="1"/>
          </p:cNvSpPr>
          <p:nvPr>
            <p:ph type="ctrTitle" idx="2"/>
          </p:nvPr>
        </p:nvSpPr>
        <p:spPr>
          <a:xfrm>
            <a:off x="1932090"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p:cSld name="CUSTOM_26">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0" name="Google Shape;50;p9"/>
          <p:cNvSpPr txBox="1">
            <a:spLocks noGrp="1"/>
          </p:cNvSpPr>
          <p:nvPr>
            <p:ph type="title" idx="2" hasCustomPrompt="1"/>
          </p:nvPr>
        </p:nvSpPr>
        <p:spPr>
          <a:xfrm>
            <a:off x="1086651" y="14751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9"/>
          <p:cNvSpPr txBox="1">
            <a:spLocks noGrp="1"/>
          </p:cNvSpPr>
          <p:nvPr>
            <p:ph type="subTitle" idx="1"/>
          </p:nvPr>
        </p:nvSpPr>
        <p:spPr>
          <a:xfrm flipH="1">
            <a:off x="3481677" y="1666454"/>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52" name="Google Shape;52;p9"/>
          <p:cNvSpPr txBox="1">
            <a:spLocks noGrp="1"/>
          </p:cNvSpPr>
          <p:nvPr>
            <p:ph type="title" idx="3" hasCustomPrompt="1"/>
          </p:nvPr>
        </p:nvSpPr>
        <p:spPr>
          <a:xfrm>
            <a:off x="2298451" y="2475350"/>
            <a:ext cx="17637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3" name="Google Shape;53;p9"/>
          <p:cNvSpPr txBox="1">
            <a:spLocks noGrp="1"/>
          </p:cNvSpPr>
          <p:nvPr>
            <p:ph type="subTitle" idx="4"/>
          </p:nvPr>
        </p:nvSpPr>
        <p:spPr>
          <a:xfrm flipH="1">
            <a:off x="4568051" y="2688425"/>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54" name="Google Shape;54;p9"/>
          <p:cNvSpPr txBox="1">
            <a:spLocks noGrp="1"/>
          </p:cNvSpPr>
          <p:nvPr>
            <p:ph type="title" idx="5" hasCustomPrompt="1"/>
          </p:nvPr>
        </p:nvSpPr>
        <p:spPr>
          <a:xfrm>
            <a:off x="3353176" y="35136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9"/>
          <p:cNvSpPr txBox="1">
            <a:spLocks noGrp="1"/>
          </p:cNvSpPr>
          <p:nvPr>
            <p:ph type="subTitle" idx="6"/>
          </p:nvPr>
        </p:nvSpPr>
        <p:spPr>
          <a:xfrm flipH="1">
            <a:off x="5671490" y="3709941"/>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3">
  <p:cSld name="CUSTOM_22">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
        <p:nvSpPr>
          <p:cNvPr id="66" name="Google Shape;66;p11"/>
          <p:cNvSpPr txBox="1">
            <a:spLocks noGrp="1"/>
          </p:cNvSpPr>
          <p:nvPr>
            <p:ph type="title" idx="2" hasCustomPrompt="1"/>
          </p:nvPr>
        </p:nvSpPr>
        <p:spPr>
          <a:xfrm flipH="1">
            <a:off x="4970943" y="1035213"/>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7" name="Google Shape;67;p11"/>
          <p:cNvSpPr txBox="1">
            <a:spLocks noGrp="1"/>
          </p:cNvSpPr>
          <p:nvPr>
            <p:ph type="subTitle" idx="1"/>
          </p:nvPr>
        </p:nvSpPr>
        <p:spPr>
          <a:xfrm>
            <a:off x="372534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4">
  <p:cSld name="CUSTOM_27">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flipH="1">
            <a:off x="1180003" y="1347038"/>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rgbClr val="FFFFFF"/>
              </a:buClr>
              <a:buSzPts val="6500"/>
              <a:buNone/>
              <a:defRPr sz="6500">
                <a:solidFill>
                  <a:srgbClr val="FFFFFF"/>
                </a:solidFill>
              </a:defRPr>
            </a:lvl2pPr>
            <a:lvl3pPr lvl="2" rtl="0">
              <a:spcBef>
                <a:spcPts val="0"/>
              </a:spcBef>
              <a:spcAft>
                <a:spcPts val="0"/>
              </a:spcAft>
              <a:buClr>
                <a:srgbClr val="FFFFFF"/>
              </a:buClr>
              <a:buSzPts val="6500"/>
              <a:buNone/>
              <a:defRPr sz="6500">
                <a:solidFill>
                  <a:srgbClr val="FFFFFF"/>
                </a:solidFill>
              </a:defRPr>
            </a:lvl3pPr>
            <a:lvl4pPr lvl="3" rtl="0">
              <a:spcBef>
                <a:spcPts val="0"/>
              </a:spcBef>
              <a:spcAft>
                <a:spcPts val="0"/>
              </a:spcAft>
              <a:buClr>
                <a:srgbClr val="FFFFFF"/>
              </a:buClr>
              <a:buSzPts val="6500"/>
              <a:buNone/>
              <a:defRPr sz="6500">
                <a:solidFill>
                  <a:srgbClr val="FFFFFF"/>
                </a:solidFill>
              </a:defRPr>
            </a:lvl4pPr>
            <a:lvl5pPr lvl="4" rtl="0">
              <a:spcBef>
                <a:spcPts val="0"/>
              </a:spcBef>
              <a:spcAft>
                <a:spcPts val="0"/>
              </a:spcAft>
              <a:buClr>
                <a:srgbClr val="FFFFFF"/>
              </a:buClr>
              <a:buSzPts val="6500"/>
              <a:buNone/>
              <a:defRPr sz="6500">
                <a:solidFill>
                  <a:srgbClr val="FFFFFF"/>
                </a:solidFill>
              </a:defRPr>
            </a:lvl5pPr>
            <a:lvl6pPr lvl="5" rtl="0">
              <a:spcBef>
                <a:spcPts val="0"/>
              </a:spcBef>
              <a:spcAft>
                <a:spcPts val="0"/>
              </a:spcAft>
              <a:buClr>
                <a:srgbClr val="FFFFFF"/>
              </a:buClr>
              <a:buSzPts val="6500"/>
              <a:buNone/>
              <a:defRPr sz="6500">
                <a:solidFill>
                  <a:srgbClr val="FFFFFF"/>
                </a:solidFill>
              </a:defRPr>
            </a:lvl6pPr>
            <a:lvl7pPr lvl="6" rtl="0">
              <a:spcBef>
                <a:spcPts val="0"/>
              </a:spcBef>
              <a:spcAft>
                <a:spcPts val="0"/>
              </a:spcAft>
              <a:buClr>
                <a:srgbClr val="FFFFFF"/>
              </a:buClr>
              <a:buSzPts val="6500"/>
              <a:buNone/>
              <a:defRPr sz="6500">
                <a:solidFill>
                  <a:srgbClr val="FFFFFF"/>
                </a:solidFill>
              </a:defRPr>
            </a:lvl7pPr>
            <a:lvl8pPr lvl="7" rtl="0">
              <a:spcBef>
                <a:spcPts val="0"/>
              </a:spcBef>
              <a:spcAft>
                <a:spcPts val="0"/>
              </a:spcAft>
              <a:buClr>
                <a:srgbClr val="FFFFFF"/>
              </a:buClr>
              <a:buSzPts val="6500"/>
              <a:buNone/>
              <a:defRPr sz="6500">
                <a:solidFill>
                  <a:srgbClr val="FFFFFF"/>
                </a:solidFill>
              </a:defRPr>
            </a:lvl8pPr>
            <a:lvl9pPr lvl="8" rtl="0">
              <a:spcBef>
                <a:spcPts val="0"/>
              </a:spcBef>
              <a:spcAft>
                <a:spcPts val="0"/>
              </a:spcAft>
              <a:buClr>
                <a:srgbClr val="FFFFFF"/>
              </a:buClr>
              <a:buSzPts val="6500"/>
              <a:buNone/>
              <a:defRPr sz="6500">
                <a:solidFill>
                  <a:srgbClr val="FFFFFF"/>
                </a:solidFill>
              </a:defRPr>
            </a:lvl9pPr>
          </a:lstStyle>
          <a:p>
            <a:endParaRPr/>
          </a:p>
        </p:txBody>
      </p:sp>
      <p:sp>
        <p:nvSpPr>
          <p:cNvPr id="92" name="Google Shape;92;p15"/>
          <p:cNvSpPr txBox="1">
            <a:spLocks noGrp="1"/>
          </p:cNvSpPr>
          <p:nvPr>
            <p:ph type="title" idx="2" hasCustomPrompt="1"/>
          </p:nvPr>
        </p:nvSpPr>
        <p:spPr>
          <a:xfrm flipH="1">
            <a:off x="1180003" y="1035213"/>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5"/>
          <p:cNvSpPr txBox="1">
            <a:spLocks noGrp="1"/>
          </p:cNvSpPr>
          <p:nvPr>
            <p:ph type="subTitle" idx="1"/>
          </p:nvPr>
        </p:nvSpPr>
        <p:spPr>
          <a:xfrm>
            <a:off x="118000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5">
  <p:cSld name="CUSTOM_30">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8"/>
          <p:cNvSpPr txBox="1">
            <a:spLocks noGrp="1"/>
          </p:cNvSpPr>
          <p:nvPr>
            <p:ph type="ctrTitle"/>
          </p:nvPr>
        </p:nvSpPr>
        <p:spPr>
          <a:xfrm flipH="1">
            <a:off x="2260329" y="2193805"/>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rgbClr val="FFFFFF"/>
              </a:buClr>
              <a:buSzPts val="6500"/>
              <a:buNone/>
              <a:defRPr sz="6500">
                <a:solidFill>
                  <a:srgbClr val="FFFFFF"/>
                </a:solidFill>
              </a:defRPr>
            </a:lvl2pPr>
            <a:lvl3pPr lvl="2" rtl="0">
              <a:spcBef>
                <a:spcPts val="0"/>
              </a:spcBef>
              <a:spcAft>
                <a:spcPts val="0"/>
              </a:spcAft>
              <a:buClr>
                <a:srgbClr val="FFFFFF"/>
              </a:buClr>
              <a:buSzPts val="6500"/>
              <a:buNone/>
              <a:defRPr sz="6500">
                <a:solidFill>
                  <a:srgbClr val="FFFFFF"/>
                </a:solidFill>
              </a:defRPr>
            </a:lvl3pPr>
            <a:lvl4pPr lvl="3" rtl="0">
              <a:spcBef>
                <a:spcPts val="0"/>
              </a:spcBef>
              <a:spcAft>
                <a:spcPts val="0"/>
              </a:spcAft>
              <a:buClr>
                <a:srgbClr val="FFFFFF"/>
              </a:buClr>
              <a:buSzPts val="6500"/>
              <a:buNone/>
              <a:defRPr sz="6500">
                <a:solidFill>
                  <a:srgbClr val="FFFFFF"/>
                </a:solidFill>
              </a:defRPr>
            </a:lvl4pPr>
            <a:lvl5pPr lvl="4" rtl="0">
              <a:spcBef>
                <a:spcPts val="0"/>
              </a:spcBef>
              <a:spcAft>
                <a:spcPts val="0"/>
              </a:spcAft>
              <a:buClr>
                <a:srgbClr val="FFFFFF"/>
              </a:buClr>
              <a:buSzPts val="6500"/>
              <a:buNone/>
              <a:defRPr sz="6500">
                <a:solidFill>
                  <a:srgbClr val="FFFFFF"/>
                </a:solidFill>
              </a:defRPr>
            </a:lvl5pPr>
            <a:lvl6pPr lvl="5" rtl="0">
              <a:spcBef>
                <a:spcPts val="0"/>
              </a:spcBef>
              <a:spcAft>
                <a:spcPts val="0"/>
              </a:spcAft>
              <a:buClr>
                <a:srgbClr val="FFFFFF"/>
              </a:buClr>
              <a:buSzPts val="6500"/>
              <a:buNone/>
              <a:defRPr sz="6500">
                <a:solidFill>
                  <a:srgbClr val="FFFFFF"/>
                </a:solidFill>
              </a:defRPr>
            </a:lvl6pPr>
            <a:lvl7pPr lvl="6" rtl="0">
              <a:spcBef>
                <a:spcPts val="0"/>
              </a:spcBef>
              <a:spcAft>
                <a:spcPts val="0"/>
              </a:spcAft>
              <a:buClr>
                <a:srgbClr val="FFFFFF"/>
              </a:buClr>
              <a:buSzPts val="6500"/>
              <a:buNone/>
              <a:defRPr sz="6500">
                <a:solidFill>
                  <a:srgbClr val="FFFFFF"/>
                </a:solidFill>
              </a:defRPr>
            </a:lvl7pPr>
            <a:lvl8pPr lvl="7" rtl="0">
              <a:spcBef>
                <a:spcPts val="0"/>
              </a:spcBef>
              <a:spcAft>
                <a:spcPts val="0"/>
              </a:spcAft>
              <a:buClr>
                <a:srgbClr val="FFFFFF"/>
              </a:buClr>
              <a:buSzPts val="6500"/>
              <a:buNone/>
              <a:defRPr sz="6500">
                <a:solidFill>
                  <a:srgbClr val="FFFFFF"/>
                </a:solidFill>
              </a:defRPr>
            </a:lvl8pPr>
            <a:lvl9pPr lvl="8" rtl="0">
              <a:spcBef>
                <a:spcPts val="0"/>
              </a:spcBef>
              <a:spcAft>
                <a:spcPts val="0"/>
              </a:spcAft>
              <a:buClr>
                <a:srgbClr val="FFFFFF"/>
              </a:buClr>
              <a:buSzPts val="6500"/>
              <a:buNone/>
              <a:defRPr sz="6500">
                <a:solidFill>
                  <a:srgbClr val="FFFFFF"/>
                </a:solidFill>
              </a:defRPr>
            </a:lvl9pPr>
          </a:lstStyle>
          <a:p>
            <a:endParaRPr/>
          </a:p>
        </p:txBody>
      </p:sp>
      <p:sp>
        <p:nvSpPr>
          <p:cNvPr id="108" name="Google Shape;108;p18"/>
          <p:cNvSpPr txBox="1">
            <a:spLocks noGrp="1"/>
          </p:cNvSpPr>
          <p:nvPr>
            <p:ph type="title" idx="2" hasCustomPrompt="1"/>
          </p:nvPr>
        </p:nvSpPr>
        <p:spPr>
          <a:xfrm flipH="1">
            <a:off x="2260329" y="188198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09" name="Google Shape;109;p18"/>
          <p:cNvSpPr txBox="1">
            <a:spLocks noGrp="1"/>
          </p:cNvSpPr>
          <p:nvPr>
            <p:ph type="subTitle" idx="1"/>
          </p:nvPr>
        </p:nvSpPr>
        <p:spPr>
          <a:xfrm>
            <a:off x="2260329"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3">
  <p:cSld name="CUSTOM_15_1_1">
    <p:bg>
      <p:bgPr>
        <a:blipFill>
          <a:blip r:embed="rId2">
            <a:alphaModFix/>
          </a:blip>
          <a:stretch>
            <a:fillRect/>
          </a:stretch>
        </a:blipFill>
        <a:effectLst/>
      </p:bgPr>
    </p:bg>
    <p:spTree>
      <p:nvGrpSpPr>
        <p:cNvPr id="1" name="Shape 110"/>
        <p:cNvGrpSpPr/>
        <p:nvPr/>
      </p:nvGrpSpPr>
      <p:grpSpPr>
        <a:xfrm>
          <a:off x="0" y="0"/>
          <a:ext cx="0" cy="0"/>
          <a:chOff x="0" y="0"/>
          <a:chExt cx="0" cy="0"/>
        </a:xfrm>
      </p:grpSpPr>
      <p:sp>
        <p:nvSpPr>
          <p:cNvPr id="111" name="Google Shape;111;p1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6">
  <p:cSld name="CUSTOM_31">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21"/>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
        <p:nvSpPr>
          <p:cNvPr id="116" name="Google Shape;116;p21"/>
          <p:cNvSpPr txBox="1">
            <a:spLocks noGrp="1"/>
          </p:cNvSpPr>
          <p:nvPr>
            <p:ph type="title" idx="2" hasCustomPrompt="1"/>
          </p:nvPr>
        </p:nvSpPr>
        <p:spPr>
          <a:xfrm flipH="1">
            <a:off x="3914472" y="18666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21"/>
          <p:cNvSpPr txBox="1">
            <a:spLocks noGrp="1"/>
          </p:cNvSpPr>
          <p:nvPr>
            <p:ph type="subTitle" idx="1"/>
          </p:nvPr>
        </p:nvSpPr>
        <p:spPr>
          <a:xfrm>
            <a:off x="2668872"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p:cSld name="CUSTOM_32">
    <p:bg>
      <p:bgPr>
        <a:blipFill>
          <a:blip r:embed="rId2">
            <a:alphaModFix/>
          </a:blip>
          <a:stretch>
            <a:fillRect/>
          </a:stretch>
        </a:blipFill>
        <a:effectLst/>
      </p:bgPr>
    </p:bg>
    <p:spTree>
      <p:nvGrpSpPr>
        <p:cNvPr id="1" name="Shape 120"/>
        <p:cNvGrpSpPr/>
        <p:nvPr/>
      </p:nvGrpSpPr>
      <p:grpSpPr>
        <a:xfrm>
          <a:off x="0" y="0"/>
          <a:ext cx="0" cy="0"/>
          <a:chOff x="0" y="0"/>
          <a:chExt cx="0" cy="0"/>
        </a:xfrm>
      </p:grpSpPr>
      <p:sp>
        <p:nvSpPr>
          <p:cNvPr id="121" name="Google Shape;121;p23"/>
          <p:cNvSpPr txBox="1">
            <a:spLocks noGrp="1"/>
          </p:cNvSpPr>
          <p:nvPr>
            <p:ph type="ctrTitle"/>
          </p:nvPr>
        </p:nvSpPr>
        <p:spPr>
          <a:xfrm flipH="1">
            <a:off x="1974150" y="1161000"/>
            <a:ext cx="5195700" cy="1365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4800"/>
              <a:buNone/>
              <a:defRPr sz="4800"/>
            </a:lvl1pPr>
            <a:lvl2pPr lvl="1" algn="ctr" rtl="0">
              <a:spcBef>
                <a:spcPts val="0"/>
              </a:spcBef>
              <a:spcAft>
                <a:spcPts val="0"/>
              </a:spcAft>
              <a:buClr>
                <a:srgbClr val="FFFFFF"/>
              </a:buClr>
              <a:buSzPts val="4800"/>
              <a:buNone/>
              <a:defRPr sz="4800">
                <a:solidFill>
                  <a:srgbClr val="FFFFFF"/>
                </a:solidFill>
              </a:defRPr>
            </a:lvl2pPr>
            <a:lvl3pPr lvl="2" algn="ctr" rtl="0">
              <a:spcBef>
                <a:spcPts val="0"/>
              </a:spcBef>
              <a:spcAft>
                <a:spcPts val="0"/>
              </a:spcAft>
              <a:buClr>
                <a:srgbClr val="FFFFFF"/>
              </a:buClr>
              <a:buSzPts val="4800"/>
              <a:buNone/>
              <a:defRPr sz="4800">
                <a:solidFill>
                  <a:srgbClr val="FFFFFF"/>
                </a:solidFill>
              </a:defRPr>
            </a:lvl3pPr>
            <a:lvl4pPr lvl="3" algn="ctr" rtl="0">
              <a:spcBef>
                <a:spcPts val="0"/>
              </a:spcBef>
              <a:spcAft>
                <a:spcPts val="0"/>
              </a:spcAft>
              <a:buClr>
                <a:srgbClr val="FFFFFF"/>
              </a:buClr>
              <a:buSzPts val="4800"/>
              <a:buNone/>
              <a:defRPr sz="4800">
                <a:solidFill>
                  <a:srgbClr val="FFFFFF"/>
                </a:solidFill>
              </a:defRPr>
            </a:lvl4pPr>
            <a:lvl5pPr lvl="4" algn="ctr" rtl="0">
              <a:spcBef>
                <a:spcPts val="0"/>
              </a:spcBef>
              <a:spcAft>
                <a:spcPts val="0"/>
              </a:spcAft>
              <a:buClr>
                <a:srgbClr val="FFFFFF"/>
              </a:buClr>
              <a:buSzPts val="4800"/>
              <a:buNone/>
              <a:defRPr sz="4800">
                <a:solidFill>
                  <a:srgbClr val="FFFFFF"/>
                </a:solidFill>
              </a:defRPr>
            </a:lvl5pPr>
            <a:lvl6pPr lvl="5" algn="ctr" rtl="0">
              <a:spcBef>
                <a:spcPts val="0"/>
              </a:spcBef>
              <a:spcAft>
                <a:spcPts val="0"/>
              </a:spcAft>
              <a:buClr>
                <a:srgbClr val="FFFFFF"/>
              </a:buClr>
              <a:buSzPts val="4800"/>
              <a:buNone/>
              <a:defRPr sz="4800">
                <a:solidFill>
                  <a:srgbClr val="FFFFFF"/>
                </a:solidFill>
              </a:defRPr>
            </a:lvl6pPr>
            <a:lvl7pPr lvl="6" algn="ctr" rtl="0">
              <a:spcBef>
                <a:spcPts val="0"/>
              </a:spcBef>
              <a:spcAft>
                <a:spcPts val="0"/>
              </a:spcAft>
              <a:buClr>
                <a:srgbClr val="FFFFFF"/>
              </a:buClr>
              <a:buSzPts val="4800"/>
              <a:buNone/>
              <a:defRPr sz="4800">
                <a:solidFill>
                  <a:srgbClr val="FFFFFF"/>
                </a:solidFill>
              </a:defRPr>
            </a:lvl7pPr>
            <a:lvl8pPr lvl="7" algn="ctr" rtl="0">
              <a:spcBef>
                <a:spcPts val="0"/>
              </a:spcBef>
              <a:spcAft>
                <a:spcPts val="0"/>
              </a:spcAft>
              <a:buClr>
                <a:srgbClr val="FFFFFF"/>
              </a:buClr>
              <a:buSzPts val="4800"/>
              <a:buNone/>
              <a:defRPr sz="4800">
                <a:solidFill>
                  <a:srgbClr val="FFFFFF"/>
                </a:solidFill>
              </a:defRPr>
            </a:lvl8pPr>
            <a:lvl9pPr lvl="8" algn="ctr" rtl="0">
              <a:spcBef>
                <a:spcPts val="0"/>
              </a:spcBef>
              <a:spcAft>
                <a:spcPts val="0"/>
              </a:spcAft>
              <a:buClr>
                <a:srgbClr val="FFFFFF"/>
              </a:buClr>
              <a:buSzPts val="4800"/>
              <a:buNone/>
              <a:defRPr sz="4800">
                <a:solidFill>
                  <a:srgbClr val="FFFFFF"/>
                </a:solidFill>
              </a:defRPr>
            </a:lvl9pPr>
          </a:lstStyle>
          <a:p>
            <a:endParaRPr/>
          </a:p>
        </p:txBody>
      </p:sp>
      <p:sp>
        <p:nvSpPr>
          <p:cNvPr id="122" name="Google Shape;122;p23"/>
          <p:cNvSpPr txBox="1">
            <a:spLocks noGrp="1"/>
          </p:cNvSpPr>
          <p:nvPr>
            <p:ph type="subTitle" idx="1"/>
          </p:nvPr>
        </p:nvSpPr>
        <p:spPr>
          <a:xfrm>
            <a:off x="2152500" y="2494850"/>
            <a:ext cx="4839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23"/>
          <p:cNvSpPr txBox="1"/>
          <p:nvPr/>
        </p:nvSpPr>
        <p:spPr>
          <a:xfrm>
            <a:off x="625906" y="3722418"/>
            <a:ext cx="3830100" cy="178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000">
                <a:solidFill>
                  <a:schemeClr val="dk1"/>
                </a:solidFill>
                <a:latin typeface="Roboto Condensed Light"/>
                <a:ea typeface="Roboto Condensed Light"/>
                <a:cs typeface="Roboto Condensed Light"/>
                <a:sym typeface="Roboto Condensed Light"/>
              </a:rPr>
              <a:t>CREDITS: This presentation template was created by </a:t>
            </a:r>
            <a:r>
              <a:rPr lang="en" sz="1000" b="1">
                <a:solidFill>
                  <a:schemeClr val="dk1"/>
                </a:solidFill>
                <a:uFill>
                  <a:noFill/>
                </a:uFill>
                <a:latin typeface="Roboto Condensed"/>
                <a:ea typeface="Roboto Condensed"/>
                <a:cs typeface="Roboto Condensed"/>
                <a:sym typeface="Roboto Condensed"/>
                <a:hlinkClick r:id="rId3"/>
              </a:rPr>
              <a:t>Slidesgo</a:t>
            </a:r>
            <a:r>
              <a:rPr lang="en" sz="1000">
                <a:solidFill>
                  <a:schemeClr val="dk1"/>
                </a:solidFill>
                <a:latin typeface="Roboto Condensed Light"/>
                <a:ea typeface="Roboto Condensed Light"/>
                <a:cs typeface="Roboto Condensed Light"/>
                <a:sym typeface="Roboto Condensed Light"/>
              </a:rPr>
              <a:t>, including icons by </a:t>
            </a:r>
            <a:r>
              <a:rPr lang="en" sz="1000" b="1">
                <a:solidFill>
                  <a:schemeClr val="dk1"/>
                </a:solidFill>
                <a:uFill>
                  <a:noFill/>
                </a:uFill>
                <a:latin typeface="Roboto Condensed"/>
                <a:ea typeface="Roboto Condensed"/>
                <a:cs typeface="Roboto Condensed"/>
                <a:sym typeface="Roboto Condensed"/>
                <a:hlinkClick r:id="rId4"/>
              </a:rPr>
              <a:t>Flaticon</a:t>
            </a:r>
            <a:r>
              <a:rPr lang="en" sz="1000">
                <a:solidFill>
                  <a:schemeClr val="dk1"/>
                </a:solidFill>
                <a:latin typeface="Roboto Condensed Light"/>
                <a:ea typeface="Roboto Condensed Light"/>
                <a:cs typeface="Roboto Condensed Light"/>
                <a:sym typeface="Roboto Condensed Light"/>
              </a:rPr>
              <a:t>, and infographics &amp; images by </a:t>
            </a:r>
            <a:r>
              <a:rPr lang="en" sz="1000" b="1">
                <a:solidFill>
                  <a:schemeClr val="dk1"/>
                </a:solidFill>
                <a:uFill>
                  <a:noFill/>
                </a:uFill>
                <a:latin typeface="Roboto Condensed"/>
                <a:ea typeface="Roboto Condensed"/>
                <a:cs typeface="Roboto Condensed"/>
                <a:sym typeface="Roboto Condensed"/>
                <a:hlinkClick r:id="rId5"/>
              </a:rPr>
              <a:t>Freepik</a:t>
            </a:r>
            <a:r>
              <a:rPr lang="en" sz="1000">
                <a:solidFill>
                  <a:schemeClr val="dk1"/>
                </a:solidFill>
                <a:latin typeface="Roboto Condensed Light"/>
                <a:ea typeface="Roboto Condensed Light"/>
                <a:cs typeface="Roboto Condensed Light"/>
                <a:sym typeface="Roboto Condensed Light"/>
              </a:rPr>
              <a:t>. </a:t>
            </a:r>
            <a:endParaRPr sz="1000">
              <a:solidFill>
                <a:schemeClr val="dk1"/>
              </a:solidFill>
              <a:latin typeface="Roboto Condensed Light"/>
              <a:ea typeface="Roboto Condensed Light"/>
              <a:cs typeface="Roboto Condensed Light"/>
              <a:sym typeface="Roboto Condensed Light"/>
            </a:endParaRPr>
          </a:p>
          <a:p>
            <a:pPr marL="0" lvl="0" indent="0" algn="l" rtl="0">
              <a:lnSpc>
                <a:spcPct val="100000"/>
              </a:lnSpc>
              <a:spcBef>
                <a:spcPts val="300"/>
              </a:spcBef>
              <a:spcAft>
                <a:spcPts val="0"/>
              </a:spcAft>
              <a:buNone/>
            </a:pPr>
            <a:r>
              <a:rPr lang="en" sz="900" b="1">
                <a:solidFill>
                  <a:schemeClr val="dk1"/>
                </a:solidFill>
                <a:latin typeface="Roboto Condensed"/>
                <a:ea typeface="Roboto Condensed"/>
                <a:cs typeface="Roboto Condensed"/>
                <a:sym typeface="Roboto Condensed"/>
              </a:rPr>
              <a:t>Please keep this slide for attribution.</a:t>
            </a:r>
            <a:endParaRPr sz="900" b="1">
              <a:solidFill>
                <a:schemeClr val="dk1"/>
              </a:solidFill>
              <a:latin typeface="Roboto Condensed"/>
              <a:ea typeface="Roboto Condensed"/>
              <a:cs typeface="Roboto Condensed"/>
              <a:sym typeface="Roboto Condensed"/>
            </a:endParaRPr>
          </a:p>
          <a:p>
            <a:pPr marL="0" lvl="0" indent="0" algn="l" rtl="0">
              <a:lnSpc>
                <a:spcPct val="115000"/>
              </a:lnSpc>
              <a:spcBef>
                <a:spcPts val="300"/>
              </a:spcBef>
              <a:spcAft>
                <a:spcPts val="0"/>
              </a:spcAft>
              <a:buNone/>
            </a:pP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ext">
  <p:cSld name="CUSTOM_14">
    <p:bg>
      <p:bgPr>
        <a:blipFill>
          <a:blip r:embed="rId2">
            <a:alphaModFix/>
          </a:blip>
          <a:stretch>
            <a:fillRect/>
          </a:stretch>
        </a:blipFill>
        <a:effectLst/>
      </p:bgPr>
    </p:bg>
    <p:spTree>
      <p:nvGrpSpPr>
        <p:cNvPr id="1" name="Shape 124"/>
        <p:cNvGrpSpPr/>
        <p:nvPr/>
      </p:nvGrpSpPr>
      <p:grpSpPr>
        <a:xfrm>
          <a:off x="0" y="0"/>
          <a:ext cx="0" cy="0"/>
          <a:chOff x="0" y="0"/>
          <a:chExt cx="0" cy="0"/>
        </a:xfrm>
      </p:grpSpPr>
      <p:sp>
        <p:nvSpPr>
          <p:cNvPr id="125" name="Google Shape;125;p24"/>
          <p:cNvSpPr txBox="1">
            <a:spLocks noGrp="1"/>
          </p:cNvSpPr>
          <p:nvPr>
            <p:ph type="body" idx="1"/>
          </p:nvPr>
        </p:nvSpPr>
        <p:spPr>
          <a:xfrm>
            <a:off x="642050" y="21348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000000"/>
              </a:buClr>
              <a:buSzPts val="1200"/>
              <a:buChar char="●"/>
              <a:defRPr>
                <a:solidFill>
                  <a:srgbClr val="000000"/>
                </a:solidFill>
              </a:defRPr>
            </a:lvl1pPr>
            <a:lvl2pPr marL="914400" lvl="1" indent="-304800" rtl="0">
              <a:spcBef>
                <a:spcPts val="1600"/>
              </a:spcBef>
              <a:spcAft>
                <a:spcPts val="0"/>
              </a:spcAft>
              <a:buClr>
                <a:srgbClr val="000000"/>
              </a:buClr>
              <a:buSzPts val="1200"/>
              <a:buChar char="○"/>
              <a:defRPr>
                <a:solidFill>
                  <a:srgbClr val="000000"/>
                </a:solidFill>
              </a:defRPr>
            </a:lvl2pPr>
            <a:lvl3pPr marL="1371600" lvl="2" indent="-304800" rtl="0">
              <a:spcBef>
                <a:spcPts val="1600"/>
              </a:spcBef>
              <a:spcAft>
                <a:spcPts val="0"/>
              </a:spcAft>
              <a:buClr>
                <a:srgbClr val="000000"/>
              </a:buClr>
              <a:buSzPts val="1200"/>
              <a:buChar char="■"/>
              <a:defRPr>
                <a:solidFill>
                  <a:srgbClr val="000000"/>
                </a:solidFill>
              </a:defRPr>
            </a:lvl3pPr>
            <a:lvl4pPr marL="1828800" lvl="3" indent="-304800" rtl="0">
              <a:spcBef>
                <a:spcPts val="1600"/>
              </a:spcBef>
              <a:spcAft>
                <a:spcPts val="0"/>
              </a:spcAft>
              <a:buClr>
                <a:srgbClr val="000000"/>
              </a:buClr>
              <a:buSzPts val="1200"/>
              <a:buChar char="●"/>
              <a:defRPr>
                <a:solidFill>
                  <a:srgbClr val="000000"/>
                </a:solidFill>
              </a:defRPr>
            </a:lvl4pPr>
            <a:lvl5pPr marL="2286000" lvl="4" indent="-304800" rtl="0">
              <a:spcBef>
                <a:spcPts val="1600"/>
              </a:spcBef>
              <a:spcAft>
                <a:spcPts val="0"/>
              </a:spcAft>
              <a:buClr>
                <a:srgbClr val="000000"/>
              </a:buClr>
              <a:buSzPts val="1200"/>
              <a:buChar char="○"/>
              <a:defRPr>
                <a:solidFill>
                  <a:srgbClr val="000000"/>
                </a:solidFill>
              </a:defRPr>
            </a:lvl5pPr>
            <a:lvl6pPr marL="2743200" lvl="5" indent="-304800" rtl="0">
              <a:spcBef>
                <a:spcPts val="1600"/>
              </a:spcBef>
              <a:spcAft>
                <a:spcPts val="0"/>
              </a:spcAft>
              <a:buClr>
                <a:srgbClr val="000000"/>
              </a:buClr>
              <a:buSzPts val="1200"/>
              <a:buChar char="■"/>
              <a:defRPr>
                <a:solidFill>
                  <a:srgbClr val="000000"/>
                </a:solidFill>
              </a:defRPr>
            </a:lvl6pPr>
            <a:lvl7pPr marL="3200400" lvl="6" indent="-304800" rtl="0">
              <a:spcBef>
                <a:spcPts val="1600"/>
              </a:spcBef>
              <a:spcAft>
                <a:spcPts val="0"/>
              </a:spcAft>
              <a:buClr>
                <a:srgbClr val="000000"/>
              </a:buClr>
              <a:buSzPts val="1200"/>
              <a:buChar char="●"/>
              <a:defRPr>
                <a:solidFill>
                  <a:srgbClr val="000000"/>
                </a:solidFill>
              </a:defRPr>
            </a:lvl7pPr>
            <a:lvl8pPr marL="3657600" lvl="7" indent="-304800" rtl="0">
              <a:spcBef>
                <a:spcPts val="1600"/>
              </a:spcBef>
              <a:spcAft>
                <a:spcPts val="0"/>
              </a:spcAft>
              <a:buClr>
                <a:srgbClr val="000000"/>
              </a:buClr>
              <a:buSzPts val="1200"/>
              <a:buChar char="○"/>
              <a:defRPr>
                <a:solidFill>
                  <a:srgbClr val="000000"/>
                </a:solidFill>
              </a:defRPr>
            </a:lvl8pPr>
            <a:lvl9pPr marL="4114800" lvl="8" indent="-304800" rtl="0">
              <a:spcBef>
                <a:spcPts val="1600"/>
              </a:spcBef>
              <a:spcAft>
                <a:spcPts val="1600"/>
              </a:spcAft>
              <a:buClr>
                <a:srgbClr val="000000"/>
              </a:buClr>
              <a:buSzPts val="1200"/>
              <a:buChar char="■"/>
              <a:defRPr>
                <a:solidFill>
                  <a:srgbClr val="000000"/>
                </a:solidFill>
              </a:defRPr>
            </a:lvl9pPr>
          </a:lstStyle>
          <a:p>
            <a:endParaRPr/>
          </a:p>
        </p:txBody>
      </p:sp>
      <p:sp>
        <p:nvSpPr>
          <p:cNvPr id="126" name="Google Shape;126;p2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slide">
  <p:cSld name="CUSTOM_33">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a:buNone/>
              <a:defRPr sz="2800" b="1">
                <a:solidFill>
                  <a:schemeClr val="dk1"/>
                </a:solidFill>
                <a:latin typeface="Exo 2"/>
                <a:ea typeface="Exo 2"/>
                <a:cs typeface="Exo 2"/>
                <a:sym typeface="Exo 2"/>
              </a:defRPr>
            </a:lvl1pPr>
            <a:lvl2pPr lvl="1"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2pPr>
            <a:lvl3pPr lvl="2"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3pPr>
            <a:lvl4pPr lvl="3"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4pPr>
            <a:lvl5pPr lvl="4"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5pPr>
            <a:lvl6pPr lvl="5"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6pPr>
            <a:lvl7pPr lvl="6"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7pPr>
            <a:lvl8pPr lvl="7"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8pPr>
            <a:lvl9pPr lvl="8"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1pPr>
            <a:lvl2pPr marL="914400" lvl="1"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2pPr>
            <a:lvl3pPr marL="1371600" lvl="2"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3pPr>
            <a:lvl4pPr marL="1828800" lvl="3"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4pPr>
            <a:lvl5pPr marL="2286000" lvl="4"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5pPr>
            <a:lvl6pPr marL="2743200" lvl="5"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6pPr>
            <a:lvl7pPr marL="3200400" lvl="6"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7pPr>
            <a:lvl8pPr marL="3657600" lvl="7"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8pPr>
            <a:lvl9pPr marL="4114800" lvl="8" indent="-304800" rtl="0">
              <a:lnSpc>
                <a:spcPct val="115000"/>
              </a:lnSpc>
              <a:spcBef>
                <a:spcPts val="1600"/>
              </a:spcBef>
              <a:spcAft>
                <a:spcPts val="160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61" r:id="rId10"/>
    <p:sldLayoutId id="2147483664" r:id="rId11"/>
    <p:sldLayoutId id="2147483665" r:id="rId12"/>
    <p:sldLayoutId id="2147483667" r:id="rId13"/>
    <p:sldLayoutId id="2147483669" r:id="rId14"/>
    <p:sldLayoutId id="2147483670" r:id="rId15"/>
    <p:sldLayoutId id="2147483671"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8"/>
          <p:cNvSpPr txBox="1">
            <a:spLocks noGrp="1"/>
          </p:cNvSpPr>
          <p:nvPr>
            <p:ph type="subTitle" idx="1"/>
          </p:nvPr>
        </p:nvSpPr>
        <p:spPr>
          <a:xfrm>
            <a:off x="3650945" y="3334805"/>
            <a:ext cx="5137820" cy="717000"/>
          </a:xfrm>
          <a:prstGeom prst="rect">
            <a:avLst/>
          </a:prstGeom>
        </p:spPr>
        <p:txBody>
          <a:bodyPr spcFirstLastPara="1" wrap="square" lIns="91425" tIns="91425" rIns="91425" bIns="91425" anchor="b" anchorCtr="0">
            <a:noAutofit/>
          </a:bodyPr>
          <a:lstStyle/>
          <a:p>
            <a:pPr marL="0" lvl="0" indent="0"/>
            <a:r>
              <a:rPr lang="en-US" altLang="zh-TW" dirty="0"/>
              <a:t>IEEE TRANSACTIONS ON VEHICULAR TECHNOLOGY, VOL. 68, NO. 6, JUNE 2019</a:t>
            </a:r>
          </a:p>
          <a:p>
            <a:r>
              <a:rPr lang="en-US" altLang="zh-TW" dirty="0" err="1">
                <a:solidFill>
                  <a:srgbClr val="336699"/>
                </a:solidFill>
              </a:rPr>
              <a:t>Jian</a:t>
            </a:r>
            <a:r>
              <a:rPr lang="en-US" altLang="zh-TW" dirty="0">
                <a:solidFill>
                  <a:srgbClr val="336699"/>
                </a:solidFill>
              </a:rPr>
              <a:t> Li , </a:t>
            </a:r>
            <a:r>
              <a:rPr lang="en-US" altLang="zh-TW" dirty="0" err="1">
                <a:solidFill>
                  <a:srgbClr val="336699"/>
                </a:solidFill>
              </a:rPr>
              <a:t>Hancheng</a:t>
            </a:r>
            <a:r>
              <a:rPr lang="en-US" altLang="zh-TW" dirty="0">
                <a:solidFill>
                  <a:srgbClr val="336699"/>
                </a:solidFill>
              </a:rPr>
              <a:t> Lu </a:t>
            </a:r>
            <a:r>
              <a:rPr lang="en-US" altLang="zh-TW" i="1" dirty="0">
                <a:solidFill>
                  <a:srgbClr val="336699"/>
                </a:solidFill>
              </a:rPr>
              <a:t>, Member, IEEE</a:t>
            </a:r>
            <a:r>
              <a:rPr lang="en-US" altLang="zh-TW" dirty="0">
                <a:solidFill>
                  <a:srgbClr val="336699"/>
                </a:solidFill>
              </a:rPr>
              <a:t>, </a:t>
            </a:r>
            <a:r>
              <a:rPr lang="en-US" altLang="zh-TW" dirty="0" err="1">
                <a:solidFill>
                  <a:srgbClr val="336699"/>
                </a:solidFill>
              </a:rPr>
              <a:t>Kaiping</a:t>
            </a:r>
            <a:r>
              <a:rPr lang="en-US" altLang="zh-TW" dirty="0">
                <a:solidFill>
                  <a:srgbClr val="336699"/>
                </a:solidFill>
              </a:rPr>
              <a:t> </a:t>
            </a:r>
            <a:r>
              <a:rPr lang="en-US" altLang="zh-TW" dirty="0" err="1">
                <a:solidFill>
                  <a:srgbClr val="336699"/>
                </a:solidFill>
              </a:rPr>
              <a:t>Xue</a:t>
            </a:r>
            <a:r>
              <a:rPr lang="en-US" altLang="zh-TW" dirty="0">
                <a:solidFill>
                  <a:srgbClr val="336699"/>
                </a:solidFill>
              </a:rPr>
              <a:t> </a:t>
            </a:r>
            <a:r>
              <a:rPr lang="en-US" altLang="zh-TW" i="1" dirty="0">
                <a:solidFill>
                  <a:srgbClr val="336699"/>
                </a:solidFill>
              </a:rPr>
              <a:t>, Senior Member, IEEE</a:t>
            </a:r>
            <a:r>
              <a:rPr lang="en-US" altLang="zh-TW" dirty="0">
                <a:solidFill>
                  <a:srgbClr val="336699"/>
                </a:solidFill>
              </a:rPr>
              <a:t>,</a:t>
            </a:r>
          </a:p>
          <a:p>
            <a:r>
              <a:rPr lang="en-US" altLang="zh-TW" dirty="0">
                <a:solidFill>
                  <a:srgbClr val="336699"/>
                </a:solidFill>
              </a:rPr>
              <a:t>and </a:t>
            </a:r>
            <a:r>
              <a:rPr lang="en-US" altLang="zh-TW" dirty="0" err="1">
                <a:solidFill>
                  <a:srgbClr val="336699"/>
                </a:solidFill>
              </a:rPr>
              <a:t>Yongdong</a:t>
            </a:r>
            <a:r>
              <a:rPr lang="en-US" altLang="zh-TW" dirty="0">
                <a:solidFill>
                  <a:srgbClr val="336699"/>
                </a:solidFill>
              </a:rPr>
              <a:t> Zhang </a:t>
            </a:r>
            <a:r>
              <a:rPr lang="en-US" altLang="zh-TW" i="1" dirty="0">
                <a:solidFill>
                  <a:srgbClr val="336699"/>
                </a:solidFill>
              </a:rPr>
              <a:t>, Senior Member, IEEE</a:t>
            </a:r>
            <a:endParaRPr lang="en-US" altLang="zh-TW" dirty="0">
              <a:solidFill>
                <a:srgbClr val="336699"/>
              </a:solidFill>
            </a:endParaRPr>
          </a:p>
          <a:p>
            <a:pPr marL="0" lvl="0" indent="0"/>
            <a:endParaRPr dirty="0">
              <a:solidFill>
                <a:srgbClr val="336699"/>
              </a:solidFill>
            </a:endParaRPr>
          </a:p>
        </p:txBody>
      </p:sp>
      <p:sp>
        <p:nvSpPr>
          <p:cNvPr id="137" name="Google Shape;137;p28"/>
          <p:cNvSpPr txBox="1">
            <a:spLocks noGrp="1"/>
          </p:cNvSpPr>
          <p:nvPr>
            <p:ph type="ctrTitle"/>
          </p:nvPr>
        </p:nvSpPr>
        <p:spPr>
          <a:xfrm>
            <a:off x="0" y="670999"/>
            <a:ext cx="8696667" cy="2505000"/>
          </a:xfrm>
          <a:prstGeom prst="rect">
            <a:avLst/>
          </a:prstGeom>
        </p:spPr>
        <p:txBody>
          <a:bodyPr spcFirstLastPara="1" wrap="square" lIns="91425" tIns="91425" rIns="91425" bIns="91425" anchor="b" anchorCtr="0">
            <a:noAutofit/>
          </a:bodyPr>
          <a:lstStyle/>
          <a:p>
            <a:r>
              <a:rPr lang="en-US" altLang="zh-TW" sz="3600" dirty="0"/>
              <a:t>Temporal </a:t>
            </a:r>
            <a:r>
              <a:rPr lang="en-US" altLang="zh-TW" sz="3600" dirty="0" err="1"/>
              <a:t>Netgrid</a:t>
            </a:r>
            <a:r>
              <a:rPr lang="en-US" altLang="zh-TW" sz="3600" dirty="0"/>
              <a:t> Model-Based Dynamic Routing in</a:t>
            </a:r>
            <a:r>
              <a:rPr lang="zh-TW" altLang="en-US" sz="3600" dirty="0"/>
              <a:t> </a:t>
            </a:r>
            <a:r>
              <a:rPr lang="en-US" altLang="zh-TW" sz="3600" dirty="0"/>
              <a:t>Large-Scale </a:t>
            </a:r>
            <a:br>
              <a:rPr lang="en-US" altLang="zh-TW" sz="3600" dirty="0"/>
            </a:br>
            <a:r>
              <a:rPr lang="en-US" altLang="zh-TW" sz="3600" dirty="0"/>
              <a:t>Small Satellite Networks</a:t>
            </a:r>
            <a:endParaRPr sz="3600" dirty="0">
              <a:solidFill>
                <a:srgbClr val="434343"/>
              </a:solidFill>
            </a:endParaRPr>
          </a:p>
        </p:txBody>
      </p:sp>
      <p:cxnSp>
        <p:nvCxnSpPr>
          <p:cNvPr id="138" name="Google Shape;138;p28"/>
          <p:cNvCxnSpPr/>
          <p:nvPr/>
        </p:nvCxnSpPr>
        <p:spPr>
          <a:xfrm>
            <a:off x="7145675" y="3176000"/>
            <a:ext cx="2086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0"/>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151" name="Google Shape;151;p30"/>
          <p:cNvSpPr txBox="1">
            <a:spLocks noGrp="1"/>
          </p:cNvSpPr>
          <p:nvPr>
            <p:ph type="ctrTitle" idx="2"/>
          </p:nvPr>
        </p:nvSpPr>
        <p:spPr>
          <a:xfrm>
            <a:off x="462659" y="475131"/>
            <a:ext cx="1974300" cy="577800"/>
          </a:xfrm>
          <a:prstGeom prst="rect">
            <a:avLst/>
          </a:prstGeom>
        </p:spPr>
        <p:txBody>
          <a:bodyPr spcFirstLastPara="1" wrap="square" lIns="91425" tIns="91425" rIns="91425" bIns="91425" anchor="b" anchorCtr="0">
            <a:noAutofit/>
          </a:bodyPr>
          <a:lstStyle/>
          <a:p>
            <a:pPr lvl="0"/>
            <a:r>
              <a:rPr lang="en-US" dirty="0"/>
              <a:t>INTRODUCTION</a:t>
            </a:r>
            <a:endParaRPr dirty="0"/>
          </a:p>
        </p:txBody>
      </p:sp>
      <p:sp>
        <p:nvSpPr>
          <p:cNvPr id="153" name="Google Shape;153;p30"/>
          <p:cNvSpPr txBox="1">
            <a:spLocks noGrp="1"/>
          </p:cNvSpPr>
          <p:nvPr>
            <p:ph type="ctrTitle" idx="9"/>
          </p:nvPr>
        </p:nvSpPr>
        <p:spPr>
          <a:xfrm>
            <a:off x="462659" y="1433038"/>
            <a:ext cx="1974300" cy="577800"/>
          </a:xfrm>
          <a:prstGeom prst="rect">
            <a:avLst/>
          </a:prstGeom>
        </p:spPr>
        <p:txBody>
          <a:bodyPr spcFirstLastPara="1" wrap="square" lIns="91425" tIns="91425" rIns="91425" bIns="91425" anchor="b" anchorCtr="0">
            <a:noAutofit/>
          </a:bodyPr>
          <a:lstStyle/>
          <a:p>
            <a:pPr lvl="0"/>
            <a:r>
              <a:rPr lang="en-US" dirty="0"/>
              <a:t>RELATED WORK</a:t>
            </a:r>
            <a:endParaRPr dirty="0"/>
          </a:p>
        </p:txBody>
      </p:sp>
      <p:sp>
        <p:nvSpPr>
          <p:cNvPr id="155" name="Google Shape;155;p30"/>
          <p:cNvSpPr txBox="1">
            <a:spLocks noGrp="1"/>
          </p:cNvSpPr>
          <p:nvPr>
            <p:ph type="title" idx="3"/>
          </p:nvPr>
        </p:nvSpPr>
        <p:spPr>
          <a:xfrm>
            <a:off x="2118448" y="54444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56" name="Google Shape;156;p30"/>
          <p:cNvSpPr txBox="1">
            <a:spLocks noGrp="1"/>
          </p:cNvSpPr>
          <p:nvPr>
            <p:ph type="title" idx="5"/>
          </p:nvPr>
        </p:nvSpPr>
        <p:spPr>
          <a:xfrm>
            <a:off x="2105406" y="248716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57" name="Google Shape;157;p30"/>
          <p:cNvSpPr txBox="1">
            <a:spLocks noGrp="1"/>
          </p:cNvSpPr>
          <p:nvPr>
            <p:ph type="title" idx="4"/>
          </p:nvPr>
        </p:nvSpPr>
        <p:spPr>
          <a:xfrm>
            <a:off x="2105406" y="151580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cxnSp>
        <p:nvCxnSpPr>
          <p:cNvPr id="158" name="Google Shape;158;p30"/>
          <p:cNvCxnSpPr/>
          <p:nvPr/>
        </p:nvCxnSpPr>
        <p:spPr>
          <a:xfrm>
            <a:off x="3297225" y="0"/>
            <a:ext cx="0" cy="2393700"/>
          </a:xfrm>
          <a:prstGeom prst="straightConnector1">
            <a:avLst/>
          </a:prstGeom>
          <a:noFill/>
          <a:ln w="9525" cap="flat" cmpd="sng">
            <a:solidFill>
              <a:schemeClr val="dk2"/>
            </a:solidFill>
            <a:prstDash val="solid"/>
            <a:round/>
            <a:headEnd type="none" w="med" len="med"/>
            <a:tailEnd type="none" w="med" len="med"/>
          </a:ln>
        </p:spPr>
      </p:cxnSp>
      <p:cxnSp>
        <p:nvCxnSpPr>
          <p:cNvPr id="159" name="Google Shape;159;p30"/>
          <p:cNvCxnSpPr/>
          <p:nvPr/>
        </p:nvCxnSpPr>
        <p:spPr>
          <a:xfrm>
            <a:off x="5861950" y="3131400"/>
            <a:ext cx="0" cy="2030100"/>
          </a:xfrm>
          <a:prstGeom prst="straightConnector1">
            <a:avLst/>
          </a:prstGeom>
          <a:noFill/>
          <a:ln w="9525" cap="flat" cmpd="sng">
            <a:solidFill>
              <a:schemeClr val="dk2"/>
            </a:solidFill>
            <a:prstDash val="solid"/>
            <a:round/>
            <a:headEnd type="none" w="med" len="med"/>
            <a:tailEnd type="none" w="med" len="med"/>
          </a:ln>
        </p:spPr>
      </p:cxnSp>
      <p:sp>
        <p:nvSpPr>
          <p:cNvPr id="160" name="Google Shape;160;p30"/>
          <p:cNvSpPr txBox="1">
            <a:spLocks noGrp="1"/>
          </p:cNvSpPr>
          <p:nvPr>
            <p:ph type="title" idx="6"/>
          </p:nvPr>
        </p:nvSpPr>
        <p:spPr>
          <a:xfrm>
            <a:off x="5922008" y="2092638"/>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61" name="Google Shape;161;p30"/>
          <p:cNvSpPr txBox="1">
            <a:spLocks noGrp="1"/>
          </p:cNvSpPr>
          <p:nvPr>
            <p:ph type="title" idx="7"/>
          </p:nvPr>
        </p:nvSpPr>
        <p:spPr>
          <a:xfrm>
            <a:off x="5922008" y="3112336"/>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162" name="Google Shape;162;p30"/>
          <p:cNvSpPr txBox="1">
            <a:spLocks noGrp="1"/>
          </p:cNvSpPr>
          <p:nvPr>
            <p:ph type="title" idx="8"/>
          </p:nvPr>
        </p:nvSpPr>
        <p:spPr>
          <a:xfrm>
            <a:off x="5922008" y="4132033"/>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sp>
        <p:nvSpPr>
          <p:cNvPr id="163" name="Google Shape;163;p30"/>
          <p:cNvSpPr txBox="1">
            <a:spLocks noGrp="1"/>
          </p:cNvSpPr>
          <p:nvPr>
            <p:ph type="ctrTitle" idx="14"/>
          </p:nvPr>
        </p:nvSpPr>
        <p:spPr>
          <a:xfrm>
            <a:off x="401556" y="2436212"/>
            <a:ext cx="1974300" cy="577800"/>
          </a:xfrm>
          <a:prstGeom prst="rect">
            <a:avLst/>
          </a:prstGeom>
        </p:spPr>
        <p:txBody>
          <a:bodyPr spcFirstLastPara="1" wrap="square" lIns="91425" tIns="91425" rIns="91425" bIns="91425" anchor="b" anchorCtr="0">
            <a:noAutofit/>
          </a:bodyPr>
          <a:lstStyle/>
          <a:p>
            <a:pPr lvl="0"/>
            <a:r>
              <a:rPr lang="en-US" dirty="0"/>
              <a:t>TEMPORAL NETGRID MODEL</a:t>
            </a:r>
            <a:endParaRPr dirty="0"/>
          </a:p>
        </p:txBody>
      </p:sp>
      <p:sp>
        <p:nvSpPr>
          <p:cNvPr id="165" name="Google Shape;165;p30"/>
          <p:cNvSpPr txBox="1">
            <a:spLocks noGrp="1"/>
          </p:cNvSpPr>
          <p:nvPr>
            <p:ph type="ctrTitle" idx="16"/>
          </p:nvPr>
        </p:nvSpPr>
        <p:spPr>
          <a:xfrm>
            <a:off x="6811558" y="2259922"/>
            <a:ext cx="1974300" cy="577800"/>
          </a:xfrm>
          <a:prstGeom prst="rect">
            <a:avLst/>
          </a:prstGeom>
        </p:spPr>
        <p:txBody>
          <a:bodyPr spcFirstLastPara="1" wrap="square" lIns="91425" tIns="91425" rIns="91425" bIns="91425" anchor="b" anchorCtr="0">
            <a:noAutofit/>
          </a:bodyPr>
          <a:lstStyle/>
          <a:p>
            <a:pPr lvl="0"/>
            <a:r>
              <a:rPr lang="en-US" dirty="0"/>
              <a:t>MULTI-LAYER NETGRID PARTITION METHOD IN</a:t>
            </a:r>
            <a:br>
              <a:rPr lang="en-US" dirty="0"/>
            </a:br>
            <a:r>
              <a:rPr lang="en-US" dirty="0"/>
              <a:t>LARGE-SCALE SSNS</a:t>
            </a:r>
            <a:endParaRPr dirty="0"/>
          </a:p>
        </p:txBody>
      </p:sp>
      <p:sp>
        <p:nvSpPr>
          <p:cNvPr id="167" name="Google Shape;167;p30"/>
          <p:cNvSpPr txBox="1">
            <a:spLocks noGrp="1"/>
          </p:cNvSpPr>
          <p:nvPr>
            <p:ph type="ctrTitle" idx="18"/>
          </p:nvPr>
        </p:nvSpPr>
        <p:spPr>
          <a:xfrm>
            <a:off x="6811558" y="3198263"/>
            <a:ext cx="1974300" cy="577800"/>
          </a:xfrm>
          <a:prstGeom prst="rect">
            <a:avLst/>
          </a:prstGeom>
        </p:spPr>
        <p:txBody>
          <a:bodyPr spcFirstLastPara="1" wrap="square" lIns="91425" tIns="91425" rIns="91425" bIns="91425" anchor="b" anchorCtr="0">
            <a:noAutofit/>
          </a:bodyPr>
          <a:lstStyle/>
          <a:p>
            <a:pPr lvl="0"/>
            <a:r>
              <a:rPr lang="en-US" dirty="0"/>
              <a:t>SIMULATION RESULTS</a:t>
            </a:r>
            <a:endParaRPr dirty="0"/>
          </a:p>
        </p:txBody>
      </p:sp>
      <p:sp>
        <p:nvSpPr>
          <p:cNvPr id="169" name="Google Shape;169;p30"/>
          <p:cNvSpPr txBox="1">
            <a:spLocks noGrp="1"/>
          </p:cNvSpPr>
          <p:nvPr>
            <p:ph type="ctrTitle" idx="20"/>
          </p:nvPr>
        </p:nvSpPr>
        <p:spPr>
          <a:xfrm>
            <a:off x="6811558" y="4046106"/>
            <a:ext cx="1974300" cy="577800"/>
          </a:xfrm>
          <a:prstGeom prst="rect">
            <a:avLst/>
          </a:prstGeom>
        </p:spPr>
        <p:txBody>
          <a:bodyPr spcFirstLastPara="1" wrap="square" lIns="91425" tIns="91425" rIns="91425" bIns="91425" anchor="b" anchorCtr="0">
            <a:noAutofit/>
          </a:bodyPr>
          <a:lstStyle/>
          <a:p>
            <a:pPr lvl="0"/>
            <a:r>
              <a:rPr lang="en-US" dirty="0"/>
              <a:t>CONCLUSION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p>
            <a:pPr lvl="0"/>
            <a:r>
              <a:rPr lang="en-US" altLang="zh-TW" dirty="0"/>
              <a:t>INTRODUCTION</a:t>
            </a:r>
            <a:endParaRPr dirty="0"/>
          </a:p>
        </p:txBody>
      </p:sp>
      <p:sp>
        <p:nvSpPr>
          <p:cNvPr id="176" name="Google Shape;176;p31"/>
          <p:cNvSpPr txBox="1">
            <a:spLocks noGrp="1"/>
          </p:cNvSpPr>
          <p:nvPr>
            <p:ph type="title" idx="2"/>
          </p:nvPr>
        </p:nvSpPr>
        <p:spPr>
          <a:xfrm flipH="1">
            <a:off x="1147579" y="232385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cxnSp>
        <p:nvCxnSpPr>
          <p:cNvPr id="177" name="Google Shape;177;p31"/>
          <p:cNvCxnSpPr/>
          <p:nvPr/>
        </p:nvCxnSpPr>
        <p:spPr>
          <a:xfrm>
            <a:off x="0" y="4028275"/>
            <a:ext cx="1561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716188" y="1307727"/>
            <a:ext cx="6020031" cy="3053764"/>
          </a:xfrm>
          <a:prstGeom prst="rect">
            <a:avLst/>
          </a:prstGeom>
        </p:spPr>
        <p:txBody>
          <a:bodyPr spcFirstLastPara="1" wrap="square" lIns="91425" tIns="91425" rIns="91425" bIns="91425" anchor="t" anchorCtr="0">
            <a:noAutofit/>
          </a:bodyPr>
          <a:lstStyle/>
          <a:p>
            <a:pPr marL="0" lvl="0" indent="0" algn="just"/>
            <a:r>
              <a:rPr lang="en-US" altLang="zh-TW" sz="1600" dirty="0"/>
              <a:t>	In Recent years, the research on Low Earth Orbit (LEO) Small Satellite Networks (SSNs) is attracting increasing attention due to rapid growth of ubiquitous and seamless communication requirements.</a:t>
            </a:r>
          </a:p>
          <a:p>
            <a:pPr marL="0" lvl="0" indent="0" algn="just"/>
            <a:endParaRPr lang="en-US" sz="1600" dirty="0"/>
          </a:p>
          <a:p>
            <a:pPr marL="0" lvl="0" indent="0" algn="just"/>
            <a:r>
              <a:rPr lang="en-US" altLang="zh-TW" sz="1600" dirty="0"/>
              <a:t>	Many companies such as </a:t>
            </a:r>
            <a:r>
              <a:rPr lang="en-US" altLang="zh-TW" sz="1600" dirty="0" err="1"/>
              <a:t>OneWeb</a:t>
            </a:r>
            <a:r>
              <a:rPr lang="en-US" altLang="zh-TW" sz="1600" dirty="0"/>
              <a:t>/Airbus, </a:t>
            </a:r>
            <a:r>
              <a:rPr lang="en-US" altLang="zh-TW" sz="1600" dirty="0" err="1"/>
              <a:t>SpaceX</a:t>
            </a:r>
            <a:r>
              <a:rPr lang="en-US" altLang="zh-TW" sz="1600" dirty="0"/>
              <a:t>/Google and Samsung, are planning to develop large-scale SSNs in order to establish a massive global broadband </a:t>
            </a:r>
            <a:r>
              <a:rPr lang="en-US" altLang="zh-TW" sz="1600" dirty="0">
                <a:solidFill>
                  <a:srgbClr val="336699"/>
                </a:solidFill>
              </a:rPr>
              <a:t>constellation</a:t>
            </a:r>
            <a:r>
              <a:rPr lang="en-US" altLang="zh-TW" sz="1600" dirty="0"/>
              <a:t> that will provide worldwide Internet access.</a:t>
            </a:r>
            <a:endParaRPr sz="1600" dirty="0"/>
          </a:p>
        </p:txBody>
      </p:sp>
      <p:cxnSp>
        <p:nvCxnSpPr>
          <p:cNvPr id="185" name="Google Shape;185;p32"/>
          <p:cNvCxnSpPr/>
          <p:nvPr/>
        </p:nvCxnSpPr>
        <p:spPr>
          <a:xfrm>
            <a:off x="4569600" y="9024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409075" y="655655"/>
            <a:ext cx="6725175" cy="3053764"/>
          </a:xfrm>
          <a:prstGeom prst="rect">
            <a:avLst/>
          </a:prstGeom>
        </p:spPr>
        <p:txBody>
          <a:bodyPr spcFirstLastPara="1" wrap="square" lIns="91425" tIns="91425" rIns="91425" bIns="91425" anchor="t" anchorCtr="0">
            <a:noAutofit/>
          </a:bodyPr>
          <a:lstStyle/>
          <a:p>
            <a:pPr marL="0" lvl="0" indent="0" algn="l"/>
            <a:r>
              <a:rPr lang="en-US" sz="1600" b="1" dirty="0"/>
              <a:t>Schedule routing scheme</a:t>
            </a:r>
            <a:r>
              <a:rPr lang="en-US" sz="1600" dirty="0"/>
              <a:t>:</a:t>
            </a:r>
          </a:p>
          <a:p>
            <a:pPr marL="0" lvl="0" indent="0" algn="just"/>
            <a:r>
              <a:rPr lang="en-US" altLang="zh-TW" sz="1600" dirty="0"/>
              <a:t>	Lots of efforts on routing design have been done to achieve efficient data delivery in satellite networks. In scheduled routing schemes, by making full use of the periodic satellite's trajectory, the topology can be </a:t>
            </a:r>
            <a:r>
              <a:rPr lang="en-US" altLang="zh-TW" sz="1600" dirty="0">
                <a:solidFill>
                  <a:srgbClr val="336699"/>
                </a:solidFill>
              </a:rPr>
              <a:t>predicted</a:t>
            </a:r>
            <a:r>
              <a:rPr lang="en-US" altLang="zh-TW" sz="1600" dirty="0"/>
              <a:t> in advance to mitigate the on-board state collection overhead.</a:t>
            </a:r>
          </a:p>
          <a:p>
            <a:pPr marL="0" lvl="0" indent="0" algn="l"/>
            <a:endParaRPr lang="en-US" altLang="zh-TW" sz="1600" dirty="0"/>
          </a:p>
          <a:p>
            <a:pPr marL="0" lvl="0" indent="0" algn="l"/>
            <a:r>
              <a:rPr lang="en-US" altLang="zh-TW" sz="1600" b="1" dirty="0"/>
              <a:t>Opportunistic routing scheme:</a:t>
            </a:r>
            <a:endParaRPr lang="en-US" sz="1600" b="1" dirty="0"/>
          </a:p>
          <a:p>
            <a:pPr marL="0" lvl="0" indent="0" algn="just"/>
            <a:r>
              <a:rPr lang="en-US" altLang="zh-TW" sz="1600" dirty="0"/>
              <a:t>	In order to </a:t>
            </a:r>
            <a:r>
              <a:rPr lang="en-US" altLang="zh-TW" sz="1600" dirty="0">
                <a:solidFill>
                  <a:srgbClr val="336699"/>
                </a:solidFill>
              </a:rPr>
              <a:t>mitigate the overhead </a:t>
            </a:r>
            <a:r>
              <a:rPr lang="en-US" altLang="zh-TW" sz="1600" dirty="0"/>
              <a:t>of collection and routing process, some studies, adopt multi-layered satellite structure and divide satellites into small-scale groups for large-scale satellite network. The basic idea is to take higher layer satellites like </a:t>
            </a:r>
            <a:r>
              <a:rPr lang="en-US" altLang="zh-TW" sz="1600" dirty="0">
                <a:solidFill>
                  <a:srgbClr val="336699"/>
                </a:solidFill>
              </a:rPr>
              <a:t>MEO or GEO satellites as managers </a:t>
            </a:r>
            <a:r>
              <a:rPr lang="en-US" altLang="zh-TW" sz="1600" dirty="0"/>
              <a:t>who is in charge of network state collection and routing table calculation for LEO satellites. Because of the </a:t>
            </a:r>
            <a:r>
              <a:rPr lang="en-US" altLang="zh-TW" sz="1600" dirty="0">
                <a:solidFill>
                  <a:srgbClr val="336699"/>
                </a:solidFill>
              </a:rPr>
              <a:t>expensive cost </a:t>
            </a:r>
            <a:r>
              <a:rPr lang="en-US" altLang="zh-TW" sz="1600" dirty="0"/>
              <a:t>and </a:t>
            </a:r>
            <a:r>
              <a:rPr lang="en-US" altLang="zh-TW" sz="1600" dirty="0">
                <a:solidFill>
                  <a:srgbClr val="336699"/>
                </a:solidFill>
              </a:rPr>
              <a:t>longer propagation delay </a:t>
            </a:r>
            <a:r>
              <a:rPr lang="en-US" altLang="zh-TW" sz="1600" dirty="0"/>
              <a:t>of higher layer satellites, the multi-layered satellite structure is rarely considered in practical application.</a:t>
            </a:r>
            <a:endParaRPr sz="1600" dirty="0"/>
          </a:p>
        </p:txBody>
      </p:sp>
      <p:cxnSp>
        <p:nvCxnSpPr>
          <p:cNvPr id="185" name="Google Shape;185;p32"/>
          <p:cNvCxnSpPr/>
          <p:nvPr/>
        </p:nvCxnSpPr>
        <p:spPr>
          <a:xfrm>
            <a:off x="4515195" y="220390"/>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829490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501140" y="487473"/>
            <a:ext cx="6019800" cy="4381707"/>
          </a:xfrm>
          <a:prstGeom prst="rect">
            <a:avLst/>
          </a:prstGeom>
        </p:spPr>
        <p:txBody>
          <a:bodyPr spcFirstLastPara="1" wrap="square" lIns="91425" tIns="91425" rIns="91425" bIns="91425" anchor="t" anchorCtr="0">
            <a:noAutofit/>
          </a:bodyPr>
          <a:lstStyle/>
          <a:p>
            <a:pPr marL="0" lvl="0" indent="0" algn="just"/>
            <a:r>
              <a:rPr lang="en-US" altLang="zh-TW" sz="1400" dirty="0"/>
              <a:t>	An efficient and low-complexity routing algorithm is proposed for resource-limited small satellites to calculate the optimal data delivery path. The main contributions of this paper are summarized as follows.</a:t>
            </a:r>
          </a:p>
          <a:p>
            <a:pPr marL="0" lvl="0" indent="0" algn="just"/>
            <a:endParaRPr lang="en-US" altLang="zh-TW" sz="1400" dirty="0"/>
          </a:p>
          <a:p>
            <a:pPr marL="285750" lvl="0" indent="-285750" algn="just">
              <a:buFont typeface="Arial" panose="020B0604020202020204" pitchFamily="34" charset="0"/>
              <a:buChar char="•"/>
            </a:pPr>
            <a:r>
              <a:rPr lang="en-US" altLang="zh-TW" sz="1400" dirty="0"/>
              <a:t>	We propose a </a:t>
            </a:r>
            <a:r>
              <a:rPr lang="en-US" altLang="zh-TW" sz="1400" dirty="0">
                <a:solidFill>
                  <a:srgbClr val="336699"/>
                </a:solidFill>
              </a:rPr>
              <a:t>time-continuous Temporal </a:t>
            </a:r>
            <a:r>
              <a:rPr lang="en-US" altLang="zh-TW" sz="1400" dirty="0" err="1">
                <a:solidFill>
                  <a:srgbClr val="336699"/>
                </a:solidFill>
              </a:rPr>
              <a:t>Netgrid</a:t>
            </a:r>
            <a:r>
              <a:rPr lang="en-US" altLang="zh-TW" sz="1400" dirty="0">
                <a:solidFill>
                  <a:srgbClr val="336699"/>
                </a:solidFill>
              </a:rPr>
              <a:t> Model </a:t>
            </a:r>
            <a:r>
              <a:rPr lang="en-US" altLang="zh-TW" sz="1400" dirty="0"/>
              <a:t>(TNM) to describe the </a:t>
            </a:r>
            <a:r>
              <a:rPr lang="en-US" altLang="zh-TW" sz="1400" dirty="0">
                <a:solidFill>
                  <a:srgbClr val="336699"/>
                </a:solidFill>
              </a:rPr>
              <a:t>time-varying</a:t>
            </a:r>
            <a:r>
              <a:rPr lang="en-US" altLang="zh-TW" sz="1400" dirty="0"/>
              <a:t> topology of large-scale SSNs. In TNM, we use static cubes (i.e., </a:t>
            </a:r>
            <a:r>
              <a:rPr lang="en-US" altLang="zh-TW" sz="1400" dirty="0" err="1"/>
              <a:t>netgrids</a:t>
            </a:r>
            <a:r>
              <a:rPr lang="en-US" altLang="zh-TW" sz="1400" dirty="0"/>
              <a:t>) to replace coordinates of satellites. In this way, TNM can record time-continuous topology information and only </a:t>
            </a:r>
            <a:r>
              <a:rPr lang="en-US" altLang="zh-TW" sz="1400" dirty="0">
                <a:solidFill>
                  <a:srgbClr val="336699"/>
                </a:solidFill>
              </a:rPr>
              <a:t>a fixed number of </a:t>
            </a:r>
            <a:r>
              <a:rPr lang="en-US" altLang="zh-TW" sz="1400" dirty="0" err="1">
                <a:solidFill>
                  <a:srgbClr val="336699"/>
                </a:solidFill>
              </a:rPr>
              <a:t>netgrids</a:t>
            </a:r>
            <a:r>
              <a:rPr lang="en-US" altLang="zh-TW" sz="1400" dirty="0">
                <a:solidFill>
                  <a:srgbClr val="336699"/>
                </a:solidFill>
              </a:rPr>
              <a:t> </a:t>
            </a:r>
            <a:r>
              <a:rPr lang="en-US" altLang="zh-TW" sz="1400" dirty="0"/>
              <a:t>need to be stored at each satellite.</a:t>
            </a:r>
          </a:p>
          <a:p>
            <a:pPr marL="285750" lvl="0" indent="-285750" algn="just">
              <a:buFont typeface="Arial" panose="020B0604020202020204" pitchFamily="34" charset="0"/>
              <a:buChar char="•"/>
            </a:pPr>
            <a:endParaRPr lang="en-US" altLang="zh-TW" sz="1400" dirty="0"/>
          </a:p>
          <a:p>
            <a:pPr marL="285750" lvl="0" indent="-285750" algn="just">
              <a:buFont typeface="Arial" panose="020B0604020202020204" pitchFamily="34" charset="0"/>
              <a:buChar char="•"/>
            </a:pPr>
            <a:r>
              <a:rPr lang="en-US" altLang="zh-TW" sz="1400" dirty="0"/>
              <a:t>	In order to provide different accuracy of topology description in TNM, we propose a </a:t>
            </a:r>
            <a:r>
              <a:rPr lang="en-US" altLang="zh-TW" sz="1400" dirty="0">
                <a:solidFill>
                  <a:srgbClr val="336699"/>
                </a:solidFill>
              </a:rPr>
              <a:t>multi-layer</a:t>
            </a:r>
            <a:r>
              <a:rPr lang="en-US" altLang="zh-TW" sz="1400" dirty="0"/>
              <a:t> </a:t>
            </a:r>
            <a:r>
              <a:rPr lang="en-US" altLang="zh-TW" sz="1400" dirty="0" err="1"/>
              <a:t>netgrid</a:t>
            </a:r>
            <a:r>
              <a:rPr lang="en-US" altLang="zh-TW" sz="1400" dirty="0"/>
              <a:t> partition method and theoretically analyze the relationship between the number of partition layers and the description accuracy.</a:t>
            </a:r>
          </a:p>
          <a:p>
            <a:pPr marL="285750" lvl="0" indent="-285750" algn="just">
              <a:buFont typeface="Arial" panose="020B0604020202020204" pitchFamily="34" charset="0"/>
              <a:buChar char="•"/>
            </a:pPr>
            <a:endParaRPr lang="en-US" altLang="zh-TW" sz="1400" dirty="0"/>
          </a:p>
          <a:p>
            <a:pPr marL="285750" lvl="0" indent="-285750" algn="just">
              <a:buFont typeface="Arial" panose="020B0604020202020204" pitchFamily="34" charset="0"/>
              <a:buChar char="•"/>
            </a:pPr>
            <a:r>
              <a:rPr lang="en-US" altLang="zh-TW" sz="1400" dirty="0"/>
              <a:t>	Based on TNM, we propose an efficient and low-complexity routing algorithm for resource-limited small satellites. Since the complexity of the proposed routing algorithm only </a:t>
            </a:r>
            <a:r>
              <a:rPr lang="en-US" altLang="zh-TW" sz="1400" dirty="0">
                <a:solidFill>
                  <a:srgbClr val="336699"/>
                </a:solidFill>
              </a:rPr>
              <a:t>related to the number of </a:t>
            </a:r>
            <a:r>
              <a:rPr lang="en-US" altLang="zh-TW" sz="1400" dirty="0" err="1">
                <a:solidFill>
                  <a:srgbClr val="336699"/>
                </a:solidFill>
              </a:rPr>
              <a:t>netgrids</a:t>
            </a:r>
            <a:r>
              <a:rPr lang="en-US" altLang="zh-TW" sz="1400" dirty="0">
                <a:solidFill>
                  <a:srgbClr val="336699"/>
                </a:solidFill>
              </a:rPr>
              <a:t> </a:t>
            </a:r>
            <a:r>
              <a:rPr lang="en-US" altLang="zh-TW" sz="1400" dirty="0"/>
              <a:t>other than the number of satellites, its computation complexity can be significantly reduced compared with traditional satellite routing algorithms.</a:t>
            </a:r>
          </a:p>
          <a:p>
            <a:pPr marL="0" lvl="0" indent="0" algn="l"/>
            <a:endParaRPr sz="1400" dirty="0"/>
          </a:p>
        </p:txBody>
      </p:sp>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02431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4"/>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p>
            <a:pPr lvl="0"/>
            <a:r>
              <a:rPr lang="en-US" dirty="0"/>
              <a:t>Related Work</a:t>
            </a:r>
            <a:endParaRPr dirty="0"/>
          </a:p>
        </p:txBody>
      </p:sp>
      <p:sp>
        <p:nvSpPr>
          <p:cNvPr id="216" name="Google Shape;216;p34"/>
          <p:cNvSpPr txBox="1">
            <a:spLocks noGrp="1"/>
          </p:cNvSpPr>
          <p:nvPr>
            <p:ph type="title" idx="2"/>
          </p:nvPr>
        </p:nvSpPr>
        <p:spPr>
          <a:xfrm flipH="1">
            <a:off x="4964179" y="23238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cxnSp>
        <p:nvCxnSpPr>
          <p:cNvPr id="217" name="Google Shape;217;p34"/>
          <p:cNvCxnSpPr/>
          <p:nvPr/>
        </p:nvCxnSpPr>
        <p:spPr>
          <a:xfrm>
            <a:off x="7578325" y="4028400"/>
            <a:ext cx="1565700" cy="0"/>
          </a:xfrm>
          <a:prstGeom prst="straightConnector1">
            <a:avLst/>
          </a:prstGeom>
          <a:noFill/>
          <a:ln w="9525" cap="flat" cmpd="sng">
            <a:solidFill>
              <a:schemeClr val="dk1"/>
            </a:solidFill>
            <a:prstDash val="solid"/>
            <a:round/>
            <a:headEnd type="none" w="med" len="med"/>
            <a:tailEnd type="none" w="med" len="med"/>
          </a:ln>
        </p:spPr>
      </p:cxnSp>
      <p:sp>
        <p:nvSpPr>
          <p:cNvPr id="218" name="Google Shape;218;p34"/>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cxnSp>
        <p:nvCxnSpPr>
          <p:cNvPr id="223" name="Google Shape;223;p35"/>
          <p:cNvCxnSpPr/>
          <p:nvPr/>
        </p:nvCxnSpPr>
        <p:spPr>
          <a:xfrm>
            <a:off x="3957600" y="3045275"/>
            <a:ext cx="1368000" cy="0"/>
          </a:xfrm>
          <a:prstGeom prst="straightConnector1">
            <a:avLst/>
          </a:prstGeom>
          <a:noFill/>
          <a:ln w="9525" cap="flat" cmpd="sng">
            <a:solidFill>
              <a:schemeClr val="dk1"/>
            </a:solidFill>
            <a:prstDash val="solid"/>
            <a:round/>
            <a:headEnd type="none" w="med" len="med"/>
            <a:tailEnd type="none" w="med" len="med"/>
          </a:ln>
        </p:spPr>
      </p:cxnSp>
      <p:sp>
        <p:nvSpPr>
          <p:cNvPr id="224" name="Google Shape;224;p35"/>
          <p:cNvSpPr txBox="1">
            <a:spLocks noGrp="1"/>
          </p:cNvSpPr>
          <p:nvPr>
            <p:ph type="ctrTitle" idx="2"/>
          </p:nvPr>
        </p:nvSpPr>
        <p:spPr>
          <a:xfrm>
            <a:off x="1932090"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a:t>
            </a:r>
            <a:r>
              <a:rPr lang="en-US" dirty="0"/>
              <a:t>Scheduled routing scheme</a:t>
            </a:r>
            <a:endParaRPr dirty="0"/>
          </a:p>
        </p:txBody>
      </p:sp>
      <p:sp>
        <p:nvSpPr>
          <p:cNvPr id="226" name="Google Shape;226;p35"/>
          <p:cNvSpPr txBox="1">
            <a:spLocks noGrp="1"/>
          </p:cNvSpPr>
          <p:nvPr>
            <p:ph type="subTitle" idx="1"/>
          </p:nvPr>
        </p:nvSpPr>
        <p:spPr>
          <a:xfrm>
            <a:off x="1239270" y="1424800"/>
            <a:ext cx="6804660" cy="3185299"/>
          </a:xfrm>
          <a:prstGeom prst="rect">
            <a:avLst/>
          </a:prstGeom>
        </p:spPr>
        <p:txBody>
          <a:bodyPr spcFirstLastPara="1" wrap="square" lIns="91425" tIns="91425" rIns="91425" bIns="91425" anchor="t" anchorCtr="0">
            <a:noAutofit/>
          </a:bodyPr>
          <a:lstStyle/>
          <a:p>
            <a:pPr marL="0" lvl="0" indent="0" algn="l"/>
            <a:r>
              <a:rPr lang="en-US" sz="1600" dirty="0"/>
              <a:t>	Scheduled routing schemes attempt to make full use of periodic satellite trajectories and predictable topology variations.</a:t>
            </a:r>
          </a:p>
          <a:p>
            <a:pPr marL="0" lvl="0" indent="0" algn="l"/>
            <a:endParaRPr lang="en-US" sz="1600" dirty="0"/>
          </a:p>
          <a:p>
            <a:pPr marL="0" lvl="0" indent="0" algn="l"/>
            <a:r>
              <a:rPr lang="en-US" altLang="zh-TW" sz="1600" dirty="0"/>
              <a:t>	Another representative scheduled routing scheme is Contact Graph Routing (CGR), which is proposed for delay tolerant networks as a promising routing scheme and has been applied in satellite communications successfully</a:t>
            </a:r>
            <a:endParaRPr lang="en-US" sz="1600" dirty="0"/>
          </a:p>
          <a:p>
            <a:pPr marL="0" lvl="0" indent="0" algn="l"/>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cxnSp>
        <p:nvCxnSpPr>
          <p:cNvPr id="223" name="Google Shape;223;p35"/>
          <p:cNvCxnSpPr/>
          <p:nvPr/>
        </p:nvCxnSpPr>
        <p:spPr>
          <a:xfrm>
            <a:off x="3957600" y="3045275"/>
            <a:ext cx="1368000" cy="0"/>
          </a:xfrm>
          <a:prstGeom prst="straightConnector1">
            <a:avLst/>
          </a:prstGeom>
          <a:noFill/>
          <a:ln w="9525" cap="flat" cmpd="sng">
            <a:solidFill>
              <a:schemeClr val="dk1"/>
            </a:solidFill>
            <a:prstDash val="solid"/>
            <a:round/>
            <a:headEnd type="none" w="med" len="med"/>
            <a:tailEnd type="none" w="med" len="med"/>
          </a:ln>
        </p:spPr>
      </p:cxnSp>
      <p:sp>
        <p:nvSpPr>
          <p:cNvPr id="224" name="Google Shape;224;p35"/>
          <p:cNvSpPr txBox="1">
            <a:spLocks noGrp="1"/>
          </p:cNvSpPr>
          <p:nvPr>
            <p:ph type="ctrTitle" idx="2"/>
          </p:nvPr>
        </p:nvSpPr>
        <p:spPr>
          <a:xfrm>
            <a:off x="1932090"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a:t>
            </a:r>
            <a:r>
              <a:rPr lang="en-US" dirty="0"/>
              <a:t>Opportunistic routing scheme</a:t>
            </a:r>
            <a:endParaRPr dirty="0"/>
          </a:p>
        </p:txBody>
      </p:sp>
      <p:sp>
        <p:nvSpPr>
          <p:cNvPr id="226" name="Google Shape;226;p35"/>
          <p:cNvSpPr txBox="1">
            <a:spLocks noGrp="1"/>
          </p:cNvSpPr>
          <p:nvPr>
            <p:ph type="subTitle" idx="1"/>
          </p:nvPr>
        </p:nvSpPr>
        <p:spPr>
          <a:xfrm>
            <a:off x="1239270" y="1424800"/>
            <a:ext cx="6804660" cy="3185299"/>
          </a:xfrm>
          <a:prstGeom prst="rect">
            <a:avLst/>
          </a:prstGeom>
        </p:spPr>
        <p:txBody>
          <a:bodyPr spcFirstLastPara="1" wrap="square" lIns="91425" tIns="91425" rIns="91425" bIns="91425" anchor="t" anchorCtr="0">
            <a:noAutofit/>
          </a:bodyPr>
          <a:lstStyle/>
          <a:p>
            <a:pPr marL="0" lvl="0" indent="0" algn="l"/>
            <a:r>
              <a:rPr lang="en-US" sz="1600" dirty="0"/>
              <a:t>	In opportunistic routing schemes, routing process based on </a:t>
            </a:r>
            <a:r>
              <a:rPr lang="en-US" sz="1600" dirty="0">
                <a:solidFill>
                  <a:srgbClr val="336699"/>
                </a:solidFill>
              </a:rPr>
              <a:t>on-board</a:t>
            </a:r>
            <a:r>
              <a:rPr lang="en-US" sz="1600" dirty="0"/>
              <a:t> state collection is considered. In this way, routing can better respond to dynamic topology variations and unpredictable link interruptions. Song et al. proposed a </a:t>
            </a:r>
            <a:r>
              <a:rPr lang="en-US" sz="1600" dirty="0">
                <a:solidFill>
                  <a:srgbClr val="336699"/>
                </a:solidFill>
              </a:rPr>
              <a:t>Traffic-Light-based Routing </a:t>
            </a:r>
            <a:r>
              <a:rPr lang="en-US" sz="1600" dirty="0"/>
              <a:t>(TLR) for non-GEO satellite IP networks.</a:t>
            </a:r>
            <a:r>
              <a:rPr lang="en-US" altLang="zh-TW" sz="1600" dirty="0"/>
              <a:t>	</a:t>
            </a:r>
          </a:p>
          <a:p>
            <a:pPr marL="0" lvl="0" indent="0" algn="l"/>
            <a:endParaRPr lang="en-US" altLang="zh-TW" sz="1600" dirty="0"/>
          </a:p>
          <a:p>
            <a:pPr marL="0" lvl="0" indent="0" algn="l"/>
            <a:endParaRPr lang="en-US" altLang="zh-TW" sz="1600" dirty="0"/>
          </a:p>
          <a:p>
            <a:pPr marL="0" lvl="0" indent="0" algn="l"/>
            <a:endParaRPr lang="en-US" altLang="zh-TW" sz="1600" dirty="0"/>
          </a:p>
          <a:p>
            <a:pPr marL="0" lvl="0" indent="0" algn="l"/>
            <a:r>
              <a:rPr lang="en-US" altLang="zh-TW" sz="1600" dirty="0"/>
              <a:t>	In TLR, each orbit had a speaker to collect un-deterministic state information such as queuing delay and so on. The main contribution in TLR was that it would adjust the route dynamically according to the real-time state at intermediate nodes to avoid congestion.</a:t>
            </a:r>
            <a:endParaRPr dirty="0"/>
          </a:p>
        </p:txBody>
      </p:sp>
    </p:spTree>
    <p:extLst>
      <p:ext uri="{BB962C8B-B14F-4D97-AF65-F5344CB8AC3E}">
        <p14:creationId xmlns:p14="http://schemas.microsoft.com/office/powerpoint/2010/main" val="3427100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9"/>
          <p:cNvSpPr txBox="1">
            <a:spLocks noGrp="1"/>
          </p:cNvSpPr>
          <p:nvPr>
            <p:ph type="ctrTitle"/>
          </p:nvPr>
        </p:nvSpPr>
        <p:spPr>
          <a:xfrm flipH="1">
            <a:off x="2754543" y="1611150"/>
            <a:ext cx="5195700" cy="1921200"/>
          </a:xfrm>
          <a:prstGeom prst="rect">
            <a:avLst/>
          </a:prstGeom>
        </p:spPr>
        <p:txBody>
          <a:bodyPr spcFirstLastPara="1" wrap="square" lIns="91425" tIns="91425" rIns="91425" bIns="91425" anchor="ctr" anchorCtr="0">
            <a:noAutofit/>
          </a:bodyPr>
          <a:lstStyle/>
          <a:p>
            <a:pPr lvl="0"/>
            <a:r>
              <a:rPr lang="en-US" dirty="0"/>
              <a:t>TEMPORAL NETGRID MODEL</a:t>
            </a:r>
          </a:p>
        </p:txBody>
      </p:sp>
      <p:sp>
        <p:nvSpPr>
          <p:cNvPr id="313" name="Google Shape;313;p39"/>
          <p:cNvSpPr txBox="1">
            <a:spLocks noGrp="1"/>
          </p:cNvSpPr>
          <p:nvPr>
            <p:ph type="title" idx="2"/>
          </p:nvPr>
        </p:nvSpPr>
        <p:spPr>
          <a:xfrm flipH="1">
            <a:off x="4970943" y="1035213"/>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cxnSp>
        <p:nvCxnSpPr>
          <p:cNvPr id="314" name="Google Shape;314;p39"/>
          <p:cNvCxnSpPr/>
          <p:nvPr/>
        </p:nvCxnSpPr>
        <p:spPr>
          <a:xfrm>
            <a:off x="7583400" y="3268238"/>
            <a:ext cx="1560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 name="Google Shape;184;p32"/>
              <p:cNvSpPr txBox="1">
                <a:spLocks noGrp="1"/>
              </p:cNvSpPr>
              <p:nvPr>
                <p:ph type="subTitle" idx="1"/>
              </p:nvPr>
            </p:nvSpPr>
            <p:spPr>
              <a:xfrm>
                <a:off x="1222952" y="456993"/>
                <a:ext cx="6698096" cy="4381707"/>
              </a:xfrm>
              <a:prstGeom prst="rect">
                <a:avLst/>
              </a:prstGeom>
            </p:spPr>
            <p:txBody>
              <a:bodyPr spcFirstLastPara="1" wrap="square" lIns="91425" tIns="91425" rIns="91425" bIns="91425" anchor="t" anchorCtr="0">
                <a:noAutofit/>
              </a:bodyPr>
              <a:lstStyle/>
              <a:p>
                <a:pPr marL="0" lvl="0" indent="0" algn="l"/>
                <a:r>
                  <a:rPr lang="en-US" altLang="zh-TW" sz="1400" b="1" dirty="0"/>
                  <a:t>Motivation</a:t>
                </a:r>
              </a:p>
              <a:p>
                <a:pPr marL="0" indent="0" algn="just"/>
                <a:r>
                  <a:rPr lang="en-US" altLang="zh-TW" sz="1400" dirty="0"/>
                  <a:t>	</a:t>
                </a:r>
                <a:r>
                  <a:rPr lang="en-US" altLang="zh-TW" sz="1400" dirty="0">
                    <a:solidFill>
                      <a:schemeClr val="accent1">
                        <a:lumMod val="25000"/>
                      </a:schemeClr>
                    </a:solidFill>
                  </a:rPr>
                  <a:t>In order to improve satellite routing performance, the predictable and periodic satellite's trajectory is considered in TNM. There are many studies on the topology description model using periodic characteristic in satellite networks.</a:t>
                </a:r>
                <a:r>
                  <a:rPr lang="en-US" altLang="zh-TW" sz="1400" dirty="0">
                    <a:solidFill>
                      <a:schemeClr val="accent1">
                        <a:lumMod val="25000"/>
                      </a:schemeClr>
                    </a:solidFill>
                    <a:latin typeface="Arial"/>
                    <a:ea typeface="Arial"/>
                    <a:cs typeface="Arial"/>
                    <a:sym typeface="Arial"/>
                  </a:rPr>
                  <a:t> </a:t>
                </a:r>
              </a:p>
              <a:p>
                <a:pPr marL="0" indent="0" algn="just"/>
                <a:r>
                  <a:rPr lang="en-US" altLang="zh-TW" sz="1400" dirty="0">
                    <a:solidFill>
                      <a:schemeClr val="accent1">
                        <a:lumMod val="25000"/>
                      </a:schemeClr>
                    </a:solidFill>
                    <a:latin typeface="Arial"/>
                    <a:ea typeface="Arial"/>
                    <a:cs typeface="Arial"/>
                    <a:sym typeface="Arial"/>
                  </a:rPr>
                  <a:t>For instance, a widely used topology description model, Temporal Graph based Model (TGM) has been successfully applied in traditional satellite routing. The basic idea of TGM is to divide the system period into discrete time denoted by {</a:t>
                </a:r>
                <a14:m>
                  <m:oMath xmlns:m="http://schemas.openxmlformats.org/officeDocument/2006/math">
                    <m:sSub>
                      <m:sSubPr>
                        <m:ctrlPr>
                          <a:rPr lang="en-US" altLang="zh-TW" sz="1400" i="1" smtClean="0">
                            <a:solidFill>
                              <a:schemeClr val="accent1">
                                <a:lumMod val="25000"/>
                              </a:schemeClr>
                            </a:solidFill>
                            <a:latin typeface="Cambria Math" panose="02040503050406030204" pitchFamily="18" charset="0"/>
                            <a:cs typeface="Arial"/>
                            <a:sym typeface="Arial"/>
                          </a:rPr>
                        </m:ctrlPr>
                      </m:sSubPr>
                      <m:e>
                        <m:r>
                          <a:rPr lang="en-US" altLang="zh-TW" sz="1400" b="0" i="1" smtClean="0">
                            <a:solidFill>
                              <a:schemeClr val="accent1">
                                <a:lumMod val="25000"/>
                              </a:schemeClr>
                            </a:solidFill>
                            <a:latin typeface="Cambria Math" panose="02040503050406030204" pitchFamily="18" charset="0"/>
                            <a:cs typeface="Arial"/>
                            <a:sym typeface="Arial"/>
                          </a:rPr>
                          <m:t>𝑡</m:t>
                        </m:r>
                      </m:e>
                      <m:sub>
                        <m:r>
                          <a:rPr lang="en-US" altLang="zh-TW" sz="1400" b="0" i="1" smtClean="0">
                            <a:solidFill>
                              <a:schemeClr val="accent1">
                                <a:lumMod val="25000"/>
                              </a:schemeClr>
                            </a:solidFill>
                            <a:latin typeface="Cambria Math" panose="02040503050406030204" pitchFamily="18" charset="0"/>
                            <a:cs typeface="Arial"/>
                            <a:sym typeface="Arial"/>
                          </a:rPr>
                          <m:t>1</m:t>
                        </m:r>
                      </m:sub>
                    </m:sSub>
                  </m:oMath>
                </a14:m>
                <a:r>
                  <a:rPr lang="en-US" altLang="zh-TW" sz="1400" dirty="0">
                    <a:solidFill>
                      <a:schemeClr val="accent1">
                        <a:lumMod val="25000"/>
                      </a:schemeClr>
                    </a:solidFill>
                  </a:rPr>
                  <a:t>,</a:t>
                </a:r>
                <a:r>
                  <a:rPr lang="en-US" altLang="zh-TW" sz="1400" dirty="0">
                    <a:solidFill>
                      <a:schemeClr val="accent1">
                        <a:lumMod val="25000"/>
                      </a:schemeClr>
                    </a:solidFill>
                    <a:cs typeface="Arial"/>
                    <a:sym typeface="Arial"/>
                  </a:rPr>
                  <a:t> </a:t>
                </a:r>
                <a14:m>
                  <m:oMath xmlns:m="http://schemas.openxmlformats.org/officeDocument/2006/math">
                    <m:sSub>
                      <m:sSubPr>
                        <m:ctrlPr>
                          <a:rPr lang="en-US" altLang="zh-TW" sz="1400" i="1">
                            <a:solidFill>
                              <a:schemeClr val="accent1">
                                <a:lumMod val="25000"/>
                              </a:schemeClr>
                            </a:solidFill>
                            <a:latin typeface="Cambria Math" panose="02040503050406030204" pitchFamily="18" charset="0"/>
                            <a:cs typeface="Arial"/>
                            <a:sym typeface="Arial"/>
                          </a:rPr>
                        </m:ctrlPr>
                      </m:sSubPr>
                      <m:e>
                        <m:r>
                          <a:rPr lang="en-US" altLang="zh-TW" sz="1400" i="1">
                            <a:solidFill>
                              <a:schemeClr val="accent1">
                                <a:lumMod val="25000"/>
                              </a:schemeClr>
                            </a:solidFill>
                            <a:latin typeface="Cambria Math" panose="02040503050406030204" pitchFamily="18" charset="0"/>
                            <a:cs typeface="Arial"/>
                            <a:sym typeface="Arial"/>
                          </a:rPr>
                          <m:t>𝑡</m:t>
                        </m:r>
                      </m:e>
                      <m:sub>
                        <m:r>
                          <a:rPr lang="en-US" altLang="zh-TW" sz="1400" b="0" i="1" smtClean="0">
                            <a:solidFill>
                              <a:schemeClr val="accent1">
                                <a:lumMod val="25000"/>
                              </a:schemeClr>
                            </a:solidFill>
                            <a:latin typeface="Cambria Math" panose="02040503050406030204" pitchFamily="18" charset="0"/>
                            <a:cs typeface="Arial"/>
                            <a:sym typeface="Arial"/>
                          </a:rPr>
                          <m:t>2</m:t>
                        </m:r>
                      </m:sub>
                    </m:sSub>
                  </m:oMath>
                </a14:m>
                <a:r>
                  <a:rPr lang="en-US" altLang="zh-TW" sz="1400" dirty="0">
                    <a:solidFill>
                      <a:schemeClr val="accent1">
                        <a:lumMod val="25000"/>
                      </a:schemeClr>
                    </a:solidFill>
                  </a:rPr>
                  <a:t>, …, </a:t>
                </a:r>
                <a14:m>
                  <m:oMath xmlns:m="http://schemas.openxmlformats.org/officeDocument/2006/math">
                    <m:sSub>
                      <m:sSubPr>
                        <m:ctrlPr>
                          <a:rPr lang="en-US" altLang="zh-TW" sz="1400" i="1">
                            <a:solidFill>
                              <a:schemeClr val="accent1">
                                <a:lumMod val="25000"/>
                              </a:schemeClr>
                            </a:solidFill>
                            <a:latin typeface="Cambria Math" panose="02040503050406030204" pitchFamily="18" charset="0"/>
                            <a:cs typeface="Arial"/>
                            <a:sym typeface="Arial"/>
                          </a:rPr>
                        </m:ctrlPr>
                      </m:sSubPr>
                      <m:e>
                        <m:r>
                          <a:rPr lang="en-US" altLang="zh-TW" sz="1400" i="1">
                            <a:solidFill>
                              <a:schemeClr val="accent1">
                                <a:lumMod val="25000"/>
                              </a:schemeClr>
                            </a:solidFill>
                            <a:latin typeface="Cambria Math" panose="02040503050406030204" pitchFamily="18" charset="0"/>
                            <a:cs typeface="Arial"/>
                            <a:sym typeface="Arial"/>
                          </a:rPr>
                          <m:t>𝑡</m:t>
                        </m:r>
                      </m:e>
                      <m:sub>
                        <m:r>
                          <a:rPr lang="en-US" altLang="zh-TW" sz="1400" b="0" i="1" smtClean="0">
                            <a:solidFill>
                              <a:schemeClr val="accent1">
                                <a:lumMod val="25000"/>
                              </a:schemeClr>
                            </a:solidFill>
                            <a:latin typeface="Cambria Math" panose="02040503050406030204" pitchFamily="18" charset="0"/>
                            <a:cs typeface="Arial"/>
                            <a:sym typeface="Arial"/>
                          </a:rPr>
                          <m:t>𝑀</m:t>
                        </m:r>
                      </m:sub>
                    </m:sSub>
                  </m:oMath>
                </a14:m>
                <a:r>
                  <a:rPr lang="en-US" altLang="zh-TW" sz="1400" dirty="0">
                    <a:solidFill>
                      <a:schemeClr val="accent1">
                        <a:lumMod val="25000"/>
                      </a:schemeClr>
                    </a:solidFill>
                  </a:rPr>
                  <a:t>}. In this way, the whole topology variations in the system period can be represented as a set of static topology graph, i.e.,</a:t>
                </a:r>
                <a:r>
                  <a:rPr lang="en-US" altLang="zh-TW" sz="1400" dirty="0">
                    <a:solidFill>
                      <a:schemeClr val="accent1">
                        <a:lumMod val="25000"/>
                      </a:schemeClr>
                    </a:solidFill>
                    <a:latin typeface="Arial"/>
                    <a:ea typeface="Arial"/>
                    <a:cs typeface="Arial"/>
                    <a:sym typeface="Arial"/>
                  </a:rPr>
                  <a:t> {</a:t>
                </a:r>
                <a14:m>
                  <m:oMath xmlns:m="http://schemas.openxmlformats.org/officeDocument/2006/math">
                    <m:sSub>
                      <m:sSubPr>
                        <m:ctrlPr>
                          <a:rPr lang="en-US" altLang="zh-TW" sz="1400" i="1">
                            <a:solidFill>
                              <a:schemeClr val="accent1">
                                <a:lumMod val="25000"/>
                              </a:schemeClr>
                            </a:solidFill>
                            <a:latin typeface="Cambria Math" panose="02040503050406030204" pitchFamily="18" charset="0"/>
                            <a:cs typeface="Arial"/>
                            <a:sym typeface="Arial"/>
                          </a:rPr>
                        </m:ctrlPr>
                      </m:sSubPr>
                      <m:e>
                        <m:r>
                          <a:rPr lang="en-US" altLang="zh-TW" sz="1400" b="0" i="1" smtClean="0">
                            <a:solidFill>
                              <a:schemeClr val="accent1">
                                <a:lumMod val="25000"/>
                              </a:schemeClr>
                            </a:solidFill>
                            <a:latin typeface="Cambria Math" panose="02040503050406030204" pitchFamily="18" charset="0"/>
                            <a:cs typeface="Arial"/>
                            <a:sym typeface="Arial"/>
                          </a:rPr>
                          <m:t>𝐺</m:t>
                        </m:r>
                      </m:e>
                      <m:sub>
                        <m:r>
                          <a:rPr lang="en-US" altLang="zh-TW" sz="1400" i="1">
                            <a:solidFill>
                              <a:schemeClr val="accent1">
                                <a:lumMod val="25000"/>
                              </a:schemeClr>
                            </a:solidFill>
                            <a:latin typeface="Cambria Math" panose="02040503050406030204" pitchFamily="18" charset="0"/>
                            <a:cs typeface="Arial"/>
                            <a:sym typeface="Arial"/>
                          </a:rPr>
                          <m:t>1</m:t>
                        </m:r>
                      </m:sub>
                    </m:sSub>
                  </m:oMath>
                </a14:m>
                <a:r>
                  <a:rPr lang="en-US" altLang="zh-TW" sz="1400" dirty="0">
                    <a:solidFill>
                      <a:schemeClr val="accent1">
                        <a:lumMod val="25000"/>
                      </a:schemeClr>
                    </a:solidFill>
                  </a:rPr>
                  <a:t>,</a:t>
                </a:r>
                <a:r>
                  <a:rPr lang="en-US" altLang="zh-TW" sz="1400" dirty="0">
                    <a:solidFill>
                      <a:schemeClr val="accent1">
                        <a:lumMod val="25000"/>
                      </a:schemeClr>
                    </a:solidFill>
                    <a:cs typeface="Arial"/>
                    <a:sym typeface="Arial"/>
                  </a:rPr>
                  <a:t> </a:t>
                </a:r>
                <a14:m>
                  <m:oMath xmlns:m="http://schemas.openxmlformats.org/officeDocument/2006/math">
                    <m:sSub>
                      <m:sSubPr>
                        <m:ctrlPr>
                          <a:rPr lang="en-US" altLang="zh-TW" sz="1400" i="1">
                            <a:solidFill>
                              <a:schemeClr val="accent1">
                                <a:lumMod val="25000"/>
                              </a:schemeClr>
                            </a:solidFill>
                            <a:latin typeface="Cambria Math" panose="02040503050406030204" pitchFamily="18" charset="0"/>
                            <a:cs typeface="Arial"/>
                            <a:sym typeface="Arial"/>
                          </a:rPr>
                        </m:ctrlPr>
                      </m:sSubPr>
                      <m:e>
                        <m:r>
                          <a:rPr lang="en-US" altLang="zh-TW" sz="1400" b="0" i="1" smtClean="0">
                            <a:solidFill>
                              <a:schemeClr val="accent1">
                                <a:lumMod val="25000"/>
                              </a:schemeClr>
                            </a:solidFill>
                            <a:latin typeface="Cambria Math" panose="02040503050406030204" pitchFamily="18" charset="0"/>
                            <a:cs typeface="Arial"/>
                            <a:sym typeface="Arial"/>
                          </a:rPr>
                          <m:t>𝐺</m:t>
                        </m:r>
                      </m:e>
                      <m:sub>
                        <m:r>
                          <a:rPr lang="en-US" altLang="zh-TW" sz="1400" i="1">
                            <a:solidFill>
                              <a:schemeClr val="accent1">
                                <a:lumMod val="25000"/>
                              </a:schemeClr>
                            </a:solidFill>
                            <a:latin typeface="Cambria Math" panose="02040503050406030204" pitchFamily="18" charset="0"/>
                            <a:cs typeface="Arial"/>
                            <a:sym typeface="Arial"/>
                          </a:rPr>
                          <m:t>2</m:t>
                        </m:r>
                      </m:sub>
                    </m:sSub>
                  </m:oMath>
                </a14:m>
                <a:r>
                  <a:rPr lang="en-US" altLang="zh-TW" sz="1400" dirty="0">
                    <a:solidFill>
                      <a:schemeClr val="accent1">
                        <a:lumMod val="25000"/>
                      </a:schemeClr>
                    </a:solidFill>
                  </a:rPr>
                  <a:t>, …, </a:t>
                </a:r>
                <a14:m>
                  <m:oMath xmlns:m="http://schemas.openxmlformats.org/officeDocument/2006/math">
                    <m:sSub>
                      <m:sSubPr>
                        <m:ctrlPr>
                          <a:rPr lang="en-US" altLang="zh-TW" sz="1400" i="1">
                            <a:solidFill>
                              <a:schemeClr val="accent1">
                                <a:lumMod val="25000"/>
                              </a:schemeClr>
                            </a:solidFill>
                            <a:latin typeface="Cambria Math" panose="02040503050406030204" pitchFamily="18" charset="0"/>
                            <a:cs typeface="Arial"/>
                            <a:sym typeface="Arial"/>
                          </a:rPr>
                        </m:ctrlPr>
                      </m:sSubPr>
                      <m:e>
                        <m:r>
                          <a:rPr lang="en-US" altLang="zh-TW" sz="1400" b="0" i="1" smtClean="0">
                            <a:solidFill>
                              <a:schemeClr val="accent1">
                                <a:lumMod val="25000"/>
                              </a:schemeClr>
                            </a:solidFill>
                            <a:latin typeface="Cambria Math" panose="02040503050406030204" pitchFamily="18" charset="0"/>
                            <a:cs typeface="Arial"/>
                            <a:sym typeface="Arial"/>
                          </a:rPr>
                          <m:t>𝐺</m:t>
                        </m:r>
                      </m:e>
                      <m:sub>
                        <m:r>
                          <a:rPr lang="en-US" altLang="zh-TW" sz="1400" i="1">
                            <a:solidFill>
                              <a:schemeClr val="accent1">
                                <a:lumMod val="25000"/>
                              </a:schemeClr>
                            </a:solidFill>
                            <a:latin typeface="Cambria Math" panose="02040503050406030204" pitchFamily="18" charset="0"/>
                            <a:cs typeface="Arial"/>
                            <a:sym typeface="Arial"/>
                          </a:rPr>
                          <m:t>𝑀</m:t>
                        </m:r>
                      </m:sub>
                    </m:sSub>
                  </m:oMath>
                </a14:m>
                <a:r>
                  <a:rPr lang="en-US" altLang="zh-TW" sz="1400" dirty="0">
                    <a:solidFill>
                      <a:schemeClr val="accent1">
                        <a:lumMod val="25000"/>
                      </a:schemeClr>
                    </a:solidFill>
                  </a:rPr>
                  <a:t>}. </a:t>
                </a:r>
              </a:p>
              <a:p>
                <a:pPr marL="0" lvl="0" indent="0" algn="just"/>
                <a:endParaRPr lang="en-US" altLang="zh-TW" sz="1400" dirty="0"/>
              </a:p>
              <a:p>
                <a:pPr marL="0" lvl="0" indent="0" algn="just"/>
                <a:r>
                  <a:rPr lang="en-US" altLang="zh-TW" sz="1400" dirty="0"/>
                  <a:t>	</a:t>
                </a:r>
              </a:p>
              <a:p>
                <a:pPr marL="0" lvl="0" indent="0" algn="just"/>
                <a:endParaRPr sz="1400" dirty="0"/>
              </a:p>
            </p:txBody>
          </p:sp>
        </mc:Choice>
        <mc:Fallback xmlns="">
          <p:sp>
            <p:nvSpPr>
              <p:cNvPr id="184" name="Google Shape;184;p32"/>
              <p:cNvSpPr txBox="1">
                <a:spLocks noGrp="1" noRot="1" noChangeAspect="1" noMove="1" noResize="1" noEditPoints="1" noAdjustHandles="1" noChangeArrowheads="1" noChangeShapeType="1" noTextEdit="1"/>
              </p:cNvSpPr>
              <p:nvPr>
                <p:ph type="subTitle" idx="1"/>
              </p:nvPr>
            </p:nvSpPr>
            <p:spPr>
              <a:xfrm>
                <a:off x="1222952" y="456993"/>
                <a:ext cx="6698096" cy="4381707"/>
              </a:xfrm>
              <a:prstGeom prst="rect">
                <a:avLst/>
              </a:prstGeom>
              <a:blipFill rotWithShape="0">
                <a:blip r:embed="rId3"/>
                <a:stretch>
                  <a:fillRect l="-273" r="-364"/>
                </a:stretch>
              </a:blipFill>
            </p:spPr>
            <p:txBody>
              <a:bodyPr/>
              <a:lstStyle/>
              <a:p>
                <a:r>
                  <a:rPr lang="zh-TW" altLang="en-US">
                    <a:noFill/>
                  </a:rPr>
                  <a:t> </a:t>
                </a:r>
              </a:p>
            </p:txBody>
          </p:sp>
        </mc:Fallback>
      </mc:AlternateContent>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pic>
        <p:nvPicPr>
          <p:cNvPr id="5" name="圖片 4">
            <a:extLst>
              <a:ext uri="{FF2B5EF4-FFF2-40B4-BE49-F238E27FC236}">
                <a16:creationId xmlns:a16="http://schemas.microsoft.com/office/drawing/2014/main" id="{2293EEC4-83B4-49CF-B3B1-CB7EEC3D3DEF}"/>
              </a:ext>
            </a:extLst>
          </p:cNvPr>
          <p:cNvPicPr>
            <a:picLocks noChangeAspect="1"/>
          </p:cNvPicPr>
          <p:nvPr/>
        </p:nvPicPr>
        <p:blipFill>
          <a:blip r:embed="rId4"/>
          <a:stretch>
            <a:fillRect/>
          </a:stretch>
        </p:blipFill>
        <p:spPr>
          <a:xfrm>
            <a:off x="2393696" y="2607458"/>
            <a:ext cx="4242997" cy="1991099"/>
          </a:xfrm>
          <a:prstGeom prst="rect">
            <a:avLst/>
          </a:prstGeom>
        </p:spPr>
      </p:pic>
    </p:spTree>
    <p:extLst>
      <p:ext uri="{BB962C8B-B14F-4D97-AF65-F5344CB8AC3E}">
        <p14:creationId xmlns:p14="http://schemas.microsoft.com/office/powerpoint/2010/main" val="4163588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222952" y="456993"/>
            <a:ext cx="6698096" cy="4381707"/>
          </a:xfrm>
          <a:prstGeom prst="rect">
            <a:avLst/>
          </a:prstGeom>
        </p:spPr>
        <p:txBody>
          <a:bodyPr spcFirstLastPara="1" wrap="square" lIns="91425" tIns="91425" rIns="91425" bIns="91425" anchor="t" anchorCtr="0">
            <a:noAutofit/>
          </a:bodyPr>
          <a:lstStyle/>
          <a:p>
            <a:pPr marL="0" lvl="0" indent="0" algn="l"/>
            <a:r>
              <a:rPr lang="en-US" altLang="zh-TW" sz="1400" b="1" dirty="0"/>
              <a:t>Definition</a:t>
            </a:r>
          </a:p>
          <a:p>
            <a:pPr marL="0" lvl="0" indent="0" algn="l"/>
            <a:r>
              <a:rPr lang="en-US" altLang="zh-TW" sz="1400" dirty="0"/>
              <a:t>	In TNM, the first step is to divide the whole space where satellite's orbit exists into a number of cubes. After the space partition, the location of each satellite in the network can be indicated by the discrete cube (i.e., </a:t>
            </a:r>
            <a:r>
              <a:rPr lang="en-US" altLang="zh-TW" sz="1400" dirty="0" err="1"/>
              <a:t>netgrid</a:t>
            </a:r>
            <a:r>
              <a:rPr lang="en-US" altLang="zh-TW" sz="1400" dirty="0"/>
              <a:t>). Meanwhile, the specific time slot that a satellite stays in each </a:t>
            </a:r>
            <a:r>
              <a:rPr lang="en-US" altLang="zh-TW" sz="1400" dirty="0" err="1"/>
              <a:t>netgrid</a:t>
            </a:r>
            <a:r>
              <a:rPr lang="en-US" altLang="zh-TW" sz="1400" dirty="0"/>
              <a:t> should also be recorded. By doing so, the satellite's trajectory can be described as a continuous time ordered set of discrete </a:t>
            </a:r>
            <a:r>
              <a:rPr lang="en-US" altLang="zh-TW" sz="1400" dirty="0" err="1"/>
              <a:t>netgrids</a:t>
            </a:r>
            <a:r>
              <a:rPr lang="en-US" altLang="zh-TW" sz="1400" dirty="0"/>
              <a:t>.</a:t>
            </a:r>
          </a:p>
          <a:p>
            <a:pPr marL="0" lvl="0" indent="0" algn="just"/>
            <a:r>
              <a:rPr lang="en-US" altLang="zh-TW" sz="1400" dirty="0"/>
              <a:t>	</a:t>
            </a:r>
          </a:p>
          <a:p>
            <a:pPr marL="0" lvl="0" indent="0" algn="just"/>
            <a:endParaRPr sz="1400" dirty="0"/>
          </a:p>
        </p:txBody>
      </p:sp>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pic>
        <p:nvPicPr>
          <p:cNvPr id="2" name="圖片 1">
            <a:extLst>
              <a:ext uri="{FF2B5EF4-FFF2-40B4-BE49-F238E27FC236}">
                <a16:creationId xmlns:a16="http://schemas.microsoft.com/office/drawing/2014/main" id="{DA7A9490-602A-43C6-8E4D-589FE604A069}"/>
              </a:ext>
            </a:extLst>
          </p:cNvPr>
          <p:cNvPicPr>
            <a:picLocks noChangeAspect="1"/>
          </p:cNvPicPr>
          <p:nvPr/>
        </p:nvPicPr>
        <p:blipFill>
          <a:blip r:embed="rId3"/>
          <a:stretch>
            <a:fillRect/>
          </a:stretch>
        </p:blipFill>
        <p:spPr>
          <a:xfrm>
            <a:off x="1904974" y="2396997"/>
            <a:ext cx="5334052" cy="2137316"/>
          </a:xfrm>
          <a:prstGeom prst="rect">
            <a:avLst/>
          </a:prstGeom>
        </p:spPr>
      </p:pic>
    </p:spTree>
    <p:extLst>
      <p:ext uri="{BB962C8B-B14F-4D97-AF65-F5344CB8AC3E}">
        <p14:creationId xmlns:p14="http://schemas.microsoft.com/office/powerpoint/2010/main" val="1228152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 name="Google Shape;184;p32"/>
              <p:cNvSpPr txBox="1">
                <a:spLocks noGrp="1"/>
              </p:cNvSpPr>
              <p:nvPr>
                <p:ph type="subTitle" idx="1"/>
              </p:nvPr>
            </p:nvSpPr>
            <p:spPr>
              <a:xfrm>
                <a:off x="1222952" y="456993"/>
                <a:ext cx="6698096" cy="4381707"/>
              </a:xfrm>
              <a:prstGeom prst="rect">
                <a:avLst/>
              </a:prstGeom>
            </p:spPr>
            <p:txBody>
              <a:bodyPr spcFirstLastPara="1" wrap="square" lIns="91425" tIns="91425" rIns="91425" bIns="91425" anchor="t" anchorCtr="0">
                <a:noAutofit/>
              </a:bodyPr>
              <a:lstStyle/>
              <a:p>
                <a:pPr marL="0" lvl="0" indent="0" algn="l"/>
                <a:r>
                  <a:rPr lang="en-US" altLang="zh-TW" sz="1400" b="1" dirty="0"/>
                  <a:t>Definition</a:t>
                </a:r>
              </a:p>
              <a:p>
                <a:pPr marL="0" lvl="0" indent="0" algn="l"/>
                <a:r>
                  <a:rPr lang="en-US" altLang="zh-TW" sz="1400" dirty="0"/>
                  <a:t>	Let K denote the total number of static cubes (i.e., </a:t>
                </a:r>
                <a:r>
                  <a:rPr lang="en-US" altLang="zh-TW" sz="1400" dirty="0" err="1"/>
                  <a:t>netgrids</a:t>
                </a:r>
                <a:r>
                  <a:rPr lang="en-US" altLang="zh-TW" sz="1400" dirty="0"/>
                  <a:t>), and </a:t>
                </a:r>
                <a:r>
                  <a:rPr lang="en-US" altLang="zh-TW" sz="1400" dirty="0">
                    <a:solidFill>
                      <a:srgbClr val="000000"/>
                    </a:solidFill>
                    <a:cs typeface="Arial"/>
                    <a:sym typeface="Arial"/>
                  </a:rPr>
                  <a:t> </a:t>
                </a:r>
                <a14:m>
                  <m:oMath xmlns:m="http://schemas.openxmlformats.org/officeDocument/2006/math">
                    <m:sSub>
                      <m:sSubPr>
                        <m:ctrlPr>
                          <a:rPr lang="en-US" altLang="zh-TW" sz="1400" i="1">
                            <a:solidFill>
                              <a:srgbClr val="000000"/>
                            </a:solidFill>
                            <a:latin typeface="Cambria Math" panose="02040503050406030204" pitchFamily="18" charset="0"/>
                            <a:cs typeface="Arial"/>
                            <a:sym typeface="Arial"/>
                          </a:rPr>
                        </m:ctrlPr>
                      </m:sSubPr>
                      <m:e>
                        <m:r>
                          <a:rPr lang="en-US" altLang="zh-TW" sz="1400" b="0" i="1" smtClean="0">
                            <a:solidFill>
                              <a:srgbClr val="000000"/>
                            </a:solidFill>
                            <a:latin typeface="Cambria Math" panose="02040503050406030204" pitchFamily="18" charset="0"/>
                            <a:cs typeface="Arial"/>
                            <a:sym typeface="Arial"/>
                          </a:rPr>
                          <m:t>𝑉</m:t>
                        </m:r>
                      </m:e>
                      <m:sub>
                        <m:r>
                          <a:rPr lang="en-US" altLang="zh-TW" sz="1400" b="0" i="1" smtClean="0">
                            <a:solidFill>
                              <a:srgbClr val="000000"/>
                            </a:solidFill>
                            <a:latin typeface="Cambria Math" panose="02040503050406030204" pitchFamily="18" charset="0"/>
                            <a:cs typeface="Arial"/>
                            <a:sym typeface="Arial"/>
                          </a:rPr>
                          <m:t>𝑖</m:t>
                        </m:r>
                      </m:sub>
                    </m:sSub>
                    <m:r>
                      <a:rPr lang="en-US" altLang="zh-TW" sz="1400" i="1">
                        <a:solidFill>
                          <a:srgbClr val="000000"/>
                        </a:solidFill>
                        <a:latin typeface="Cambria Math" panose="02040503050406030204" pitchFamily="18" charset="0"/>
                        <a:cs typeface="Arial"/>
                        <a:sym typeface="Arial"/>
                      </a:rPr>
                      <m:t> </m:t>
                    </m:r>
                  </m:oMath>
                </a14:m>
                <a:r>
                  <a:rPr lang="en-US" altLang="zh-TW" sz="1400" dirty="0"/>
                  <a:t>denote all satellite nodes that would pass through </a:t>
                </a:r>
                <a:r>
                  <a:rPr lang="en-US" altLang="zh-TW" sz="1400" dirty="0" err="1"/>
                  <a:t>netgrid</a:t>
                </a:r>
                <a:r>
                  <a:rPr lang="en-US" altLang="zh-TW" sz="1400" dirty="0"/>
                  <a:t> </a:t>
                </a:r>
                <a:r>
                  <a:rPr lang="en-US" altLang="zh-TW" sz="1400" dirty="0">
                    <a:solidFill>
                      <a:srgbClr val="000000"/>
                    </a:solidFill>
                    <a:cs typeface="Arial"/>
                    <a:sym typeface="Arial"/>
                  </a:rPr>
                  <a:t> </a:t>
                </a:r>
                <a14:m>
                  <m:oMath xmlns:m="http://schemas.openxmlformats.org/officeDocument/2006/math">
                    <m:sSub>
                      <m:sSubPr>
                        <m:ctrlPr>
                          <a:rPr lang="en-US" altLang="zh-TW" sz="1400" i="1">
                            <a:solidFill>
                              <a:srgbClr val="000000"/>
                            </a:solidFill>
                            <a:latin typeface="Cambria Math" panose="02040503050406030204" pitchFamily="18" charset="0"/>
                            <a:cs typeface="Arial"/>
                            <a:sym typeface="Arial"/>
                          </a:rPr>
                        </m:ctrlPr>
                      </m:sSubPr>
                      <m:e>
                        <m:r>
                          <a:rPr lang="en-US" altLang="zh-TW" sz="1400" b="0" i="1" smtClean="0">
                            <a:solidFill>
                              <a:srgbClr val="000000"/>
                            </a:solidFill>
                            <a:latin typeface="Cambria Math" panose="02040503050406030204" pitchFamily="18" charset="0"/>
                            <a:cs typeface="Arial"/>
                            <a:sym typeface="Arial"/>
                          </a:rPr>
                          <m:t>𝐶</m:t>
                        </m:r>
                      </m:e>
                      <m:sub>
                        <m:r>
                          <a:rPr lang="en-US" altLang="zh-TW" sz="1400" i="1">
                            <a:solidFill>
                              <a:srgbClr val="000000"/>
                            </a:solidFill>
                            <a:latin typeface="Cambria Math" panose="02040503050406030204" pitchFamily="18" charset="0"/>
                            <a:cs typeface="Arial"/>
                            <a:sym typeface="Arial"/>
                          </a:rPr>
                          <m:t>𝑖</m:t>
                        </m:r>
                      </m:sub>
                    </m:sSub>
                    <m:r>
                      <a:rPr lang="en-US" altLang="zh-TW" sz="1400" i="1">
                        <a:solidFill>
                          <a:srgbClr val="000000"/>
                        </a:solidFill>
                        <a:latin typeface="Cambria Math" panose="02040503050406030204" pitchFamily="18" charset="0"/>
                        <a:cs typeface="Arial"/>
                        <a:sym typeface="Arial"/>
                      </a:rPr>
                      <m:t> </m:t>
                    </m:r>
                  </m:oMath>
                </a14:m>
                <a:r>
                  <a:rPr lang="en-US" altLang="zh-TW" sz="1400" dirty="0"/>
                  <a:t> according to their trajectory. We define a triple which includes necessary information for the </a:t>
                </a:r>
                <a:r>
                  <a:rPr lang="en-US" altLang="zh-TW" sz="1400" dirty="0" err="1"/>
                  <a:t>netgrid</a:t>
                </a:r>
                <a:r>
                  <a:rPr lang="en-US" altLang="zh-TW" sz="1400" dirty="0"/>
                  <a:t> table at first:</a:t>
                </a:r>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r>
                  <a:rPr lang="en-US" altLang="zh-TW" sz="1400" dirty="0"/>
                  <a:t>Then each </a:t>
                </a:r>
                <a:r>
                  <a:rPr lang="en-US" altLang="zh-TW" sz="1400" dirty="0" err="1"/>
                  <a:t>netgrid</a:t>
                </a:r>
                <a:r>
                  <a:rPr lang="en-US" altLang="zh-TW" sz="1400" dirty="0"/>
                  <a:t> </a:t>
                </a:r>
                <a:r>
                  <a:rPr lang="en-US" altLang="zh-TW" sz="1400" dirty="0">
                    <a:solidFill>
                      <a:srgbClr val="000000"/>
                    </a:solidFill>
                    <a:cs typeface="Arial"/>
                    <a:sym typeface="Arial"/>
                  </a:rPr>
                  <a:t> </a:t>
                </a:r>
                <a14:m>
                  <m:oMath xmlns:m="http://schemas.openxmlformats.org/officeDocument/2006/math">
                    <m:sSub>
                      <m:sSubPr>
                        <m:ctrlPr>
                          <a:rPr lang="en-US" altLang="zh-TW" sz="1400" i="1">
                            <a:solidFill>
                              <a:srgbClr val="000000"/>
                            </a:solidFill>
                            <a:latin typeface="Cambria Math" panose="02040503050406030204" pitchFamily="18" charset="0"/>
                            <a:cs typeface="Arial"/>
                            <a:sym typeface="Arial"/>
                          </a:rPr>
                        </m:ctrlPr>
                      </m:sSubPr>
                      <m:e>
                        <m:r>
                          <a:rPr lang="en-US" altLang="zh-TW" sz="1400" i="1">
                            <a:solidFill>
                              <a:srgbClr val="000000"/>
                            </a:solidFill>
                            <a:latin typeface="Cambria Math" panose="02040503050406030204" pitchFamily="18" charset="0"/>
                            <a:cs typeface="Arial"/>
                            <a:sym typeface="Arial"/>
                          </a:rPr>
                          <m:t>𝐶</m:t>
                        </m:r>
                      </m:e>
                      <m:sub>
                        <m:r>
                          <a:rPr lang="en-US" altLang="zh-TW" sz="1400" i="1">
                            <a:solidFill>
                              <a:srgbClr val="000000"/>
                            </a:solidFill>
                            <a:latin typeface="Cambria Math" panose="02040503050406030204" pitchFamily="18" charset="0"/>
                            <a:cs typeface="Arial"/>
                            <a:sym typeface="Arial"/>
                          </a:rPr>
                          <m:t>𝑖</m:t>
                        </m:r>
                      </m:sub>
                    </m:sSub>
                    <m:r>
                      <a:rPr lang="en-US" altLang="zh-TW" sz="1400" i="1">
                        <a:solidFill>
                          <a:srgbClr val="000000"/>
                        </a:solidFill>
                        <a:latin typeface="Cambria Math" panose="02040503050406030204" pitchFamily="18" charset="0"/>
                        <a:cs typeface="Arial"/>
                        <a:sym typeface="Arial"/>
                      </a:rPr>
                      <m:t> </m:t>
                    </m:r>
                  </m:oMath>
                </a14:m>
                <a:r>
                  <a:rPr lang="en-US" altLang="zh-TW" sz="1400" dirty="0"/>
                  <a:t> in the </a:t>
                </a:r>
                <a:r>
                  <a:rPr lang="en-US" altLang="zh-TW" sz="1400" dirty="0" err="1"/>
                  <a:t>netgrid</a:t>
                </a:r>
                <a:r>
                  <a:rPr lang="en-US" altLang="zh-TW" sz="1400" dirty="0"/>
                  <a:t> table can be described as</a:t>
                </a:r>
              </a:p>
              <a:p>
                <a:pPr marL="0" lvl="0" indent="0" algn="l"/>
                <a:endParaRPr lang="en-US" altLang="zh-TW" sz="1400" dirty="0"/>
              </a:p>
              <a:p>
                <a:pPr marL="0" lvl="0" indent="0" algn="l"/>
                <a:endParaRPr lang="en-US" altLang="zh-TW" sz="1400" dirty="0"/>
              </a:p>
              <a:p>
                <a:pPr marL="0" lvl="0" indent="0" algn="just"/>
                <a:r>
                  <a:rPr lang="en-US" altLang="zh-TW" sz="1400" dirty="0"/>
                  <a:t>	</a:t>
                </a:r>
              </a:p>
              <a:p>
                <a:pPr marL="0" lvl="0" indent="0" algn="just"/>
                <a:endParaRPr sz="1400" dirty="0"/>
              </a:p>
            </p:txBody>
          </p:sp>
        </mc:Choice>
        <mc:Fallback xmlns="">
          <p:sp>
            <p:nvSpPr>
              <p:cNvPr id="184" name="Google Shape;184;p32"/>
              <p:cNvSpPr txBox="1">
                <a:spLocks noGrp="1" noRot="1" noChangeAspect="1" noMove="1" noResize="1" noEditPoints="1" noAdjustHandles="1" noChangeArrowheads="1" noChangeShapeType="1" noTextEdit="1"/>
              </p:cNvSpPr>
              <p:nvPr>
                <p:ph type="subTitle" idx="1"/>
              </p:nvPr>
            </p:nvSpPr>
            <p:spPr>
              <a:xfrm>
                <a:off x="1222952" y="456993"/>
                <a:ext cx="6698096" cy="4381707"/>
              </a:xfrm>
              <a:prstGeom prst="rect">
                <a:avLst/>
              </a:prstGeom>
              <a:blipFill>
                <a:blip r:embed="rId3"/>
                <a:stretch>
                  <a:fillRect l="-273" r="-273"/>
                </a:stretch>
              </a:blipFill>
            </p:spPr>
            <p:txBody>
              <a:bodyPr/>
              <a:lstStyle/>
              <a:p>
                <a:r>
                  <a:rPr lang="zh-TW" altLang="en-US">
                    <a:noFill/>
                  </a:rPr>
                  <a:t> </a:t>
                </a:r>
              </a:p>
            </p:txBody>
          </p:sp>
        </mc:Fallback>
      </mc:AlternateContent>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pic>
        <p:nvPicPr>
          <p:cNvPr id="4" name="圖片 3">
            <a:extLst>
              <a:ext uri="{FF2B5EF4-FFF2-40B4-BE49-F238E27FC236}">
                <a16:creationId xmlns:a16="http://schemas.microsoft.com/office/drawing/2014/main" id="{C0275406-5EB0-4A34-826C-135B82EB25C5}"/>
              </a:ext>
            </a:extLst>
          </p:cNvPr>
          <p:cNvPicPr>
            <a:picLocks noChangeAspect="1"/>
          </p:cNvPicPr>
          <p:nvPr/>
        </p:nvPicPr>
        <p:blipFill>
          <a:blip r:embed="rId4"/>
          <a:stretch>
            <a:fillRect/>
          </a:stretch>
        </p:blipFill>
        <p:spPr>
          <a:xfrm>
            <a:off x="1328481" y="1672358"/>
            <a:ext cx="6487037" cy="808774"/>
          </a:xfrm>
          <a:prstGeom prst="rect">
            <a:avLst/>
          </a:prstGeom>
        </p:spPr>
      </p:pic>
      <p:pic>
        <p:nvPicPr>
          <p:cNvPr id="6" name="圖片 5">
            <a:extLst>
              <a:ext uri="{FF2B5EF4-FFF2-40B4-BE49-F238E27FC236}">
                <a16:creationId xmlns:a16="http://schemas.microsoft.com/office/drawing/2014/main" id="{D60BC8DC-4A96-4D0D-8C9B-37442E96C335}"/>
              </a:ext>
            </a:extLst>
          </p:cNvPr>
          <p:cNvPicPr>
            <a:picLocks noChangeAspect="1"/>
          </p:cNvPicPr>
          <p:nvPr/>
        </p:nvPicPr>
        <p:blipFill>
          <a:blip r:embed="rId5"/>
          <a:stretch>
            <a:fillRect/>
          </a:stretch>
        </p:blipFill>
        <p:spPr>
          <a:xfrm>
            <a:off x="1328481" y="3253977"/>
            <a:ext cx="6487038" cy="750775"/>
          </a:xfrm>
          <a:prstGeom prst="rect">
            <a:avLst/>
          </a:prstGeom>
        </p:spPr>
      </p:pic>
    </p:spTree>
    <p:extLst>
      <p:ext uri="{BB962C8B-B14F-4D97-AF65-F5344CB8AC3E}">
        <p14:creationId xmlns:p14="http://schemas.microsoft.com/office/powerpoint/2010/main" val="1637008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pic>
        <p:nvPicPr>
          <p:cNvPr id="3" name="圖片 2">
            <a:extLst>
              <a:ext uri="{FF2B5EF4-FFF2-40B4-BE49-F238E27FC236}">
                <a16:creationId xmlns:a16="http://schemas.microsoft.com/office/drawing/2014/main" id="{50F0A2AD-932D-4504-B7C7-2E1D7C64AD84}"/>
              </a:ext>
            </a:extLst>
          </p:cNvPr>
          <p:cNvPicPr>
            <a:picLocks noChangeAspect="1"/>
          </p:cNvPicPr>
          <p:nvPr/>
        </p:nvPicPr>
        <p:blipFill>
          <a:blip r:embed="rId3"/>
          <a:stretch>
            <a:fillRect/>
          </a:stretch>
        </p:blipFill>
        <p:spPr>
          <a:xfrm>
            <a:off x="1981113" y="87600"/>
            <a:ext cx="5468397" cy="4968239"/>
          </a:xfrm>
          <a:prstGeom prst="rect">
            <a:avLst/>
          </a:prstGeom>
        </p:spPr>
      </p:pic>
      <p:sp>
        <p:nvSpPr>
          <p:cNvPr id="7" name="文字方塊 6">
            <a:extLst>
              <a:ext uri="{FF2B5EF4-FFF2-40B4-BE49-F238E27FC236}">
                <a16:creationId xmlns:a16="http://schemas.microsoft.com/office/drawing/2014/main" id="{A9B6202E-607F-4C68-9EAD-399856861FDE}"/>
              </a:ext>
            </a:extLst>
          </p:cNvPr>
          <p:cNvSpPr txBox="1"/>
          <p:nvPr/>
        </p:nvSpPr>
        <p:spPr>
          <a:xfrm>
            <a:off x="228600" y="87661"/>
            <a:ext cx="1821180" cy="369332"/>
          </a:xfrm>
          <a:prstGeom prst="rect">
            <a:avLst/>
          </a:prstGeom>
          <a:noFill/>
        </p:spPr>
        <p:txBody>
          <a:bodyPr wrap="square" rtlCol="0">
            <a:spAutoFit/>
          </a:bodyPr>
          <a:lstStyle/>
          <a:p>
            <a:r>
              <a:rPr lang="en-US" altLang="zh-TW" sz="1800" b="1" dirty="0">
                <a:latin typeface="Roboto Condensed Light" panose="02020500000000000000" charset="0"/>
                <a:ea typeface="Roboto Condensed Light" panose="02020500000000000000" charset="0"/>
              </a:rPr>
              <a:t>Data structure </a:t>
            </a:r>
            <a:endParaRPr lang="zh-TW" altLang="en-US" sz="1800" b="1" dirty="0">
              <a:latin typeface="Roboto Condensed Light" panose="02020500000000000000" charset="0"/>
            </a:endParaRPr>
          </a:p>
        </p:txBody>
      </p:sp>
    </p:spTree>
    <p:extLst>
      <p:ext uri="{BB962C8B-B14F-4D97-AF65-F5344CB8AC3E}">
        <p14:creationId xmlns:p14="http://schemas.microsoft.com/office/powerpoint/2010/main" val="1389813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sp>
        <p:nvSpPr>
          <p:cNvPr id="7" name="文字方塊 6">
            <a:extLst>
              <a:ext uri="{FF2B5EF4-FFF2-40B4-BE49-F238E27FC236}">
                <a16:creationId xmlns:a16="http://schemas.microsoft.com/office/drawing/2014/main" id="{A9B6202E-607F-4C68-9EAD-399856861FDE}"/>
              </a:ext>
            </a:extLst>
          </p:cNvPr>
          <p:cNvSpPr txBox="1"/>
          <p:nvPr/>
        </p:nvSpPr>
        <p:spPr>
          <a:xfrm>
            <a:off x="228600" y="87661"/>
            <a:ext cx="1821180" cy="369332"/>
          </a:xfrm>
          <a:prstGeom prst="rect">
            <a:avLst/>
          </a:prstGeom>
          <a:noFill/>
        </p:spPr>
        <p:txBody>
          <a:bodyPr wrap="square" rtlCol="0">
            <a:spAutoFit/>
          </a:bodyPr>
          <a:lstStyle/>
          <a:p>
            <a:r>
              <a:rPr lang="en-US" altLang="zh-TW" sz="1800" b="1" dirty="0">
                <a:latin typeface="Roboto Condensed Light" panose="02020500000000000000" charset="0"/>
                <a:ea typeface="Roboto Condensed Light" panose="02020500000000000000" charset="0"/>
              </a:rPr>
              <a:t>Data structure </a:t>
            </a:r>
            <a:endParaRPr lang="zh-TW" altLang="en-US" sz="1800" b="1" dirty="0">
              <a:latin typeface="Roboto Condensed Light" panose="02020500000000000000" charset="0"/>
            </a:endParaRPr>
          </a:p>
        </p:txBody>
      </p:sp>
      <mc:AlternateContent xmlns:mc="http://schemas.openxmlformats.org/markup-compatibility/2006" xmlns:a14="http://schemas.microsoft.com/office/drawing/2010/main">
        <mc:Choice Requires="a14">
          <p:sp>
            <p:nvSpPr>
              <p:cNvPr id="4" name="副標題 3">
                <a:extLst>
                  <a:ext uri="{FF2B5EF4-FFF2-40B4-BE49-F238E27FC236}">
                    <a16:creationId xmlns:a16="http://schemas.microsoft.com/office/drawing/2014/main" id="{1104C2F7-80A9-4B0B-91F9-2222B24F7422}"/>
                  </a:ext>
                </a:extLst>
              </p:cNvPr>
              <p:cNvSpPr>
                <a:spLocks noGrp="1"/>
              </p:cNvSpPr>
              <p:nvPr>
                <p:ph type="subTitle" idx="1"/>
              </p:nvPr>
            </p:nvSpPr>
            <p:spPr>
              <a:xfrm>
                <a:off x="1013460" y="548646"/>
                <a:ext cx="6865620" cy="3855705"/>
              </a:xfrm>
            </p:spPr>
            <p:txBody>
              <a:bodyPr/>
              <a:lstStyle/>
              <a:p>
                <a:pPr algn="l"/>
                <a:r>
                  <a:rPr lang="en-US" altLang="zh-TW" dirty="0"/>
                  <a:t>Definition 1:</a:t>
                </a:r>
              </a:p>
              <a:p>
                <a:pPr algn="just"/>
                <a:r>
                  <a:rPr lang="en-US" altLang="zh-TW" dirty="0"/>
                  <a:t>	</a:t>
                </a:r>
                <a:r>
                  <a:rPr lang="en-US" altLang="zh-TW" sz="1600" dirty="0"/>
                  <a:t>If satellite v ∈</a:t>
                </a:r>
                <a:r>
                  <a:rPr lang="en-US" altLang="zh-TW" sz="1600" dirty="0">
                    <a:solidFill>
                      <a:srgbClr val="000000"/>
                    </a:solidFill>
                    <a:cs typeface="Arial"/>
                    <a:sym typeface="Arial"/>
                  </a:rPr>
                  <a:t> </a:t>
                </a:r>
                <a14:m>
                  <m:oMath xmlns:m="http://schemas.openxmlformats.org/officeDocument/2006/math">
                    <m:sSub>
                      <m:sSubPr>
                        <m:ctrlPr>
                          <a:rPr lang="en-US" altLang="zh-TW" sz="1600" i="1">
                            <a:solidFill>
                              <a:srgbClr val="000000"/>
                            </a:solidFill>
                            <a:latin typeface="Cambria Math" panose="02040503050406030204" pitchFamily="18" charset="0"/>
                            <a:cs typeface="Arial"/>
                            <a:sym typeface="Arial"/>
                          </a:rPr>
                        </m:ctrlPr>
                      </m:sSubPr>
                      <m:e>
                        <m:r>
                          <a:rPr lang="en-US" altLang="zh-TW" sz="1600" b="0" i="1" smtClean="0">
                            <a:solidFill>
                              <a:srgbClr val="000000"/>
                            </a:solidFill>
                            <a:latin typeface="Cambria Math" panose="02040503050406030204" pitchFamily="18" charset="0"/>
                            <a:cs typeface="Arial"/>
                            <a:sym typeface="Arial"/>
                          </a:rPr>
                          <m:t>𝑇</m:t>
                        </m:r>
                      </m:e>
                      <m:sub>
                        <m:r>
                          <a:rPr lang="en-US" altLang="zh-TW" sz="1600" i="1">
                            <a:solidFill>
                              <a:srgbClr val="000000"/>
                            </a:solidFill>
                            <a:latin typeface="Cambria Math" panose="02040503050406030204" pitchFamily="18" charset="0"/>
                            <a:cs typeface="Arial"/>
                            <a:sym typeface="Arial"/>
                          </a:rPr>
                          <m:t>𝑖</m:t>
                        </m:r>
                      </m:sub>
                    </m:sSub>
                  </m:oMath>
                </a14:m>
                <a:r>
                  <a:rPr lang="en-US" altLang="zh-TW" sz="1600" dirty="0"/>
                  <a:t> at a given time t, neighbor </a:t>
                </a:r>
                <a:r>
                  <a:rPr lang="en-US" altLang="zh-TW" sz="1600" dirty="0" err="1"/>
                  <a:t>netgrids</a:t>
                </a:r>
                <a:r>
                  <a:rPr lang="en-US" altLang="zh-TW" sz="1600" dirty="0"/>
                  <a:t> of </a:t>
                </a:r>
                <a14:m>
                  <m:oMath xmlns:m="http://schemas.openxmlformats.org/officeDocument/2006/math">
                    <m:sSub>
                      <m:sSubPr>
                        <m:ctrlPr>
                          <a:rPr lang="en-US" altLang="zh-TW" sz="1600" i="1">
                            <a:solidFill>
                              <a:srgbClr val="000000"/>
                            </a:solidFill>
                            <a:latin typeface="Cambria Math" panose="02040503050406030204" pitchFamily="18" charset="0"/>
                            <a:cs typeface="Arial"/>
                            <a:sym typeface="Arial"/>
                          </a:rPr>
                        </m:ctrlPr>
                      </m:sSubPr>
                      <m:e>
                        <m:r>
                          <a:rPr lang="en-US" altLang="zh-TW" sz="1600" b="0" i="1" smtClean="0">
                            <a:solidFill>
                              <a:srgbClr val="000000"/>
                            </a:solidFill>
                            <a:latin typeface="Cambria Math" panose="02040503050406030204" pitchFamily="18" charset="0"/>
                            <a:cs typeface="Arial"/>
                            <a:sym typeface="Arial"/>
                          </a:rPr>
                          <m:t>𝐶</m:t>
                        </m:r>
                      </m:e>
                      <m:sub>
                        <m:r>
                          <a:rPr lang="en-US" altLang="zh-TW" sz="1600" b="0" i="1" smtClean="0">
                            <a:solidFill>
                              <a:srgbClr val="000000"/>
                            </a:solidFill>
                            <a:latin typeface="Cambria Math" panose="02040503050406030204" pitchFamily="18" charset="0"/>
                            <a:cs typeface="Arial"/>
                            <a:sym typeface="Arial"/>
                          </a:rPr>
                          <m:t>𝑖</m:t>
                        </m:r>
                      </m:sub>
                    </m:sSub>
                  </m:oMath>
                </a14:m>
                <a:r>
                  <a:rPr lang="en-US" altLang="zh-TW" sz="1600" dirty="0"/>
                  <a:t>, which are totally located within the communication range of v, are defined </a:t>
                </a:r>
                <a:r>
                  <a:rPr lang="en-US" altLang="zh-TW" sz="1600" dirty="0">
                    <a:solidFill>
                      <a:srgbClr val="336699"/>
                    </a:solidFill>
                  </a:rPr>
                  <a:t>as effective </a:t>
                </a:r>
                <a:r>
                  <a:rPr lang="en-US" altLang="zh-TW" sz="1600" dirty="0" err="1">
                    <a:solidFill>
                      <a:srgbClr val="336699"/>
                    </a:solidFill>
                  </a:rPr>
                  <a:t>netgrids</a:t>
                </a:r>
                <a:r>
                  <a:rPr lang="en-US" altLang="zh-TW" sz="1600" dirty="0">
                    <a:solidFill>
                      <a:srgbClr val="336699"/>
                    </a:solidFill>
                  </a:rPr>
                  <a:t> </a:t>
                </a:r>
                <a:r>
                  <a:rPr lang="en-US" altLang="zh-TW" sz="1600" dirty="0"/>
                  <a:t>of v.</a:t>
                </a:r>
              </a:p>
              <a:p>
                <a:pPr algn="just"/>
                <a:endParaRPr lang="en-US" altLang="zh-TW" sz="1600" dirty="0"/>
              </a:p>
              <a:p>
                <a:pPr algn="just"/>
                <a:r>
                  <a:rPr lang="en-US" altLang="zh-TW" sz="1600" dirty="0"/>
                  <a:t>	 For each </a:t>
                </a:r>
                <a:r>
                  <a:rPr lang="en-US" altLang="zh-TW" sz="1600" dirty="0" err="1"/>
                  <a:t>netgrid</a:t>
                </a:r>
                <a:r>
                  <a:rPr lang="en-US" altLang="zh-TW" sz="1600" dirty="0"/>
                  <a:t> element in the array, it contains Data (i.e., </a:t>
                </a:r>
                <a:r>
                  <a:rPr lang="en-US" altLang="zh-TW" sz="1600" dirty="0">
                    <a:solidFill>
                      <a:srgbClr val="336699"/>
                    </a:solidFill>
                  </a:rPr>
                  <a:t>table data</a:t>
                </a:r>
                <a:r>
                  <a:rPr lang="en-US" altLang="zh-TW" sz="1600" dirty="0"/>
                  <a:t>) and Pointer (i.e., </a:t>
                </a:r>
                <a:r>
                  <a:rPr lang="en-US" altLang="zh-TW" sz="1600" dirty="0">
                    <a:solidFill>
                      <a:srgbClr val="336699"/>
                    </a:solidFill>
                  </a:rPr>
                  <a:t>effective </a:t>
                </a:r>
                <a:r>
                  <a:rPr lang="en-US" altLang="zh-TW" sz="1600" dirty="0" err="1">
                    <a:solidFill>
                      <a:srgbClr val="336699"/>
                    </a:solidFill>
                  </a:rPr>
                  <a:t>netgrids</a:t>
                </a:r>
                <a:r>
                  <a:rPr lang="en-US" altLang="zh-TW" sz="1600" dirty="0">
                    <a:solidFill>
                      <a:srgbClr val="336699"/>
                    </a:solidFill>
                  </a:rPr>
                  <a:t> pointer</a:t>
                </a:r>
                <a:r>
                  <a:rPr lang="en-US" altLang="zh-TW" sz="1600" dirty="0"/>
                  <a:t>) as shown in Fig. 2. In Data, to improve searching efficiency, a </a:t>
                </a:r>
                <a:r>
                  <a:rPr lang="en-US" altLang="zh-TW" sz="1600" dirty="0">
                    <a:solidFill>
                      <a:srgbClr val="336699"/>
                    </a:solidFill>
                  </a:rPr>
                  <a:t>binary tree storage </a:t>
                </a:r>
                <a:r>
                  <a:rPr lang="en-US" altLang="zh-TW" sz="1600" dirty="0"/>
                  <a:t>structure is adopted.</a:t>
                </a:r>
              </a:p>
              <a:p>
                <a:pPr algn="just"/>
                <a:endParaRPr lang="en-US" altLang="zh-TW" sz="1600" dirty="0"/>
              </a:p>
              <a:p>
                <a:pPr algn="just"/>
                <a:r>
                  <a:rPr lang="en-US" altLang="zh-TW" sz="1600" dirty="0"/>
                  <a:t>	 Then the searching complexity for a particular time is </a:t>
                </a:r>
                <a:r>
                  <a:rPr lang="en-US" altLang="zh-TW" sz="1600" dirty="0">
                    <a:solidFill>
                      <a:srgbClr val="336699"/>
                    </a:solidFill>
                  </a:rPr>
                  <a:t>O(</a:t>
                </a:r>
                <a:r>
                  <a:rPr lang="en-US" altLang="zh-TW" sz="1600" dirty="0" err="1">
                    <a:solidFill>
                      <a:srgbClr val="336699"/>
                    </a:solidFill>
                  </a:rPr>
                  <a:t>logN</a:t>
                </a:r>
                <a:r>
                  <a:rPr lang="en-US" altLang="zh-TW" sz="1600" dirty="0">
                    <a:solidFill>
                      <a:srgbClr val="336699"/>
                    </a:solidFill>
                  </a:rPr>
                  <a:t>), </a:t>
                </a:r>
                <a:r>
                  <a:rPr lang="en-US" altLang="zh-TW" sz="1600" dirty="0"/>
                  <a:t>where N denotes the average number of satellites contained in one </a:t>
                </a:r>
                <a:r>
                  <a:rPr lang="en-US" altLang="zh-TW" sz="1600" dirty="0" err="1"/>
                  <a:t>netgrid</a:t>
                </a:r>
                <a:r>
                  <a:rPr lang="en-US" altLang="zh-TW" sz="1600" dirty="0"/>
                  <a:t>. In Pointer, according to the definition of effective </a:t>
                </a:r>
                <a:r>
                  <a:rPr lang="en-US" altLang="zh-TW" sz="1600" dirty="0" err="1"/>
                  <a:t>netgrids</a:t>
                </a:r>
                <a:r>
                  <a:rPr lang="en-US" altLang="zh-TW" sz="1600" dirty="0"/>
                  <a:t>, we can find all neighbor satellite nodes in effective </a:t>
                </a:r>
                <a:r>
                  <a:rPr lang="en-US" altLang="zh-TW" sz="1600" dirty="0" err="1"/>
                  <a:t>netgrids</a:t>
                </a:r>
                <a:r>
                  <a:rPr lang="en-US" altLang="zh-TW" sz="1600" dirty="0"/>
                  <a:t> by looking up the </a:t>
                </a:r>
                <a:r>
                  <a:rPr lang="en-US" altLang="zh-TW" sz="1600" dirty="0" err="1"/>
                  <a:t>netgrid</a:t>
                </a:r>
                <a:r>
                  <a:rPr lang="en-US" altLang="zh-TW" sz="1600" dirty="0"/>
                  <a:t> table for routing decision. </a:t>
                </a:r>
              </a:p>
              <a:p>
                <a:pPr algn="just"/>
                <a:endParaRPr lang="en-US" altLang="zh-TW" sz="1600" dirty="0"/>
              </a:p>
              <a:p>
                <a:pPr algn="just"/>
                <a:r>
                  <a:rPr lang="en-US" altLang="zh-TW" sz="1600" dirty="0"/>
                  <a:t>	 If we assume F as the average number of effective </a:t>
                </a:r>
                <a:r>
                  <a:rPr lang="en-US" altLang="zh-TW" sz="1600" dirty="0" err="1"/>
                  <a:t>netgrids</a:t>
                </a:r>
                <a:r>
                  <a:rPr lang="en-US" altLang="zh-TW" sz="1600" dirty="0"/>
                  <a:t>, then the complexity of neighbor nodes searching operation will be </a:t>
                </a:r>
                <a:r>
                  <a:rPr lang="en-US" altLang="zh-TW" sz="1600" dirty="0">
                    <a:solidFill>
                      <a:srgbClr val="336699"/>
                    </a:solidFill>
                  </a:rPr>
                  <a:t>O( F log(N) )</a:t>
                </a:r>
                <a:endParaRPr lang="zh-TW" altLang="en-US" sz="1600" dirty="0">
                  <a:solidFill>
                    <a:srgbClr val="336699"/>
                  </a:solidFill>
                </a:endParaRPr>
              </a:p>
            </p:txBody>
          </p:sp>
        </mc:Choice>
        <mc:Fallback xmlns="">
          <p:sp>
            <p:nvSpPr>
              <p:cNvPr id="4" name="副標題 3">
                <a:extLst>
                  <a:ext uri="{FF2B5EF4-FFF2-40B4-BE49-F238E27FC236}">
                    <a16:creationId xmlns:a16="http://schemas.microsoft.com/office/drawing/2014/main" id="{1104C2F7-80A9-4B0B-91F9-2222B24F7422}"/>
                  </a:ext>
                </a:extLst>
              </p:cNvPr>
              <p:cNvSpPr>
                <a:spLocks noGrp="1" noRot="1" noChangeAspect="1" noMove="1" noResize="1" noEditPoints="1" noAdjustHandles="1" noChangeArrowheads="1" noChangeShapeType="1" noTextEdit="1"/>
              </p:cNvSpPr>
              <p:nvPr>
                <p:ph type="subTitle" idx="1"/>
              </p:nvPr>
            </p:nvSpPr>
            <p:spPr>
              <a:xfrm>
                <a:off x="1013460" y="548646"/>
                <a:ext cx="6865620" cy="3855705"/>
              </a:xfrm>
              <a:blipFill>
                <a:blip r:embed="rId3"/>
                <a:stretch>
                  <a:fillRect r="-444" b="-110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80857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3"/>
          <p:cNvSpPr txBox="1">
            <a:spLocks noGrp="1"/>
          </p:cNvSpPr>
          <p:nvPr>
            <p:ph type="ctrTitle"/>
          </p:nvPr>
        </p:nvSpPr>
        <p:spPr>
          <a:xfrm flipH="1">
            <a:off x="1180003" y="1947121"/>
            <a:ext cx="5195700" cy="1921200"/>
          </a:xfrm>
          <a:prstGeom prst="rect">
            <a:avLst/>
          </a:prstGeom>
        </p:spPr>
        <p:txBody>
          <a:bodyPr spcFirstLastPara="1" wrap="square" lIns="91425" tIns="91425" rIns="91425" bIns="91425" anchor="ctr" anchorCtr="0">
            <a:noAutofit/>
          </a:bodyPr>
          <a:lstStyle/>
          <a:p>
            <a:pPr lvl="0"/>
            <a:r>
              <a:rPr lang="en-US" dirty="0"/>
              <a:t>Multi-Layer </a:t>
            </a:r>
            <a:r>
              <a:rPr lang="en-US" dirty="0" err="1"/>
              <a:t>Netgrid</a:t>
            </a:r>
            <a:r>
              <a:rPr lang="en-US" dirty="0"/>
              <a:t> Partition Method in Large-Scale SSNs</a:t>
            </a:r>
            <a:endParaRPr dirty="0"/>
          </a:p>
        </p:txBody>
      </p:sp>
      <p:sp>
        <p:nvSpPr>
          <p:cNvPr id="397" name="Google Shape;397;p43"/>
          <p:cNvSpPr txBox="1">
            <a:spLocks noGrp="1"/>
          </p:cNvSpPr>
          <p:nvPr>
            <p:ph type="title" idx="2"/>
          </p:nvPr>
        </p:nvSpPr>
        <p:spPr>
          <a:xfrm flipH="1">
            <a:off x="1180003" y="1035213"/>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cxnSp>
        <p:nvCxnSpPr>
          <p:cNvPr id="398" name="Google Shape;398;p43"/>
          <p:cNvCxnSpPr/>
          <p:nvPr/>
        </p:nvCxnSpPr>
        <p:spPr>
          <a:xfrm>
            <a:off x="0" y="4025730"/>
            <a:ext cx="1676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05A631-52F3-43FB-9577-5F7B4C7F19DD}"/>
              </a:ext>
            </a:extLst>
          </p:cNvPr>
          <p:cNvSpPr>
            <a:spLocks noGrp="1"/>
          </p:cNvSpPr>
          <p:nvPr>
            <p:ph type="ctrTitle"/>
          </p:nvPr>
        </p:nvSpPr>
        <p:spPr/>
        <p:txBody>
          <a:bodyPr/>
          <a:lstStyle/>
          <a:p>
            <a:endParaRPr lang="zh-TW" altLang="en-US"/>
          </a:p>
        </p:txBody>
      </p:sp>
      <p:sp>
        <p:nvSpPr>
          <p:cNvPr id="3" name="副標題 2">
            <a:extLst>
              <a:ext uri="{FF2B5EF4-FFF2-40B4-BE49-F238E27FC236}">
                <a16:creationId xmlns:a16="http://schemas.microsoft.com/office/drawing/2014/main" id="{D947206B-D6DF-4DD1-8929-EB848F82C966}"/>
              </a:ext>
            </a:extLst>
          </p:cNvPr>
          <p:cNvSpPr>
            <a:spLocks noGrp="1"/>
          </p:cNvSpPr>
          <p:nvPr>
            <p:ph type="subTitle" idx="1"/>
          </p:nvPr>
        </p:nvSpPr>
        <p:spPr/>
        <p:txBody>
          <a:bodyPr/>
          <a:lstStyle/>
          <a:p>
            <a:endParaRPr lang="zh-TW" altLang="en-US"/>
          </a:p>
        </p:txBody>
      </p:sp>
      <p:pic>
        <p:nvPicPr>
          <p:cNvPr id="4" name="圖片 3">
            <a:extLst>
              <a:ext uri="{FF2B5EF4-FFF2-40B4-BE49-F238E27FC236}">
                <a16:creationId xmlns:a16="http://schemas.microsoft.com/office/drawing/2014/main" id="{1AC65C0E-17A9-45D3-ABC9-2677E73D9366}"/>
              </a:ext>
            </a:extLst>
          </p:cNvPr>
          <p:cNvPicPr>
            <a:picLocks noChangeAspect="1"/>
          </p:cNvPicPr>
          <p:nvPr/>
        </p:nvPicPr>
        <p:blipFill>
          <a:blip r:embed="rId3"/>
          <a:stretch>
            <a:fillRect/>
          </a:stretch>
        </p:blipFill>
        <p:spPr>
          <a:xfrm>
            <a:off x="903601" y="626109"/>
            <a:ext cx="6921585" cy="3891281"/>
          </a:xfrm>
          <a:prstGeom prst="rect">
            <a:avLst/>
          </a:prstGeom>
        </p:spPr>
      </p:pic>
    </p:spTree>
    <p:extLst>
      <p:ext uri="{BB962C8B-B14F-4D97-AF65-F5344CB8AC3E}">
        <p14:creationId xmlns:p14="http://schemas.microsoft.com/office/powerpoint/2010/main" val="3342071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 name="Google Shape;184;p32"/>
              <p:cNvSpPr txBox="1">
                <a:spLocks noGrp="1"/>
              </p:cNvSpPr>
              <p:nvPr>
                <p:ph type="subTitle" idx="1"/>
              </p:nvPr>
            </p:nvSpPr>
            <p:spPr>
              <a:xfrm>
                <a:off x="1222952" y="456993"/>
                <a:ext cx="6698096" cy="4381707"/>
              </a:xfrm>
              <a:prstGeom prst="rect">
                <a:avLst/>
              </a:prstGeom>
            </p:spPr>
            <p:txBody>
              <a:bodyPr spcFirstLastPara="1" wrap="square" lIns="91425" tIns="91425" rIns="91425" bIns="91425" anchor="t" anchorCtr="0">
                <a:noAutofit/>
              </a:bodyPr>
              <a:lstStyle/>
              <a:p>
                <a:pPr marL="0" lvl="0" indent="0" algn="l"/>
                <a:r>
                  <a:rPr lang="en-US" altLang="zh-TW" sz="1400" b="1" dirty="0"/>
                  <a:t>Netgrid Partition</a:t>
                </a:r>
              </a:p>
              <a:p>
                <a:pPr marL="0" lvl="0" indent="0" algn="l"/>
                <a:r>
                  <a:rPr lang="en-US" altLang="zh-TW" sz="1400" dirty="0"/>
                  <a:t>	Let </a:t>
                </a:r>
                <a14:m>
                  <m:oMath xmlns:m="http://schemas.openxmlformats.org/officeDocument/2006/math">
                    <m:sSub>
                      <m:sSubPr>
                        <m:ctrlPr>
                          <a:rPr lang="en-US" altLang="zh-TW" sz="1400" i="1">
                            <a:solidFill>
                              <a:srgbClr val="000000"/>
                            </a:solidFill>
                            <a:latin typeface="Cambria Math" panose="02040503050406030204" pitchFamily="18" charset="0"/>
                            <a:cs typeface="Arial"/>
                            <a:sym typeface="Arial"/>
                          </a:rPr>
                        </m:ctrlPr>
                      </m:sSubPr>
                      <m:e>
                        <m:r>
                          <a:rPr lang="en-US" altLang="zh-TW" sz="1400" b="0" i="1" smtClean="0">
                            <a:solidFill>
                              <a:srgbClr val="000000"/>
                            </a:solidFill>
                            <a:latin typeface="Cambria Math" panose="02040503050406030204" pitchFamily="18" charset="0"/>
                            <a:cs typeface="Arial"/>
                            <a:sym typeface="Arial"/>
                          </a:rPr>
                          <m:t>𝐿</m:t>
                        </m:r>
                      </m:e>
                      <m:sub>
                        <m:r>
                          <a:rPr lang="en-US" altLang="zh-TW" sz="1400" b="0" i="1" smtClean="0">
                            <a:solidFill>
                              <a:srgbClr val="000000"/>
                            </a:solidFill>
                            <a:latin typeface="Cambria Math" panose="02040503050406030204" pitchFamily="18" charset="0"/>
                            <a:cs typeface="Arial"/>
                            <a:sym typeface="Arial"/>
                          </a:rPr>
                          <m:t>𝑙</m:t>
                        </m:r>
                      </m:sub>
                    </m:sSub>
                    <m:r>
                      <a:rPr lang="en-US" altLang="zh-TW" sz="1400" i="1">
                        <a:solidFill>
                          <a:srgbClr val="000000"/>
                        </a:solidFill>
                        <a:latin typeface="Cambria Math" panose="02040503050406030204" pitchFamily="18" charset="0"/>
                        <a:cs typeface="Arial"/>
                        <a:sym typeface="Arial"/>
                      </a:rPr>
                      <m:t> </m:t>
                    </m:r>
                  </m:oMath>
                </a14:m>
                <a:r>
                  <a:rPr lang="en-US" altLang="zh-TW" sz="1400" dirty="0"/>
                  <a:t>represent the side length of a cube (i.e., </a:t>
                </a:r>
                <a:r>
                  <a:rPr lang="en-US" altLang="zh-TW" sz="1400" dirty="0" err="1"/>
                  <a:t>netgrid</a:t>
                </a:r>
                <a:r>
                  <a:rPr lang="en-US" altLang="zh-TW" sz="1400" dirty="0"/>
                  <a:t>) in layer l, and </a:t>
                </a:r>
                <a14:m>
                  <m:oMath xmlns:m="http://schemas.openxmlformats.org/officeDocument/2006/math">
                    <m:sSub>
                      <m:sSubPr>
                        <m:ctrlPr>
                          <a:rPr lang="en-US" altLang="zh-TW" sz="1400" i="1">
                            <a:solidFill>
                              <a:srgbClr val="000000"/>
                            </a:solidFill>
                            <a:latin typeface="Cambria Math" panose="02040503050406030204" pitchFamily="18" charset="0"/>
                            <a:cs typeface="Arial"/>
                            <a:sym typeface="Arial"/>
                          </a:rPr>
                        </m:ctrlPr>
                      </m:sSubPr>
                      <m:e>
                        <m:r>
                          <a:rPr lang="en-US" altLang="zh-TW" sz="1400" b="0" i="1" smtClean="0">
                            <a:solidFill>
                              <a:srgbClr val="000000"/>
                            </a:solidFill>
                            <a:latin typeface="Cambria Math" panose="02040503050406030204" pitchFamily="18" charset="0"/>
                            <a:cs typeface="Arial"/>
                            <a:sym typeface="Arial"/>
                          </a:rPr>
                          <m:t>𝑅</m:t>
                        </m:r>
                      </m:e>
                      <m:sub>
                        <m:r>
                          <a:rPr lang="en-US" altLang="zh-TW" sz="1400" b="0" i="1" smtClean="0">
                            <a:solidFill>
                              <a:srgbClr val="000000"/>
                            </a:solidFill>
                            <a:latin typeface="Cambria Math" panose="02040503050406030204" pitchFamily="18" charset="0"/>
                            <a:cs typeface="Arial"/>
                            <a:sym typeface="Arial"/>
                          </a:rPr>
                          <m:t>𝑎</m:t>
                        </m:r>
                      </m:sub>
                    </m:sSub>
                  </m:oMath>
                </a14:m>
                <a:r>
                  <a:rPr lang="en-US" altLang="zh-TW" sz="1400" dirty="0"/>
                  <a:t> represent the communication radius of each satellite node. Then the side length of each </a:t>
                </a:r>
                <a:r>
                  <a:rPr lang="en-US" altLang="zh-TW" sz="1400" dirty="0" err="1"/>
                  <a:t>netgrid</a:t>
                </a:r>
                <a:r>
                  <a:rPr lang="en-US" altLang="zh-TW" sz="1400" dirty="0"/>
                  <a:t> in different partition layer l should be</a:t>
                </a:r>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just"/>
                <a:r>
                  <a:rPr lang="en-US" altLang="zh-TW" sz="1400" dirty="0"/>
                  <a:t>	</a:t>
                </a:r>
              </a:p>
              <a:p>
                <a:pPr marL="0" lvl="0" indent="0" algn="just"/>
                <a:endParaRPr sz="1400" dirty="0"/>
              </a:p>
            </p:txBody>
          </p:sp>
        </mc:Choice>
        <mc:Fallback xmlns="">
          <p:sp>
            <p:nvSpPr>
              <p:cNvPr id="184" name="Google Shape;184;p32"/>
              <p:cNvSpPr txBox="1">
                <a:spLocks noGrp="1" noRot="1" noChangeAspect="1" noMove="1" noResize="1" noEditPoints="1" noAdjustHandles="1" noChangeArrowheads="1" noChangeShapeType="1" noTextEdit="1"/>
              </p:cNvSpPr>
              <p:nvPr>
                <p:ph type="subTitle" idx="1"/>
              </p:nvPr>
            </p:nvSpPr>
            <p:spPr>
              <a:xfrm>
                <a:off x="1222952" y="456993"/>
                <a:ext cx="6698096" cy="4381707"/>
              </a:xfrm>
              <a:prstGeom prst="rect">
                <a:avLst/>
              </a:prstGeom>
              <a:blipFill>
                <a:blip r:embed="rId3"/>
                <a:stretch>
                  <a:fillRect l="-273"/>
                </a:stretch>
              </a:blipFill>
            </p:spPr>
            <p:txBody>
              <a:bodyPr/>
              <a:lstStyle/>
              <a:p>
                <a:r>
                  <a:rPr lang="zh-TW" altLang="en-US">
                    <a:noFill/>
                  </a:rPr>
                  <a:t> </a:t>
                </a:r>
              </a:p>
            </p:txBody>
          </p:sp>
        </mc:Fallback>
      </mc:AlternateContent>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4686506"/>
            <a:ext cx="4574400" cy="0"/>
          </a:xfrm>
          <a:prstGeom prst="straightConnector1">
            <a:avLst/>
          </a:prstGeom>
          <a:noFill/>
          <a:ln w="9525" cap="flat" cmpd="sng">
            <a:solidFill>
              <a:schemeClr val="dk1"/>
            </a:solidFill>
            <a:prstDash val="solid"/>
            <a:round/>
            <a:headEnd type="none" w="med" len="med"/>
            <a:tailEnd type="none" w="med" len="med"/>
          </a:ln>
        </p:spPr>
      </p:cxnSp>
      <p:pic>
        <p:nvPicPr>
          <p:cNvPr id="3" name="圖片 2">
            <a:extLst>
              <a:ext uri="{FF2B5EF4-FFF2-40B4-BE49-F238E27FC236}">
                <a16:creationId xmlns:a16="http://schemas.microsoft.com/office/drawing/2014/main" id="{452A850E-AC39-4EC0-9408-5D6DC3281F71}"/>
              </a:ext>
            </a:extLst>
          </p:cNvPr>
          <p:cNvPicPr>
            <a:picLocks noChangeAspect="1"/>
          </p:cNvPicPr>
          <p:nvPr/>
        </p:nvPicPr>
        <p:blipFill>
          <a:blip r:embed="rId4"/>
          <a:stretch>
            <a:fillRect/>
          </a:stretch>
        </p:blipFill>
        <p:spPr>
          <a:xfrm>
            <a:off x="1338617" y="1674412"/>
            <a:ext cx="6353156" cy="897338"/>
          </a:xfrm>
          <a:prstGeom prst="rect">
            <a:avLst/>
          </a:prstGeom>
        </p:spPr>
      </p:pic>
    </p:spTree>
    <p:extLst>
      <p:ext uri="{BB962C8B-B14F-4D97-AF65-F5344CB8AC3E}">
        <p14:creationId xmlns:p14="http://schemas.microsoft.com/office/powerpoint/2010/main" val="1245368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6"/>
          <p:cNvSpPr txBox="1">
            <a:spLocks noGrp="1"/>
          </p:cNvSpPr>
          <p:nvPr>
            <p:ph type="ctrTitle"/>
          </p:nvPr>
        </p:nvSpPr>
        <p:spPr>
          <a:xfrm flipH="1">
            <a:off x="2162075" y="2636480"/>
            <a:ext cx="5195700" cy="1921200"/>
          </a:xfrm>
          <a:prstGeom prst="rect">
            <a:avLst/>
          </a:prstGeom>
        </p:spPr>
        <p:txBody>
          <a:bodyPr spcFirstLastPara="1" wrap="square" lIns="91425" tIns="91425" rIns="91425" bIns="91425" anchor="ctr" anchorCtr="0">
            <a:noAutofit/>
          </a:bodyPr>
          <a:lstStyle/>
          <a:p>
            <a:pPr lvl="0"/>
            <a:r>
              <a:rPr lang="en-US" dirty="0" err="1"/>
              <a:t>Netgrid</a:t>
            </a:r>
            <a:r>
              <a:rPr lang="en-US" dirty="0"/>
              <a:t>-Based Shortest Path Routing Algorithm</a:t>
            </a:r>
          </a:p>
        </p:txBody>
      </p:sp>
      <p:sp>
        <p:nvSpPr>
          <p:cNvPr id="432" name="Google Shape;432;p46"/>
          <p:cNvSpPr txBox="1">
            <a:spLocks noGrp="1"/>
          </p:cNvSpPr>
          <p:nvPr>
            <p:ph type="title" idx="2"/>
          </p:nvPr>
        </p:nvSpPr>
        <p:spPr>
          <a:xfrm flipH="1">
            <a:off x="2260329" y="188198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cxnSp>
        <p:nvCxnSpPr>
          <p:cNvPr id="433" name="Google Shape;433;p46"/>
          <p:cNvCxnSpPr/>
          <p:nvPr/>
        </p:nvCxnSpPr>
        <p:spPr>
          <a:xfrm>
            <a:off x="2162075" y="-35700"/>
            <a:ext cx="0" cy="2382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166147" y="80154"/>
            <a:ext cx="6698096" cy="4606352"/>
          </a:xfrm>
          <a:prstGeom prst="rect">
            <a:avLst/>
          </a:prstGeom>
        </p:spPr>
        <p:txBody>
          <a:bodyPr spcFirstLastPara="1" wrap="square" lIns="91425" tIns="91425" rIns="91425" bIns="91425" anchor="t" anchorCtr="0">
            <a:noAutofit/>
          </a:bodyPr>
          <a:lstStyle/>
          <a:p>
            <a:pPr marL="0" lvl="0" indent="0" algn="l"/>
            <a:r>
              <a:rPr lang="en-US" altLang="zh-TW" sz="2000" b="1" dirty="0"/>
              <a:t>Beacon Protocol</a:t>
            </a:r>
          </a:p>
          <a:p>
            <a:pPr marL="0" lvl="0" indent="0" algn="l"/>
            <a:endParaRPr lang="en-US" altLang="zh-TW" sz="1600" b="1" dirty="0"/>
          </a:p>
          <a:p>
            <a:pPr marL="0" lvl="0" indent="0" algn="l"/>
            <a:r>
              <a:rPr lang="en-US" altLang="zh-TW" sz="1600" dirty="0"/>
              <a:t>	The beacon protocol is proposed by taking into account two factors. One is to adapt the </a:t>
            </a:r>
            <a:r>
              <a:rPr lang="en-US" altLang="zh-TW" sz="1600" dirty="0">
                <a:solidFill>
                  <a:srgbClr val="336699"/>
                </a:solidFill>
              </a:rPr>
              <a:t>dynamic environments </a:t>
            </a:r>
            <a:r>
              <a:rPr lang="en-US" altLang="zh-TW" sz="1600" dirty="0"/>
              <a:t>in satellite networks, such as </a:t>
            </a:r>
            <a:r>
              <a:rPr lang="en-US" altLang="zh-TW" sz="1600" dirty="0">
                <a:solidFill>
                  <a:srgbClr val="336699"/>
                </a:solidFill>
              </a:rPr>
              <a:t>unpredictable link interruption </a:t>
            </a:r>
            <a:r>
              <a:rPr lang="en-US" altLang="zh-TW" sz="1600" dirty="0"/>
              <a:t>and </a:t>
            </a:r>
            <a:r>
              <a:rPr lang="en-US" altLang="zh-TW" sz="1600" dirty="0">
                <a:solidFill>
                  <a:srgbClr val="336699"/>
                </a:solidFill>
              </a:rPr>
              <a:t>node failure</a:t>
            </a:r>
            <a:r>
              <a:rPr lang="en-US" altLang="zh-TW" sz="1600" dirty="0"/>
              <a:t>.</a:t>
            </a:r>
          </a:p>
          <a:p>
            <a:pPr marL="0" lvl="0" indent="0" algn="l"/>
            <a:endParaRPr lang="en-US" altLang="zh-TW" sz="1600" dirty="0"/>
          </a:p>
          <a:p>
            <a:pPr marL="0" lvl="0" indent="0" algn="l"/>
            <a:r>
              <a:rPr lang="en-US" altLang="zh-TW" sz="1600" dirty="0"/>
              <a:t>	The other is to diminish the </a:t>
            </a:r>
            <a:r>
              <a:rPr lang="en-US" altLang="zh-TW" sz="1600" dirty="0">
                <a:solidFill>
                  <a:srgbClr val="336699"/>
                </a:solidFill>
              </a:rPr>
              <a:t>influence of the accuracy sacrifice </a:t>
            </a:r>
            <a:r>
              <a:rPr lang="en-US" altLang="zh-TW" sz="1600" dirty="0"/>
              <a:t>in TNM. In short, the basic idea of the beacon protocol is to </a:t>
            </a:r>
            <a:r>
              <a:rPr lang="en-US" altLang="zh-TW" sz="1600" dirty="0">
                <a:solidFill>
                  <a:srgbClr val="336699"/>
                </a:solidFill>
              </a:rPr>
              <a:t>collect status </a:t>
            </a:r>
            <a:r>
              <a:rPr lang="en-US" altLang="zh-TW" sz="1600" dirty="0"/>
              <a:t>(e.g., queuing delay, transmission rate and so on) of neighbor satellites periodically for routing decision.</a:t>
            </a:r>
          </a:p>
          <a:p>
            <a:pPr marL="0" lvl="0" indent="0" algn="l"/>
            <a:endParaRPr lang="en-US" altLang="zh-TW" sz="1600" dirty="0"/>
          </a:p>
          <a:p>
            <a:pPr marL="0" lvl="0" indent="0" algn="l"/>
            <a:r>
              <a:rPr lang="en-US" altLang="zh-TW" sz="1600" dirty="0"/>
              <a:t>	In the beacon protocol, each satellite node will broadcast beacon packet periodically. When the other satellite nodes receive the beacon packet for the first time, they will </a:t>
            </a:r>
            <a:r>
              <a:rPr lang="en-US" altLang="zh-TW" sz="1600" dirty="0">
                <a:solidFill>
                  <a:srgbClr val="336699"/>
                </a:solidFill>
              </a:rPr>
              <a:t>mark the sender as an alive neighbor </a:t>
            </a:r>
            <a:r>
              <a:rPr lang="en-US" altLang="zh-TW" sz="1600" dirty="0"/>
              <a:t>and </a:t>
            </a:r>
            <a:r>
              <a:rPr lang="en-US" altLang="zh-TW" sz="1600" dirty="0">
                <a:solidFill>
                  <a:srgbClr val="336699"/>
                </a:solidFill>
              </a:rPr>
              <a:t>save the corresponding information </a:t>
            </a:r>
            <a:r>
              <a:rPr lang="en-US" altLang="zh-TW" sz="1600" dirty="0"/>
              <a:t>contained in beacon packet.</a:t>
            </a:r>
          </a:p>
          <a:p>
            <a:pPr marL="0" lvl="0" indent="0" algn="l"/>
            <a:endParaRPr lang="en-US" altLang="zh-TW" sz="1600" dirty="0"/>
          </a:p>
          <a:p>
            <a:pPr marL="0" lvl="0" indent="0" algn="l"/>
            <a:r>
              <a:rPr lang="en-US" altLang="zh-TW" sz="1600" dirty="0"/>
              <a:t>	In order to detect link interruption and node failure, alive neighbor v will be </a:t>
            </a:r>
            <a:r>
              <a:rPr lang="en-US" altLang="zh-TW" sz="1600" dirty="0">
                <a:solidFill>
                  <a:srgbClr val="336699"/>
                </a:solidFill>
              </a:rPr>
              <a:t>deleted after three broadcast periods </a:t>
            </a:r>
            <a:r>
              <a:rPr lang="en-US" altLang="zh-TW" sz="1600" dirty="0"/>
              <a:t>unless a new beacon packet broadcasted by v is received.</a:t>
            </a:r>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just"/>
            <a:r>
              <a:rPr lang="en-US" altLang="zh-TW" sz="1400" dirty="0"/>
              <a:t>	</a:t>
            </a:r>
          </a:p>
          <a:p>
            <a:pPr marL="0" lvl="0" indent="0" algn="just"/>
            <a:endParaRPr sz="1400" dirty="0"/>
          </a:p>
        </p:txBody>
      </p:sp>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5031280"/>
            <a:ext cx="457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618053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42DF2-9B6D-413E-BD49-82457C5DB52D}"/>
              </a:ext>
            </a:extLst>
          </p:cNvPr>
          <p:cNvSpPr>
            <a:spLocks noGrp="1"/>
          </p:cNvSpPr>
          <p:nvPr>
            <p:ph type="ctrTitle"/>
          </p:nvPr>
        </p:nvSpPr>
        <p:spPr/>
        <p:txBody>
          <a:bodyPr/>
          <a:lstStyle/>
          <a:p>
            <a:endParaRPr lang="zh-TW" altLang="en-US"/>
          </a:p>
        </p:txBody>
      </p:sp>
      <p:sp>
        <p:nvSpPr>
          <p:cNvPr id="3" name="副標題 2">
            <a:extLst>
              <a:ext uri="{FF2B5EF4-FFF2-40B4-BE49-F238E27FC236}">
                <a16:creationId xmlns:a16="http://schemas.microsoft.com/office/drawing/2014/main" id="{31B0A397-FC8C-4D66-B86F-5E0FFA0D3E6C}"/>
              </a:ext>
            </a:extLst>
          </p:cNvPr>
          <p:cNvSpPr>
            <a:spLocks noGrp="1"/>
          </p:cNvSpPr>
          <p:nvPr>
            <p:ph type="subTitle" idx="1"/>
          </p:nvPr>
        </p:nvSpPr>
        <p:spPr/>
        <p:txBody>
          <a:bodyPr/>
          <a:lstStyle/>
          <a:p>
            <a:endParaRPr lang="zh-TW" altLang="en-US"/>
          </a:p>
        </p:txBody>
      </p:sp>
      <p:pic>
        <p:nvPicPr>
          <p:cNvPr id="5" name="圖片 4">
            <a:extLst>
              <a:ext uri="{FF2B5EF4-FFF2-40B4-BE49-F238E27FC236}">
                <a16:creationId xmlns:a16="http://schemas.microsoft.com/office/drawing/2014/main" id="{D6CC3A68-907E-46DD-88CD-5F29D8E3D9F1}"/>
              </a:ext>
            </a:extLst>
          </p:cNvPr>
          <p:cNvPicPr>
            <a:picLocks noChangeAspect="1"/>
          </p:cNvPicPr>
          <p:nvPr/>
        </p:nvPicPr>
        <p:blipFill>
          <a:blip r:embed="rId2"/>
          <a:stretch>
            <a:fillRect/>
          </a:stretch>
        </p:blipFill>
        <p:spPr>
          <a:xfrm>
            <a:off x="1499634" y="70443"/>
            <a:ext cx="6006066" cy="5002614"/>
          </a:xfrm>
          <a:prstGeom prst="rect">
            <a:avLst/>
          </a:prstGeom>
        </p:spPr>
      </p:pic>
    </p:spTree>
    <p:extLst>
      <p:ext uri="{BB962C8B-B14F-4D97-AF65-F5344CB8AC3E}">
        <p14:creationId xmlns:p14="http://schemas.microsoft.com/office/powerpoint/2010/main" val="197951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166147" y="80154"/>
            <a:ext cx="6698096" cy="4606352"/>
          </a:xfrm>
          <a:prstGeom prst="rect">
            <a:avLst/>
          </a:prstGeom>
        </p:spPr>
        <p:txBody>
          <a:bodyPr spcFirstLastPara="1" wrap="square" lIns="91425" tIns="91425" rIns="91425" bIns="91425" anchor="t" anchorCtr="0">
            <a:noAutofit/>
          </a:bodyPr>
          <a:lstStyle/>
          <a:p>
            <a:pPr marL="0" lvl="0" indent="0" algn="l"/>
            <a:r>
              <a:rPr lang="en-US" altLang="zh-TW" sz="2000" b="1" dirty="0"/>
              <a:t>Routing Strategy</a:t>
            </a:r>
          </a:p>
          <a:p>
            <a:pPr marL="0" lvl="0" indent="0" algn="l"/>
            <a:endParaRPr lang="en-US" altLang="zh-TW" sz="1600" b="1" dirty="0"/>
          </a:p>
          <a:p>
            <a:pPr marL="342900" lvl="0" indent="-342900" algn="l">
              <a:buAutoNum type="arabicParenR"/>
            </a:pPr>
            <a:r>
              <a:rPr lang="en-US" altLang="zh-TW" sz="1400" b="1" dirty="0"/>
              <a:t>Neighbor Nodes Check</a:t>
            </a:r>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just"/>
            <a:r>
              <a:rPr lang="en-US" altLang="zh-TW" sz="1400" dirty="0"/>
              <a:t>	</a:t>
            </a:r>
          </a:p>
          <a:p>
            <a:pPr marL="0" lvl="0" indent="0" algn="just"/>
            <a:endParaRPr sz="1400" dirty="0"/>
          </a:p>
        </p:txBody>
      </p:sp>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5031280"/>
            <a:ext cx="4574400" cy="0"/>
          </a:xfrm>
          <a:prstGeom prst="straightConnector1">
            <a:avLst/>
          </a:prstGeom>
          <a:noFill/>
          <a:ln w="9525" cap="flat" cmpd="sng">
            <a:solidFill>
              <a:schemeClr val="dk1"/>
            </a:solidFill>
            <a:prstDash val="solid"/>
            <a:round/>
            <a:headEnd type="none" w="med" len="med"/>
            <a:tailEnd type="none" w="med" len="med"/>
          </a:ln>
        </p:spPr>
      </p:cxnSp>
      <p:pic>
        <p:nvPicPr>
          <p:cNvPr id="2" name="圖片 1"/>
          <p:cNvPicPr>
            <a:picLocks noChangeAspect="1"/>
          </p:cNvPicPr>
          <p:nvPr/>
        </p:nvPicPr>
        <p:blipFill>
          <a:blip r:embed="rId3"/>
          <a:stretch>
            <a:fillRect/>
          </a:stretch>
        </p:blipFill>
        <p:spPr>
          <a:xfrm>
            <a:off x="3665375" y="1"/>
            <a:ext cx="3668431" cy="5143500"/>
          </a:xfrm>
          <a:prstGeom prst="rect">
            <a:avLst/>
          </a:prstGeom>
        </p:spPr>
      </p:pic>
      <p:sp>
        <p:nvSpPr>
          <p:cNvPr id="4" name="矩形 3"/>
          <p:cNvSpPr/>
          <p:nvPr/>
        </p:nvSpPr>
        <p:spPr>
          <a:xfrm>
            <a:off x="548513" y="1832611"/>
            <a:ext cx="2354580" cy="7162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336699"/>
                </a:solidFill>
              </a:rPr>
              <a:t>If d node is one of the alive neighbor, it could be transmitted directly.</a:t>
            </a:r>
            <a:endParaRPr lang="zh-TW" altLang="en-US" dirty="0">
              <a:solidFill>
                <a:srgbClr val="336699"/>
              </a:solidFill>
            </a:endParaRPr>
          </a:p>
        </p:txBody>
      </p:sp>
      <p:sp>
        <p:nvSpPr>
          <p:cNvPr id="8" name="矩形 7"/>
          <p:cNvSpPr/>
          <p:nvPr/>
        </p:nvSpPr>
        <p:spPr>
          <a:xfrm>
            <a:off x="471232" y="3357650"/>
            <a:ext cx="2509143" cy="97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336699"/>
                </a:solidFill>
              </a:rPr>
              <a:t>If d node is not one of the alive neighbor, all of the alive neighbor’s </a:t>
            </a:r>
            <a:r>
              <a:rPr lang="en-US" altLang="zh-TW" dirty="0" err="1">
                <a:solidFill>
                  <a:srgbClr val="336699"/>
                </a:solidFill>
              </a:rPr>
              <a:t>netgrid</a:t>
            </a:r>
            <a:r>
              <a:rPr lang="en-US" altLang="zh-TW" dirty="0">
                <a:solidFill>
                  <a:srgbClr val="336699"/>
                </a:solidFill>
              </a:rPr>
              <a:t> will be added into search set S*.</a:t>
            </a:r>
            <a:endParaRPr lang="zh-TW" altLang="en-US" dirty="0">
              <a:solidFill>
                <a:srgbClr val="336699"/>
              </a:solidFill>
            </a:endParaRPr>
          </a:p>
        </p:txBody>
      </p:sp>
      <p:sp>
        <p:nvSpPr>
          <p:cNvPr id="5" name="左大括弧 4"/>
          <p:cNvSpPr/>
          <p:nvPr/>
        </p:nvSpPr>
        <p:spPr>
          <a:xfrm>
            <a:off x="2980375" y="1661160"/>
            <a:ext cx="418145" cy="1074420"/>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sp>
        <p:nvSpPr>
          <p:cNvPr id="10" name="左大括弧 9"/>
          <p:cNvSpPr/>
          <p:nvPr/>
        </p:nvSpPr>
        <p:spPr>
          <a:xfrm>
            <a:off x="3108845" y="2987039"/>
            <a:ext cx="418145" cy="1779619"/>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3916250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32"/>
          <p:cNvSpPr txBox="1">
            <a:spLocks noGrp="1"/>
          </p:cNvSpPr>
          <p:nvPr>
            <p:ph type="subTitle" idx="1"/>
          </p:nvPr>
        </p:nvSpPr>
        <p:spPr>
          <a:xfrm>
            <a:off x="1166147" y="80154"/>
            <a:ext cx="6698096" cy="4606352"/>
          </a:xfrm>
          <a:prstGeom prst="rect">
            <a:avLst/>
          </a:prstGeom>
        </p:spPr>
        <p:txBody>
          <a:bodyPr spcFirstLastPara="1" wrap="square" lIns="91425" tIns="91425" rIns="91425" bIns="91425" anchor="t" anchorCtr="0">
            <a:noAutofit/>
          </a:bodyPr>
          <a:lstStyle/>
          <a:p>
            <a:pPr marL="0" lvl="0" indent="0" algn="l"/>
            <a:r>
              <a:rPr lang="en-US" altLang="zh-TW" sz="2000" b="1" dirty="0"/>
              <a:t>Routing Strategy</a:t>
            </a:r>
          </a:p>
          <a:p>
            <a:pPr marL="0" lvl="0" indent="0" algn="l"/>
            <a:endParaRPr lang="en-US" altLang="zh-TW" sz="1600" b="1" dirty="0"/>
          </a:p>
          <a:p>
            <a:pPr marL="0" lvl="0" indent="0" algn="l"/>
            <a:r>
              <a:rPr lang="en-US" altLang="zh-TW" sz="1400" b="1" dirty="0"/>
              <a:t>2)</a:t>
            </a:r>
            <a:r>
              <a:rPr lang="zh-TW" altLang="en-US" sz="1400" b="1" dirty="0"/>
              <a:t>  </a:t>
            </a:r>
            <a:r>
              <a:rPr lang="en-US" altLang="zh-TW" sz="1400" b="1" dirty="0"/>
              <a:t>Transmission delay maintenance</a:t>
            </a:r>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l"/>
            <a:endParaRPr lang="en-US" altLang="zh-TW" sz="1400" dirty="0"/>
          </a:p>
          <a:p>
            <a:pPr marL="0" lvl="0" indent="0" algn="just"/>
            <a:r>
              <a:rPr lang="en-US" altLang="zh-TW" sz="1400" dirty="0"/>
              <a:t>	</a:t>
            </a:r>
          </a:p>
          <a:p>
            <a:pPr marL="0" lvl="0" indent="0" algn="just"/>
            <a:endParaRPr sz="1400" dirty="0"/>
          </a:p>
        </p:txBody>
      </p:sp>
      <p:cxnSp>
        <p:nvCxnSpPr>
          <p:cNvPr id="185" name="Google Shape;185;p32"/>
          <p:cNvCxnSpPr/>
          <p:nvPr/>
        </p:nvCxnSpPr>
        <p:spPr>
          <a:xfrm>
            <a:off x="4515195" y="369043"/>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32"/>
          <p:cNvCxnSpPr/>
          <p:nvPr/>
        </p:nvCxnSpPr>
        <p:spPr>
          <a:xfrm>
            <a:off x="-59205" y="5031280"/>
            <a:ext cx="4574400" cy="0"/>
          </a:xfrm>
          <a:prstGeom prst="straightConnector1">
            <a:avLst/>
          </a:prstGeom>
          <a:noFill/>
          <a:ln w="9525" cap="flat" cmpd="sng">
            <a:solidFill>
              <a:schemeClr val="dk1"/>
            </a:solidFill>
            <a:prstDash val="solid"/>
            <a:round/>
            <a:headEnd type="none" w="med" len="med"/>
            <a:tailEnd type="none" w="med" len="med"/>
          </a:ln>
        </p:spPr>
      </p:cxnSp>
      <p:pic>
        <p:nvPicPr>
          <p:cNvPr id="3" name="圖片 2"/>
          <p:cNvPicPr>
            <a:picLocks noChangeAspect="1"/>
          </p:cNvPicPr>
          <p:nvPr/>
        </p:nvPicPr>
        <p:blipFill>
          <a:blip r:embed="rId3"/>
          <a:stretch>
            <a:fillRect/>
          </a:stretch>
        </p:blipFill>
        <p:spPr>
          <a:xfrm>
            <a:off x="4126773" y="172389"/>
            <a:ext cx="4469692" cy="4791142"/>
          </a:xfrm>
          <a:prstGeom prst="rect">
            <a:avLst/>
          </a:prstGeom>
        </p:spPr>
      </p:pic>
      <p:sp>
        <p:nvSpPr>
          <p:cNvPr id="8" name="左大括弧 7"/>
          <p:cNvSpPr/>
          <p:nvPr/>
        </p:nvSpPr>
        <p:spPr>
          <a:xfrm>
            <a:off x="3360762" y="3200400"/>
            <a:ext cx="464478" cy="922020"/>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sp>
        <p:nvSpPr>
          <p:cNvPr id="9" name="矩形 8"/>
          <p:cNvSpPr/>
          <p:nvPr/>
        </p:nvSpPr>
        <p:spPr>
          <a:xfrm>
            <a:off x="658316" y="3257551"/>
            <a:ext cx="2354580" cy="7162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336699"/>
                </a:solidFill>
              </a:rPr>
              <a:t>If</a:t>
            </a:r>
            <a:r>
              <a:rPr lang="zh-TW" altLang="en-US" dirty="0">
                <a:solidFill>
                  <a:srgbClr val="336699"/>
                </a:solidFill>
              </a:rPr>
              <a:t> </a:t>
            </a:r>
            <a:r>
              <a:rPr lang="en-US" altLang="zh-TW" dirty="0">
                <a:solidFill>
                  <a:srgbClr val="336699"/>
                </a:solidFill>
              </a:rPr>
              <a:t>new total time &lt; total time</a:t>
            </a:r>
          </a:p>
          <a:p>
            <a:pPr algn="ctr"/>
            <a:r>
              <a:rPr lang="en-US" altLang="zh-TW" dirty="0">
                <a:solidFill>
                  <a:srgbClr val="336699"/>
                </a:solidFill>
              </a:rPr>
              <a:t>total time = new total time </a:t>
            </a:r>
            <a:endParaRPr lang="zh-TW" altLang="en-US" dirty="0">
              <a:solidFill>
                <a:srgbClr val="336699"/>
              </a:solidFill>
            </a:endParaRPr>
          </a:p>
        </p:txBody>
      </p:sp>
    </p:spTree>
    <p:extLst>
      <p:ext uri="{BB962C8B-B14F-4D97-AF65-F5344CB8AC3E}">
        <p14:creationId xmlns:p14="http://schemas.microsoft.com/office/powerpoint/2010/main" val="4155192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4964285" y="729671"/>
            <a:ext cx="4004455" cy="1787369"/>
          </a:xfrm>
        </p:spPr>
        <p:txBody>
          <a:bodyPr/>
          <a:lstStyle/>
          <a:p>
            <a:pPr lvl="0"/>
            <a:r>
              <a:rPr lang="en-US" altLang="zh-TW" sz="2000" dirty="0" err="1"/>
              <a:t>Netgrid</a:t>
            </a:r>
            <a:r>
              <a:rPr lang="en-US" altLang="zh-TW" sz="2000" dirty="0"/>
              <a:t>-based shortest-path routing</a:t>
            </a:r>
            <a:endParaRPr lang="zh-TW" altLang="en-US" sz="2000" dirty="0"/>
          </a:p>
        </p:txBody>
      </p:sp>
      <p:pic>
        <p:nvPicPr>
          <p:cNvPr id="4" name="圖片 3"/>
          <p:cNvPicPr>
            <a:picLocks noChangeAspect="1"/>
          </p:cNvPicPr>
          <p:nvPr/>
        </p:nvPicPr>
        <p:blipFill rotWithShape="1">
          <a:blip r:embed="rId3"/>
          <a:srcRect l="1" t="-347" r="-1" b="20742"/>
          <a:stretch/>
        </p:blipFill>
        <p:spPr>
          <a:xfrm>
            <a:off x="312415" y="-99060"/>
            <a:ext cx="4651870" cy="5242560"/>
          </a:xfrm>
          <a:prstGeom prst="rect">
            <a:avLst/>
          </a:prstGeom>
        </p:spPr>
      </p:pic>
      <p:pic>
        <p:nvPicPr>
          <p:cNvPr id="5" name="圖片 4"/>
          <p:cNvPicPr>
            <a:picLocks noChangeAspect="1"/>
          </p:cNvPicPr>
          <p:nvPr/>
        </p:nvPicPr>
        <p:blipFill>
          <a:blip r:embed="rId4"/>
          <a:stretch>
            <a:fillRect/>
          </a:stretch>
        </p:blipFill>
        <p:spPr>
          <a:xfrm>
            <a:off x="5070822" y="273067"/>
            <a:ext cx="4438795" cy="1350289"/>
          </a:xfrm>
          <a:prstGeom prst="rect">
            <a:avLst/>
          </a:prstGeom>
        </p:spPr>
      </p:pic>
    </p:spTree>
    <p:extLst>
      <p:ext uri="{BB962C8B-B14F-4D97-AF65-F5344CB8AC3E}">
        <p14:creationId xmlns:p14="http://schemas.microsoft.com/office/powerpoint/2010/main" val="1662577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Google Shape;184;p32"/>
              <p:cNvSpPr txBox="1">
                <a:spLocks/>
              </p:cNvSpPr>
              <p:nvPr/>
            </p:nvSpPr>
            <p:spPr>
              <a:xfrm>
                <a:off x="968027" y="110634"/>
                <a:ext cx="6698096" cy="46063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2000" b="1" dirty="0"/>
                  <a:t>Complexity Analysis</a:t>
                </a:r>
              </a:p>
              <a:p>
                <a:endParaRPr lang="en-US" altLang="zh-TW" sz="1600" b="1" dirty="0"/>
              </a:p>
              <a:p>
                <a:r>
                  <a:rPr lang="en-US" altLang="zh-TW" sz="1600" dirty="0"/>
                  <a:t>	The searching process in Algorithm 1 shows that the complexity of NSR is only related to the </a:t>
                </a:r>
                <a:r>
                  <a:rPr lang="en-US" altLang="zh-TW" sz="1600" dirty="0">
                    <a:solidFill>
                      <a:srgbClr val="336699"/>
                    </a:solidFill>
                  </a:rPr>
                  <a:t>number of non-empty </a:t>
                </a:r>
                <a:r>
                  <a:rPr lang="en-US" altLang="zh-TW" sz="1600" dirty="0" err="1">
                    <a:solidFill>
                      <a:srgbClr val="336699"/>
                    </a:solidFill>
                  </a:rPr>
                  <a:t>netgrids</a:t>
                </a:r>
                <a:r>
                  <a:rPr lang="en-US" altLang="zh-TW" sz="1600" dirty="0">
                    <a:solidFill>
                      <a:srgbClr val="336699"/>
                    </a:solidFill>
                  </a:rPr>
                  <a:t> </a:t>
                </a:r>
                <a:r>
                  <a:rPr lang="en-US" altLang="zh-TW" sz="1600" dirty="0"/>
                  <a:t>rather than satellites nodes.</a:t>
                </a:r>
              </a:p>
              <a:p>
                <a:r>
                  <a:rPr lang="en-US" altLang="zh-TW" sz="1600" dirty="0"/>
                  <a:t>	Let </a:t>
                </a:r>
                <a14:m>
                  <m:oMath xmlns:m="http://schemas.openxmlformats.org/officeDocument/2006/math">
                    <m:bar>
                      <m:barPr>
                        <m:pos m:val="top"/>
                        <m:ctrlPr>
                          <a:rPr lang="en-US" altLang="zh-TW" sz="1600" i="1" dirty="0">
                            <a:latin typeface="Cambria Math" panose="02040503050406030204" pitchFamily="18" charset="0"/>
                          </a:rPr>
                        </m:ctrlPr>
                      </m:barPr>
                      <m:e>
                        <m:sSub>
                          <m:sSubPr>
                            <m:ctrlPr>
                              <a:rPr lang="en-US" altLang="zh-TW" sz="1600" i="1">
                                <a:latin typeface="Cambria Math" panose="02040503050406030204" pitchFamily="18" charset="0"/>
                              </a:rPr>
                            </m:ctrlPr>
                          </m:sSubPr>
                          <m:e>
                            <m:r>
                              <a:rPr lang="en-US" altLang="zh-TW" sz="1600" b="0" i="1" smtClean="0">
                                <a:latin typeface="Cambria Math" panose="02040503050406030204" pitchFamily="18" charset="0"/>
                              </a:rPr>
                              <m:t> </m:t>
                            </m:r>
                            <m:r>
                              <a:rPr lang="en-US" altLang="zh-TW" sz="1600" i="1">
                                <a:latin typeface="Cambria Math" panose="02040503050406030204" pitchFamily="18" charset="0"/>
                              </a:rPr>
                              <m:t>𝑁</m:t>
                            </m:r>
                          </m:e>
                          <m:sub>
                            <m:r>
                              <a:rPr lang="en-US" altLang="zh-TW" sz="1600" i="1">
                                <a:latin typeface="Cambria Math" panose="02040503050406030204" pitchFamily="18" charset="0"/>
                              </a:rPr>
                              <m:t>𝑛</m:t>
                            </m:r>
                          </m:sub>
                        </m:sSub>
                      </m:e>
                    </m:bar>
                  </m:oMath>
                </a14:m>
                <a:r>
                  <a:rPr lang="en-US" altLang="zh-TW" sz="1600" dirty="0"/>
                  <a:t> denote the average number of all non-empty </a:t>
                </a:r>
                <a:r>
                  <a:rPr lang="en-US" altLang="zh-TW" sz="1600" dirty="0" err="1"/>
                  <a:t>netgrids</a:t>
                </a:r>
                <a:endParaRPr lang="en-US" altLang="zh-TW" sz="1600" dirty="0"/>
              </a:p>
              <a:p>
                <a:r>
                  <a:rPr lang="en-US" altLang="zh-TW" sz="1600" dirty="0"/>
                  <a:t>in TNM. The maintenance cost about priority queue </a:t>
                </a:r>
                <a:r>
                  <a:rPr lang="en-US" altLang="zh-TW" sz="1600" i="1" dirty="0"/>
                  <a:t>Q </a:t>
                </a:r>
                <a:r>
                  <a:rPr lang="en-US" altLang="zh-TW" sz="1600" dirty="0"/>
                  <a:t>for each loop in line 8 of Algorithm 3 is </a:t>
                </a:r>
                <a:r>
                  <a:rPr lang="en-US" altLang="zh-TW" sz="1600" i="1" dirty="0"/>
                  <a:t>O</a:t>
                </a:r>
                <a:r>
                  <a:rPr lang="en-US" altLang="zh-TW" sz="1600" dirty="0"/>
                  <a:t>(</a:t>
                </a:r>
                <a14:m>
                  <m:oMath xmlns:m="http://schemas.openxmlformats.org/officeDocument/2006/math">
                    <m:bar>
                      <m:barPr>
                        <m:pos m:val="top"/>
                        <m:ctrlPr>
                          <a:rPr lang="en-US" altLang="zh-TW" sz="1600" i="1" dirty="0">
                            <a:latin typeface="Cambria Math" panose="02040503050406030204" pitchFamily="18" charset="0"/>
                          </a:rPr>
                        </m:ctrlPr>
                      </m:barPr>
                      <m:e>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𝑁</m:t>
                            </m:r>
                          </m:e>
                          <m:sub>
                            <m:r>
                              <a:rPr lang="en-US" altLang="zh-TW" sz="1600" i="1">
                                <a:latin typeface="Cambria Math" panose="02040503050406030204" pitchFamily="18" charset="0"/>
                              </a:rPr>
                              <m:t>𝑛</m:t>
                            </m:r>
                          </m:sub>
                        </m:sSub>
                      </m:e>
                    </m:bar>
                  </m:oMath>
                </a14:m>
                <a:r>
                  <a:rPr lang="en-US" altLang="zh-TW" sz="1600" dirty="0"/>
                  <a:t>), the total number of calculations about cumulative transmission time time(</a:t>
                </a:r>
                <a14:m>
                  <m:oMath xmlns:m="http://schemas.openxmlformats.org/officeDocument/2006/math">
                    <m:sSub>
                      <m:sSubPr>
                        <m:ctrlPr>
                          <a:rPr lang="en-US" altLang="zh-TW" sz="1600" i="1">
                            <a:latin typeface="Cambria Math" panose="02040503050406030204" pitchFamily="18" charset="0"/>
                          </a:rPr>
                        </m:ctrlPr>
                      </m:sSubPr>
                      <m:e>
                        <m:r>
                          <a:rPr lang="en-US" altLang="zh-TW" sz="1600" b="0" i="1" smtClean="0">
                            <a:latin typeface="Cambria Math" panose="02040503050406030204" pitchFamily="18" charset="0"/>
                          </a:rPr>
                          <m:t>𝐶</m:t>
                        </m:r>
                      </m:e>
                      <m:sub>
                        <m:r>
                          <a:rPr lang="en-US" altLang="zh-TW" sz="1600" i="1">
                            <a:latin typeface="Cambria Math" panose="02040503050406030204" pitchFamily="18" charset="0"/>
                          </a:rPr>
                          <m:t>𝑛</m:t>
                        </m:r>
                      </m:sub>
                    </m:sSub>
                  </m:oMath>
                </a14:m>
                <a:r>
                  <a:rPr lang="en-US" altLang="zh-TW" sz="1600" dirty="0"/>
                  <a:t>) in line 9 of Algorithm 3 is </a:t>
                </a:r>
                <a14:m>
                  <m:oMath xmlns:m="http://schemas.openxmlformats.org/officeDocument/2006/math">
                    <m:sSub>
                      <m:sSubPr>
                        <m:ctrlPr>
                          <a:rPr lang="en-US" altLang="zh-TW" sz="1600" i="1">
                            <a:latin typeface="Cambria Math" panose="02040503050406030204" pitchFamily="18" charset="0"/>
                          </a:rPr>
                        </m:ctrlPr>
                      </m:sSubPr>
                      <m:e>
                        <m:r>
                          <a:rPr lang="en-US" altLang="zh-TW" sz="1600" b="0" i="1" smtClean="0">
                            <a:latin typeface="Cambria Math" panose="02040503050406030204" pitchFamily="18" charset="0"/>
                          </a:rPr>
                          <m:t>𝐸</m:t>
                        </m:r>
                      </m:e>
                      <m:sub>
                        <m:r>
                          <a:rPr lang="en-US" altLang="zh-TW" sz="1600" i="1">
                            <a:latin typeface="Cambria Math" panose="02040503050406030204" pitchFamily="18" charset="0"/>
                          </a:rPr>
                          <m:t>𝑛</m:t>
                        </m:r>
                      </m:sub>
                    </m:sSub>
                  </m:oMath>
                </a14:m>
                <a:endParaRPr lang="en-US" altLang="zh-TW" sz="1600" dirty="0"/>
              </a:p>
              <a:p>
                <a:r>
                  <a:rPr lang="en-US" altLang="zh-TW" sz="1600" dirty="0"/>
                  <a:t>	Consequently, the computation complexity of NSR is </a:t>
                </a:r>
              </a:p>
              <a:p>
                <a:r>
                  <a:rPr lang="en-US" altLang="zh-TW" sz="1600" dirty="0">
                    <a:solidFill>
                      <a:srgbClr val="336699"/>
                    </a:solidFill>
                  </a:rPr>
                  <a:t>O( </a:t>
                </a:r>
                <a14:m>
                  <m:oMath xmlns:m="http://schemas.openxmlformats.org/officeDocument/2006/math">
                    <m:sSup>
                      <m:sSupPr>
                        <m:ctrlPr>
                          <a:rPr lang="en-US" altLang="zh-TW" sz="1600" i="1" dirty="0">
                            <a:solidFill>
                              <a:srgbClr val="336699"/>
                            </a:solidFill>
                            <a:latin typeface="Cambria Math" panose="02040503050406030204" pitchFamily="18" charset="0"/>
                          </a:rPr>
                        </m:ctrlPr>
                      </m:sSupPr>
                      <m:e>
                        <m:bar>
                          <m:barPr>
                            <m:pos m:val="top"/>
                            <m:ctrlPr>
                              <a:rPr lang="en-US" altLang="zh-TW" sz="1600" i="1" dirty="0">
                                <a:solidFill>
                                  <a:srgbClr val="336699"/>
                                </a:solidFill>
                                <a:latin typeface="Cambria Math" panose="02040503050406030204" pitchFamily="18" charset="0"/>
                              </a:rPr>
                            </m:ctrlPr>
                          </m:barPr>
                          <m:e>
                            <m:sSub>
                              <m:sSubPr>
                                <m:ctrlPr>
                                  <a:rPr lang="en-US" altLang="zh-TW" sz="1600" i="1">
                                    <a:solidFill>
                                      <a:srgbClr val="336699"/>
                                    </a:solidFill>
                                    <a:latin typeface="Cambria Math" panose="02040503050406030204" pitchFamily="18" charset="0"/>
                                  </a:rPr>
                                </m:ctrlPr>
                              </m:sSubPr>
                              <m:e>
                                <m:r>
                                  <a:rPr lang="en-US" altLang="zh-TW" sz="1600" i="1">
                                    <a:solidFill>
                                      <a:srgbClr val="336699"/>
                                    </a:solidFill>
                                    <a:latin typeface="Cambria Math" panose="02040503050406030204" pitchFamily="18" charset="0"/>
                                  </a:rPr>
                                  <m:t>𝑁</m:t>
                                </m:r>
                              </m:e>
                              <m:sub>
                                <m:r>
                                  <a:rPr lang="en-US" altLang="zh-TW" sz="1600" i="1">
                                    <a:solidFill>
                                      <a:srgbClr val="336699"/>
                                    </a:solidFill>
                                    <a:latin typeface="Cambria Math" panose="02040503050406030204" pitchFamily="18" charset="0"/>
                                  </a:rPr>
                                  <m:t>𝑛</m:t>
                                </m:r>
                              </m:sub>
                            </m:sSub>
                          </m:e>
                        </m:bar>
                      </m:e>
                      <m:sup>
                        <m:r>
                          <a:rPr lang="en-US" altLang="zh-TW" sz="1600" i="1" dirty="0">
                            <a:solidFill>
                              <a:srgbClr val="336699"/>
                            </a:solidFill>
                            <a:latin typeface="Cambria Math" panose="02040503050406030204" pitchFamily="18" charset="0"/>
                          </a:rPr>
                          <m:t>2</m:t>
                        </m:r>
                      </m:sup>
                    </m:sSup>
                  </m:oMath>
                </a14:m>
                <a:r>
                  <a:rPr lang="en-US" altLang="zh-TW" sz="1600" dirty="0">
                    <a:solidFill>
                      <a:srgbClr val="336699"/>
                    </a:solidFill>
                  </a:rPr>
                  <a:t>+ </a:t>
                </a:r>
                <a14:m>
                  <m:oMath xmlns:m="http://schemas.openxmlformats.org/officeDocument/2006/math">
                    <m:bar>
                      <m:barPr>
                        <m:pos m:val="top"/>
                        <m:ctrlPr>
                          <a:rPr lang="en-US" altLang="zh-TW" sz="1600" i="1" dirty="0">
                            <a:solidFill>
                              <a:srgbClr val="336699"/>
                            </a:solidFill>
                            <a:latin typeface="Cambria Math" panose="02040503050406030204" pitchFamily="18" charset="0"/>
                          </a:rPr>
                        </m:ctrlPr>
                      </m:barPr>
                      <m:e>
                        <m:sSub>
                          <m:sSubPr>
                            <m:ctrlPr>
                              <a:rPr lang="en-US" altLang="zh-TW" sz="1600" i="1">
                                <a:solidFill>
                                  <a:srgbClr val="336699"/>
                                </a:solidFill>
                                <a:latin typeface="Cambria Math" panose="02040503050406030204" pitchFamily="18" charset="0"/>
                              </a:rPr>
                            </m:ctrlPr>
                          </m:sSubPr>
                          <m:e>
                            <m:r>
                              <a:rPr lang="en-US" altLang="zh-TW" sz="1600" b="0" i="1" smtClean="0">
                                <a:solidFill>
                                  <a:srgbClr val="336699"/>
                                </a:solidFill>
                                <a:latin typeface="Cambria Math" panose="02040503050406030204" pitchFamily="18" charset="0"/>
                              </a:rPr>
                              <m:t>𝐸</m:t>
                            </m:r>
                          </m:e>
                          <m:sub>
                            <m:r>
                              <a:rPr lang="en-US" altLang="zh-TW" sz="1600" i="1">
                                <a:solidFill>
                                  <a:srgbClr val="336699"/>
                                </a:solidFill>
                                <a:latin typeface="Cambria Math" panose="02040503050406030204" pitchFamily="18" charset="0"/>
                              </a:rPr>
                              <m:t>𝑛</m:t>
                            </m:r>
                          </m:sub>
                        </m:sSub>
                      </m:e>
                    </m:bar>
                  </m:oMath>
                </a14:m>
                <a:r>
                  <a:rPr lang="en-US" altLang="zh-TW" sz="1600" dirty="0">
                    <a:solidFill>
                      <a:srgbClr val="336699"/>
                    </a:solidFill>
                  </a:rPr>
                  <a:t> )</a:t>
                </a:r>
                <a:r>
                  <a:rPr lang="en-US" altLang="zh-TW" sz="1600" dirty="0"/>
                  <a:t>	</a:t>
                </a:r>
                <a:endParaRPr lang="en-US" altLang="zh-TW" dirty="0"/>
              </a:p>
              <a:p>
                <a:endParaRPr lang="en-US" altLang="zh-TW" dirty="0"/>
              </a:p>
              <a:p>
                <a:endParaRPr lang="en-US" altLang="zh-TW" dirty="0"/>
              </a:p>
              <a:p>
                <a:endParaRPr lang="en-US" altLang="zh-TW" dirty="0"/>
              </a:p>
              <a:p>
                <a:endParaRPr lang="en-US" altLang="zh-TW" dirty="0"/>
              </a:p>
              <a:p>
                <a:endParaRPr lang="en-US" altLang="zh-TW" dirty="0"/>
              </a:p>
              <a:p>
                <a:pPr algn="just"/>
                <a:r>
                  <a:rPr lang="en-US" altLang="zh-TW" dirty="0"/>
                  <a:t>	</a:t>
                </a:r>
              </a:p>
              <a:p>
                <a:pPr algn="just"/>
                <a:endParaRPr lang="en-US" dirty="0"/>
              </a:p>
            </p:txBody>
          </p:sp>
        </mc:Choice>
        <mc:Fallback xmlns="">
          <p:sp>
            <p:nvSpPr>
              <p:cNvPr id="32" name="Google Shape;184;p32"/>
              <p:cNvSpPr txBox="1">
                <a:spLocks noRot="1" noChangeAspect="1" noMove="1" noResize="1" noEditPoints="1" noAdjustHandles="1" noChangeArrowheads="1" noChangeShapeType="1" noTextEdit="1"/>
              </p:cNvSpPr>
              <p:nvPr/>
            </p:nvSpPr>
            <p:spPr>
              <a:xfrm>
                <a:off x="968027" y="110634"/>
                <a:ext cx="6698096" cy="4606352"/>
              </a:xfrm>
              <a:prstGeom prst="rect">
                <a:avLst/>
              </a:prstGeom>
              <a:blipFill rotWithShape="0">
                <a:blip r:embed="rId3"/>
                <a:stretch>
                  <a:fillRect l="-1001"/>
                </a:stretch>
              </a:blipFill>
            </p:spPr>
            <p:txBody>
              <a:bodyPr/>
              <a:lstStyle/>
              <a:p>
                <a:r>
                  <a:rPr lang="zh-TW"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9"/>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p>
            <a:pPr lvl="0"/>
            <a:r>
              <a:rPr lang="en-US" dirty="0"/>
              <a:t>SIMULATION RESULTS</a:t>
            </a:r>
            <a:endParaRPr dirty="0"/>
          </a:p>
        </p:txBody>
      </p:sp>
      <p:sp>
        <p:nvSpPr>
          <p:cNvPr id="558" name="Google Shape;558;p49"/>
          <p:cNvSpPr txBox="1">
            <a:spLocks noGrp="1"/>
          </p:cNvSpPr>
          <p:nvPr>
            <p:ph type="title" idx="2"/>
          </p:nvPr>
        </p:nvSpPr>
        <p:spPr>
          <a:xfrm flipH="1">
            <a:off x="3914472" y="18666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06</a:t>
            </a:r>
            <a:endParaRPr/>
          </a:p>
        </p:txBody>
      </p:sp>
      <p:cxnSp>
        <p:nvCxnSpPr>
          <p:cNvPr id="559" name="Google Shape;559;p49"/>
          <p:cNvCxnSpPr/>
          <p:nvPr/>
        </p:nvCxnSpPr>
        <p:spPr>
          <a:xfrm>
            <a:off x="7015900" y="-35700"/>
            <a:ext cx="0" cy="2382600"/>
          </a:xfrm>
          <a:prstGeom prst="straightConnector1">
            <a:avLst/>
          </a:prstGeom>
          <a:noFill/>
          <a:ln w="9525" cap="flat" cmpd="sng">
            <a:solidFill>
              <a:schemeClr val="dk2"/>
            </a:solidFill>
            <a:prstDash val="solid"/>
            <a:round/>
            <a:headEnd type="none" w="med" len="med"/>
            <a:tailEnd type="none" w="med" len="med"/>
          </a:ln>
        </p:spPr>
      </p:cxnSp>
      <p:sp>
        <p:nvSpPr>
          <p:cNvPr id="2" name="副標題 1"/>
          <p:cNvSpPr>
            <a:spLocks noGrp="1"/>
          </p:cNvSpPr>
          <p:nvPr>
            <p:ph type="subTitle" idx="1"/>
          </p:nvPr>
        </p:nvSpPr>
        <p:spPr/>
        <p:txBody>
          <a:bodyPr/>
          <a:lstStyle/>
          <a:p>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32" name="Google Shape;184;p32"/>
          <p:cNvSpPr txBox="1">
            <a:spLocks/>
          </p:cNvSpPr>
          <p:nvPr/>
        </p:nvSpPr>
        <p:spPr>
          <a:xfrm>
            <a:off x="968026" y="110634"/>
            <a:ext cx="7490173" cy="46063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800" b="1" dirty="0"/>
              <a:t>Compare</a:t>
            </a:r>
          </a:p>
          <a:p>
            <a:endParaRPr lang="en-US" altLang="zh-TW" sz="1800" b="1" dirty="0"/>
          </a:p>
          <a:p>
            <a:r>
              <a:rPr lang="en-US" altLang="zh-TW" sz="1600" dirty="0"/>
              <a:t>	</a:t>
            </a:r>
            <a:r>
              <a:rPr lang="en-US" altLang="zh-TW" b="1" i="1" dirty="0"/>
              <a:t>Proposed routing (NSR):</a:t>
            </a:r>
            <a:r>
              <a:rPr lang="en-US" altLang="zh-TW" dirty="0"/>
              <a:t> NSR algorithm based on TNM in partition layer 2 and layer 3 is performed, respectively. NSR will be firstly executed at the source node to find the optimal routing path. If multi-choice satellites in the path are unreachable, NSR will be executed at intermediate node to find another routing path.</a:t>
            </a:r>
          </a:p>
          <a:p>
            <a:endParaRPr lang="en-US" altLang="zh-TW" dirty="0"/>
          </a:p>
          <a:p>
            <a:r>
              <a:rPr lang="en-US" altLang="zh-TW" i="1" dirty="0"/>
              <a:t>	</a:t>
            </a:r>
            <a:r>
              <a:rPr lang="en-US" altLang="zh-TW" b="1" i="1" dirty="0"/>
              <a:t>TGM based Source Routing (TSR):</a:t>
            </a:r>
            <a:r>
              <a:rPr lang="en-US" altLang="zh-TW" dirty="0"/>
              <a:t> TSR only executes routing algorithm </a:t>
            </a:r>
            <a:r>
              <a:rPr lang="en-US" altLang="zh-TW" dirty="0">
                <a:solidFill>
                  <a:srgbClr val="336699"/>
                </a:solidFill>
              </a:rPr>
              <a:t>once</a:t>
            </a:r>
            <a:r>
              <a:rPr lang="en-US" altLang="zh-TW" dirty="0"/>
              <a:t> when user's data packet arrives at the source node, and the intermediate nodes only forward the packet by extracting the </a:t>
            </a:r>
            <a:r>
              <a:rPr lang="en-US" altLang="zh-TW" dirty="0">
                <a:solidFill>
                  <a:srgbClr val="336699"/>
                </a:solidFill>
              </a:rPr>
              <a:t>predetermined routing path </a:t>
            </a:r>
            <a:r>
              <a:rPr lang="en-US" altLang="zh-TW" dirty="0"/>
              <a:t>information from the packet header.</a:t>
            </a:r>
          </a:p>
          <a:p>
            <a:endParaRPr lang="en-US" altLang="zh-TW" dirty="0"/>
          </a:p>
          <a:p>
            <a:r>
              <a:rPr lang="en-US" altLang="zh-TW" dirty="0"/>
              <a:t>	</a:t>
            </a:r>
            <a:r>
              <a:rPr lang="en-US" altLang="zh-TW" b="1" i="1" dirty="0"/>
              <a:t>Contact Graph Routing (CGR):</a:t>
            </a:r>
            <a:r>
              <a:rPr lang="en-US" altLang="zh-TW" dirty="0"/>
              <a:t> CGR utilizes </a:t>
            </a:r>
            <a:r>
              <a:rPr lang="en-US" altLang="zh-TW" dirty="0" err="1"/>
              <a:t>Dijkstra's</a:t>
            </a:r>
            <a:r>
              <a:rPr lang="en-US" altLang="zh-TW" dirty="0"/>
              <a:t> SPF algorithm based on the scheduled contact plan, and it </a:t>
            </a:r>
            <a:r>
              <a:rPr lang="en-US" altLang="zh-TW" dirty="0">
                <a:solidFill>
                  <a:srgbClr val="336699"/>
                </a:solidFill>
              </a:rPr>
              <a:t>executes routing algorithm at each intermediate node </a:t>
            </a:r>
            <a:r>
              <a:rPr lang="en-US" altLang="zh-TW" dirty="0"/>
              <a:t>during the transmission from the source node to the destination node.</a:t>
            </a:r>
          </a:p>
          <a:p>
            <a:endParaRPr lang="en-US" altLang="zh-TW" dirty="0"/>
          </a:p>
          <a:p>
            <a:r>
              <a:rPr lang="en-US" altLang="zh-TW" dirty="0"/>
              <a:t>	</a:t>
            </a:r>
            <a:r>
              <a:rPr lang="en-US" altLang="zh-TW" b="1" i="1" dirty="0"/>
              <a:t>TGM based Brute-force Routing (TBR):</a:t>
            </a:r>
            <a:r>
              <a:rPr lang="en-US" altLang="zh-TW" b="1" dirty="0"/>
              <a:t> </a:t>
            </a:r>
            <a:r>
              <a:rPr lang="en-US" altLang="zh-TW" dirty="0"/>
              <a:t>TBR adopts </a:t>
            </a:r>
            <a:r>
              <a:rPr lang="en-US" altLang="zh-TW" dirty="0">
                <a:solidFill>
                  <a:srgbClr val="336699"/>
                </a:solidFill>
              </a:rPr>
              <a:t>brute-force</a:t>
            </a:r>
            <a:r>
              <a:rPr lang="en-US" altLang="zh-TW" dirty="0"/>
              <a:t> method based on the topology information of TGM to find the optimal routing path, it executes brute-force algorithm at each intermediate node during the transmission.</a:t>
            </a:r>
          </a:p>
          <a:p>
            <a:endParaRPr lang="en-US" altLang="zh-TW" dirty="0"/>
          </a:p>
          <a:p>
            <a:br>
              <a:rPr lang="en-US" altLang="zh-TW" dirty="0"/>
            </a:br>
            <a:endParaRPr lang="en-US" altLang="zh-TW" dirty="0"/>
          </a:p>
          <a:p>
            <a:endParaRPr lang="en-US" altLang="zh-TW" dirty="0"/>
          </a:p>
          <a:p>
            <a:endParaRPr lang="en-US" altLang="zh-TW" dirty="0"/>
          </a:p>
          <a:p>
            <a:endParaRPr lang="en-US" altLang="zh-TW" dirty="0"/>
          </a:p>
          <a:p>
            <a:endParaRPr lang="en-US" altLang="zh-TW" dirty="0"/>
          </a:p>
          <a:p>
            <a:pPr algn="just"/>
            <a:r>
              <a:rPr lang="en-US" altLang="zh-TW" dirty="0"/>
              <a:t>	</a:t>
            </a:r>
          </a:p>
          <a:p>
            <a:pPr algn="just"/>
            <a:endParaRPr lang="en-US" dirty="0"/>
          </a:p>
        </p:txBody>
      </p:sp>
    </p:spTree>
    <p:extLst>
      <p:ext uri="{BB962C8B-B14F-4D97-AF65-F5344CB8AC3E}">
        <p14:creationId xmlns:p14="http://schemas.microsoft.com/office/powerpoint/2010/main" val="360442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cxnSp>
        <p:nvCxnSpPr>
          <p:cNvPr id="599" name="Google Shape;599;p51"/>
          <p:cNvCxnSpPr/>
          <p:nvPr/>
        </p:nvCxnSpPr>
        <p:spPr>
          <a:xfrm rot="10800000">
            <a:off x="8156400" y="630088"/>
            <a:ext cx="1236300" cy="0"/>
          </a:xfrm>
          <a:prstGeom prst="straightConnector1">
            <a:avLst/>
          </a:prstGeom>
          <a:noFill/>
          <a:ln w="9525" cap="flat" cmpd="sng">
            <a:solidFill>
              <a:schemeClr val="dk2"/>
            </a:solidFill>
            <a:prstDash val="solid"/>
            <a:round/>
            <a:headEnd type="none" w="med" len="med"/>
            <a:tailEnd type="none" w="med" len="med"/>
          </a:ln>
        </p:spPr>
      </p:cxnSp>
      <p:cxnSp>
        <p:nvCxnSpPr>
          <p:cNvPr id="612" name="Google Shape;612;p51"/>
          <p:cNvCxnSpPr/>
          <p:nvPr/>
        </p:nvCxnSpPr>
        <p:spPr>
          <a:xfrm rot="10800000">
            <a:off x="-125" y="4765850"/>
            <a:ext cx="958500" cy="0"/>
          </a:xfrm>
          <a:prstGeom prst="straightConnector1">
            <a:avLst/>
          </a:prstGeom>
          <a:noFill/>
          <a:ln w="9525" cap="flat" cmpd="sng">
            <a:solidFill>
              <a:schemeClr val="dk2"/>
            </a:solidFill>
            <a:prstDash val="solid"/>
            <a:round/>
            <a:headEnd type="none" w="med" len="med"/>
            <a:tailEnd type="none" w="med" len="med"/>
          </a:ln>
        </p:spPr>
      </p:cxnSp>
      <p:sp>
        <p:nvSpPr>
          <p:cNvPr id="2" name="標題 1"/>
          <p:cNvSpPr>
            <a:spLocks noGrp="1"/>
          </p:cNvSpPr>
          <p:nvPr>
            <p:ph type="ctrTitle"/>
          </p:nvPr>
        </p:nvSpPr>
        <p:spPr/>
        <p:txBody>
          <a:bodyPr/>
          <a:lstStyle/>
          <a:p>
            <a:endParaRPr lang="zh-TW" altLang="en-US"/>
          </a:p>
        </p:txBody>
      </p:sp>
      <p:pic>
        <p:nvPicPr>
          <p:cNvPr id="3" name="圖片 2"/>
          <p:cNvPicPr>
            <a:picLocks noChangeAspect="1"/>
          </p:cNvPicPr>
          <p:nvPr/>
        </p:nvPicPr>
        <p:blipFill>
          <a:blip r:embed="rId3"/>
          <a:stretch>
            <a:fillRect/>
          </a:stretch>
        </p:blipFill>
        <p:spPr>
          <a:xfrm>
            <a:off x="103237" y="1021080"/>
            <a:ext cx="4154674" cy="3674096"/>
          </a:xfrm>
          <a:prstGeom prst="rect">
            <a:avLst/>
          </a:prstGeom>
        </p:spPr>
      </p:pic>
      <p:pic>
        <p:nvPicPr>
          <p:cNvPr id="4" name="圖片 3"/>
          <p:cNvPicPr>
            <a:picLocks noChangeAspect="1"/>
          </p:cNvPicPr>
          <p:nvPr/>
        </p:nvPicPr>
        <p:blipFill>
          <a:blip r:embed="rId4"/>
          <a:stretch>
            <a:fillRect/>
          </a:stretch>
        </p:blipFill>
        <p:spPr>
          <a:xfrm>
            <a:off x="4572001" y="1021080"/>
            <a:ext cx="4461976" cy="36740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endParaRPr lang="zh-TW" altLang="en-US" dirty="0"/>
          </a:p>
        </p:txBody>
      </p:sp>
      <p:pic>
        <p:nvPicPr>
          <p:cNvPr id="4" name="圖片 3"/>
          <p:cNvPicPr>
            <a:picLocks noChangeAspect="1"/>
          </p:cNvPicPr>
          <p:nvPr/>
        </p:nvPicPr>
        <p:blipFill>
          <a:blip r:embed="rId3"/>
          <a:stretch>
            <a:fillRect/>
          </a:stretch>
        </p:blipFill>
        <p:spPr>
          <a:xfrm>
            <a:off x="4742621" y="999814"/>
            <a:ext cx="4263672" cy="3724587"/>
          </a:xfrm>
          <a:prstGeom prst="rect">
            <a:avLst/>
          </a:prstGeom>
        </p:spPr>
      </p:pic>
      <p:pic>
        <p:nvPicPr>
          <p:cNvPr id="5" name="圖片 4"/>
          <p:cNvPicPr>
            <a:picLocks noChangeAspect="1"/>
          </p:cNvPicPr>
          <p:nvPr/>
        </p:nvPicPr>
        <p:blipFill>
          <a:blip r:embed="rId4"/>
          <a:stretch>
            <a:fillRect/>
          </a:stretch>
        </p:blipFill>
        <p:spPr>
          <a:xfrm>
            <a:off x="137709" y="999813"/>
            <a:ext cx="4342677" cy="3724588"/>
          </a:xfrm>
          <a:prstGeom prst="rect">
            <a:avLst/>
          </a:prstGeom>
        </p:spPr>
      </p:pic>
    </p:spTree>
    <p:extLst>
      <p:ext uri="{BB962C8B-B14F-4D97-AF65-F5344CB8AC3E}">
        <p14:creationId xmlns:p14="http://schemas.microsoft.com/office/powerpoint/2010/main" val="3328470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endParaRPr lang="zh-TW" altLang="en-US"/>
          </a:p>
        </p:txBody>
      </p:sp>
      <p:pic>
        <p:nvPicPr>
          <p:cNvPr id="3" name="圖片 2"/>
          <p:cNvPicPr>
            <a:picLocks noChangeAspect="1"/>
          </p:cNvPicPr>
          <p:nvPr/>
        </p:nvPicPr>
        <p:blipFill>
          <a:blip r:embed="rId3"/>
          <a:stretch>
            <a:fillRect/>
          </a:stretch>
        </p:blipFill>
        <p:spPr>
          <a:xfrm>
            <a:off x="83820" y="1094125"/>
            <a:ext cx="4312650" cy="3751240"/>
          </a:xfrm>
          <a:prstGeom prst="rect">
            <a:avLst/>
          </a:prstGeom>
        </p:spPr>
      </p:pic>
      <p:pic>
        <p:nvPicPr>
          <p:cNvPr id="4" name="圖片 3"/>
          <p:cNvPicPr>
            <a:picLocks noChangeAspect="1"/>
          </p:cNvPicPr>
          <p:nvPr/>
        </p:nvPicPr>
        <p:blipFill>
          <a:blip r:embed="rId4"/>
          <a:stretch>
            <a:fillRect/>
          </a:stretch>
        </p:blipFill>
        <p:spPr>
          <a:xfrm>
            <a:off x="4457699" y="1091068"/>
            <a:ext cx="4632962" cy="3754297"/>
          </a:xfrm>
          <a:prstGeom prst="rect">
            <a:avLst/>
          </a:prstGeom>
        </p:spPr>
      </p:pic>
    </p:spTree>
    <p:extLst>
      <p:ext uri="{BB962C8B-B14F-4D97-AF65-F5344CB8AC3E}">
        <p14:creationId xmlns:p14="http://schemas.microsoft.com/office/powerpoint/2010/main" val="2699665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52"/>
          <p:cNvSpPr txBox="1"/>
          <p:nvPr/>
        </p:nvSpPr>
        <p:spPr>
          <a:xfrm>
            <a:off x="1122110" y="1423227"/>
            <a:ext cx="6635050" cy="2886900"/>
          </a:xfrm>
          <a:prstGeom prst="rect">
            <a:avLst/>
          </a:prstGeom>
          <a:noFill/>
          <a:ln>
            <a:noFill/>
          </a:ln>
        </p:spPr>
        <p:txBody>
          <a:bodyPr spcFirstLastPara="1" wrap="square" lIns="91425" tIns="91425" rIns="91425" bIns="91425" anchor="ctr" anchorCtr="0">
            <a:noAutofit/>
          </a:bodyPr>
          <a:lstStyle/>
          <a:p>
            <a:pPr lvl="0">
              <a:spcBef>
                <a:spcPts val="300"/>
              </a:spcBef>
            </a:pPr>
            <a:r>
              <a:rPr lang="en-US" sz="1600" dirty="0">
                <a:solidFill>
                  <a:schemeClr val="dk1"/>
                </a:solidFill>
                <a:latin typeface="Roboto Condensed Light"/>
                <a:ea typeface="Roboto Condensed Light"/>
                <a:cs typeface="Roboto Condensed Light"/>
                <a:sym typeface="Roboto Condensed Light"/>
              </a:rPr>
              <a:t>	In this paper, we developed an efficient and low-complexity routing scheme for large-scale SSNs. Firstly, we proposed a novel topology description model named </a:t>
            </a:r>
            <a:r>
              <a:rPr lang="en-US" sz="1600" dirty="0">
                <a:solidFill>
                  <a:srgbClr val="336699"/>
                </a:solidFill>
                <a:latin typeface="Roboto Condensed Light"/>
                <a:ea typeface="Roboto Condensed Light"/>
                <a:cs typeface="Roboto Condensed Light"/>
                <a:sym typeface="Roboto Condensed Light"/>
              </a:rPr>
              <a:t>TNM</a:t>
            </a:r>
            <a:r>
              <a:rPr lang="en-US" sz="1600" dirty="0">
                <a:solidFill>
                  <a:schemeClr val="dk1"/>
                </a:solidFill>
                <a:latin typeface="Roboto Condensed Light"/>
                <a:ea typeface="Roboto Condensed Light"/>
                <a:cs typeface="Roboto Condensed Light"/>
                <a:sym typeface="Roboto Condensed Light"/>
              </a:rPr>
              <a:t> to describe the time-varying network topology of large-scale SSNs. By using discrete </a:t>
            </a:r>
            <a:r>
              <a:rPr lang="en-US" sz="1600" dirty="0" err="1">
                <a:solidFill>
                  <a:schemeClr val="dk1"/>
                </a:solidFill>
                <a:latin typeface="Roboto Condensed Light"/>
                <a:ea typeface="Roboto Condensed Light"/>
                <a:cs typeface="Roboto Condensed Light"/>
                <a:sym typeface="Roboto Condensed Light"/>
              </a:rPr>
              <a:t>netgrids</a:t>
            </a:r>
            <a:r>
              <a:rPr lang="en-US" sz="1600" dirty="0">
                <a:solidFill>
                  <a:schemeClr val="dk1"/>
                </a:solidFill>
                <a:latin typeface="Roboto Condensed Light"/>
                <a:ea typeface="Roboto Condensed Light"/>
                <a:cs typeface="Roboto Condensed Light"/>
                <a:sym typeface="Roboto Condensed Light"/>
              </a:rPr>
              <a:t> to locate satellite and multi-layer </a:t>
            </a:r>
            <a:r>
              <a:rPr lang="en-US" sz="1600" dirty="0" err="1">
                <a:solidFill>
                  <a:schemeClr val="dk1"/>
                </a:solidFill>
                <a:latin typeface="Roboto Condensed Light"/>
                <a:ea typeface="Roboto Condensed Light"/>
                <a:cs typeface="Roboto Condensed Light"/>
                <a:sym typeface="Roboto Condensed Light"/>
              </a:rPr>
              <a:t>netgrid</a:t>
            </a:r>
            <a:r>
              <a:rPr lang="en-US" sz="1600" dirty="0">
                <a:solidFill>
                  <a:schemeClr val="dk1"/>
                </a:solidFill>
                <a:latin typeface="Roboto Condensed Light"/>
                <a:ea typeface="Roboto Condensed Light"/>
                <a:cs typeface="Roboto Condensed Light"/>
                <a:sym typeface="Roboto Condensed Light"/>
              </a:rPr>
              <a:t> partition method, TNM can provide time-continuous topology information and alternative description accuracy to support random traffic transmission requirements. Based on the topology information provided by TNM, we also proposed a </a:t>
            </a:r>
            <a:r>
              <a:rPr lang="en-US" sz="1600" dirty="0" err="1">
                <a:solidFill>
                  <a:srgbClr val="336699"/>
                </a:solidFill>
                <a:latin typeface="Roboto Condensed Light"/>
                <a:ea typeface="Roboto Condensed Light"/>
                <a:cs typeface="Roboto Condensed Light"/>
                <a:sym typeface="Roboto Condensed Light"/>
              </a:rPr>
              <a:t>netgrid</a:t>
            </a:r>
            <a:r>
              <a:rPr lang="en-US" sz="1600" dirty="0">
                <a:solidFill>
                  <a:srgbClr val="336699"/>
                </a:solidFill>
                <a:latin typeface="Roboto Condensed Light"/>
                <a:ea typeface="Roboto Condensed Light"/>
                <a:cs typeface="Roboto Condensed Light"/>
                <a:sym typeface="Roboto Condensed Light"/>
              </a:rPr>
              <a:t>-based routing algorithm </a:t>
            </a:r>
            <a:r>
              <a:rPr lang="en-US" sz="1600" dirty="0">
                <a:solidFill>
                  <a:schemeClr val="dk1"/>
                </a:solidFill>
                <a:latin typeface="Roboto Condensed Light"/>
                <a:ea typeface="Roboto Condensed Light"/>
                <a:cs typeface="Roboto Condensed Light"/>
                <a:sym typeface="Roboto Condensed Light"/>
              </a:rPr>
              <a:t>to find the optimal path in large-scale SSNs. Thanks to the status collected by the </a:t>
            </a:r>
            <a:r>
              <a:rPr lang="en-US" sz="1600" dirty="0">
                <a:solidFill>
                  <a:srgbClr val="336699"/>
                </a:solidFill>
                <a:latin typeface="Roboto Condensed Light"/>
                <a:ea typeface="Roboto Condensed Light"/>
                <a:cs typeface="Roboto Condensed Light"/>
                <a:sym typeface="Roboto Condensed Light"/>
              </a:rPr>
              <a:t>beacon protocol</a:t>
            </a:r>
            <a:r>
              <a:rPr lang="en-US" sz="1600" dirty="0">
                <a:solidFill>
                  <a:schemeClr val="dk1"/>
                </a:solidFill>
                <a:latin typeface="Roboto Condensed Light"/>
                <a:ea typeface="Roboto Condensed Light"/>
                <a:cs typeface="Roboto Condensed Light"/>
                <a:sym typeface="Roboto Condensed Light"/>
              </a:rPr>
              <a:t>, NSR has the ability to adjust routing path according to the status of neighbor satellites.</a:t>
            </a:r>
            <a:endParaRPr sz="1200" dirty="0">
              <a:solidFill>
                <a:schemeClr val="dk1"/>
              </a:solidFill>
              <a:latin typeface="Roboto Condensed Light"/>
              <a:ea typeface="Roboto Condensed Light"/>
              <a:cs typeface="Roboto Condensed Light"/>
              <a:sym typeface="Roboto Condensed Light"/>
            </a:endParaRPr>
          </a:p>
        </p:txBody>
      </p:sp>
      <p:sp>
        <p:nvSpPr>
          <p:cNvPr id="618" name="Google Shape;618;p5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zh-TW" dirty="0"/>
              <a:t>Conclusion</a:t>
            </a:r>
            <a:endParaRPr dirty="0"/>
          </a:p>
        </p:txBody>
      </p:sp>
      <p:cxnSp>
        <p:nvCxnSpPr>
          <p:cNvPr id="619" name="Google Shape;619;p52"/>
          <p:cNvCxnSpPr/>
          <p:nvPr/>
        </p:nvCxnSpPr>
        <p:spPr>
          <a:xfrm>
            <a:off x="588400" y="3652200"/>
            <a:ext cx="0" cy="1515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Tech Newsletter by Slidesgo">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1388</TotalTime>
  <Words>4195</Words>
  <Application>Microsoft Office PowerPoint</Application>
  <PresentationFormat>如螢幕大小 (16:9)</PresentationFormat>
  <Paragraphs>194</Paragraphs>
  <Slides>31</Slides>
  <Notes>30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31</vt:i4>
      </vt:variant>
    </vt:vector>
  </HeadingPairs>
  <TitlesOfParts>
    <vt:vector size="40" baseType="lpstr">
      <vt:lpstr>Exo 2</vt:lpstr>
      <vt:lpstr>Cambria Math</vt:lpstr>
      <vt:lpstr>Squada One</vt:lpstr>
      <vt:lpstr>Roboto Condensed Light</vt:lpstr>
      <vt:lpstr>Arial</vt:lpstr>
      <vt:lpstr>Roboto Condensed</vt:lpstr>
      <vt:lpstr>新細明體</vt:lpstr>
      <vt:lpstr>Fira Sans Extra Condensed Medium</vt:lpstr>
      <vt:lpstr>Tech Newsletter by Slidesgo</vt:lpstr>
      <vt:lpstr>Temporal Netgrid Model-Based Dynamic Routing in Large-Scale  Small Satellite Networks</vt:lpstr>
      <vt:lpstr>TABLE OF CONTENTS</vt:lpstr>
      <vt:lpstr>INTRODUCTION</vt:lpstr>
      <vt:lpstr>PowerPoint 簡報</vt:lpstr>
      <vt:lpstr>PowerPoint 簡報</vt:lpstr>
      <vt:lpstr>PowerPoint 簡報</vt:lpstr>
      <vt:lpstr>Related Work</vt:lpstr>
      <vt:lpstr> Scheduled routing scheme</vt:lpstr>
      <vt:lpstr> Opportunistic routing scheme</vt:lpstr>
      <vt:lpstr>TEMPORAL NETGRID MODEL</vt:lpstr>
      <vt:lpstr>PowerPoint 簡報</vt:lpstr>
      <vt:lpstr>PowerPoint 簡報</vt:lpstr>
      <vt:lpstr>PowerPoint 簡報</vt:lpstr>
      <vt:lpstr>PowerPoint 簡報</vt:lpstr>
      <vt:lpstr>PowerPoint 簡報</vt:lpstr>
      <vt:lpstr>Multi-Layer Netgrid Partition Method in Large-Scale SSNs</vt:lpstr>
      <vt:lpstr>PowerPoint 簡報</vt:lpstr>
      <vt:lpstr>PowerPoint 簡報</vt:lpstr>
      <vt:lpstr>Netgrid-Based Shortest Path Routing Algorithm</vt:lpstr>
      <vt:lpstr>PowerPoint 簡報</vt:lpstr>
      <vt:lpstr>PowerPoint 簡報</vt:lpstr>
      <vt:lpstr>PowerPoint 簡報</vt:lpstr>
      <vt:lpstr>PowerPoint 簡報</vt:lpstr>
      <vt:lpstr>Netgrid-based shortest-path routing</vt:lpstr>
      <vt:lpstr>PowerPoint 簡報</vt:lpstr>
      <vt:lpstr>SIMULATION RESULTS</vt:lpstr>
      <vt:lpstr>PowerPoint 簡報</vt:lpstr>
      <vt:lpstr>PowerPoint 簡報</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 Netgrid Model-Based Dynamic Routing in Large-Scale  Small Satellite Networks</dc:title>
  <cp:lastModifiedBy>Albert</cp:lastModifiedBy>
  <cp:revision>174</cp:revision>
  <dcterms:modified xsi:type="dcterms:W3CDTF">2020-08-21T04:38:29Z</dcterms:modified>
</cp:coreProperties>
</file>