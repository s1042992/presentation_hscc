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8" r:id="rId2"/>
    <p:sldId id="262" r:id="rId3"/>
    <p:sldId id="263" r:id="rId4"/>
    <p:sldId id="270" r:id="rId5"/>
    <p:sldId id="264" r:id="rId6"/>
    <p:sldId id="265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000" b="1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11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2F2"/>
    <a:srgbClr val="D4E3F7"/>
    <a:srgbClr val="DDDDDD"/>
    <a:srgbClr val="EAEAEA"/>
    <a:srgbClr val="96B8D6"/>
    <a:srgbClr val="B4CCE2"/>
    <a:srgbClr val="0067AC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3" autoAdjust="0"/>
    <p:restoredTop sz="84543" autoAdjust="0"/>
  </p:normalViewPr>
  <p:slideViewPr>
    <p:cSldViewPr snapToGrid="0">
      <p:cViewPr varScale="1">
        <p:scale>
          <a:sx n="86" d="100"/>
          <a:sy n="86" d="100"/>
        </p:scale>
        <p:origin x="102" y="420"/>
      </p:cViewPr>
      <p:guideLst>
        <p:guide orient="horz" pos="1680"/>
        <p:guide pos="11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EEF6CB-C50F-488A-99E7-79215D4B1C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89866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7%A1%AC%E9%AB%94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fld id="{2D11F8D7-571E-4947-BB12-0CF48399898F}" type="slidenum">
              <a:rPr lang="en-GB" altLang="en-US" sz="1200" b="0">
                <a:solidFill>
                  <a:schemeClr val="tx1"/>
                </a:solidFill>
              </a:rPr>
              <a:pPr/>
              <a:t>1</a:t>
            </a:fld>
            <a:endParaRPr lang="en-GB" altLang="en-US" sz="1200" b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TW" altLang="en-US" dirty="0"/>
              <a:t>這篇作者將</a:t>
            </a:r>
            <a:r>
              <a:rPr lang="en-US" altLang="zh-TW" dirty="0"/>
              <a:t>DQN</a:t>
            </a:r>
            <a:r>
              <a:rPr lang="zh-TW" altLang="en-US" dirty="0"/>
              <a:t>運用在</a:t>
            </a:r>
            <a:r>
              <a:rPr lang="en-US" altLang="zh-TW" dirty="0"/>
              <a:t>SDN</a:t>
            </a:r>
            <a:r>
              <a:rPr lang="zh-TW" altLang="en-US" dirty="0"/>
              <a:t>的衛星地面網路上，那主要是使用</a:t>
            </a:r>
            <a:r>
              <a:rPr lang="en-US" altLang="zh-TW" dirty="0"/>
              <a:t>DQN</a:t>
            </a:r>
            <a:r>
              <a:rPr lang="zh-TW" altLang="en-US" dirty="0"/>
              <a:t>進行資源分配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38459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fld id="{0A53C477-038F-4BB3-ABF6-9AC96926A5C7}" type="slidenum">
              <a:rPr lang="en-GB" altLang="en-US" sz="1200" b="0">
                <a:solidFill>
                  <a:schemeClr val="tx1"/>
                </a:solidFill>
              </a:rPr>
              <a:pPr/>
              <a:t>2</a:t>
            </a:fld>
            <a:endParaRPr lang="en-GB" altLang="en-US" sz="1200" b="0">
              <a:solidFill>
                <a:schemeClr val="tx1"/>
              </a:solidFill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dirty="0"/>
          </a:p>
          <a:p>
            <a:pPr eaLnBrk="1" hangingPunct="1"/>
            <a:endParaRPr lang="en-GB" altLang="zh-TW" dirty="0"/>
          </a:p>
          <a:p>
            <a:pPr eaLnBrk="1" hangingPunct="1"/>
            <a:r>
              <a:rPr lang="zh-TW" altLang="en-US" dirty="0"/>
              <a:t>傳統的</a:t>
            </a:r>
            <a:r>
              <a:rPr lang="en-US" altLang="zh-TW" dirty="0"/>
              <a:t>TCP/IP mobility</a:t>
            </a:r>
            <a:r>
              <a:rPr lang="zh-TW" altLang="en-US" dirty="0"/>
              <a:t>低，</a:t>
            </a:r>
            <a:r>
              <a:rPr lang="en-US" altLang="zh-TW" dirty="0"/>
              <a:t>heavy overheads</a:t>
            </a:r>
            <a:r>
              <a:rPr lang="zh-TW" altLang="en-US" dirty="0"/>
              <a:t>、</a:t>
            </a:r>
            <a:r>
              <a:rPr lang="en-US" altLang="zh-TW" dirty="0"/>
              <a:t>high complexity</a:t>
            </a:r>
            <a:r>
              <a:rPr lang="zh-TW" altLang="en-US" dirty="0"/>
              <a:t>，</a:t>
            </a:r>
            <a:r>
              <a:rPr lang="zh-TW" altLang="en-US"/>
              <a:t>作者不想再衛星地面網路使用</a:t>
            </a:r>
            <a:r>
              <a:rPr lang="en-US" altLang="zh-TW" dirty="0"/>
              <a:t>TCP/IP</a:t>
            </a:r>
          </a:p>
          <a:p>
            <a:pPr eaLnBrk="1" hangingPunct="1"/>
            <a:r>
              <a:rPr lang="zh-TW" altLang="en-US" dirty="0"/>
              <a:t>於是他把</a:t>
            </a:r>
            <a:r>
              <a:rPr lang="en-US" altLang="zh-TW" dirty="0"/>
              <a:t>SDN</a:t>
            </a:r>
            <a:r>
              <a:rPr lang="zh-TW" altLang="en-US" dirty="0"/>
              <a:t>運用在衛星地面網路上，將</a:t>
            </a:r>
            <a:r>
              <a:rPr lang="en-US" altLang="zh-TW" dirty="0"/>
              <a:t>control plane</a:t>
            </a:r>
            <a:r>
              <a:rPr lang="zh-TW" altLang="en-US" dirty="0"/>
              <a:t>從</a:t>
            </a:r>
            <a:r>
              <a:rPr lang="en-US" altLang="zh-TW" dirty="0"/>
              <a:t>data plane</a:t>
            </a:r>
            <a:r>
              <a:rPr lang="zh-TW" altLang="en-US" dirty="0"/>
              <a:t>中分離，</a:t>
            </a:r>
            <a:r>
              <a:rPr lang="en-US" altLang="zh-TW" dirty="0"/>
              <a:t>control plane</a:t>
            </a:r>
            <a:r>
              <a:rPr lang="zh-TW" altLang="en-US" dirty="0"/>
              <a:t>的部分改以軟體實做，</a:t>
            </a:r>
            <a:r>
              <a:rPr lang="en-US" altLang="zh-TW" dirty="0"/>
              <a:t>SDN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架構可在不更動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 tooltip="硬體"/>
              </a:rPr>
              <a:t>硬體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裝置的前提下規劃網路並且控制流量。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SDN</a:t>
            </a:r>
            <a:r>
              <a:rPr lang="zh-TW" altLang="en-US" dirty="0"/>
              <a:t>其中一個特點就是虛擬化，一個實體的</a:t>
            </a:r>
            <a:r>
              <a:rPr lang="en-US" altLang="zh-TW" dirty="0"/>
              <a:t>satellite network </a:t>
            </a:r>
            <a:r>
              <a:rPr lang="zh-TW" altLang="en-US" dirty="0"/>
              <a:t>可以被切成好幾個虛擬的</a:t>
            </a:r>
            <a:r>
              <a:rPr lang="en-US" altLang="zh-TW" dirty="0"/>
              <a:t>satellite network </a:t>
            </a:r>
            <a:r>
              <a:rPr lang="zh-TW" altLang="en-US" dirty="0"/>
              <a:t>，根據其他論問的研究指出</a:t>
            </a:r>
            <a:r>
              <a:rPr lang="en-GB" altLang="en-US" dirty="0"/>
              <a:t>capital expenses</a:t>
            </a:r>
            <a:r>
              <a:rPr lang="en-US" altLang="zh-TW" dirty="0"/>
              <a:t>(</a:t>
            </a:r>
            <a:r>
              <a:rPr lang="zh-TW" altLang="en-US" dirty="0"/>
              <a:t>成本支出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en-GB" altLang="en-US" dirty="0"/>
              <a:t> operation expenses</a:t>
            </a:r>
            <a:r>
              <a:rPr lang="en-US" altLang="zh-TW" dirty="0"/>
              <a:t>(</a:t>
            </a:r>
            <a:r>
              <a:rPr lang="zh-TW" altLang="en-US" dirty="0"/>
              <a:t>運營費用</a:t>
            </a:r>
            <a:r>
              <a:rPr lang="en-US" altLang="zh-TW" dirty="0"/>
              <a:t>)</a:t>
            </a:r>
            <a:r>
              <a:rPr lang="zh-TW" altLang="en-US" dirty="0"/>
              <a:t>會大幅降低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33328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fld id="{4E9394A1-4157-47F3-BFB4-0FCBDB1AADDE}" type="slidenum">
              <a:rPr lang="en-GB" altLang="en-US" sz="1200" b="0">
                <a:solidFill>
                  <a:schemeClr val="tx1"/>
                </a:solidFill>
              </a:rPr>
              <a:pPr/>
              <a:t>3</a:t>
            </a:fld>
            <a:endParaRPr lang="en-GB" altLang="en-US" sz="1200" b="0">
              <a:solidFill>
                <a:schemeClr val="tx1"/>
              </a:solidFill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此架構包含</a:t>
            </a:r>
            <a:r>
              <a:rPr lang="en-US" altLang="en-US" dirty="0"/>
              <a:t>data layer, control layer, and application layer, </a:t>
            </a:r>
            <a:r>
              <a:rPr lang="zh-TW" altLang="en-US" dirty="0"/>
              <a:t>在</a:t>
            </a:r>
            <a:r>
              <a:rPr lang="en-US" altLang="zh-TW" dirty="0"/>
              <a:t>data layer </a:t>
            </a:r>
            <a:r>
              <a:rPr lang="zh-TW" altLang="en-US" dirty="0"/>
              <a:t>有</a:t>
            </a:r>
            <a:r>
              <a:rPr lang="en-US" altLang="zh-TW" dirty="0"/>
              <a:t>LEO</a:t>
            </a:r>
            <a:r>
              <a:rPr lang="zh-TW" altLang="en-US" dirty="0"/>
              <a:t>作為</a:t>
            </a:r>
            <a:r>
              <a:rPr lang="en-US" altLang="zh-TW" dirty="0"/>
              <a:t>network infrastructures</a:t>
            </a:r>
            <a:r>
              <a:rPr lang="zh-TW" altLang="en-US" dirty="0"/>
              <a:t>，</a:t>
            </a:r>
            <a:r>
              <a:rPr lang="en-US" altLang="zh-TW" dirty="0"/>
              <a:t>caching</a:t>
            </a:r>
            <a:r>
              <a:rPr lang="zh-TW" altLang="en-US" dirty="0"/>
              <a:t>，</a:t>
            </a:r>
            <a:r>
              <a:rPr lang="en-US" altLang="zh-TW" dirty="0"/>
              <a:t>edge computing(</a:t>
            </a:r>
            <a:r>
              <a:rPr lang="zh-TW" altLang="en-US" dirty="0"/>
              <a:t>衛星的計算能力有限，並且若採用雲計算，考量到長距離以及大量資料，雲計算不算是好方法，這邊要採取的是</a:t>
            </a:r>
            <a:r>
              <a:rPr lang="en-US" altLang="zh-TW" dirty="0"/>
              <a:t>edge computing)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在</a:t>
            </a:r>
            <a:r>
              <a:rPr lang="en-US" altLang="zh-TW" dirty="0"/>
              <a:t>control layer</a:t>
            </a:r>
            <a:r>
              <a:rPr lang="zh-TW" altLang="en-US" dirty="0"/>
              <a:t>中，我們的</a:t>
            </a:r>
            <a:r>
              <a:rPr lang="en-US" altLang="zh-TW" dirty="0"/>
              <a:t>control intelligence</a:t>
            </a:r>
            <a:r>
              <a:rPr lang="zh-TW" altLang="en-US" dirty="0"/>
              <a:t>可能是</a:t>
            </a:r>
            <a:r>
              <a:rPr lang="en-US" altLang="zh-TW" dirty="0"/>
              <a:t>MEO</a:t>
            </a:r>
            <a:r>
              <a:rPr lang="zh-TW" altLang="en-US" dirty="0"/>
              <a:t>、</a:t>
            </a:r>
            <a:r>
              <a:rPr lang="en-US" altLang="zh-TW" dirty="0"/>
              <a:t>GEO</a:t>
            </a:r>
            <a:r>
              <a:rPr lang="zh-TW" altLang="en-US" dirty="0"/>
              <a:t>或</a:t>
            </a:r>
            <a:r>
              <a:rPr lang="en-US" altLang="zh-TW" dirty="0"/>
              <a:t>land-based controllers</a:t>
            </a:r>
            <a:r>
              <a:rPr lang="zh-TW" altLang="en-US" dirty="0"/>
              <a:t>。控制層是此框架的核心，它負責控制和管理</a:t>
            </a:r>
            <a:r>
              <a:rPr lang="en-US" altLang="zh-TW" dirty="0"/>
              <a:t>data layer</a:t>
            </a:r>
            <a:r>
              <a:rPr lang="zh-TW" altLang="en-US" dirty="0"/>
              <a:t>中的多個資源，控制層可將</a:t>
            </a:r>
            <a:r>
              <a:rPr lang="en-US" altLang="zh-TW" dirty="0"/>
              <a:t>networking</a:t>
            </a:r>
            <a:r>
              <a:rPr lang="zh-TW" altLang="en-US" dirty="0"/>
              <a:t>，</a:t>
            </a:r>
            <a:r>
              <a:rPr lang="en-US" altLang="zh-TW" dirty="0"/>
              <a:t>caching</a:t>
            </a:r>
            <a:r>
              <a:rPr lang="zh-TW" altLang="en-US" dirty="0"/>
              <a:t>和</a:t>
            </a:r>
            <a:r>
              <a:rPr lang="en-US" altLang="zh-TW" dirty="0"/>
              <a:t>computing</a:t>
            </a:r>
            <a:r>
              <a:rPr lang="zh-TW" altLang="en-US" dirty="0"/>
              <a:t>資源根據用戶需求進行動態分配，</a:t>
            </a:r>
            <a:endParaRPr lang="en-US" altLang="zh-TW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在應用程序層中提供了許多應用程序，包括遙感，導航，通信和監視。</a:t>
            </a:r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44915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Host-centric : </a:t>
            </a:r>
            <a:r>
              <a:rPr lang="zh-TW" altLang="en-US" dirty="0"/>
              <a:t>假設我要傳送一個封包給一指定的</a:t>
            </a:r>
            <a:r>
              <a:rPr lang="en-US" altLang="zh-TW" dirty="0"/>
              <a:t>address,</a:t>
            </a:r>
            <a:r>
              <a:rPr lang="zh-TW" altLang="en-US" dirty="0"/>
              <a:t> 傳送的方式是</a:t>
            </a:r>
            <a:r>
              <a:rPr lang="en-US" altLang="zh-TW" dirty="0"/>
              <a:t>host to another host,</a:t>
            </a:r>
            <a:r>
              <a:rPr lang="zh-TW" altLang="en-US" dirty="0"/>
              <a:t>是</a:t>
            </a:r>
            <a:r>
              <a:rPr lang="en-US" altLang="zh-TW" dirty="0"/>
              <a:t>host </a:t>
            </a:r>
            <a:r>
              <a:rPr lang="zh-TW" altLang="en-US" dirty="0"/>
              <a:t>之間的溝通。</a:t>
            </a:r>
            <a:r>
              <a:rPr lang="en-US" altLang="zh-TW" dirty="0"/>
              <a:t> </a:t>
            </a:r>
            <a:r>
              <a:rPr lang="zh-TW" altLang="en-US" dirty="0"/>
              <a:t>而</a:t>
            </a:r>
            <a:r>
              <a:rPr lang="en-US" altLang="zh-TW" dirty="0"/>
              <a:t>information-centric </a:t>
            </a:r>
            <a:r>
              <a:rPr lang="zh-TW" altLang="en-US" dirty="0"/>
              <a:t>是今天我想要一個某資料我就直接在網路上拿取這筆資料，我不用知道這筆資料的來源是誰，我只要知道這筆資料的</a:t>
            </a:r>
            <a:r>
              <a:rPr lang="en-US" altLang="zh-TW" dirty="0"/>
              <a:t>identifier</a:t>
            </a:r>
            <a:r>
              <a:rPr lang="zh-TW" altLang="en-US" dirty="0"/>
              <a:t> 我就有機會可以找到這筆資料</a:t>
            </a:r>
            <a:r>
              <a:rPr lang="en-US" altLang="zh-TW" dirty="0"/>
              <a:t>)</a:t>
            </a:r>
            <a:r>
              <a:rPr lang="zh-TW" altLang="en-US" dirty="0"/>
              <a:t> 在衛星網路中很難用傳統</a:t>
            </a:r>
            <a:r>
              <a:rPr lang="en-US" altLang="zh-TW" dirty="0"/>
              <a:t>host-centric approaches</a:t>
            </a:r>
            <a:r>
              <a:rPr lang="zh-TW" altLang="en-US" dirty="0"/>
              <a:t>的方式傳遞，因為</a:t>
            </a:r>
            <a:r>
              <a:rPr lang="en-US" altLang="zh-TW" dirty="0"/>
              <a:t>propagation</a:t>
            </a:r>
            <a:r>
              <a:rPr lang="zh-TW" altLang="en-US" dirty="0"/>
              <a:t> </a:t>
            </a:r>
            <a:r>
              <a:rPr lang="en-US" altLang="zh-TW" dirty="0"/>
              <a:t>delay</a:t>
            </a:r>
            <a:r>
              <a:rPr lang="zh-TW" altLang="en-US" dirty="0"/>
              <a:t>很長，</a:t>
            </a:r>
            <a:r>
              <a:rPr lang="en-US" altLang="zh-TW" dirty="0"/>
              <a:t>high</a:t>
            </a:r>
            <a:r>
              <a:rPr lang="zh-TW" altLang="en-US" dirty="0"/>
              <a:t> </a:t>
            </a:r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error</a:t>
            </a:r>
            <a:r>
              <a:rPr lang="zh-TW" altLang="en-US" dirty="0"/>
              <a:t>，</a:t>
            </a:r>
            <a:r>
              <a:rPr lang="en-US" altLang="zh-TW" dirty="0"/>
              <a:t>intermittent connection(</a:t>
            </a:r>
            <a:r>
              <a:rPr lang="zh-TW" altLang="en-US" dirty="0"/>
              <a:t>斷斷續續的連接</a:t>
            </a:r>
            <a:r>
              <a:rPr lang="en-US" altLang="zh-TW" dirty="0"/>
              <a:t>)</a:t>
            </a:r>
            <a:r>
              <a:rPr lang="zh-TW" altLang="en-US" dirty="0"/>
              <a:t>以及</a:t>
            </a:r>
            <a:r>
              <a:rPr lang="en-US" altLang="zh-TW" dirty="0"/>
              <a:t>high mobility</a:t>
            </a:r>
            <a:r>
              <a:rPr lang="zh-TW" altLang="en-US" dirty="0"/>
              <a:t>，為了解決此問題 要採用的方法是</a:t>
            </a:r>
            <a:r>
              <a:rPr lang="en-US" altLang="zh-TW" dirty="0"/>
              <a:t>information-centric</a:t>
            </a:r>
            <a:r>
              <a:rPr lang="zh-TW" altLang="en-US" dirty="0"/>
              <a:t>的</a:t>
            </a:r>
            <a:r>
              <a:rPr lang="en-US" altLang="zh-TW" dirty="0"/>
              <a:t>in-network caching </a:t>
            </a:r>
            <a:r>
              <a:rPr lang="zh-TW" altLang="en-US" dirty="0"/>
              <a:t>，那</a:t>
            </a:r>
            <a:r>
              <a:rPr lang="en-US" altLang="zh-TW" dirty="0"/>
              <a:t>Cache</a:t>
            </a:r>
            <a:r>
              <a:rPr lang="zh-TW" altLang="en-US" dirty="0"/>
              <a:t>就是把常常用到或可能用到的資料先暫存起來，那需要用到的時候就可以比較快使用 </a:t>
            </a:r>
            <a:r>
              <a:rPr lang="en-US" altLang="zh-TW" dirty="0"/>
              <a:t>In-network caching</a:t>
            </a:r>
            <a:r>
              <a:rPr lang="zh-TW" altLang="en-US" dirty="0"/>
              <a:t>是代表不只有單個</a:t>
            </a:r>
            <a:r>
              <a:rPr lang="en-US" altLang="zh-TW" dirty="0"/>
              <a:t>cache</a:t>
            </a:r>
            <a:r>
              <a:rPr lang="zh-TW" altLang="en-US" dirty="0"/>
              <a:t> 而是有好幾個</a:t>
            </a:r>
            <a:r>
              <a:rPr lang="en-US" altLang="zh-TW" dirty="0"/>
              <a:t>cache</a:t>
            </a:r>
            <a:r>
              <a:rPr lang="zh-TW" altLang="en-US" dirty="0"/>
              <a:t>組成。 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49194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fld id="{904BF29D-FD31-4101-A04D-CB41AFBEDE45}" type="slidenum">
              <a:rPr lang="en-GB" altLang="en-US" sz="1200" b="0">
                <a:solidFill>
                  <a:schemeClr val="tx1"/>
                </a:solidFill>
              </a:rPr>
              <a:pPr/>
              <a:t>5</a:t>
            </a:fld>
            <a:endParaRPr lang="en-GB" altLang="en-US" sz="1200" b="0">
              <a:solidFill>
                <a:schemeClr val="tx1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/>
              <a:t>1.User</a:t>
            </a:r>
            <a:r>
              <a:rPr lang="zh-TW" altLang="en-US" dirty="0"/>
              <a:t>發出</a:t>
            </a:r>
            <a:r>
              <a:rPr lang="en-US" altLang="zh-TW" dirty="0"/>
              <a:t>request(</a:t>
            </a:r>
            <a:r>
              <a:rPr lang="zh-TW" altLang="en-US" dirty="0"/>
              <a:t>例如想要一段監控的影像</a:t>
            </a:r>
            <a:r>
              <a:rPr lang="en-US" altLang="zh-TW" dirty="0"/>
              <a:t>)</a:t>
            </a:r>
            <a:r>
              <a:rPr lang="zh-TW" altLang="en-US" dirty="0"/>
              <a:t>給在他範圍內的</a:t>
            </a:r>
            <a:r>
              <a:rPr lang="en-US" altLang="zh-TW" dirty="0"/>
              <a:t>LEO</a:t>
            </a:r>
            <a:r>
              <a:rPr lang="zh-TW" altLang="en-US" dirty="0"/>
              <a:t> </a:t>
            </a:r>
            <a:endParaRPr lang="en-US" altLang="zh-TW" dirty="0"/>
          </a:p>
          <a:p>
            <a:pPr eaLnBrk="1" hangingPunct="1"/>
            <a:r>
              <a:rPr lang="en-US" altLang="zh-TW" dirty="0"/>
              <a:t>2.LEO</a:t>
            </a:r>
            <a:r>
              <a:rPr lang="zh-TW" altLang="en-US" dirty="0"/>
              <a:t>會先去確認此內容是否已在</a:t>
            </a:r>
            <a:r>
              <a:rPr lang="en-US" altLang="zh-TW" dirty="0"/>
              <a:t>associated cache, </a:t>
            </a:r>
            <a:r>
              <a:rPr lang="zh-TW" altLang="en-US" dirty="0"/>
              <a:t>若有，則檢查版本是否一樣，若一樣則回傳對應</a:t>
            </a:r>
            <a:r>
              <a:rPr lang="en-US" altLang="zh-TW" dirty="0"/>
              <a:t>content</a:t>
            </a:r>
            <a:r>
              <a:rPr lang="zh-TW" altLang="en-US" dirty="0"/>
              <a:t>。若版本不同則建置一</a:t>
            </a:r>
            <a:r>
              <a:rPr lang="en-US" altLang="zh-TW" dirty="0"/>
              <a:t>task</a:t>
            </a:r>
            <a:r>
              <a:rPr lang="zh-TW" altLang="en-US" dirty="0"/>
              <a:t>給</a:t>
            </a:r>
            <a:r>
              <a:rPr lang="en-US" altLang="zh-TW" dirty="0"/>
              <a:t>MEC</a:t>
            </a:r>
            <a:r>
              <a:rPr lang="zh-TW" altLang="en-US" dirty="0"/>
              <a:t>，</a:t>
            </a:r>
            <a:r>
              <a:rPr lang="en-US" altLang="zh-TW" dirty="0"/>
              <a:t>MEC</a:t>
            </a:r>
            <a:r>
              <a:rPr lang="zh-TW" altLang="en-US" dirty="0"/>
              <a:t>則執行完將結果回傳</a:t>
            </a:r>
            <a:r>
              <a:rPr lang="en-US" altLang="zh-TW" dirty="0"/>
              <a:t>user</a:t>
            </a:r>
            <a:r>
              <a:rPr lang="zh-TW" altLang="en-US" dirty="0"/>
              <a:t>。若不在</a:t>
            </a:r>
            <a:r>
              <a:rPr lang="en-US" altLang="zh-TW" dirty="0"/>
              <a:t>associated cache</a:t>
            </a:r>
            <a:r>
              <a:rPr lang="zh-TW" altLang="en-US" dirty="0"/>
              <a:t>裡則檢查所有的</a:t>
            </a:r>
            <a:r>
              <a:rPr lang="en-US" altLang="zh-TW" dirty="0"/>
              <a:t>content cache</a:t>
            </a:r>
            <a:r>
              <a:rPr lang="zh-TW" altLang="en-US" dirty="0"/>
              <a:t>，若有就執行剛剛的步驟，若還是沒有就會去使用衛星感測想要的資料再回傳。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42709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fld id="{229508AE-7153-447B-A2CF-2AEB58E18853}" type="slidenum">
              <a:rPr lang="en-GB" altLang="en-US" sz="1200" b="0">
                <a:solidFill>
                  <a:schemeClr val="tx1"/>
                </a:solidFill>
              </a:rPr>
              <a:pPr/>
              <a:t>6</a:t>
            </a:fld>
            <a:endParaRPr lang="en-GB" altLang="en-US" sz="1200" b="0">
              <a:solidFill>
                <a:schemeClr val="tx1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/>
              <a:t>1.User</a:t>
            </a:r>
            <a:r>
              <a:rPr lang="zh-TW" altLang="en-US" dirty="0"/>
              <a:t>發出</a:t>
            </a:r>
            <a:r>
              <a:rPr lang="en-US" altLang="zh-TW" dirty="0"/>
              <a:t>request(</a:t>
            </a:r>
            <a:r>
              <a:rPr lang="zh-TW" altLang="en-US" dirty="0"/>
              <a:t>例如想要一段監控的影像</a:t>
            </a:r>
            <a:r>
              <a:rPr lang="en-US" altLang="zh-TW" dirty="0"/>
              <a:t>)</a:t>
            </a:r>
            <a:r>
              <a:rPr lang="zh-TW" altLang="en-US" dirty="0"/>
              <a:t>給在他範圍內的</a:t>
            </a:r>
            <a:r>
              <a:rPr lang="en-US" altLang="zh-TW" dirty="0"/>
              <a:t>LEO</a:t>
            </a:r>
            <a:r>
              <a:rPr lang="zh-TW" altLang="en-US" dirty="0"/>
              <a:t> </a:t>
            </a:r>
            <a:endParaRPr lang="en-US" altLang="zh-TW" dirty="0"/>
          </a:p>
          <a:p>
            <a:pPr eaLnBrk="1" hangingPunct="1"/>
            <a:r>
              <a:rPr lang="en-US" altLang="zh-TW" dirty="0"/>
              <a:t>2.LEO</a:t>
            </a:r>
            <a:r>
              <a:rPr lang="zh-TW" altLang="en-US" dirty="0"/>
              <a:t>會先去確認此內容是否已在</a:t>
            </a:r>
            <a:r>
              <a:rPr lang="en-US" altLang="zh-TW" dirty="0"/>
              <a:t>associated cache, </a:t>
            </a:r>
            <a:r>
              <a:rPr lang="zh-TW" altLang="en-US" dirty="0"/>
              <a:t>若有，則檢查版本是否一樣，若一樣則回傳對應</a:t>
            </a:r>
            <a:r>
              <a:rPr lang="en-US" altLang="zh-TW" dirty="0"/>
              <a:t>content</a:t>
            </a:r>
            <a:r>
              <a:rPr lang="zh-TW" altLang="en-US" dirty="0"/>
              <a:t>。若版本不同則建置一</a:t>
            </a:r>
            <a:r>
              <a:rPr lang="en-US" altLang="zh-TW" dirty="0"/>
              <a:t>task</a:t>
            </a:r>
            <a:r>
              <a:rPr lang="zh-TW" altLang="en-US" dirty="0"/>
              <a:t>給</a:t>
            </a:r>
            <a:r>
              <a:rPr lang="en-US" altLang="zh-TW" dirty="0"/>
              <a:t>MEC</a:t>
            </a:r>
            <a:r>
              <a:rPr lang="zh-TW" altLang="en-US" dirty="0"/>
              <a:t>，</a:t>
            </a:r>
            <a:r>
              <a:rPr lang="en-US" altLang="zh-TW" dirty="0"/>
              <a:t>MEC</a:t>
            </a:r>
            <a:r>
              <a:rPr lang="zh-TW" altLang="en-US" dirty="0"/>
              <a:t>則執行完將結果回傳</a:t>
            </a:r>
            <a:r>
              <a:rPr lang="en-US" altLang="zh-TW" dirty="0"/>
              <a:t>user</a:t>
            </a:r>
            <a:r>
              <a:rPr lang="zh-TW" altLang="en-US" dirty="0"/>
              <a:t>。若不在</a:t>
            </a:r>
            <a:r>
              <a:rPr lang="en-US" altLang="zh-TW" dirty="0"/>
              <a:t>associated cache</a:t>
            </a:r>
            <a:r>
              <a:rPr lang="zh-TW" altLang="en-US" dirty="0"/>
              <a:t>裡則檢查所有的</a:t>
            </a:r>
            <a:r>
              <a:rPr lang="en-US" altLang="zh-TW" dirty="0"/>
              <a:t>content cache</a:t>
            </a:r>
            <a:r>
              <a:rPr lang="zh-TW" altLang="en-US" dirty="0"/>
              <a:t>，若有就執行剛剛的步驟，若還是沒有就會去使用衛星感測想要的資料再回傳。</a:t>
            </a:r>
            <a:endParaRPr lang="en-US" altLang="zh-TW" dirty="0"/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2540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根據剛剛的例子我們可以看到</a:t>
            </a:r>
            <a:r>
              <a:rPr lang="en-US" altLang="zh-TW" dirty="0"/>
              <a:t>user</a:t>
            </a:r>
            <a:r>
              <a:rPr lang="zh-TW" altLang="en-US" dirty="0"/>
              <a:t>的需求可能有</a:t>
            </a:r>
            <a:r>
              <a:rPr lang="en-US" altLang="zh-TW" dirty="0"/>
              <a:t>networking, caching, computing</a:t>
            </a:r>
            <a:r>
              <a:rPr lang="zh-TW" altLang="en-US" dirty="0"/>
              <a:t> ，但若要將這些考慮進去將會非常困難，於是作者希望透過</a:t>
            </a:r>
            <a:r>
              <a:rPr lang="en-US" altLang="zh-TW" dirty="0"/>
              <a:t>DQN</a:t>
            </a:r>
            <a:r>
              <a:rPr lang="zh-TW" altLang="en-US" dirty="0"/>
              <a:t>來達到目標。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9437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這張圖是這個架構的</a:t>
            </a:r>
            <a:r>
              <a:rPr lang="en-US" altLang="zh-TW" dirty="0"/>
              <a:t>data flow</a:t>
            </a:r>
            <a:r>
              <a:rPr lang="zh-TW" altLang="en-US" dirty="0"/>
              <a:t>是意圖</a:t>
            </a:r>
            <a:endParaRPr lang="en-US" altLang="zh-TW" dirty="0"/>
          </a:p>
          <a:p>
            <a:r>
              <a:rPr lang="en-US" altLang="zh-TW" dirty="0"/>
              <a:t>controller </a:t>
            </a:r>
            <a:r>
              <a:rPr lang="zh-TW" altLang="en-US" dirty="0"/>
              <a:t>接收</a:t>
            </a:r>
            <a:r>
              <a:rPr lang="en-US" altLang="zh-TW" dirty="0"/>
              <a:t> users’ requirements</a:t>
            </a:r>
            <a:r>
              <a:rPr lang="zh-TW" altLang="en-US" dirty="0"/>
              <a:t> 並分配資源</a:t>
            </a:r>
            <a:r>
              <a:rPr lang="en-US" altLang="zh-TW" dirty="0"/>
              <a:t>(networking resources </a:t>
            </a:r>
            <a:r>
              <a:rPr lang="zh-TW" altLang="en-US" dirty="0"/>
              <a:t>，</a:t>
            </a:r>
            <a:r>
              <a:rPr lang="en-US" altLang="zh-TW" dirty="0"/>
              <a:t> caching resources </a:t>
            </a:r>
            <a:r>
              <a:rPr lang="zh-TW" altLang="en-US" dirty="0"/>
              <a:t>，</a:t>
            </a:r>
            <a:r>
              <a:rPr lang="en-US" altLang="zh-TW" dirty="0"/>
              <a:t>computing resources )</a:t>
            </a:r>
            <a:r>
              <a:rPr lang="zh-TW" altLang="en-US" dirty="0"/>
              <a:t> 以配合</a:t>
            </a:r>
            <a:r>
              <a:rPr lang="en-US" altLang="zh-TW" dirty="0"/>
              <a:t>user’ requirements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那資源分配的</a:t>
            </a:r>
            <a:r>
              <a:rPr lang="en-US" altLang="zh-TW" dirty="0"/>
              <a:t>strategies</a:t>
            </a:r>
            <a:r>
              <a:rPr lang="zh-TW" altLang="en-US" dirty="0"/>
              <a:t>是</a:t>
            </a:r>
            <a:r>
              <a:rPr lang="en-US" altLang="zh-TW" dirty="0"/>
              <a:t>orchestrator</a:t>
            </a:r>
            <a:r>
              <a:rPr lang="zh-TW" altLang="en-US" dirty="0"/>
              <a:t>制定的，但</a:t>
            </a:r>
            <a:r>
              <a:rPr lang="en-US" altLang="zh-TW" dirty="0"/>
              <a:t>orchestrator</a:t>
            </a:r>
            <a:r>
              <a:rPr lang="zh-TW" altLang="en-US" dirty="0"/>
              <a:t>如何制定呢</a:t>
            </a:r>
            <a:r>
              <a:rPr lang="en-US" altLang="zh-TW" dirty="0"/>
              <a:t>?</a:t>
            </a:r>
            <a:r>
              <a:rPr lang="zh-TW" altLang="en-US" dirty="0"/>
              <a:t> 只需要從</a:t>
            </a:r>
            <a:r>
              <a:rPr lang="en-US" altLang="zh-TW" dirty="0"/>
              <a:t>controller </a:t>
            </a:r>
            <a:r>
              <a:rPr lang="zh-TW" altLang="en-US" dirty="0"/>
              <a:t>那邊獲得</a:t>
            </a:r>
            <a:r>
              <a:rPr lang="en-US" altLang="zh-TW" dirty="0"/>
              <a:t>training data</a:t>
            </a:r>
            <a:r>
              <a:rPr lang="zh-TW" altLang="en-US" dirty="0"/>
              <a:t>即可進行訓練。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144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簡單來說我們要訓練一個</a:t>
            </a:r>
            <a:r>
              <a:rPr lang="en-US" altLang="zh-TW" dirty="0"/>
              <a:t>agent</a:t>
            </a:r>
            <a:r>
              <a:rPr lang="zh-TW" altLang="en-US" dirty="0"/>
              <a:t>可以去適應我的</a:t>
            </a:r>
            <a:r>
              <a:rPr lang="en-US" altLang="zh-TW" dirty="0"/>
              <a:t>environment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en-US" altLang="zh-TW" dirty="0"/>
              <a:t>agent</a:t>
            </a:r>
            <a:r>
              <a:rPr lang="zh-TW" altLang="en-US" dirty="0"/>
              <a:t>會將我的</a:t>
            </a:r>
            <a:r>
              <a:rPr lang="en-US" altLang="zh-TW" dirty="0"/>
              <a:t>environment</a:t>
            </a:r>
            <a:r>
              <a:rPr lang="zh-TW" altLang="en-US" dirty="0"/>
              <a:t>的每個時間點的觀察集合 做為一個</a:t>
            </a:r>
            <a:r>
              <a:rPr lang="en-US" altLang="zh-TW" dirty="0"/>
              <a:t>state</a:t>
            </a:r>
            <a:r>
              <a:rPr lang="zh-TW" altLang="en-US" dirty="0"/>
              <a:t> ，從</a:t>
            </a:r>
            <a:r>
              <a:rPr lang="en-US" altLang="zh-TW" dirty="0"/>
              <a:t>state</a:t>
            </a:r>
            <a:r>
              <a:rPr lang="zh-TW" altLang="en-US" dirty="0"/>
              <a:t>跟</a:t>
            </a:r>
            <a:r>
              <a:rPr lang="en-US" altLang="zh-TW" dirty="0"/>
              <a:t>reward</a:t>
            </a:r>
            <a:r>
              <a:rPr lang="zh-TW" altLang="en-US" dirty="0"/>
              <a:t>來去選最好的</a:t>
            </a:r>
            <a:r>
              <a:rPr lang="en-US" altLang="zh-TW" dirty="0"/>
              <a:t>action</a:t>
            </a:r>
            <a:r>
              <a:rPr lang="zh-TW" altLang="en-US" dirty="0"/>
              <a:t>，也就是</a:t>
            </a:r>
            <a:r>
              <a:rPr lang="en-US" altLang="zh-TW" dirty="0"/>
              <a:t>policy</a:t>
            </a:r>
          </a:p>
          <a:p>
            <a:endParaRPr lang="en-US" altLang="zh-TW" dirty="0"/>
          </a:p>
          <a:p>
            <a:r>
              <a:rPr lang="zh-TW" altLang="en-US" dirty="0"/>
              <a:t>再</a:t>
            </a:r>
            <a:r>
              <a:rPr lang="en-US" altLang="zh-TW" dirty="0"/>
              <a:t>environment</a:t>
            </a:r>
            <a:r>
              <a:rPr lang="zh-TW" altLang="en-US" dirty="0"/>
              <a:t>會接收</a:t>
            </a:r>
            <a:r>
              <a:rPr lang="en-US" altLang="zh-TW" dirty="0"/>
              <a:t>agent</a:t>
            </a:r>
            <a:r>
              <a:rPr lang="zh-TW" altLang="en-US" dirty="0"/>
              <a:t>執行的</a:t>
            </a:r>
            <a:r>
              <a:rPr lang="en-US" altLang="zh-TW" dirty="0"/>
              <a:t>action </a:t>
            </a:r>
            <a:r>
              <a:rPr lang="zh-TW" altLang="en-US" dirty="0"/>
              <a:t>並吐出</a:t>
            </a:r>
            <a:r>
              <a:rPr lang="en-US" altLang="zh-TW" dirty="0"/>
              <a:t>reward</a:t>
            </a:r>
            <a:r>
              <a:rPr lang="zh-TW" altLang="en-US" dirty="0"/>
              <a:t>跟</a:t>
            </a:r>
            <a:r>
              <a:rPr lang="en-US" altLang="zh-TW" dirty="0"/>
              <a:t>observation</a:t>
            </a:r>
            <a:r>
              <a:rPr lang="zh-TW" altLang="en-US" dirty="0"/>
              <a:t>給</a:t>
            </a:r>
            <a:r>
              <a:rPr lang="en-US" altLang="zh-TW" dirty="0"/>
              <a:t>agent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065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User u </a:t>
            </a:r>
            <a:r>
              <a:rPr lang="zh-TW" altLang="en-US" dirty="0"/>
              <a:t>與</a:t>
            </a:r>
            <a:r>
              <a:rPr lang="en-US" altLang="zh-TW" dirty="0"/>
              <a:t>LEO l</a:t>
            </a:r>
            <a:r>
              <a:rPr lang="zh-TW" altLang="en-US" dirty="0"/>
              <a:t> 的最大角度</a:t>
            </a:r>
            <a:r>
              <a:rPr lang="en-US" altLang="zh-TW" dirty="0"/>
              <a:t>(</a:t>
            </a:r>
            <a:r>
              <a:rPr lang="zh-TW" altLang="en-US" dirty="0"/>
              <a:t>因為有</a:t>
            </a:r>
            <a:r>
              <a:rPr lang="en-US" altLang="zh-TW" dirty="0"/>
              <a:t>Light of sight</a:t>
            </a:r>
            <a:r>
              <a:rPr lang="zh-TW" altLang="en-US" dirty="0"/>
              <a:t>的限制</a:t>
            </a:r>
            <a:r>
              <a:rPr lang="en-US" altLang="zh-TW" dirty="0"/>
              <a:t>,</a:t>
            </a:r>
          </a:p>
          <a:p>
            <a:r>
              <a:rPr lang="en-US" altLang="zh-TW" dirty="0"/>
              <a:t>State </a:t>
            </a:r>
            <a:r>
              <a:rPr lang="en-US" altLang="zh-TW" dirty="0" err="1"/>
              <a:t>Xs</a:t>
            </a:r>
            <a:r>
              <a:rPr lang="en-US" altLang="zh-TW" dirty="0"/>
              <a:t> -&gt;Bs</a:t>
            </a:r>
            <a:r>
              <a:rPr lang="zh-TW" altLang="en-US" dirty="0"/>
              <a:t>的機率為</a:t>
            </a:r>
            <a:r>
              <a:rPr lang="en-US" altLang="zh-TW" dirty="0" err="1"/>
              <a:t>KXsBs</a:t>
            </a:r>
            <a:r>
              <a:rPr lang="en-US" altLang="zh-TW" dirty="0"/>
              <a:t>(t)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6829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這邊也跟剛剛一樣，但這邊是根據頻道中的</a:t>
                </a:r>
                <a:r>
                  <a:rPr lang="en-US" altLang="zh-TW" dirty="0"/>
                  <a:t>SNR</a:t>
                </a:r>
                <a:r>
                  <a:rPr lang="zh-TW" altLang="en-US" dirty="0"/>
                  <a:t>來做切割，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就是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user u </a:t>
                </a:r>
                <a:r>
                  <a:rPr lang="zh-TW" altLang="en-US" dirty="0"/>
                  <a:t>收到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u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的 </a:t>
                </a:r>
                <a:r>
                  <a:rPr lang="en-US" altLang="zh-TW" baseline="0" dirty="0"/>
                  <a:t>SNR</a:t>
                </a:r>
                <a:r>
                  <a:rPr lang="zh-TW" altLang="en-US" baseline="0" dirty="0"/>
                  <a:t> 所建置的一個隨機變數</a:t>
                </a:r>
                <a:endParaRPr lang="en-US" altLang="zh-TW" baseline="0" dirty="0"/>
              </a:p>
              <a:p>
                <a:endParaRPr lang="en-US" altLang="zh-TW" baseline="0" dirty="0"/>
              </a:p>
              <a:p>
                <a:endParaRPr lang="en-US" altLang="zh-TW" baseline="0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這邊也跟剛剛一樣，但這邊是根據頻道中的</a:t>
                </a:r>
                <a:r>
                  <a:rPr lang="en-US" altLang="zh-TW" dirty="0"/>
                  <a:t>SNR</a:t>
                </a:r>
                <a:r>
                  <a:rPr lang="zh-TW" altLang="en-US" dirty="0"/>
                  <a:t>來做切割， 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ℎ_𝑢^𝑙  </a:t>
                </a:r>
                <a:r>
                  <a:rPr lang="zh-TW" altLang="en-US" b="0" i="0">
                    <a:latin typeface="Cambria Math" panose="02040503050406030204" pitchFamily="18" charset="0"/>
                  </a:rPr>
                  <a:t>就是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user u </a:t>
                </a:r>
                <a:r>
                  <a:rPr lang="zh-TW" altLang="en-US" dirty="0"/>
                  <a:t>收到</a:t>
                </a:r>
                <a:r>
                  <a:rPr lang="en-US" altLang="zh-TW" dirty="0"/>
                  <a:t>LEO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u</a:t>
                </a:r>
                <a:r>
                  <a:rPr lang="en-US" altLang="zh-TW" baseline="0" dirty="0"/>
                  <a:t> </a:t>
                </a:r>
                <a:r>
                  <a:rPr lang="zh-TW" altLang="en-US" baseline="0" dirty="0"/>
                  <a:t>的 </a:t>
                </a:r>
                <a:r>
                  <a:rPr lang="en-US" altLang="zh-TW" baseline="0" dirty="0"/>
                  <a:t>SNR</a:t>
                </a:r>
                <a:r>
                  <a:rPr lang="zh-TW" altLang="en-US" baseline="0" dirty="0"/>
                  <a:t> 所建置的一個隨機變數</a:t>
                </a:r>
                <a:endParaRPr lang="en-US" altLang="zh-TW" baseline="0" dirty="0"/>
              </a:p>
              <a:p>
                <a:endParaRPr lang="en-US" altLang="zh-TW" baseline="0" dirty="0"/>
              </a:p>
              <a:p>
                <a:endParaRPr lang="en-US" altLang="zh-TW" baseline="0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95868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3502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代表</a:t>
                </a:r>
                <a:r>
                  <a:rPr lang="en-US" altLang="zh-TW" dirty="0"/>
                  <a:t>content</a:t>
                </a:r>
                <a:r>
                  <a:rPr lang="zh-TW" altLang="en-US" dirty="0"/>
                  <a:t>大小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TW" altLang="en-US" dirty="0"/>
                  <a:t>代表要幾個</a:t>
                </a:r>
                <a:r>
                  <a:rPr lang="en-US" altLang="zh-TW" dirty="0"/>
                  <a:t>cycles </a:t>
                </a:r>
                <a:r>
                  <a:rPr lang="zh-TW" altLang="en-US" dirty="0"/>
                  <a:t>，這邊也是跟剛剛一樣 做一個機率矩陣 去存他的</a:t>
                </a:r>
                <a:r>
                  <a:rPr lang="en-US" altLang="zh-TW" baseline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TW" dirty="0"/>
                  <a:t>computation capability)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altLang="zh-TW" b="0" i="0">
                    <a:latin typeface="Cambria Math" panose="02040503050406030204" pitchFamily="18" charset="0"/>
                  </a:rPr>
                  <a:t>𝑜_𝑢</a:t>
                </a:r>
                <a:r>
                  <a:rPr lang="zh-TW" altLang="en-US" dirty="0"/>
                  <a:t>代表</a:t>
                </a:r>
                <a:r>
                  <a:rPr lang="en-US" altLang="zh-TW" dirty="0"/>
                  <a:t>content</a:t>
                </a:r>
                <a:r>
                  <a:rPr lang="zh-TW" altLang="en-US" dirty="0"/>
                  <a:t>大小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,𝑛_𝑢</a:t>
                </a:r>
                <a:r>
                  <a:rPr lang="zh-TW" altLang="en-US" dirty="0"/>
                  <a:t>代表要幾個</a:t>
                </a:r>
                <a:r>
                  <a:rPr lang="en-US" altLang="zh-TW" dirty="0"/>
                  <a:t>cycles </a:t>
                </a:r>
                <a:r>
                  <a:rPr lang="zh-TW" altLang="en-US" dirty="0"/>
                  <a:t>，這邊也是跟剛剛一樣 做一個機率矩陣 去存他的</a:t>
                </a:r>
                <a:r>
                  <a:rPr lang="en-US" altLang="zh-TW" baseline="0" dirty="0"/>
                  <a:t> 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𝑄_𝑢^𝑚 (</a:t>
                </a:r>
                <a:r>
                  <a:rPr lang="en-US" altLang="zh-TW" dirty="0"/>
                  <a:t>computation capability)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9138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603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在該系統中，代理需要確定將哪個</a:t>
            </a:r>
            <a:r>
              <a:rPr lang="en-US" altLang="zh-TW" dirty="0"/>
              <a:t>LEO</a:t>
            </a:r>
            <a:r>
              <a:rPr lang="zh-TW" altLang="en-US" dirty="0"/>
              <a:t>分配給用戶</a:t>
            </a:r>
            <a:r>
              <a:rPr lang="en-US" altLang="zh-TW" dirty="0"/>
              <a:t>u</a:t>
            </a:r>
            <a:r>
              <a:rPr lang="zh-TW" altLang="en-US" dirty="0"/>
              <a:t>，是否應緩存用戶</a:t>
            </a:r>
            <a:r>
              <a:rPr lang="en-US" altLang="zh-TW" dirty="0"/>
              <a:t>u</a:t>
            </a:r>
            <a:r>
              <a:rPr lang="zh-TW" altLang="en-US" dirty="0"/>
              <a:t>請求的內容，以及哪個</a:t>
            </a:r>
            <a:r>
              <a:rPr lang="en-US" altLang="zh-TW" dirty="0"/>
              <a:t>MEC</a:t>
            </a:r>
            <a:r>
              <a:rPr lang="zh-TW" altLang="en-US" dirty="0"/>
              <a:t>服務器應執行用戶</a:t>
            </a:r>
            <a:r>
              <a:rPr lang="en-US" altLang="zh-TW" dirty="0"/>
              <a:t>u</a:t>
            </a:r>
            <a:r>
              <a:rPr lang="zh-TW" altLang="en-US" dirty="0"/>
              <a:t>的計算任務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EEF6CB-C50F-488A-99E7-79215D4B1CC0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30844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 descr="stuf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0"/>
          <p:cNvSpPr>
            <a:spLocks noChangeArrowheads="1"/>
          </p:cNvSpPr>
          <p:nvPr userDrawn="1"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www.company.com</a:t>
            </a:r>
            <a:endParaRPr lang="fr-FR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5029200"/>
            <a:ext cx="5715000" cy="6096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429000" y="3581400"/>
            <a:ext cx="5715000" cy="147002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anchor="t"/>
          <a:lstStyle>
            <a:lvl1pPr algn="ctr">
              <a:spcBef>
                <a:spcPct val="20000"/>
              </a:spcBef>
              <a:defRPr sz="4000" b="1">
                <a:solidFill>
                  <a:srgbClr val="FCAB1A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511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37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723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05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59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7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11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120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24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5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5200" y="1400175"/>
            <a:ext cx="1828800" cy="4772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0" y="1400175"/>
            <a:ext cx="5334000" cy="4772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19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828800" y="2133600"/>
            <a:ext cx="7162800" cy="4038600"/>
          </a:xfrm>
        </p:spPr>
        <p:txBody>
          <a:bodyPr/>
          <a:lstStyle/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493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32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0" descr="stuff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3"/>
          <p:cNvSpPr>
            <a:spLocks noChangeArrowheads="1"/>
          </p:cNvSpPr>
          <p:nvPr userDrawn="1"/>
        </p:nvSpPr>
        <p:spPr bwMode="auto">
          <a:xfrm>
            <a:off x="1295400" y="1752600"/>
            <a:ext cx="7848600" cy="3505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1400175"/>
            <a:ext cx="7315200" cy="581025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2133600"/>
            <a:ext cx="7162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Click to edit Master text styles</a:t>
            </a:r>
          </a:p>
          <a:p>
            <a:pPr lvl="1"/>
            <a:r>
              <a:rPr lang="fr-FR" altLang="en-US"/>
              <a:t>Second level</a:t>
            </a:r>
          </a:p>
          <a:p>
            <a:pPr lvl="2"/>
            <a:r>
              <a:rPr lang="fr-FR" altLang="en-US"/>
              <a:t>Third level</a:t>
            </a:r>
          </a:p>
          <a:p>
            <a:pPr lvl="3"/>
            <a:r>
              <a:rPr lang="fr-FR" altLang="en-US"/>
              <a:t>Fourth level</a:t>
            </a:r>
          </a:p>
          <a:p>
            <a:pPr lvl="4"/>
            <a:r>
              <a:rPr lang="fr-FR" altLang="en-US"/>
              <a:t>Fifth level</a:t>
            </a:r>
          </a:p>
        </p:txBody>
      </p:sp>
      <p:sp>
        <p:nvSpPr>
          <p:cNvPr id="1030" name="Rectangle 19"/>
          <p:cNvSpPr>
            <a:spLocks noChangeArrowheads="1"/>
          </p:cNvSpPr>
          <p:nvPr userDrawn="1"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www.company.com</a:t>
            </a:r>
            <a:endParaRPr lang="fr-FR" altLang="en-US"/>
          </a:p>
        </p:txBody>
      </p:sp>
      <p:sp>
        <p:nvSpPr>
          <p:cNvPr id="1031" name="Oval 23"/>
          <p:cNvSpPr>
            <a:spLocks noChangeArrowheads="1"/>
          </p:cNvSpPr>
          <p:nvPr userDrawn="1"/>
        </p:nvSpPr>
        <p:spPr bwMode="auto">
          <a:xfrm>
            <a:off x="1433513" y="6159500"/>
            <a:ext cx="65087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2" name="Oval 24"/>
          <p:cNvSpPr>
            <a:spLocks noChangeArrowheads="1"/>
          </p:cNvSpPr>
          <p:nvPr userDrawn="1"/>
        </p:nvSpPr>
        <p:spPr bwMode="auto">
          <a:xfrm>
            <a:off x="2193925" y="6159500"/>
            <a:ext cx="65088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3" name="Oval 25"/>
          <p:cNvSpPr>
            <a:spLocks noChangeArrowheads="1"/>
          </p:cNvSpPr>
          <p:nvPr userDrawn="1"/>
        </p:nvSpPr>
        <p:spPr bwMode="auto">
          <a:xfrm>
            <a:off x="2954338" y="6159500"/>
            <a:ext cx="65087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4" name="Oval 26"/>
          <p:cNvSpPr>
            <a:spLocks noChangeArrowheads="1"/>
          </p:cNvSpPr>
          <p:nvPr userDrawn="1"/>
        </p:nvSpPr>
        <p:spPr bwMode="auto">
          <a:xfrm>
            <a:off x="3714750" y="6159500"/>
            <a:ext cx="65088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5" name="Oval 27"/>
          <p:cNvSpPr>
            <a:spLocks noChangeArrowheads="1"/>
          </p:cNvSpPr>
          <p:nvPr userDrawn="1"/>
        </p:nvSpPr>
        <p:spPr bwMode="auto">
          <a:xfrm>
            <a:off x="4475163" y="6159500"/>
            <a:ext cx="65087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6" name="Oval 28"/>
          <p:cNvSpPr>
            <a:spLocks noChangeArrowheads="1"/>
          </p:cNvSpPr>
          <p:nvPr userDrawn="1"/>
        </p:nvSpPr>
        <p:spPr bwMode="auto">
          <a:xfrm>
            <a:off x="5237163" y="6159500"/>
            <a:ext cx="65087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7" name="Oval 29"/>
          <p:cNvSpPr>
            <a:spLocks noChangeArrowheads="1"/>
          </p:cNvSpPr>
          <p:nvPr userDrawn="1"/>
        </p:nvSpPr>
        <p:spPr bwMode="auto">
          <a:xfrm>
            <a:off x="5997575" y="6159500"/>
            <a:ext cx="65088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8" name="Oval 30"/>
          <p:cNvSpPr>
            <a:spLocks noChangeArrowheads="1"/>
          </p:cNvSpPr>
          <p:nvPr userDrawn="1"/>
        </p:nvSpPr>
        <p:spPr bwMode="auto">
          <a:xfrm>
            <a:off x="6757988" y="6159500"/>
            <a:ext cx="65087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39" name="Oval 31"/>
          <p:cNvSpPr>
            <a:spLocks noChangeArrowheads="1"/>
          </p:cNvSpPr>
          <p:nvPr userDrawn="1"/>
        </p:nvSpPr>
        <p:spPr bwMode="auto">
          <a:xfrm>
            <a:off x="7518400" y="6159500"/>
            <a:ext cx="65088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40" name="Oval 32"/>
          <p:cNvSpPr>
            <a:spLocks noChangeArrowheads="1"/>
          </p:cNvSpPr>
          <p:nvPr userDrawn="1"/>
        </p:nvSpPr>
        <p:spPr bwMode="auto">
          <a:xfrm>
            <a:off x="8280400" y="6159500"/>
            <a:ext cx="65088" cy="65088"/>
          </a:xfrm>
          <a:prstGeom prst="ellipse">
            <a:avLst/>
          </a:prstGeom>
          <a:solidFill>
            <a:srgbClr val="BDD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mp"/><Relationship Id="rId4" Type="http://schemas.openxmlformats.org/officeDocument/2006/relationships/image" Target="../media/image18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mp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3995" y="1397462"/>
            <a:ext cx="7714695" cy="147002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bg2">
                    <a:lumMod val="75000"/>
                  </a:schemeClr>
                </a:solidFill>
              </a:rPr>
              <a:t>Deep Q-Learning Aided Networking, Caching, and Computing Resources Allocation in Software-Deﬁned </a:t>
            </a:r>
            <a:br>
              <a:rPr lang="en-US" altLang="en-US" sz="32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altLang="en-US" sz="3200" dirty="0">
                <a:solidFill>
                  <a:schemeClr val="bg2">
                    <a:lumMod val="75000"/>
                  </a:schemeClr>
                </a:solidFill>
              </a:rPr>
              <a:t>Satellite-Terrestrial Networks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E17009-430A-4C40-A2A0-05D88CF9939D}"/>
              </a:ext>
            </a:extLst>
          </p:cNvPr>
          <p:cNvSpPr/>
          <p:nvPr/>
        </p:nvSpPr>
        <p:spPr>
          <a:xfrm>
            <a:off x="1785891" y="4676005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IEEE TRANSACTIONS ON VEHICULAR TECHNOLOGY, VOL. 68, NO. 6, JUNE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142723"/>
            <a:ext cx="7315200" cy="581025"/>
          </a:xfrm>
        </p:spPr>
        <p:txBody>
          <a:bodyPr/>
          <a:lstStyle/>
          <a:p>
            <a:pPr eaLnBrk="1" hangingPunct="1"/>
            <a:r>
              <a:rPr lang="en-GB" altLang="en-US" dirty="0"/>
              <a:t>INTRODUCTION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033" y="2133600"/>
            <a:ext cx="8050567" cy="4038600"/>
          </a:xfrm>
        </p:spPr>
        <p:txBody>
          <a:bodyPr/>
          <a:lstStyle/>
          <a:p>
            <a:pPr eaLnBrk="1" hangingPunct="1"/>
            <a:r>
              <a:rPr lang="en-GB" altLang="en-US" dirty="0"/>
              <a:t>Software-deﬁned satellite-terrestrial network framework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bg2">
                    <a:lumMod val="75000"/>
                  </a:schemeClr>
                </a:solidFill>
              </a:rPr>
              <a:t>A single physical satellite network enables to be virtualized into several virtual satellite networks to share networking resources.</a:t>
            </a:r>
            <a:endParaRPr lang="en-GB" alt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8026" y="645323"/>
            <a:ext cx="7855974" cy="929149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Framework of Software-Deﬁned Satellite-Terrestrial Networks </a:t>
            </a:r>
          </a:p>
        </p:txBody>
      </p:sp>
      <p:sp>
        <p:nvSpPr>
          <p:cNvPr id="3" name="圖表版面配置區 2">
            <a:extLst>
              <a:ext uri="{FF2B5EF4-FFF2-40B4-BE49-F238E27FC236}">
                <a16:creationId xmlns:a16="http://schemas.microsoft.com/office/drawing/2014/main" id="{540745EB-61BB-4BF3-BE90-29C04094BED3}"/>
              </a:ext>
            </a:extLst>
          </p:cNvPr>
          <p:cNvSpPr>
            <a:spLocks noGrp="1"/>
          </p:cNvSpPr>
          <p:nvPr>
            <p:ph type="chart" idx="1"/>
          </p:nvPr>
        </p:nvSpPr>
        <p:spPr/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80116B-661C-463A-BA67-7801EB50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09" y="1846169"/>
            <a:ext cx="6947211" cy="4574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82826-7261-4C12-9804-F2C7B24A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1400175"/>
            <a:ext cx="8141110" cy="581025"/>
          </a:xfrm>
        </p:spPr>
        <p:txBody>
          <a:bodyPr/>
          <a:lstStyle/>
          <a:p>
            <a:r>
              <a:rPr lang="en-US" altLang="zh-TW" sz="3200" dirty="0"/>
              <a:t>Satellite-Terrestrial Networks With Caching </a:t>
            </a:r>
            <a:endParaRPr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7F8752-3CAE-47A0-B056-53348614E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Host-centric </a:t>
            </a:r>
            <a:r>
              <a:rPr lang="en-US" altLang="zh-TW" dirty="0" err="1"/>
              <a:t>v.s</a:t>
            </a:r>
            <a:r>
              <a:rPr lang="en-US" altLang="zh-TW" dirty="0"/>
              <a:t>. Information-centric networking</a:t>
            </a:r>
          </a:p>
          <a:p>
            <a:endParaRPr lang="en-US" altLang="zh-TW" dirty="0"/>
          </a:p>
          <a:p>
            <a:r>
              <a:rPr lang="en-US" altLang="zh-TW" dirty="0"/>
              <a:t>in-network caching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9EE5D0C-DAFB-4A4D-B781-C46A341D6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871" y="3537669"/>
            <a:ext cx="4651781" cy="306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6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Example about the workﬂow of this framework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2133600"/>
            <a:ext cx="6499123" cy="4038600"/>
          </a:xfrm>
        </p:spPr>
        <p:txBody>
          <a:bodyPr/>
          <a:lstStyle/>
          <a:p>
            <a:pPr eaLnBrk="1" hangingPunct="1"/>
            <a:r>
              <a:rPr lang="en-GB" altLang="en-US" sz="2000" dirty="0"/>
              <a:t> A user issues a content request</a:t>
            </a:r>
            <a:r>
              <a:rPr lang="zh-TW" altLang="en-US" sz="2000" dirty="0"/>
              <a:t> </a:t>
            </a:r>
            <a:r>
              <a:rPr lang="en-US" altLang="zh-TW" sz="2000" dirty="0"/>
              <a:t>to</a:t>
            </a:r>
            <a:r>
              <a:rPr lang="zh-TW" altLang="en-US" sz="2000" dirty="0"/>
              <a:t> </a:t>
            </a:r>
            <a:r>
              <a:rPr lang="en-US" altLang="zh-TW" sz="2000" dirty="0"/>
              <a:t>a LEO that covers this user</a:t>
            </a:r>
          </a:p>
          <a:p>
            <a:pPr eaLnBrk="1" hangingPunct="1"/>
            <a:endParaRPr lang="en-GB" altLang="en-US" sz="2000" dirty="0"/>
          </a:p>
          <a:p>
            <a:pPr eaLnBrk="1" hangingPunct="1"/>
            <a:r>
              <a:rPr lang="en-US" altLang="zh-TW" sz="2000" dirty="0"/>
              <a:t>C</a:t>
            </a:r>
            <a:r>
              <a:rPr lang="en-US" altLang="en-US" sz="2000" dirty="0"/>
              <a:t>heck whether this content is cached in</a:t>
            </a:r>
            <a:r>
              <a:rPr lang="zh-TW" altLang="en-US" sz="2000" dirty="0"/>
              <a:t> </a:t>
            </a:r>
            <a:r>
              <a:rPr lang="en-US" altLang="en-US" sz="2000" dirty="0"/>
              <a:t>its</a:t>
            </a:r>
            <a:r>
              <a:rPr lang="zh-TW" altLang="en-US" sz="2000" dirty="0"/>
              <a:t> </a:t>
            </a:r>
            <a:r>
              <a:rPr lang="en-US" altLang="en-US" sz="2000" dirty="0"/>
              <a:t>associated</a:t>
            </a:r>
            <a:r>
              <a:rPr lang="zh-TW" altLang="en-US" sz="2000" dirty="0"/>
              <a:t> </a:t>
            </a:r>
            <a:r>
              <a:rPr lang="en-US" altLang="en-US" sz="2000" dirty="0"/>
              <a:t>cache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If no, do sensing and retrieve the result</a:t>
            </a:r>
          </a:p>
          <a:p>
            <a:pPr eaLnBrk="1" hangingPunct="1"/>
            <a:endParaRPr lang="en-US" altLang="en-US" sz="1400" dirty="0"/>
          </a:p>
          <a:p>
            <a:pPr lvl="1" eaLnBrk="1" hangingPunct="1"/>
            <a:endParaRPr lang="en-US" altLang="en-US" sz="16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304800" y="228600"/>
            <a:ext cx="1676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600" b="0" dirty="0"/>
              <a:t>Company LOGO</a:t>
            </a:r>
            <a:endParaRPr lang="fr-FR" altLang="en-US" sz="16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148" y="561821"/>
            <a:ext cx="7315200" cy="5810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An example about the workﬂow of this framework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304800" y="228600"/>
            <a:ext cx="1676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algn="r"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600" b="0"/>
              <a:t>Company LOGO</a:t>
            </a:r>
            <a:endParaRPr lang="fr-FR" altLang="en-US" sz="1600" b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6CB12F-CB75-4425-91AA-4E20D199B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148" y="1476067"/>
            <a:ext cx="6346469" cy="4712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82826-7261-4C12-9804-F2C7B24A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1400175"/>
            <a:ext cx="8141110" cy="581025"/>
          </a:xfrm>
        </p:spPr>
        <p:txBody>
          <a:bodyPr/>
          <a:lstStyle/>
          <a:p>
            <a:r>
              <a:rPr lang="en-US" altLang="zh-TW" sz="2800" dirty="0"/>
              <a:t>Deep Q-learning</a:t>
            </a:r>
            <a:endParaRPr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7F8752-3CAE-47A0-B056-53348614E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490" y="2133600"/>
            <a:ext cx="8141110" cy="4038600"/>
          </a:xfrm>
        </p:spPr>
        <p:txBody>
          <a:bodyPr/>
          <a:lstStyle/>
          <a:p>
            <a:r>
              <a:rPr lang="en-US" altLang="zh-TW" dirty="0"/>
              <a:t>From this example, we can see that networking, caching, and computing are all enabling resources for users’ requirements. </a:t>
            </a:r>
          </a:p>
          <a:p>
            <a:endParaRPr lang="en-US" altLang="zh-TW" dirty="0"/>
          </a:p>
          <a:p>
            <a:r>
              <a:rPr lang="en-US" altLang="zh-TW" dirty="0"/>
              <a:t>Learning agent : Orchestrator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890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0A5990-91AF-482E-AFE9-94C5F22B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Data ﬂows among the proposed framework</a:t>
            </a:r>
            <a:endParaRPr lang="zh-TW" altLang="en-US" sz="2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678114D-B73E-440D-902E-ED782D85A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8" y="2133600"/>
            <a:ext cx="6111804" cy="4038600"/>
          </a:xfr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896CB9D3-D89C-4BF9-BA1A-F17B5D5CF6E8}"/>
              </a:ext>
            </a:extLst>
          </p:cNvPr>
          <p:cNvSpPr/>
          <p:nvPr/>
        </p:nvSpPr>
        <p:spPr bwMode="auto">
          <a:xfrm>
            <a:off x="383458" y="2939846"/>
            <a:ext cx="1970840" cy="1936955"/>
          </a:xfrm>
          <a:prstGeom prst="round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1600" dirty="0"/>
              <a:t>The resources allocation strategies are made by orchestrators.</a:t>
            </a:r>
            <a:endParaRPr kumimoji="0" lang="zh-TW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10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667FA-47FF-43CA-835E-692C71C1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1150375"/>
            <a:ext cx="8150942" cy="830826"/>
          </a:xfrm>
        </p:spPr>
        <p:txBody>
          <a:bodyPr/>
          <a:lstStyle/>
          <a:p>
            <a:r>
              <a:rPr lang="en-US" altLang="zh-TW" sz="2400" dirty="0"/>
              <a:t>The interaction of the agent and the environment in Q-learning</a:t>
            </a:r>
            <a:endParaRPr lang="zh-TW" altLang="en-US" sz="24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9110EBB-9EE5-487C-83A2-20E481171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133599"/>
            <a:ext cx="6856128" cy="4469241"/>
          </a:xfrm>
        </p:spPr>
      </p:pic>
    </p:spTree>
    <p:extLst>
      <p:ext uri="{BB962C8B-B14F-4D97-AF65-F5344CB8AC3E}">
        <p14:creationId xmlns:p14="http://schemas.microsoft.com/office/powerpoint/2010/main" val="98348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E0731-5F8E-4D22-8F73-172E4C19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99C5B8-481B-47C4-B357-1410C65836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Y’ x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Y’ angle </a:t>
                </a:r>
                <a:r>
                  <a:rPr lang="en-US" altLang="zh-TW" dirty="0" err="1"/>
                  <a:t>atate</a:t>
                </a:r>
                <a:r>
                  <a:rPr lang="en-US" altLang="zh-TW" dirty="0"/>
                  <a:t> transition probability matrix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dirty="0"/>
                  <a:t>(t) between user u and LEO l is denoted as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99C5B8-481B-47C4-B357-1410C65836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BE29B5A1-B8F9-4E7E-B122-3F759714E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02" y="4435983"/>
            <a:ext cx="3508187" cy="718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5F5DEE7-F295-4B8A-A1C9-E274483345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457825"/>
            <a:ext cx="6792273" cy="6001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F5115C-A1B1-4639-A914-9BA06A708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433" y="2278769"/>
            <a:ext cx="4820323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0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46ED08-3B3A-41FD-829E-2FE7D380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Communication Model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5AC9E84-8534-45A1-9446-9A5DD3AD9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received SNR of user u from LEO l is modeled as a random variable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5AC9E84-8534-45A1-9446-9A5DD3AD9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6" t="-1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BF3A1D60-1255-4B47-A85C-9BF4A0FEE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734" y="3066961"/>
            <a:ext cx="6849431" cy="12765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79E0275-1A9C-4474-87C9-CC21D4864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734" y="4762407"/>
            <a:ext cx="4848902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1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AAC976-9991-421A-A76B-A4D0E55B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Caching Model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D00E5EC-35B5-404D-BD98-70017C1E9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average request rate for content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 at time slot t can be expressed by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We are not sure whether content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 is cached in the system. Thus, whether or not content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 is cached in the system can be modeled as 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dirty="0"/>
                          <m:t>ς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D00E5EC-35B5-404D-BD98-70017C1E9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6" t="-1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8B3FD7ED-CC8B-497F-85E6-0490393F2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393" y="3005078"/>
            <a:ext cx="1705213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37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105DA8-A652-49D2-B3DA-E3C6DA43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88B7E5-BD84-4892-8D87-2E0485AE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There are two states: if content </a:t>
            </a:r>
            <a:r>
              <a:rPr lang="en-US" altLang="zh-TW" dirty="0" err="1"/>
              <a:t>i</a:t>
            </a:r>
            <a:r>
              <a:rPr lang="en-US" altLang="zh-TW" dirty="0"/>
              <a:t> is not cached, state 0; if content </a:t>
            </a:r>
            <a:r>
              <a:rPr lang="en-US" altLang="zh-TW" dirty="0" err="1"/>
              <a:t>i</a:t>
            </a:r>
            <a:r>
              <a:rPr lang="en-US" altLang="zh-TW" dirty="0"/>
              <a:t> is cached, state 1.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D67F45-8912-41E7-992F-7456F4223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773779"/>
            <a:ext cx="695422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9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7930DE-8FB7-4F36-8D17-520EDA507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07716"/>
            <a:ext cx="7315200" cy="581025"/>
          </a:xfrm>
        </p:spPr>
        <p:txBody>
          <a:bodyPr/>
          <a:lstStyle/>
          <a:p>
            <a:r>
              <a:rPr lang="en-US" altLang="zh-TW" dirty="0"/>
              <a:t>Computing Model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02B073F-1BB2-4C85-89FD-6148F83E1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0" y="1141140"/>
                <a:ext cx="7162800" cy="5716859"/>
              </a:xfrm>
            </p:spPr>
            <p:txBody>
              <a:bodyPr/>
              <a:lstStyle/>
              <a:p>
                <a:r>
                  <a:rPr lang="en-US" altLang="zh-TW" dirty="0"/>
                  <a:t>There is a computation task Tu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dirty="0"/>
                  <a:t>} from user u,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dirty="0"/>
                  <a:t> means the size of the content,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dirty="0"/>
                  <a:t> means the required number of CPU cycles to complete this task. 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The computation execution time of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at MEC server m can be denoted as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02B073F-1BB2-4C85-89FD-6148F83E1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0" y="1141140"/>
                <a:ext cx="7162800" cy="5716859"/>
              </a:xfrm>
              <a:blipFill>
                <a:blip r:embed="rId3"/>
                <a:stretch>
                  <a:fillRect l="-1277" t="-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FA77D47-2268-4F3B-9CF6-7C463480C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655" y="2809788"/>
            <a:ext cx="6868484" cy="123842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205E346-9AC8-40E3-82C6-C03FF42D1C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761" y="5464389"/>
            <a:ext cx="2162477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43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5344B0-EDCC-46E4-B59E-0A694E7B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37959E-F9AF-431F-8678-341ECD83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2167054"/>
            <a:ext cx="7162800" cy="4038600"/>
          </a:xfrm>
        </p:spPr>
        <p:txBody>
          <a:bodyPr/>
          <a:lstStyle/>
          <a:p>
            <a:r>
              <a:rPr lang="en-US" altLang="zh-TW" dirty="0"/>
              <a:t>So the computation rate is: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B080DEE-5A7C-40B0-963B-70431752C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0" y="2770616"/>
            <a:ext cx="508706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1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7489B8-5803-4417-9C85-C3C95C39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State Space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5239FB-CB0D-4889-B301-D36D556D2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state space consists angle state, networking state, caching state, and computing state.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9F5C719-752C-4925-985C-320853D3F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61" y="3164652"/>
            <a:ext cx="7097115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03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C648C-AD2F-4BFC-8F46-691C6290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Action Space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64ABE8-8693-4B94-8901-209531C88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Which LEO is assigned to user u</a:t>
            </a:r>
          </a:p>
          <a:p>
            <a:endParaRPr lang="en-US" altLang="zh-TW" dirty="0"/>
          </a:p>
          <a:p>
            <a:r>
              <a:rPr lang="en-US" altLang="zh-TW" dirty="0"/>
              <a:t>Whether or not the content requested by user u should be cached</a:t>
            </a:r>
          </a:p>
          <a:p>
            <a:endParaRPr lang="en-US" altLang="zh-TW" dirty="0"/>
          </a:p>
          <a:p>
            <a:r>
              <a:rPr lang="en-US" altLang="zh-TW" dirty="0"/>
              <a:t>Which MEC server should execute the computation task from user 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5977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6CAF9-4BB0-4015-8094-98C27DF2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action space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636C2C-265D-49FA-85F5-6524D367D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action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TW" dirty="0"/>
                  <a:t>(t) at time instant t is represented as: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F636C2C-265D-49FA-85F5-6524D367D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6" t="-1056" r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C97621E-CA12-4A4A-93F0-2A2FADFDB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19" y="3109868"/>
            <a:ext cx="5058481" cy="63826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BCA8741-B1F6-4176-B839-8EC0AC115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19" y="3993914"/>
            <a:ext cx="5420497" cy="3148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9A11238-348B-49C7-BBC8-CEC0FB62BB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19" y="4684642"/>
            <a:ext cx="5306165" cy="32389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422C5E3-4F87-4D10-9813-3AD82DFCB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051" y="5376862"/>
            <a:ext cx="5306165" cy="55462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738302C-81D9-4FF4-A599-0B58BA89E6D1}"/>
              </a:ext>
            </a:extLst>
          </p:cNvPr>
          <p:cNvSpPr/>
          <p:nvPr/>
        </p:nvSpPr>
        <p:spPr bwMode="auto">
          <a:xfrm>
            <a:off x="3055434" y="5687122"/>
            <a:ext cx="4621782" cy="314848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43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9DFC8D-0C0A-4984-B67F-A129B413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Reward Function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A9659FF-D7DD-4E8F-8E05-0893B55FE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364" y="2196609"/>
            <a:ext cx="6563641" cy="924054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D0C1836-6085-4B9F-B7C8-A9941AEB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422" y="3336072"/>
            <a:ext cx="6163535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83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093A0F-09D9-4785-B8BF-6E22A7FE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 function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AA9048A-519A-495E-923B-5DA7269D4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624754"/>
            <a:ext cx="6925642" cy="619211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566BC3C-EBB7-4940-A1D0-FFBE86A4C7E5}"/>
                  </a:ext>
                </a:extLst>
              </p:cNvPr>
              <p:cNvSpPr txBox="1"/>
              <p:nvPr/>
            </p:nvSpPr>
            <p:spPr>
              <a:xfrm>
                <a:off x="1828800" y="2330604"/>
                <a:ext cx="6713034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b="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1800" b="0" dirty="0">
                            <a:solidFill>
                              <a:schemeClr val="tx1"/>
                            </a:solidFill>
                          </a:rPr>
                          <m:t>α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1800" b="0" dirty="0">
                    <a:solidFill>
                      <a:schemeClr val="tx1"/>
                    </a:solidFill>
                  </a:rPr>
                  <a:t> ∈ (0,1] is the learning rate. In traditional Q-learning, Q(</a:t>
                </a:r>
                <a:r>
                  <a:rPr lang="en-US" altLang="zh-TW" sz="1800" b="0" dirty="0" err="1">
                    <a:solidFill>
                      <a:schemeClr val="tx1"/>
                    </a:solidFill>
                  </a:rPr>
                  <a:t>s,a</a:t>
                </a:r>
                <a:r>
                  <a:rPr lang="en-US" altLang="zh-TW" sz="1800" b="0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zh-TW" sz="1800" b="0" dirty="0" err="1">
                    <a:solidFill>
                      <a:schemeClr val="tx1"/>
                    </a:solidFill>
                  </a:rPr>
                  <a:t>isputintoaQ-table.The</a:t>
                </a:r>
                <a:r>
                  <a:rPr lang="en-US" altLang="zh-TW" sz="1800" b="0" dirty="0">
                    <a:solidFill>
                      <a:schemeClr val="tx1"/>
                    </a:solidFill>
                  </a:rPr>
                  <a:t> action with maximum Q(</a:t>
                </a:r>
                <a:r>
                  <a:rPr lang="en-US" altLang="zh-TW" sz="1800" b="0" dirty="0" err="1">
                    <a:solidFill>
                      <a:schemeClr val="tx1"/>
                    </a:solidFill>
                  </a:rPr>
                  <a:t>s,a</a:t>
                </a:r>
                <a:r>
                  <a:rPr lang="en-US" altLang="zh-TW" sz="1800" b="0" dirty="0">
                    <a:solidFill>
                      <a:schemeClr val="tx1"/>
                    </a:solidFill>
                  </a:rPr>
                  <a:t>) may be selected.</a:t>
                </a:r>
                <a:endParaRPr lang="zh-TW" altLang="en-US" sz="18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566BC3C-EBB7-4940-A1D0-FFBE86A4C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30604"/>
                <a:ext cx="6713034" cy="944746"/>
              </a:xfrm>
              <a:prstGeom prst="rect">
                <a:avLst/>
              </a:prstGeom>
              <a:blipFill>
                <a:blip r:embed="rId3"/>
                <a:stretch>
                  <a:fillRect l="-727" t="-3871" b="-96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883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13177-C129-45BE-B326-D16585A6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Deep Q-Learning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654C61-5032-4C57-AE2E-855D34DE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 In each learning iteration, deep networks are trained to minimize </a:t>
            </a:r>
            <a:r>
              <a:rPr lang="en-US" altLang="zh-TW"/>
              <a:t>loss function.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98FC06-F18A-4CBE-B7EC-378299956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05" y="3181214"/>
            <a:ext cx="6697010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4798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183883"/>
      </a:dk1>
      <a:lt1>
        <a:srgbClr val="FFFFFF"/>
      </a:lt1>
      <a:dk2>
        <a:srgbClr val="183883"/>
      </a:dk2>
      <a:lt2>
        <a:srgbClr val="808080"/>
      </a:lt2>
      <a:accent1>
        <a:srgbClr val="D4E3F7"/>
      </a:accent1>
      <a:accent2>
        <a:srgbClr val="0067AF"/>
      </a:accent2>
      <a:accent3>
        <a:srgbClr val="FFFFFF"/>
      </a:accent3>
      <a:accent4>
        <a:srgbClr val="132E6F"/>
      </a:accent4>
      <a:accent5>
        <a:srgbClr val="E6EFFA"/>
      </a:accent5>
      <a:accent6>
        <a:srgbClr val="005D9E"/>
      </a:accent6>
      <a:hlink>
        <a:srgbClr val="365B91"/>
      </a:hlink>
      <a:folHlink>
        <a:srgbClr val="0099A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en-US" sz="1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en-US" sz="1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183883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183883"/>
        </a:dk1>
        <a:lt1>
          <a:srgbClr val="FFFFFF"/>
        </a:lt1>
        <a:dk2>
          <a:srgbClr val="000000"/>
        </a:dk2>
        <a:lt2>
          <a:srgbClr val="808080"/>
        </a:lt2>
        <a:accent1>
          <a:srgbClr val="D4E3F7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183883"/>
        </a:dk1>
        <a:lt1>
          <a:srgbClr val="FFFFFF"/>
        </a:lt1>
        <a:dk2>
          <a:srgbClr val="183883"/>
        </a:dk2>
        <a:lt2>
          <a:srgbClr val="808080"/>
        </a:lt2>
        <a:accent1>
          <a:srgbClr val="D4E3F7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183883"/>
        </a:dk1>
        <a:lt1>
          <a:srgbClr val="FFFFFF"/>
        </a:lt1>
        <a:dk2>
          <a:srgbClr val="183883"/>
        </a:dk2>
        <a:lt2>
          <a:srgbClr val="808080"/>
        </a:lt2>
        <a:accent1>
          <a:srgbClr val="D4E3F7"/>
        </a:accent1>
        <a:accent2>
          <a:srgbClr val="0067AF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005D9E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1452</Words>
  <Application>Microsoft Office PowerPoint</Application>
  <PresentationFormat>如螢幕大小 (4:3)</PresentationFormat>
  <Paragraphs>105</Paragraphs>
  <Slides>21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新細明體</vt:lpstr>
      <vt:lpstr>Arial</vt:lpstr>
      <vt:lpstr>Cambria Math</vt:lpstr>
      <vt:lpstr>Verdana</vt:lpstr>
      <vt:lpstr>Default Design</vt:lpstr>
      <vt:lpstr>Deep Q-Learning Aided Networking, Caching, and Computing Resources Allocation in Software-Deﬁned  Satellite-Terrestrial Networks </vt:lpstr>
      <vt:lpstr>INTRODUCTION</vt:lpstr>
      <vt:lpstr>Framework of Software-Deﬁned Satellite-Terrestrial Networks </vt:lpstr>
      <vt:lpstr>Satellite-Terrestrial Networks With Caching </vt:lpstr>
      <vt:lpstr>Example about the workﬂow of this framework </vt:lpstr>
      <vt:lpstr>An example about the workﬂow of this framework</vt:lpstr>
      <vt:lpstr>Deep Q-learning</vt:lpstr>
      <vt:lpstr>Data ﬂows among the proposed framework</vt:lpstr>
      <vt:lpstr>The interaction of the agent and the environment in Q-learning</vt:lpstr>
      <vt:lpstr>PowerPoint 簡報</vt:lpstr>
      <vt:lpstr>Communication Model</vt:lpstr>
      <vt:lpstr>Caching Model</vt:lpstr>
      <vt:lpstr>PowerPoint 簡報</vt:lpstr>
      <vt:lpstr>Computing Model</vt:lpstr>
      <vt:lpstr>PowerPoint 簡報</vt:lpstr>
      <vt:lpstr>State Space</vt:lpstr>
      <vt:lpstr>Action Space</vt:lpstr>
      <vt:lpstr>action space</vt:lpstr>
      <vt:lpstr>Reward Function</vt:lpstr>
      <vt:lpstr>Q function</vt:lpstr>
      <vt:lpstr>Deep Q-Learning</vt:lpstr>
    </vt:vector>
  </TitlesOfParts>
  <Company>Presentation Magazine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2 Template</dc:title>
  <dc:creator>Presentation Magazine</dc:creator>
  <cp:lastModifiedBy>Albert</cp:lastModifiedBy>
  <cp:revision>180</cp:revision>
  <dcterms:created xsi:type="dcterms:W3CDTF">2005-02-28T14:06:28Z</dcterms:created>
  <dcterms:modified xsi:type="dcterms:W3CDTF">2019-11-07T15:51:31Z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hecked by">
    <vt:lpwstr>Presentation Helper</vt:lpwstr>
  </property>
</Properties>
</file>