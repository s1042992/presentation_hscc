
<file path=[Content_Types].xml><?xml version="1.0" encoding="utf-8"?>
<Types xmlns="http://schemas.openxmlformats.org/package/2006/content-types"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8" r:id="rId2"/>
    <p:sldId id="262" r:id="rId3"/>
    <p:sldId id="270" r:id="rId4"/>
    <p:sldId id="263" r:id="rId5"/>
    <p:sldId id="264" r:id="rId6"/>
    <p:sldId id="265" r:id="rId7"/>
    <p:sldId id="271" r:id="rId8"/>
    <p:sldId id="272" r:id="rId9"/>
  </p:sldIdLst>
  <p:sldSz cx="9144000" cy="6858000" type="screen4x3"/>
  <p:notesSz cx="6858000" cy="9144000"/>
  <p:defaultTextStyle>
    <a:defPPr>
      <a:defRPr lang="fr-FR"/>
    </a:defPPr>
    <a:lvl1pPr algn="l" rtl="0" eaLnBrk="0" fontAlgn="base" hangingPunct="0">
      <a:spcBef>
        <a:spcPct val="0"/>
      </a:spcBef>
      <a:spcAft>
        <a:spcPct val="0"/>
      </a:spcAft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1000" b="1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80">
          <p15:clr>
            <a:srgbClr val="A4A3A4"/>
          </p15:clr>
        </p15:guide>
        <p15:guide id="2" pos="11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D2F2"/>
    <a:srgbClr val="D4E3F7"/>
    <a:srgbClr val="DDDDDD"/>
    <a:srgbClr val="EAEAEA"/>
    <a:srgbClr val="96B8D6"/>
    <a:srgbClr val="B4CCE2"/>
    <a:srgbClr val="0067AC"/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01" autoAdjust="0"/>
    <p:restoredTop sz="84543" autoAdjust="0"/>
  </p:normalViewPr>
  <p:slideViewPr>
    <p:cSldViewPr snapToGrid="0">
      <p:cViewPr varScale="1">
        <p:scale>
          <a:sx n="97" d="100"/>
          <a:sy n="97" d="100"/>
        </p:scale>
        <p:origin x="2400" y="48"/>
      </p:cViewPr>
      <p:guideLst>
        <p:guide orient="horz" pos="1680"/>
        <p:guide pos="115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GB" altLang="en-US"/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GB" alt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25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noProof="0"/>
              <a:t>Click to edit Master text styles</a:t>
            </a:r>
          </a:p>
          <a:p>
            <a:pPr lvl="1"/>
            <a:r>
              <a:rPr lang="en-GB" altLang="en-US" noProof="0"/>
              <a:t>Second level</a:t>
            </a:r>
          </a:p>
          <a:p>
            <a:pPr lvl="2"/>
            <a:r>
              <a:rPr lang="en-GB" altLang="en-US" noProof="0"/>
              <a:t>Third level</a:t>
            </a:r>
          </a:p>
          <a:p>
            <a:pPr lvl="3"/>
            <a:r>
              <a:rPr lang="en-GB" altLang="en-US" noProof="0"/>
              <a:t>Fourth level</a:t>
            </a:r>
          </a:p>
          <a:p>
            <a:pPr lvl="4"/>
            <a:r>
              <a:rPr lang="en-GB" altLang="en-US" noProof="0"/>
              <a:t>Fifth level</a:t>
            </a:r>
          </a:p>
        </p:txBody>
      </p:sp>
      <p:sp>
        <p:nvSpPr>
          <p:cNvPr id="225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GB" altLang="en-US"/>
          </a:p>
        </p:txBody>
      </p:sp>
      <p:sp>
        <p:nvSpPr>
          <p:cNvPr id="225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8EEEF6CB-C50F-488A-99E7-79215D4B1CC0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2898660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fld id="{2D11F8D7-571E-4947-BB12-0CF48399898F}" type="slidenum">
              <a:rPr lang="en-GB" altLang="en-US" sz="1200" b="0">
                <a:solidFill>
                  <a:schemeClr val="tx1"/>
                </a:solidFill>
              </a:rPr>
              <a:pPr/>
              <a:t>1</a:t>
            </a:fld>
            <a:endParaRPr lang="en-GB" altLang="en-US" sz="1200" b="0">
              <a:solidFill>
                <a:schemeClr val="tx1"/>
              </a:solidFill>
            </a:endParaRPr>
          </a:p>
        </p:txBody>
      </p:sp>
      <p:sp>
        <p:nvSpPr>
          <p:cNvPr id="51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0384598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fld id="{0A53C477-038F-4BB3-ABF6-9AC96926A5C7}" type="slidenum">
              <a:rPr lang="en-GB" altLang="en-US" sz="1200" b="0">
                <a:solidFill>
                  <a:schemeClr val="tx1"/>
                </a:solidFill>
              </a:rPr>
              <a:pPr/>
              <a:t>2</a:t>
            </a:fld>
            <a:endParaRPr lang="en-GB" altLang="en-US" sz="1200" b="0">
              <a:solidFill>
                <a:schemeClr val="tx1"/>
              </a:solidFill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GB" altLang="en-US" dirty="0"/>
          </a:p>
          <a:p>
            <a:pPr eaLnBrk="1" hangingPunct="1"/>
            <a:endParaRPr lang="en-GB" altLang="zh-TW" dirty="0"/>
          </a:p>
          <a:p>
            <a:pPr eaLnBrk="1" hangingPunct="1"/>
            <a:r>
              <a:rPr lang="zh-TW" altLang="en-US" dirty="0"/>
              <a:t>是</a:t>
            </a:r>
            <a:r>
              <a:rPr lang="en-US" altLang="zh-TW" dirty="0"/>
              <a:t>SDN</a:t>
            </a:r>
            <a:r>
              <a:rPr lang="zh-TW" altLang="en-US" dirty="0"/>
              <a:t>一個特點，在這邊一個實體的</a:t>
            </a:r>
            <a:r>
              <a:rPr lang="en-US" altLang="zh-TW" dirty="0"/>
              <a:t>satellite network </a:t>
            </a:r>
            <a:r>
              <a:rPr lang="zh-TW" altLang="en-US" dirty="0"/>
              <a:t>可以被切成好幾個虛擬的</a:t>
            </a:r>
            <a:r>
              <a:rPr lang="en-US" altLang="zh-TW" dirty="0"/>
              <a:t>satellite network </a:t>
            </a:r>
            <a:r>
              <a:rPr lang="zh-TW" altLang="en-US" dirty="0"/>
              <a:t>，根據其他論問的研究指出</a:t>
            </a:r>
            <a:r>
              <a:rPr lang="en-GB" altLang="en-US" dirty="0"/>
              <a:t>capital expenses</a:t>
            </a:r>
            <a:r>
              <a:rPr lang="en-US" altLang="zh-TW" dirty="0"/>
              <a:t>(</a:t>
            </a:r>
            <a:r>
              <a:rPr lang="zh-TW" altLang="en-US" dirty="0"/>
              <a:t>成本支出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&amp;</a:t>
            </a:r>
            <a:r>
              <a:rPr lang="en-GB" altLang="en-US" dirty="0"/>
              <a:t> operation expenses</a:t>
            </a:r>
            <a:r>
              <a:rPr lang="en-US" altLang="zh-TW" dirty="0"/>
              <a:t>(</a:t>
            </a:r>
            <a:r>
              <a:rPr lang="zh-TW" altLang="en-US" dirty="0"/>
              <a:t>運營費用</a:t>
            </a:r>
            <a:r>
              <a:rPr lang="en-US" altLang="zh-TW" dirty="0"/>
              <a:t>)</a:t>
            </a:r>
            <a:r>
              <a:rPr lang="zh-TW" altLang="en-US" dirty="0"/>
              <a:t>會大幅降低</a:t>
            </a:r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2533328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在衛星網路中很難用傳統</a:t>
            </a:r>
            <a:r>
              <a:rPr lang="en-US" altLang="zh-TW" dirty="0"/>
              <a:t>host-centric approaches</a:t>
            </a:r>
            <a:r>
              <a:rPr lang="zh-TW" altLang="en-US" dirty="0"/>
              <a:t>的方式傳遞，因為有</a:t>
            </a:r>
            <a:r>
              <a:rPr lang="en-US" altLang="zh-TW" dirty="0"/>
              <a:t>long</a:t>
            </a:r>
            <a:r>
              <a:rPr lang="zh-TW" altLang="en-US" dirty="0"/>
              <a:t> </a:t>
            </a:r>
            <a:r>
              <a:rPr lang="en-US" altLang="zh-TW" dirty="0"/>
              <a:t>propagation</a:t>
            </a:r>
            <a:r>
              <a:rPr lang="zh-TW" altLang="en-US" dirty="0"/>
              <a:t> </a:t>
            </a:r>
            <a:r>
              <a:rPr lang="en-US" altLang="zh-TW" dirty="0"/>
              <a:t>delay</a:t>
            </a:r>
            <a:r>
              <a:rPr lang="zh-TW" altLang="en-US" dirty="0"/>
              <a:t>，</a:t>
            </a:r>
            <a:r>
              <a:rPr lang="en-US" altLang="zh-TW" dirty="0"/>
              <a:t>high</a:t>
            </a:r>
            <a:r>
              <a:rPr lang="zh-TW" altLang="en-US" dirty="0"/>
              <a:t> </a:t>
            </a:r>
            <a:r>
              <a:rPr lang="en-US" altLang="zh-TW" dirty="0"/>
              <a:t>data</a:t>
            </a:r>
            <a:r>
              <a:rPr lang="zh-TW" altLang="en-US" dirty="0"/>
              <a:t> </a:t>
            </a:r>
            <a:r>
              <a:rPr lang="en-US" altLang="zh-TW" dirty="0"/>
              <a:t>error</a:t>
            </a:r>
            <a:r>
              <a:rPr lang="zh-TW" altLang="en-US" dirty="0"/>
              <a:t>，</a:t>
            </a:r>
            <a:r>
              <a:rPr lang="en-US" altLang="zh-TW" dirty="0"/>
              <a:t>intermittent connection</a:t>
            </a:r>
            <a:r>
              <a:rPr lang="zh-TW" altLang="en-US" dirty="0"/>
              <a:t>以及</a:t>
            </a:r>
            <a:r>
              <a:rPr lang="en-US" altLang="zh-TW" dirty="0"/>
              <a:t>high mobility</a:t>
            </a:r>
            <a:r>
              <a:rPr lang="zh-TW" altLang="en-US" dirty="0"/>
              <a:t>，為了解決此問題 要採用的方法是</a:t>
            </a:r>
            <a:r>
              <a:rPr lang="en-US" altLang="zh-TW" dirty="0"/>
              <a:t>in-network caching </a:t>
            </a:r>
            <a:r>
              <a:rPr lang="zh-TW" altLang="en-US" dirty="0"/>
              <a:t>，那</a:t>
            </a:r>
            <a:r>
              <a:rPr lang="en-US" altLang="zh-TW" dirty="0"/>
              <a:t>Cache</a:t>
            </a:r>
            <a:r>
              <a:rPr lang="zh-TW" altLang="en-US" dirty="0"/>
              <a:t>就是把常常用到或可能用到的資料先暫存起來，那需要用到的時候就可以比較快使用 </a:t>
            </a:r>
            <a:r>
              <a:rPr lang="en-US" altLang="zh-TW" dirty="0"/>
              <a:t>In-network caching</a:t>
            </a:r>
            <a:r>
              <a:rPr lang="zh-TW" altLang="en-US" dirty="0"/>
              <a:t>是代表不只有單個</a:t>
            </a:r>
            <a:r>
              <a:rPr lang="en-US" altLang="zh-TW" dirty="0"/>
              <a:t>cache</a:t>
            </a:r>
            <a:r>
              <a:rPr lang="zh-TW" altLang="en-US" dirty="0"/>
              <a:t> 而是有好幾個</a:t>
            </a:r>
            <a:r>
              <a:rPr lang="en-US" altLang="zh-TW" dirty="0"/>
              <a:t>cache</a:t>
            </a:r>
            <a:r>
              <a:rPr lang="zh-TW" altLang="en-US" dirty="0"/>
              <a:t>組成。 </a:t>
            </a:r>
            <a:endParaRPr lang="en-US" altLang="zh-TW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這個方式是</a:t>
            </a:r>
            <a:r>
              <a:rPr lang="en-US" altLang="zh-TW" dirty="0"/>
              <a:t>Information-centric networking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EEEF6CB-C50F-488A-99E7-79215D4B1CC0}" type="slidenum">
              <a:rPr lang="en-GB" altLang="en-US" smtClean="0"/>
              <a:pPr>
                <a:defRPr/>
              </a:pPr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749194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fld id="{4E9394A1-4157-47F3-BFB4-0FCBDB1AADDE}" type="slidenum">
              <a:rPr lang="en-GB" altLang="en-US" sz="1200" b="0">
                <a:solidFill>
                  <a:schemeClr val="tx1"/>
                </a:solidFill>
              </a:rPr>
              <a:pPr/>
              <a:t>4</a:t>
            </a:fld>
            <a:endParaRPr lang="en-GB" altLang="en-US" sz="1200" b="0">
              <a:solidFill>
                <a:schemeClr val="tx1"/>
              </a:solidFill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dirty="0"/>
              <a:t>The framework consists of data layer, control layer, and application layer, </a:t>
            </a:r>
            <a:r>
              <a:rPr lang="zh-TW" altLang="en-US" dirty="0"/>
              <a:t>在</a:t>
            </a:r>
            <a:r>
              <a:rPr lang="en-US" altLang="zh-TW" dirty="0"/>
              <a:t>data layer </a:t>
            </a:r>
            <a:r>
              <a:rPr lang="zh-TW" altLang="en-US" dirty="0"/>
              <a:t>有</a:t>
            </a:r>
            <a:r>
              <a:rPr lang="en-US" altLang="zh-TW" dirty="0"/>
              <a:t>LEO</a:t>
            </a:r>
            <a:r>
              <a:rPr lang="zh-TW" altLang="en-US" dirty="0"/>
              <a:t>作為</a:t>
            </a:r>
            <a:r>
              <a:rPr lang="en-US" altLang="zh-TW" dirty="0"/>
              <a:t>network infrastructures</a:t>
            </a:r>
            <a:r>
              <a:rPr lang="zh-TW" altLang="en-US" dirty="0"/>
              <a:t>，</a:t>
            </a:r>
            <a:r>
              <a:rPr lang="en-US" altLang="zh-TW" dirty="0"/>
              <a:t>caching</a:t>
            </a:r>
            <a:r>
              <a:rPr lang="zh-TW" altLang="en-US" dirty="0"/>
              <a:t>，</a:t>
            </a:r>
            <a:r>
              <a:rPr lang="en-US" altLang="zh-TW" dirty="0"/>
              <a:t>edge computing(</a:t>
            </a:r>
            <a:r>
              <a:rPr lang="zh-TW" altLang="en-US" dirty="0"/>
              <a:t>衛星的計算能力有限，並且若採用雲計算，考量到長距離以及大量資料，雲計算不算是好方法，這邊要採取的是</a:t>
            </a:r>
            <a:r>
              <a:rPr lang="en-US" altLang="zh-TW" dirty="0"/>
              <a:t>edge computing)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在</a:t>
            </a:r>
            <a:r>
              <a:rPr lang="en-US" altLang="zh-TW" dirty="0"/>
              <a:t>control layer</a:t>
            </a:r>
            <a:r>
              <a:rPr lang="zh-TW" altLang="en-US" dirty="0"/>
              <a:t>中，我們的</a:t>
            </a:r>
            <a:r>
              <a:rPr lang="en-US" altLang="zh-TW" dirty="0"/>
              <a:t>control intelligence</a:t>
            </a:r>
            <a:r>
              <a:rPr lang="zh-TW" altLang="en-US" dirty="0"/>
              <a:t>可能是</a:t>
            </a:r>
            <a:r>
              <a:rPr lang="en-US" altLang="zh-TW" dirty="0"/>
              <a:t>MEO</a:t>
            </a:r>
            <a:r>
              <a:rPr lang="zh-TW" altLang="en-US" dirty="0"/>
              <a:t>、</a:t>
            </a:r>
            <a:r>
              <a:rPr lang="en-US" altLang="zh-TW" dirty="0"/>
              <a:t>GEO</a:t>
            </a:r>
            <a:r>
              <a:rPr lang="zh-TW" altLang="en-US" dirty="0"/>
              <a:t>或</a:t>
            </a:r>
            <a:r>
              <a:rPr lang="en-US" altLang="zh-TW" dirty="0"/>
              <a:t>land-based controllers</a:t>
            </a:r>
            <a:r>
              <a:rPr lang="zh-TW" altLang="en-US" dirty="0"/>
              <a:t>。控制層是此框架的核心，它負責控制和管理</a:t>
            </a:r>
            <a:r>
              <a:rPr lang="en-US" altLang="zh-TW" dirty="0"/>
              <a:t>data layer</a:t>
            </a:r>
            <a:r>
              <a:rPr lang="zh-TW" altLang="en-US" dirty="0"/>
              <a:t>中的多個資源，控制層可將網絡，緩存和計算資源根據用戶需求動態分配，</a:t>
            </a:r>
            <a:endParaRPr lang="en-US" altLang="zh-TW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在應用程序層中提供了許多應用程序，包括遙感，導航，通信和監視。</a:t>
            </a:r>
          </a:p>
          <a:p>
            <a:pPr eaLnBrk="1" hangingPunct="1"/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23449158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fld id="{904BF29D-FD31-4101-A04D-CB41AFBEDE45}" type="slidenum">
              <a:rPr lang="en-GB" altLang="en-US" sz="1200" b="0">
                <a:solidFill>
                  <a:schemeClr val="tx1"/>
                </a:solidFill>
              </a:rPr>
              <a:pPr/>
              <a:t>5</a:t>
            </a:fld>
            <a:endParaRPr lang="en-GB" altLang="en-US" sz="1200" b="0">
              <a:solidFill>
                <a:schemeClr val="tx1"/>
              </a:solidFill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GB" altLang="en-US" dirty="0"/>
              <a:t>1.User</a:t>
            </a:r>
            <a:r>
              <a:rPr lang="zh-TW" altLang="en-US" dirty="0"/>
              <a:t>發出</a:t>
            </a:r>
            <a:r>
              <a:rPr lang="en-US" altLang="zh-TW" dirty="0"/>
              <a:t>request(</a:t>
            </a:r>
            <a:r>
              <a:rPr lang="zh-TW" altLang="en-US" dirty="0"/>
              <a:t>例如想要一段監控的影像</a:t>
            </a:r>
            <a:r>
              <a:rPr lang="en-US" altLang="zh-TW" dirty="0"/>
              <a:t>)</a:t>
            </a:r>
            <a:r>
              <a:rPr lang="zh-TW" altLang="en-US" dirty="0"/>
              <a:t>給在他範圍內的</a:t>
            </a:r>
            <a:r>
              <a:rPr lang="en-US" altLang="zh-TW" dirty="0"/>
              <a:t>LEO</a:t>
            </a:r>
            <a:r>
              <a:rPr lang="zh-TW" altLang="en-US" dirty="0"/>
              <a:t> </a:t>
            </a:r>
            <a:endParaRPr lang="en-US" altLang="zh-TW" dirty="0"/>
          </a:p>
          <a:p>
            <a:pPr eaLnBrk="1" hangingPunct="1"/>
            <a:r>
              <a:rPr lang="en-US" altLang="zh-TW" dirty="0"/>
              <a:t>2.LEO</a:t>
            </a:r>
            <a:r>
              <a:rPr lang="zh-TW" altLang="en-US" dirty="0"/>
              <a:t>會先去確認此內容是否已在</a:t>
            </a:r>
            <a:r>
              <a:rPr lang="en-US" altLang="zh-TW" dirty="0"/>
              <a:t>associated cache, </a:t>
            </a:r>
            <a:r>
              <a:rPr lang="zh-TW" altLang="en-US" dirty="0"/>
              <a:t>若有，則檢查版本是否一樣，若一樣則回傳對應</a:t>
            </a:r>
            <a:r>
              <a:rPr lang="en-US" altLang="zh-TW" dirty="0"/>
              <a:t>content</a:t>
            </a:r>
            <a:r>
              <a:rPr lang="zh-TW" altLang="en-US" dirty="0"/>
              <a:t>。若版本不同則建置一</a:t>
            </a:r>
            <a:r>
              <a:rPr lang="en-US" altLang="zh-TW" dirty="0"/>
              <a:t>task</a:t>
            </a:r>
            <a:r>
              <a:rPr lang="zh-TW" altLang="en-US" dirty="0"/>
              <a:t>給</a:t>
            </a:r>
            <a:r>
              <a:rPr lang="en-US" altLang="zh-TW" dirty="0"/>
              <a:t>MEC</a:t>
            </a:r>
            <a:r>
              <a:rPr lang="zh-TW" altLang="en-US" dirty="0"/>
              <a:t>，</a:t>
            </a:r>
            <a:r>
              <a:rPr lang="en-US" altLang="zh-TW" dirty="0"/>
              <a:t>MEC</a:t>
            </a:r>
            <a:r>
              <a:rPr lang="zh-TW" altLang="en-US" dirty="0"/>
              <a:t>則執行完將結果回傳</a:t>
            </a:r>
            <a:r>
              <a:rPr lang="en-US" altLang="zh-TW" dirty="0"/>
              <a:t>user</a:t>
            </a:r>
            <a:r>
              <a:rPr lang="zh-TW" altLang="en-US" dirty="0"/>
              <a:t>。若不在</a:t>
            </a:r>
            <a:r>
              <a:rPr lang="en-US" altLang="zh-TW" dirty="0"/>
              <a:t>associated cache</a:t>
            </a:r>
            <a:r>
              <a:rPr lang="zh-TW" altLang="en-US" dirty="0"/>
              <a:t>裡則檢查所有的</a:t>
            </a:r>
            <a:r>
              <a:rPr lang="en-US" altLang="zh-TW" dirty="0"/>
              <a:t>content cache</a:t>
            </a:r>
            <a:r>
              <a:rPr lang="zh-TW" altLang="en-US" dirty="0"/>
              <a:t>，若有就執行剛剛的步驟，若還是沒有就會去使用衛星感測想要的資料再回傳。</a:t>
            </a:r>
            <a:endParaRPr lang="en-US" altLang="zh-TW" dirty="0"/>
          </a:p>
          <a:p>
            <a:pPr eaLnBrk="1" hangingPunct="1"/>
            <a:endParaRPr lang="en-US" altLang="zh-TW" dirty="0"/>
          </a:p>
          <a:p>
            <a:pPr eaLnBrk="1" hangingPunct="1"/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842709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fld id="{229508AE-7153-447B-A2CF-2AEB58E18853}" type="slidenum">
              <a:rPr lang="en-GB" altLang="en-US" sz="1200" b="0">
                <a:solidFill>
                  <a:schemeClr val="tx1"/>
                </a:solidFill>
              </a:rPr>
              <a:pPr/>
              <a:t>6</a:t>
            </a:fld>
            <a:endParaRPr lang="en-GB" altLang="en-US" sz="1200" b="0">
              <a:solidFill>
                <a:schemeClr val="tx1"/>
              </a:solidFill>
            </a:endParaRPr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GB" altLang="en-US" dirty="0"/>
              <a:t>1.User</a:t>
            </a:r>
            <a:r>
              <a:rPr lang="zh-TW" altLang="en-US" dirty="0"/>
              <a:t>發出</a:t>
            </a:r>
            <a:r>
              <a:rPr lang="en-US" altLang="zh-TW" dirty="0"/>
              <a:t>request(</a:t>
            </a:r>
            <a:r>
              <a:rPr lang="zh-TW" altLang="en-US" dirty="0"/>
              <a:t>例如想要一段監控的影像</a:t>
            </a:r>
            <a:r>
              <a:rPr lang="en-US" altLang="zh-TW" dirty="0"/>
              <a:t>)</a:t>
            </a:r>
            <a:r>
              <a:rPr lang="zh-TW" altLang="en-US" dirty="0"/>
              <a:t>給在他範圍內的</a:t>
            </a:r>
            <a:r>
              <a:rPr lang="en-US" altLang="zh-TW" dirty="0"/>
              <a:t>LEO</a:t>
            </a:r>
            <a:r>
              <a:rPr lang="zh-TW" altLang="en-US" dirty="0"/>
              <a:t> </a:t>
            </a:r>
            <a:endParaRPr lang="en-US" altLang="zh-TW" dirty="0"/>
          </a:p>
          <a:p>
            <a:pPr eaLnBrk="1" hangingPunct="1"/>
            <a:r>
              <a:rPr lang="en-US" altLang="zh-TW" dirty="0"/>
              <a:t>2.LEO</a:t>
            </a:r>
            <a:r>
              <a:rPr lang="zh-TW" altLang="en-US" dirty="0"/>
              <a:t>會先去確認此內容是否已在</a:t>
            </a:r>
            <a:r>
              <a:rPr lang="en-US" altLang="zh-TW" dirty="0"/>
              <a:t>associated cache, </a:t>
            </a:r>
            <a:r>
              <a:rPr lang="zh-TW" altLang="en-US" dirty="0"/>
              <a:t>若有，則檢查版本是否一樣，若一樣則回傳對應</a:t>
            </a:r>
            <a:r>
              <a:rPr lang="en-US" altLang="zh-TW" dirty="0"/>
              <a:t>content</a:t>
            </a:r>
            <a:r>
              <a:rPr lang="zh-TW" altLang="en-US" dirty="0"/>
              <a:t>。若版本不同則建置一</a:t>
            </a:r>
            <a:r>
              <a:rPr lang="en-US" altLang="zh-TW" dirty="0"/>
              <a:t>task</a:t>
            </a:r>
            <a:r>
              <a:rPr lang="zh-TW" altLang="en-US" dirty="0"/>
              <a:t>給</a:t>
            </a:r>
            <a:r>
              <a:rPr lang="en-US" altLang="zh-TW" dirty="0"/>
              <a:t>MEC</a:t>
            </a:r>
            <a:r>
              <a:rPr lang="zh-TW" altLang="en-US" dirty="0"/>
              <a:t>，</a:t>
            </a:r>
            <a:r>
              <a:rPr lang="en-US" altLang="zh-TW" dirty="0"/>
              <a:t>MEC</a:t>
            </a:r>
            <a:r>
              <a:rPr lang="zh-TW" altLang="en-US" dirty="0"/>
              <a:t>則執行完將結果回傳</a:t>
            </a:r>
            <a:r>
              <a:rPr lang="en-US" altLang="zh-TW" dirty="0"/>
              <a:t>user</a:t>
            </a:r>
            <a:r>
              <a:rPr lang="zh-TW" altLang="en-US" dirty="0"/>
              <a:t>。若不在</a:t>
            </a:r>
            <a:r>
              <a:rPr lang="en-US" altLang="zh-TW" dirty="0"/>
              <a:t>associated cache</a:t>
            </a:r>
            <a:r>
              <a:rPr lang="zh-TW" altLang="en-US" dirty="0"/>
              <a:t>裡則檢查所有的</a:t>
            </a:r>
            <a:r>
              <a:rPr lang="en-US" altLang="zh-TW" dirty="0"/>
              <a:t>content cache</a:t>
            </a:r>
            <a:r>
              <a:rPr lang="zh-TW" altLang="en-US" dirty="0"/>
              <a:t>，若有就執行剛剛的步驟，若還是沒有就會去使用衛星感測想要的資料再回傳。</a:t>
            </a:r>
            <a:endParaRPr lang="en-US" altLang="zh-TW" dirty="0"/>
          </a:p>
          <a:p>
            <a:pPr eaLnBrk="1" hangingPunct="1"/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21325402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根據剛剛的例子我們可以看到</a:t>
            </a:r>
            <a:r>
              <a:rPr lang="en-US" altLang="zh-TW" dirty="0"/>
              <a:t>user</a:t>
            </a:r>
            <a:r>
              <a:rPr lang="zh-TW" altLang="en-US" dirty="0"/>
              <a:t>的需求可能有</a:t>
            </a:r>
            <a:r>
              <a:rPr lang="en-US" altLang="zh-TW" dirty="0"/>
              <a:t>networking, caching, computing</a:t>
            </a:r>
            <a:r>
              <a:rPr lang="zh-TW" altLang="en-US" dirty="0"/>
              <a:t> ，但若要將這些考慮進去將會非常困難，於是作者希望透過</a:t>
            </a:r>
            <a:r>
              <a:rPr lang="en-US" altLang="zh-TW" dirty="0"/>
              <a:t>DQN</a:t>
            </a:r>
            <a:r>
              <a:rPr lang="zh-TW" altLang="en-US" dirty="0"/>
              <a:t>來達到目標。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EEEF6CB-C50F-488A-99E7-79215D4B1CC0}" type="slidenum">
              <a:rPr lang="en-GB" altLang="en-US" smtClean="0"/>
              <a:pPr>
                <a:defRPr/>
              </a:pPr>
              <a:t>7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249437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controller </a:t>
            </a:r>
            <a:r>
              <a:rPr lang="zh-TW" altLang="en-US" dirty="0"/>
              <a:t>接收</a:t>
            </a:r>
            <a:r>
              <a:rPr lang="en-US" altLang="zh-TW" dirty="0"/>
              <a:t> users’ requirements</a:t>
            </a:r>
            <a:r>
              <a:rPr lang="zh-TW" altLang="en-US" dirty="0"/>
              <a:t> 並分配資源</a:t>
            </a:r>
            <a:r>
              <a:rPr lang="en-US" altLang="zh-TW" dirty="0"/>
              <a:t>(networking resources </a:t>
            </a:r>
            <a:r>
              <a:rPr lang="zh-TW" altLang="en-US" dirty="0"/>
              <a:t>，</a:t>
            </a:r>
            <a:r>
              <a:rPr lang="en-US" altLang="zh-TW" dirty="0"/>
              <a:t> caching resources </a:t>
            </a:r>
            <a:r>
              <a:rPr lang="zh-TW" altLang="en-US" dirty="0"/>
              <a:t>，</a:t>
            </a:r>
            <a:r>
              <a:rPr lang="en-US" altLang="zh-TW" dirty="0"/>
              <a:t>computing resources )</a:t>
            </a:r>
            <a:r>
              <a:rPr lang="zh-TW" altLang="en-US" dirty="0"/>
              <a:t> 以配合</a:t>
            </a:r>
            <a:r>
              <a:rPr lang="en-US" altLang="zh-TW" dirty="0"/>
              <a:t>user’ requirements</a:t>
            </a:r>
            <a:r>
              <a:rPr lang="zh-TW" altLang="en-US" dirty="0"/>
              <a:t> </a:t>
            </a:r>
            <a:endParaRPr lang="en-US" altLang="zh-TW" dirty="0"/>
          </a:p>
          <a:p>
            <a:r>
              <a:rPr lang="zh-TW" altLang="en-US" dirty="0"/>
              <a:t>那資源分配的</a:t>
            </a:r>
            <a:r>
              <a:rPr lang="en-US" altLang="zh-TW" dirty="0"/>
              <a:t>strategies</a:t>
            </a:r>
            <a:r>
              <a:rPr lang="zh-TW" altLang="en-US" dirty="0"/>
              <a:t>是</a:t>
            </a:r>
            <a:r>
              <a:rPr lang="en-US" altLang="zh-TW" dirty="0"/>
              <a:t>orchestrator</a:t>
            </a:r>
            <a:r>
              <a:rPr lang="zh-TW" altLang="en-US" dirty="0"/>
              <a:t>制定的，但</a:t>
            </a:r>
            <a:r>
              <a:rPr lang="en-US" altLang="zh-TW" dirty="0"/>
              <a:t>orchestrator</a:t>
            </a:r>
            <a:r>
              <a:rPr lang="zh-TW" altLang="en-US" dirty="0"/>
              <a:t>如何制定呢</a:t>
            </a:r>
            <a:r>
              <a:rPr lang="en-US" altLang="zh-TW" dirty="0"/>
              <a:t>?</a:t>
            </a:r>
            <a:r>
              <a:rPr lang="zh-TW" altLang="en-US" dirty="0"/>
              <a:t> 只需要從</a:t>
            </a:r>
            <a:r>
              <a:rPr lang="en-US" altLang="zh-TW" dirty="0"/>
              <a:t>controller </a:t>
            </a:r>
            <a:r>
              <a:rPr lang="zh-TW" altLang="en-US" dirty="0"/>
              <a:t>那邊獲得</a:t>
            </a:r>
            <a:r>
              <a:rPr lang="en-US" altLang="zh-TW" dirty="0"/>
              <a:t>training data</a:t>
            </a:r>
            <a:r>
              <a:rPr lang="zh-TW" altLang="en-US" dirty="0"/>
              <a:t>即可進行訓練。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EEEF6CB-C50F-488A-99E7-79215D4B1CC0}" type="slidenum">
              <a:rPr lang="en-GB" altLang="en-US" smtClean="0"/>
              <a:pPr>
                <a:defRPr/>
              </a:pPr>
              <a:t>8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15144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1" descr="stuff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29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20"/>
          <p:cNvSpPr>
            <a:spLocks noChangeArrowheads="1"/>
          </p:cNvSpPr>
          <p:nvPr userDrawn="1"/>
        </p:nvSpPr>
        <p:spPr bwMode="auto">
          <a:xfrm>
            <a:off x="0" y="6613525"/>
            <a:ext cx="9144000" cy="244475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www.company.com</a:t>
            </a:r>
            <a:endParaRPr lang="fr-FR" altLang="en-US"/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3429000" y="5029200"/>
            <a:ext cx="5715000" cy="609600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>
            <a:lvl1pPr marL="0" indent="0" algn="ctr">
              <a:buFontTx/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ctrTitle"/>
          </p:nvPr>
        </p:nvSpPr>
        <p:spPr>
          <a:xfrm>
            <a:off x="3429000" y="3581400"/>
            <a:ext cx="5715000" cy="1470025"/>
          </a:xfrm>
          <a:solidFill>
            <a:schemeClr val="bg1"/>
          </a:solidFill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91440" anchor="t"/>
          <a:lstStyle>
            <a:lvl1pPr algn="ctr">
              <a:spcBef>
                <a:spcPct val="20000"/>
              </a:spcBef>
              <a:defRPr sz="4000" b="1">
                <a:solidFill>
                  <a:srgbClr val="FCAB1A"/>
                </a:solidFill>
                <a:latin typeface="Verdana" panose="020B0604030504040204" pitchFamily="34" charset="0"/>
              </a:defRPr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85110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837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7238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28800" y="2133600"/>
            <a:ext cx="35052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0" y="2133600"/>
            <a:ext cx="35052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1056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3595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75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5118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41203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7241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7553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15200" y="1400175"/>
            <a:ext cx="1828800" cy="4772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28800" y="1400175"/>
            <a:ext cx="5334000" cy="47720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19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1400175"/>
            <a:ext cx="7315200" cy="581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1828800" y="2133600"/>
            <a:ext cx="7162800" cy="4038600"/>
          </a:xfrm>
        </p:spPr>
        <p:txBody>
          <a:bodyPr/>
          <a:lstStyle/>
          <a:p>
            <a:pPr lv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949304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1400175"/>
            <a:ext cx="7315200" cy="581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828800" y="2133600"/>
            <a:ext cx="35052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0" y="2133600"/>
            <a:ext cx="35052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321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0" descr="stuff"/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29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3"/>
          <p:cNvSpPr>
            <a:spLocks noChangeArrowheads="1"/>
          </p:cNvSpPr>
          <p:nvPr userDrawn="1"/>
        </p:nvSpPr>
        <p:spPr bwMode="auto">
          <a:xfrm>
            <a:off x="1295400" y="1752600"/>
            <a:ext cx="7848600" cy="35052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828800" y="1400175"/>
            <a:ext cx="7315200" cy="581025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800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Click to edit Master title style</a:t>
            </a:r>
          </a:p>
        </p:txBody>
      </p:sp>
      <p:sp>
        <p:nvSpPr>
          <p:cNvPr id="102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828800" y="2133600"/>
            <a:ext cx="7162800" cy="403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Click to edit Master text styles</a:t>
            </a:r>
          </a:p>
          <a:p>
            <a:pPr lvl="1"/>
            <a:r>
              <a:rPr lang="fr-FR" altLang="en-US"/>
              <a:t>Second level</a:t>
            </a:r>
          </a:p>
          <a:p>
            <a:pPr lvl="2"/>
            <a:r>
              <a:rPr lang="fr-FR" altLang="en-US"/>
              <a:t>Third level</a:t>
            </a:r>
          </a:p>
          <a:p>
            <a:pPr lvl="3"/>
            <a:r>
              <a:rPr lang="fr-FR" altLang="en-US"/>
              <a:t>Fourth level</a:t>
            </a:r>
          </a:p>
          <a:p>
            <a:pPr lvl="4"/>
            <a:r>
              <a:rPr lang="fr-FR" altLang="en-US"/>
              <a:t>Fifth level</a:t>
            </a:r>
          </a:p>
        </p:txBody>
      </p:sp>
      <p:sp>
        <p:nvSpPr>
          <p:cNvPr id="1030" name="Rectangle 19"/>
          <p:cNvSpPr>
            <a:spLocks noChangeArrowheads="1"/>
          </p:cNvSpPr>
          <p:nvPr userDrawn="1"/>
        </p:nvSpPr>
        <p:spPr bwMode="auto">
          <a:xfrm>
            <a:off x="0" y="6613525"/>
            <a:ext cx="9144000" cy="244475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www.company.com</a:t>
            </a:r>
            <a:endParaRPr lang="fr-FR" altLang="en-US"/>
          </a:p>
        </p:txBody>
      </p:sp>
      <p:sp>
        <p:nvSpPr>
          <p:cNvPr id="1031" name="Oval 23"/>
          <p:cNvSpPr>
            <a:spLocks noChangeArrowheads="1"/>
          </p:cNvSpPr>
          <p:nvPr userDrawn="1"/>
        </p:nvSpPr>
        <p:spPr bwMode="auto">
          <a:xfrm>
            <a:off x="1433513" y="6159500"/>
            <a:ext cx="65087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2" name="Oval 24"/>
          <p:cNvSpPr>
            <a:spLocks noChangeArrowheads="1"/>
          </p:cNvSpPr>
          <p:nvPr userDrawn="1"/>
        </p:nvSpPr>
        <p:spPr bwMode="auto">
          <a:xfrm>
            <a:off x="2193925" y="6159500"/>
            <a:ext cx="65088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3" name="Oval 25"/>
          <p:cNvSpPr>
            <a:spLocks noChangeArrowheads="1"/>
          </p:cNvSpPr>
          <p:nvPr userDrawn="1"/>
        </p:nvSpPr>
        <p:spPr bwMode="auto">
          <a:xfrm>
            <a:off x="2954338" y="6159500"/>
            <a:ext cx="65087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4" name="Oval 26"/>
          <p:cNvSpPr>
            <a:spLocks noChangeArrowheads="1"/>
          </p:cNvSpPr>
          <p:nvPr userDrawn="1"/>
        </p:nvSpPr>
        <p:spPr bwMode="auto">
          <a:xfrm>
            <a:off x="3714750" y="6159500"/>
            <a:ext cx="65088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5" name="Oval 27"/>
          <p:cNvSpPr>
            <a:spLocks noChangeArrowheads="1"/>
          </p:cNvSpPr>
          <p:nvPr userDrawn="1"/>
        </p:nvSpPr>
        <p:spPr bwMode="auto">
          <a:xfrm>
            <a:off x="4475163" y="6159500"/>
            <a:ext cx="65087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6" name="Oval 28"/>
          <p:cNvSpPr>
            <a:spLocks noChangeArrowheads="1"/>
          </p:cNvSpPr>
          <p:nvPr userDrawn="1"/>
        </p:nvSpPr>
        <p:spPr bwMode="auto">
          <a:xfrm>
            <a:off x="5237163" y="6159500"/>
            <a:ext cx="65087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7" name="Oval 29"/>
          <p:cNvSpPr>
            <a:spLocks noChangeArrowheads="1"/>
          </p:cNvSpPr>
          <p:nvPr userDrawn="1"/>
        </p:nvSpPr>
        <p:spPr bwMode="auto">
          <a:xfrm>
            <a:off x="5997575" y="6159500"/>
            <a:ext cx="65088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8" name="Oval 30"/>
          <p:cNvSpPr>
            <a:spLocks noChangeArrowheads="1"/>
          </p:cNvSpPr>
          <p:nvPr userDrawn="1"/>
        </p:nvSpPr>
        <p:spPr bwMode="auto">
          <a:xfrm>
            <a:off x="6757988" y="6159500"/>
            <a:ext cx="65087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39" name="Oval 31"/>
          <p:cNvSpPr>
            <a:spLocks noChangeArrowheads="1"/>
          </p:cNvSpPr>
          <p:nvPr userDrawn="1"/>
        </p:nvSpPr>
        <p:spPr bwMode="auto">
          <a:xfrm>
            <a:off x="7518400" y="6159500"/>
            <a:ext cx="65088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040" name="Oval 32"/>
          <p:cNvSpPr>
            <a:spLocks noChangeArrowheads="1"/>
          </p:cNvSpPr>
          <p:nvPr userDrawn="1"/>
        </p:nvSpPr>
        <p:spPr bwMode="auto">
          <a:xfrm>
            <a:off x="8280400" y="6159500"/>
            <a:ext cx="65088" cy="65088"/>
          </a:xfrm>
          <a:prstGeom prst="ellipse">
            <a:avLst/>
          </a:prstGeom>
          <a:solidFill>
            <a:srgbClr val="BDD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B4CCE2"/>
        </a:buClr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B4CCE2"/>
        </a:buClr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B4CCE2"/>
        </a:buClr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B4CCE2"/>
        </a:buClr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B4CCE2"/>
        </a:buClr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m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m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m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33995" y="1397462"/>
            <a:ext cx="7714695" cy="1470025"/>
          </a:xfrm>
        </p:spPr>
        <p:txBody>
          <a:bodyPr/>
          <a:lstStyle/>
          <a:p>
            <a:pPr eaLnBrk="1" hangingPunct="1"/>
            <a:r>
              <a:rPr lang="en-US" altLang="en-US" sz="3200" dirty="0">
                <a:solidFill>
                  <a:schemeClr val="bg2">
                    <a:lumMod val="75000"/>
                  </a:schemeClr>
                </a:solidFill>
              </a:rPr>
              <a:t>Deep Q-Learning Aided Networking, Caching, and Computing Resources Allocation in Software-Deﬁned </a:t>
            </a:r>
            <a:br>
              <a:rPr lang="en-US" altLang="en-US" sz="3200" dirty="0">
                <a:solidFill>
                  <a:schemeClr val="bg2">
                    <a:lumMod val="75000"/>
                  </a:schemeClr>
                </a:solidFill>
              </a:rPr>
            </a:br>
            <a:r>
              <a:rPr lang="en-US" altLang="en-US" sz="3200" dirty="0">
                <a:solidFill>
                  <a:schemeClr val="bg2">
                    <a:lumMod val="75000"/>
                  </a:schemeClr>
                </a:solidFill>
              </a:rPr>
              <a:t>Satellite-Terrestrial Networks 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E17009-430A-4C40-A2A0-05D88CF9939D}"/>
              </a:ext>
            </a:extLst>
          </p:cNvPr>
          <p:cNvSpPr/>
          <p:nvPr/>
        </p:nvSpPr>
        <p:spPr>
          <a:xfrm>
            <a:off x="1785891" y="4676005"/>
            <a:ext cx="4572000" cy="4001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TW" altLang="en-US" dirty="0">
                <a:solidFill>
                  <a:schemeClr val="tx1">
                    <a:lumMod val="60000"/>
                    <a:lumOff val="40000"/>
                  </a:schemeClr>
                </a:solidFill>
              </a:rPr>
              <a:t>IEEE TRANSACTIONS ON VEHICULAR TECHNOLOGY, VOL. 68, NO. 6, JUNE 2019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1142723"/>
            <a:ext cx="7315200" cy="581025"/>
          </a:xfrm>
        </p:spPr>
        <p:txBody>
          <a:bodyPr/>
          <a:lstStyle/>
          <a:p>
            <a:pPr eaLnBrk="1" hangingPunct="1"/>
            <a:r>
              <a:rPr lang="en-GB" altLang="en-US" dirty="0"/>
              <a:t>INTRODUCTION</a:t>
            </a:r>
            <a:endParaRPr lang="en-US" altLang="en-US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1033" y="2133600"/>
            <a:ext cx="8050567" cy="4038600"/>
          </a:xfrm>
        </p:spPr>
        <p:txBody>
          <a:bodyPr/>
          <a:lstStyle/>
          <a:p>
            <a:pPr eaLnBrk="1" hangingPunct="1"/>
            <a:r>
              <a:rPr lang="en-GB" altLang="en-US" dirty="0"/>
              <a:t>Software-deﬁned satellite-terrestrial network framework</a:t>
            </a:r>
          </a:p>
          <a:p>
            <a:pPr marL="0" indent="0" eaLnBrk="1" hangingPunct="1">
              <a:buNone/>
            </a:pPr>
            <a:r>
              <a:rPr lang="en-US" altLang="en-US" sz="2000" dirty="0">
                <a:solidFill>
                  <a:schemeClr val="bg2">
                    <a:lumMod val="75000"/>
                  </a:schemeClr>
                </a:solidFill>
              </a:rPr>
              <a:t>A single physical satellite network enables to be virtualized into several virtual satellite networks to share networking resources.</a:t>
            </a:r>
            <a:endParaRPr lang="en-GB" altLang="en-US" sz="2000" dirty="0">
              <a:solidFill>
                <a:schemeClr val="bg2">
                  <a:lumMod val="75000"/>
                </a:schemeClr>
              </a:solidFill>
            </a:endParaRPr>
          </a:p>
          <a:p>
            <a:pPr eaLnBrk="1" hangingPunct="1"/>
            <a:endParaRPr lang="en-US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082826-7261-4C12-9804-F2C7B24AB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2890" y="1400175"/>
            <a:ext cx="8141110" cy="581025"/>
          </a:xfrm>
        </p:spPr>
        <p:txBody>
          <a:bodyPr/>
          <a:lstStyle/>
          <a:p>
            <a:r>
              <a:rPr lang="en-US" altLang="zh-TW" sz="3200" dirty="0"/>
              <a:t>Satellite-Terrestrial Networks With Caching </a:t>
            </a:r>
            <a:endParaRPr lang="zh-TW" altLang="en-US" sz="32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7F8752-3CAE-47A0-B056-53348614E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in-network caching </a:t>
            </a:r>
          </a:p>
          <a:p>
            <a:endParaRPr lang="en-US" altLang="zh-TW" dirty="0"/>
          </a:p>
          <a:p>
            <a:r>
              <a:rPr lang="en-US" altLang="zh-TW" dirty="0"/>
              <a:t>Information-centric networking</a:t>
            </a:r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9EE5D0C-DAFB-4A4D-B781-C46A341D61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871" y="3537669"/>
            <a:ext cx="4651781" cy="306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563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1288026" y="645323"/>
            <a:ext cx="7855974" cy="929149"/>
          </a:xfrm>
        </p:spPr>
        <p:txBody>
          <a:bodyPr/>
          <a:lstStyle/>
          <a:p>
            <a:pPr eaLnBrk="1" hangingPunct="1"/>
            <a:r>
              <a:rPr lang="en-US" altLang="en-US" sz="2800" dirty="0"/>
              <a:t>Framework of Software-Deﬁned Satellite-Terrestrial Networks </a:t>
            </a:r>
          </a:p>
        </p:txBody>
      </p:sp>
      <p:sp>
        <p:nvSpPr>
          <p:cNvPr id="3" name="圖表版面配置區 2">
            <a:extLst>
              <a:ext uri="{FF2B5EF4-FFF2-40B4-BE49-F238E27FC236}">
                <a16:creationId xmlns:a16="http://schemas.microsoft.com/office/drawing/2014/main" id="{540745EB-61BB-4BF3-BE90-29C04094BED3}"/>
              </a:ext>
            </a:extLst>
          </p:cNvPr>
          <p:cNvSpPr>
            <a:spLocks noGrp="1"/>
          </p:cNvSpPr>
          <p:nvPr>
            <p:ph type="chart" idx="1"/>
          </p:nvPr>
        </p:nvSpPr>
        <p:spPr/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880116B-661C-463A-BA67-7801EB504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709" y="1846169"/>
            <a:ext cx="6947211" cy="45742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400" dirty="0"/>
              <a:t>Example about the workﬂow of this framework 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828800" y="2133600"/>
            <a:ext cx="6499123" cy="4038600"/>
          </a:xfrm>
        </p:spPr>
        <p:txBody>
          <a:bodyPr/>
          <a:lstStyle/>
          <a:p>
            <a:pPr eaLnBrk="1" hangingPunct="1"/>
            <a:r>
              <a:rPr lang="en-GB" altLang="en-US" sz="2000" dirty="0"/>
              <a:t> A user issues a content request</a:t>
            </a:r>
            <a:r>
              <a:rPr lang="zh-TW" altLang="en-US" sz="2000" dirty="0"/>
              <a:t> </a:t>
            </a:r>
            <a:r>
              <a:rPr lang="en-US" altLang="zh-TW" sz="2000" dirty="0"/>
              <a:t>to</a:t>
            </a:r>
            <a:r>
              <a:rPr lang="zh-TW" altLang="en-US" sz="2000" dirty="0"/>
              <a:t> </a:t>
            </a:r>
            <a:r>
              <a:rPr lang="en-US" altLang="zh-TW" sz="2000" dirty="0"/>
              <a:t>a LEO that covers this user</a:t>
            </a:r>
          </a:p>
          <a:p>
            <a:pPr eaLnBrk="1" hangingPunct="1"/>
            <a:endParaRPr lang="en-GB" altLang="en-US" sz="2000" dirty="0"/>
          </a:p>
          <a:p>
            <a:pPr eaLnBrk="1" hangingPunct="1"/>
            <a:r>
              <a:rPr lang="en-US" altLang="zh-TW" sz="2000" dirty="0"/>
              <a:t>C</a:t>
            </a:r>
            <a:r>
              <a:rPr lang="en-US" altLang="en-US" sz="2000" dirty="0"/>
              <a:t>heck whether this content is cached in</a:t>
            </a:r>
            <a:r>
              <a:rPr lang="zh-TW" altLang="en-US" sz="2000" dirty="0"/>
              <a:t> </a:t>
            </a:r>
            <a:r>
              <a:rPr lang="en-US" altLang="en-US" sz="2000" dirty="0"/>
              <a:t>its</a:t>
            </a:r>
            <a:r>
              <a:rPr lang="zh-TW" altLang="en-US" sz="2000" dirty="0"/>
              <a:t> </a:t>
            </a:r>
            <a:r>
              <a:rPr lang="en-US" altLang="en-US" sz="2000" dirty="0"/>
              <a:t>associated</a:t>
            </a:r>
            <a:r>
              <a:rPr lang="zh-TW" altLang="en-US" sz="2000" dirty="0"/>
              <a:t> </a:t>
            </a:r>
            <a:r>
              <a:rPr lang="en-US" altLang="en-US" sz="2000" dirty="0"/>
              <a:t>cache</a:t>
            </a:r>
          </a:p>
          <a:p>
            <a:pPr eaLnBrk="1" hangingPunct="1"/>
            <a:endParaRPr lang="en-US" altLang="en-US" sz="2000" dirty="0"/>
          </a:p>
          <a:p>
            <a:pPr eaLnBrk="1" hangingPunct="1"/>
            <a:r>
              <a:rPr lang="en-US" altLang="en-US" sz="2000" dirty="0"/>
              <a:t>If no, do sensing and retrieve the result</a:t>
            </a:r>
          </a:p>
          <a:p>
            <a:pPr eaLnBrk="1" hangingPunct="1"/>
            <a:endParaRPr lang="en-US" altLang="en-US" sz="1400" dirty="0"/>
          </a:p>
          <a:p>
            <a:pPr lvl="1" eaLnBrk="1" hangingPunct="1"/>
            <a:endParaRPr lang="en-US" altLang="en-US" sz="1600" dirty="0"/>
          </a:p>
          <a:p>
            <a:pPr eaLnBrk="1" hangingPunct="1"/>
            <a:endParaRPr lang="en-US" altLang="en-US" sz="2000" dirty="0"/>
          </a:p>
        </p:txBody>
      </p:sp>
      <p:sp>
        <p:nvSpPr>
          <p:cNvPr id="10245" name="Text Box 6"/>
          <p:cNvSpPr txBox="1">
            <a:spLocks noChangeArrowheads="1"/>
          </p:cNvSpPr>
          <p:nvPr/>
        </p:nvSpPr>
        <p:spPr bwMode="auto">
          <a:xfrm>
            <a:off x="304800" y="228600"/>
            <a:ext cx="1676400" cy="58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en-US" sz="1600" b="0" dirty="0"/>
              <a:t>Company LOGO</a:t>
            </a:r>
            <a:endParaRPr lang="fr-FR" altLang="en-US" sz="1600" b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691148" y="561821"/>
            <a:ext cx="7315200" cy="581025"/>
          </a:xfrm>
        </p:spPr>
        <p:txBody>
          <a:bodyPr/>
          <a:lstStyle/>
          <a:p>
            <a:pPr eaLnBrk="1" hangingPunct="1"/>
            <a:r>
              <a:rPr lang="en-US" altLang="en-US" sz="2400" dirty="0"/>
              <a:t>An example about the workﬂow of this framework</a:t>
            </a:r>
          </a:p>
        </p:txBody>
      </p:sp>
      <p:sp>
        <p:nvSpPr>
          <p:cNvPr id="12306" name="Text Box 18"/>
          <p:cNvSpPr txBox="1">
            <a:spLocks noChangeArrowheads="1"/>
          </p:cNvSpPr>
          <p:nvPr/>
        </p:nvSpPr>
        <p:spPr bwMode="auto">
          <a:xfrm>
            <a:off x="304800" y="228600"/>
            <a:ext cx="1676400" cy="58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742950" indent="-28575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2pPr>
            <a:lvl3pPr marL="11430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3pPr>
            <a:lvl4pPr marL="16002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4pPr>
            <a:lvl5pPr marL="2057400" indent="-228600" algn="r"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1000" b="1">
                <a:solidFill>
                  <a:schemeClr val="bg1"/>
                </a:solidFill>
                <a:latin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en-US" altLang="en-US" sz="1600" b="0"/>
              <a:t>Company LOGO</a:t>
            </a:r>
            <a:endParaRPr lang="fr-FR" altLang="en-US" sz="1600" b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76CB12F-CB75-4425-91AA-4E20D199B5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148" y="1476067"/>
            <a:ext cx="6346469" cy="47126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082826-7261-4C12-9804-F2C7B24AB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2890" y="1400175"/>
            <a:ext cx="8141110" cy="581025"/>
          </a:xfrm>
        </p:spPr>
        <p:txBody>
          <a:bodyPr/>
          <a:lstStyle/>
          <a:p>
            <a:r>
              <a:rPr lang="en-US" altLang="zh-TW" sz="2800" dirty="0"/>
              <a:t>Deep Q-learning</a:t>
            </a:r>
            <a:endParaRPr lang="zh-TW" altLang="en-US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7F8752-3CAE-47A0-B056-53348614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490" y="2133600"/>
            <a:ext cx="8141110" cy="4038600"/>
          </a:xfrm>
        </p:spPr>
        <p:txBody>
          <a:bodyPr/>
          <a:lstStyle/>
          <a:p>
            <a:r>
              <a:rPr lang="en-US" altLang="zh-TW" dirty="0"/>
              <a:t>From this example, we can see that networking, caching, and computing are all enabling resources for users’ requirements. </a:t>
            </a:r>
          </a:p>
          <a:p>
            <a:endParaRPr lang="en-US" altLang="zh-TW" dirty="0"/>
          </a:p>
          <a:p>
            <a:r>
              <a:rPr lang="en-US" altLang="zh-TW" dirty="0"/>
              <a:t>Learning agent : Orchestrator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909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0A5990-91AF-482E-AFE9-94C5F22B1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2800" dirty="0"/>
              <a:t>Data ﬂows among the proposed framework</a:t>
            </a:r>
            <a:endParaRPr lang="zh-TW" altLang="en-US" sz="2800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678114D-B73E-440D-902E-ED782D85AF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8" y="2133600"/>
            <a:ext cx="6111804" cy="4038600"/>
          </a:xfr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896CB9D3-D89C-4BF9-BA1A-F17B5D5CF6E8}"/>
              </a:ext>
            </a:extLst>
          </p:cNvPr>
          <p:cNvSpPr/>
          <p:nvPr/>
        </p:nvSpPr>
        <p:spPr bwMode="auto">
          <a:xfrm>
            <a:off x="383458" y="2939846"/>
            <a:ext cx="1970840" cy="1936955"/>
          </a:xfrm>
          <a:prstGeom prst="roundRect">
            <a:avLst/>
          </a:prstGeom>
          <a:solidFill>
            <a:schemeClr val="bg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zh-TW" sz="1600" dirty="0"/>
              <a:t>The resources allocation strategies are made by orchestrators.</a:t>
            </a:r>
            <a:endParaRPr kumimoji="0" lang="zh-TW" altLang="en-US" sz="16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10738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">
      <a:dk1>
        <a:srgbClr val="183883"/>
      </a:dk1>
      <a:lt1>
        <a:srgbClr val="FFFFFF"/>
      </a:lt1>
      <a:dk2>
        <a:srgbClr val="183883"/>
      </a:dk2>
      <a:lt2>
        <a:srgbClr val="808080"/>
      </a:lt2>
      <a:accent1>
        <a:srgbClr val="D4E3F7"/>
      </a:accent1>
      <a:accent2>
        <a:srgbClr val="0067AF"/>
      </a:accent2>
      <a:accent3>
        <a:srgbClr val="FFFFFF"/>
      </a:accent3>
      <a:accent4>
        <a:srgbClr val="132E6F"/>
      </a:accent4>
      <a:accent5>
        <a:srgbClr val="E6EFFA"/>
      </a:accent5>
      <a:accent6>
        <a:srgbClr val="005D9E"/>
      </a:accent6>
      <a:hlink>
        <a:srgbClr val="365B91"/>
      </a:hlink>
      <a:folHlink>
        <a:srgbClr val="0099AF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altLang="en-US" sz="1000" b="1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altLang="en-US" sz="1000" b="1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183883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132E6F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183883"/>
        </a:dk1>
        <a:lt1>
          <a:srgbClr val="FFFFFF"/>
        </a:lt1>
        <a:dk2>
          <a:srgbClr val="000000"/>
        </a:dk2>
        <a:lt2>
          <a:srgbClr val="808080"/>
        </a:lt2>
        <a:accent1>
          <a:srgbClr val="D4E3F7"/>
        </a:accent1>
        <a:accent2>
          <a:srgbClr val="333399"/>
        </a:accent2>
        <a:accent3>
          <a:srgbClr val="FFFFFF"/>
        </a:accent3>
        <a:accent4>
          <a:srgbClr val="132E6F"/>
        </a:accent4>
        <a:accent5>
          <a:srgbClr val="E6EFFA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183883"/>
        </a:dk1>
        <a:lt1>
          <a:srgbClr val="FFFFFF"/>
        </a:lt1>
        <a:dk2>
          <a:srgbClr val="183883"/>
        </a:dk2>
        <a:lt2>
          <a:srgbClr val="808080"/>
        </a:lt2>
        <a:accent1>
          <a:srgbClr val="D4E3F7"/>
        </a:accent1>
        <a:accent2>
          <a:srgbClr val="333399"/>
        </a:accent2>
        <a:accent3>
          <a:srgbClr val="FFFFFF"/>
        </a:accent3>
        <a:accent4>
          <a:srgbClr val="132E6F"/>
        </a:accent4>
        <a:accent5>
          <a:srgbClr val="E6EFFA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183883"/>
        </a:dk1>
        <a:lt1>
          <a:srgbClr val="FFFFFF"/>
        </a:lt1>
        <a:dk2>
          <a:srgbClr val="183883"/>
        </a:dk2>
        <a:lt2>
          <a:srgbClr val="808080"/>
        </a:lt2>
        <a:accent1>
          <a:srgbClr val="D4E3F7"/>
        </a:accent1>
        <a:accent2>
          <a:srgbClr val="0067AF"/>
        </a:accent2>
        <a:accent3>
          <a:srgbClr val="FFFFFF"/>
        </a:accent3>
        <a:accent4>
          <a:srgbClr val="132E6F"/>
        </a:accent4>
        <a:accent5>
          <a:srgbClr val="E6EFFA"/>
        </a:accent5>
        <a:accent6>
          <a:srgbClr val="005D9E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753</Words>
  <Application>Microsoft Office PowerPoint</Application>
  <PresentationFormat>如螢幕大小 (4:3)</PresentationFormat>
  <Paragraphs>50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新細明體</vt:lpstr>
      <vt:lpstr>Arial</vt:lpstr>
      <vt:lpstr>Verdana</vt:lpstr>
      <vt:lpstr>Default Design</vt:lpstr>
      <vt:lpstr>Deep Q-Learning Aided Networking, Caching, and Computing Resources Allocation in Software-Deﬁned  Satellite-Terrestrial Networks </vt:lpstr>
      <vt:lpstr>INTRODUCTION</vt:lpstr>
      <vt:lpstr>Satellite-Terrestrial Networks With Caching </vt:lpstr>
      <vt:lpstr>Framework of Software-Deﬁned Satellite-Terrestrial Networks </vt:lpstr>
      <vt:lpstr>Example about the workﬂow of this framework </vt:lpstr>
      <vt:lpstr>An example about the workﬂow of this framework</vt:lpstr>
      <vt:lpstr>Deep Q-learning</vt:lpstr>
      <vt:lpstr>Data ﬂows among the proposed framework</vt:lpstr>
    </vt:vector>
  </TitlesOfParts>
  <Company>Presentation Magazine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2 Template</dc:title>
  <dc:creator>Presentation Magazine</dc:creator>
  <cp:lastModifiedBy>Albert</cp:lastModifiedBy>
  <cp:revision>107</cp:revision>
  <dcterms:created xsi:type="dcterms:W3CDTF">2005-02-28T14:06:28Z</dcterms:created>
  <dcterms:modified xsi:type="dcterms:W3CDTF">2019-10-31T17:01:26Z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hecked by">
    <vt:lpwstr>Presentation Helper</vt:lpwstr>
  </property>
</Properties>
</file>