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Lst>
  <p:notesMasterIdLst>
    <p:notesMasterId r:id="rId21"/>
  </p:notesMasterIdLst>
  <p:sldIdLst>
    <p:sldId id="273" r:id="rId3"/>
    <p:sldId id="294" r:id="rId4"/>
    <p:sldId id="274" r:id="rId5"/>
    <p:sldId id="275" r:id="rId6"/>
    <p:sldId id="279" r:id="rId7"/>
    <p:sldId id="257" r:id="rId8"/>
    <p:sldId id="283" r:id="rId9"/>
    <p:sldId id="281" r:id="rId10"/>
    <p:sldId id="280" r:id="rId11"/>
    <p:sldId id="284" r:id="rId12"/>
    <p:sldId id="286" r:id="rId13"/>
    <p:sldId id="288" r:id="rId14"/>
    <p:sldId id="287" r:id="rId15"/>
    <p:sldId id="277" r:id="rId16"/>
    <p:sldId id="289" r:id="rId17"/>
    <p:sldId id="290" r:id="rId18"/>
    <p:sldId id="291" r:id="rId19"/>
    <p:sldId id="29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pos="384" userDrawn="1">
          <p15:clr>
            <a:srgbClr val="A4A3A4"/>
          </p15:clr>
        </p15:guide>
        <p15:guide id="5" orient="horz" pos="504" userDrawn="1">
          <p15:clr>
            <a:srgbClr val="A4A3A4"/>
          </p15:clr>
        </p15:guide>
        <p15:guide id="6" orient="horz" pos="720" userDrawn="1">
          <p15:clr>
            <a:srgbClr val="A4A3A4"/>
          </p15:clr>
        </p15:guide>
        <p15:guide id="7" orient="horz" pos="37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8" autoAdjust="0"/>
    <p:restoredTop sz="85644" autoAdjust="0"/>
  </p:normalViewPr>
  <p:slideViewPr>
    <p:cSldViewPr snapToGrid="0" showGuides="1">
      <p:cViewPr varScale="1">
        <p:scale>
          <a:sx n="98" d="100"/>
          <a:sy n="98" d="100"/>
        </p:scale>
        <p:origin x="1284" y="78"/>
      </p:cViewPr>
      <p:guideLst>
        <p:guide orient="horz" pos="2160"/>
        <p:guide pos="3840"/>
        <p:guide pos="7296"/>
        <p:guide pos="384"/>
        <p:guide orient="horz" pos="504"/>
        <p:guide orient="horz" pos="720"/>
        <p:guide orient="horz" pos="37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2B4FAE-0A65-4E77-8759-69D676CBEA77}" type="datetimeFigureOut">
              <a:rPr lang="en-ID" smtClean="0"/>
              <a:t>10/09/2019</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227324-3899-4D4D-AD61-B3F74C3D6C20}" type="slidenum">
              <a:rPr lang="en-ID" smtClean="0"/>
              <a:t>‹#›</a:t>
            </a:fld>
            <a:endParaRPr lang="en-ID"/>
          </a:p>
        </p:txBody>
      </p:sp>
    </p:spTree>
    <p:extLst>
      <p:ext uri="{BB962C8B-B14F-4D97-AF65-F5344CB8AC3E}">
        <p14:creationId xmlns:p14="http://schemas.microsoft.com/office/powerpoint/2010/main" val="964665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zh.wikipedia.org/zh-tw/%E9%9F%8B%E4%BC%AF-%E8%B2%BB%E5%B8%8C%E7%B4%8D%E5%AE%9A%E7%90%86"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不同的行业对网络的需求不一样，比如</a:t>
            </a:r>
            <a:r>
              <a:rPr lang="zh-TW" altLang="en-US" sz="1200" b="0" i="0" kern="1200" dirty="0">
                <a:solidFill>
                  <a:schemeClr val="tx1"/>
                </a:solidFill>
                <a:effectLst/>
                <a:latin typeface="+mn-lt"/>
                <a:ea typeface="+mn-ea"/>
                <a:cs typeface="+mn-cs"/>
              </a:rPr>
              <a:t>大部分</a:t>
            </a:r>
            <a:r>
              <a:rPr lang="en-US" altLang="zh-CN" sz="1200" b="0" i="0" kern="1200" dirty="0">
                <a:solidFill>
                  <a:schemeClr val="tx1"/>
                </a:solidFill>
                <a:effectLst/>
                <a:latin typeface="+mn-lt"/>
                <a:ea typeface="+mn-ea"/>
                <a:cs typeface="+mn-cs"/>
              </a:rPr>
              <a:t>IOT</a:t>
            </a:r>
            <a:r>
              <a:rPr lang="zh-CN" altLang="en-US" sz="1200" b="0" i="0" kern="1200" dirty="0">
                <a:solidFill>
                  <a:schemeClr val="tx1"/>
                </a:solidFill>
                <a:effectLst/>
                <a:latin typeface="+mn-lt"/>
                <a:ea typeface="+mn-ea"/>
                <a:cs typeface="+mn-cs"/>
              </a:rPr>
              <a:t>需要的是</a:t>
            </a:r>
            <a:r>
              <a:rPr lang="en-US" altLang="zh-CN" sz="1200" b="0" i="0" kern="1200" dirty="0">
                <a:solidFill>
                  <a:schemeClr val="tx1"/>
                </a:solidFill>
                <a:effectLst/>
                <a:latin typeface="+mn-lt"/>
                <a:ea typeface="+mn-ea"/>
                <a:cs typeface="+mn-cs"/>
              </a:rPr>
              <a:t>big </a:t>
            </a:r>
            <a:r>
              <a:rPr lang="en-US" altLang="zh-TW" sz="1200" b="0" i="0" kern="1200" dirty="0">
                <a:solidFill>
                  <a:schemeClr val="tx1"/>
                </a:solidFill>
                <a:effectLst/>
                <a:latin typeface="+mn-lt"/>
                <a:ea typeface="+mn-ea"/>
                <a:cs typeface="+mn-cs"/>
              </a:rPr>
              <a:t>capacity</a:t>
            </a:r>
            <a:r>
              <a:rPr lang="zh-TW" altLang="en-US" sz="1200" b="0" i="0" kern="1200" dirty="0">
                <a:solidFill>
                  <a:schemeClr val="tx1"/>
                </a:solidFill>
                <a:effectLst/>
                <a:latin typeface="+mn-lt"/>
                <a:ea typeface="+mn-ea"/>
                <a:cs typeface="+mn-cs"/>
              </a:rPr>
              <a:t>網路</a:t>
            </a:r>
            <a:r>
              <a:rPr lang="zh-CN" altLang="en-US" sz="1200" b="0" i="0" kern="1200" dirty="0">
                <a:solidFill>
                  <a:schemeClr val="tx1"/>
                </a:solidFill>
                <a:effectLst/>
                <a:latin typeface="+mn-lt"/>
                <a:ea typeface="+mn-ea"/>
                <a:cs typeface="+mn-cs"/>
              </a:rPr>
              <a:t>，但是对延时和</a:t>
            </a:r>
            <a:r>
              <a:rPr lang="zh-TW" altLang="en-US" sz="1200" b="0" i="0" kern="1200" dirty="0">
                <a:solidFill>
                  <a:schemeClr val="tx1"/>
                </a:solidFill>
                <a:effectLst/>
                <a:latin typeface="+mn-lt"/>
                <a:ea typeface="+mn-ea"/>
                <a:cs typeface="+mn-cs"/>
              </a:rPr>
              <a:t>頻寬</a:t>
            </a:r>
            <a:r>
              <a:rPr lang="zh-CN" altLang="en-US" sz="1200" b="0" i="0" kern="1200" dirty="0">
                <a:solidFill>
                  <a:schemeClr val="tx1"/>
                </a:solidFill>
                <a:effectLst/>
                <a:latin typeface="+mn-lt"/>
                <a:ea typeface="+mn-ea"/>
                <a:cs typeface="+mn-cs"/>
              </a:rPr>
              <a:t>要求不高；自动驾驶要求的是低延时网络；而一些视频终端，要求的是大</a:t>
            </a:r>
            <a:r>
              <a:rPr lang="zh-TW" altLang="en-US" sz="1200" b="0" i="0" kern="1200" dirty="0">
                <a:solidFill>
                  <a:schemeClr val="tx1"/>
                </a:solidFill>
                <a:effectLst/>
                <a:latin typeface="+mn-lt"/>
                <a:ea typeface="+mn-ea"/>
                <a:cs typeface="+mn-cs"/>
              </a:rPr>
              <a:t>頻寬</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5G</a:t>
            </a:r>
            <a:r>
              <a:rPr lang="zh-CN" altLang="en-US" sz="1200" b="0" i="0" kern="1200" dirty="0">
                <a:solidFill>
                  <a:schemeClr val="tx1"/>
                </a:solidFill>
                <a:effectLst/>
                <a:latin typeface="+mn-lt"/>
                <a:ea typeface="+mn-ea"/>
                <a:cs typeface="+mn-cs"/>
              </a:rPr>
              <a:t>如何提供同时满足这些需求的网络？一种方法是为每种需求创建一个特定的网络。</a:t>
            </a:r>
            <a:r>
              <a:rPr lang="zh-TW" altLang="en-US" sz="1200" b="0" i="0" kern="1200" dirty="0">
                <a:solidFill>
                  <a:schemeClr val="tx1"/>
                </a:solidFill>
                <a:effectLst/>
                <a:latin typeface="+mn-lt"/>
                <a:ea typeface="+mn-ea"/>
                <a:cs typeface="+mn-cs"/>
              </a:rPr>
              <a:t> 另一種是</a:t>
            </a:r>
            <a:r>
              <a:rPr lang="en-US" altLang="zh-TW" sz="1200" b="0" i="0" kern="1200" dirty="0">
                <a:solidFill>
                  <a:schemeClr val="tx1"/>
                </a:solidFill>
                <a:effectLst/>
                <a:latin typeface="+mn-lt"/>
                <a:ea typeface="+mn-ea"/>
                <a:cs typeface="+mn-cs"/>
              </a:rPr>
              <a:t>network slicing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a:solidFill>
                  <a:schemeClr val="tx1"/>
                </a:solidFill>
                <a:effectLst/>
                <a:latin typeface="+mn-lt"/>
                <a:ea typeface="+mn-ea"/>
                <a:cs typeface="+mn-cs"/>
              </a:rPr>
              <a:t>network slicing</a:t>
            </a:r>
            <a:r>
              <a:rPr lang="zh-TW" altLang="en-US" sz="1200" b="0" i="0" kern="1200" dirty="0">
                <a:solidFill>
                  <a:schemeClr val="tx1"/>
                </a:solidFill>
                <a:effectLst/>
                <a:latin typeface="+mn-lt"/>
                <a:ea typeface="+mn-ea"/>
                <a:cs typeface="+mn-cs"/>
              </a:rPr>
              <a:t>是一種網絡架構，</a:t>
            </a:r>
            <a:r>
              <a:rPr lang="zh-CN" altLang="en-US" sz="1200" b="0" i="0" kern="1200" dirty="0">
                <a:solidFill>
                  <a:schemeClr val="tx1"/>
                </a:solidFill>
                <a:effectLst/>
                <a:latin typeface="+mn-lt"/>
                <a:ea typeface="+mn-ea"/>
                <a:cs typeface="+mn-cs"/>
              </a:rPr>
              <a:t>它允许在一个共享的物理网络基础架构上，运行多个</a:t>
            </a:r>
            <a:r>
              <a:rPr lang="zh-TW" altLang="en-US" sz="1200" b="0" i="0" kern="1200" dirty="0">
                <a:solidFill>
                  <a:schemeClr val="tx1"/>
                </a:solidFill>
                <a:effectLst/>
                <a:latin typeface="+mn-lt"/>
                <a:ea typeface="+mn-ea"/>
                <a:cs typeface="+mn-cs"/>
              </a:rPr>
              <a:t>虛擬</a:t>
            </a:r>
            <a:r>
              <a:rPr lang="zh-CN" altLang="en-US" sz="1200" b="0" i="0" kern="1200" dirty="0">
                <a:solidFill>
                  <a:schemeClr val="tx1"/>
                </a:solidFill>
                <a:effectLst/>
                <a:latin typeface="+mn-lt"/>
                <a:ea typeface="+mn-ea"/>
                <a:cs typeface="+mn-cs"/>
              </a:rPr>
              <a:t>网络。每个</a:t>
            </a:r>
            <a:r>
              <a:rPr lang="zh-TW" altLang="en-US" sz="1200" b="0" i="0" kern="1200" dirty="0">
                <a:solidFill>
                  <a:schemeClr val="tx1"/>
                </a:solidFill>
                <a:effectLst/>
                <a:latin typeface="+mn-lt"/>
                <a:ea typeface="+mn-ea"/>
                <a:cs typeface="+mn-cs"/>
              </a:rPr>
              <a:t>虛擬</a:t>
            </a:r>
            <a:r>
              <a:rPr lang="zh-CN" altLang="en-US" sz="1200" b="0" i="0" kern="1200" dirty="0">
                <a:solidFill>
                  <a:schemeClr val="tx1"/>
                </a:solidFill>
                <a:effectLst/>
                <a:latin typeface="+mn-lt"/>
                <a:ea typeface="+mn-ea"/>
                <a:cs typeface="+mn-cs"/>
              </a:rPr>
              <a:t>网络之间是隔离的</a:t>
            </a:r>
            <a:r>
              <a:rPr lang="zh-TW" altLang="en-US" dirty="0"/>
              <a:t>，我們可以根據</a:t>
            </a:r>
            <a:r>
              <a:rPr lang="zh-TW" altLang="en-US" b="1" dirty="0"/>
              <a:t>傳輸速度、容量、覆蓋率、安全性有不同等級的需求</a:t>
            </a:r>
            <a:r>
              <a:rPr lang="zh-TW" altLang="en-US" dirty="0"/>
              <a:t>，促使營運商在建構</a:t>
            </a:r>
            <a:r>
              <a:rPr lang="en-US" altLang="zh-TW" dirty="0"/>
              <a:t>5G</a:t>
            </a:r>
            <a:r>
              <a:rPr lang="zh-TW" altLang="en-US" dirty="0"/>
              <a:t>網路時需更為靈活有彈性，營運商可以透過雲端運算、軟體定義網路</a:t>
            </a:r>
            <a:r>
              <a:rPr lang="en-US" altLang="zh-TW" dirty="0"/>
              <a:t>(</a:t>
            </a:r>
            <a:r>
              <a:rPr lang="en-US" altLang="zh-TW" b="1" dirty="0"/>
              <a:t>SDN</a:t>
            </a:r>
            <a:r>
              <a:rPr lang="en-US" altLang="zh-TW" dirty="0"/>
              <a:t>)</a:t>
            </a:r>
            <a:r>
              <a:rPr lang="zh-TW" altLang="en-US" dirty="0"/>
              <a:t>，以及網路功能虛擬化</a:t>
            </a:r>
            <a:r>
              <a:rPr lang="en-US" altLang="zh-TW" dirty="0"/>
              <a:t>(</a:t>
            </a:r>
            <a:r>
              <a:rPr lang="en-US" altLang="zh-TW" b="1" dirty="0"/>
              <a:t>NFV</a:t>
            </a:r>
            <a:r>
              <a:rPr lang="en-US" altLang="zh-TW" dirty="0"/>
              <a:t>)</a:t>
            </a:r>
            <a:r>
              <a:rPr lang="zh-TW" altLang="en-US" dirty="0"/>
              <a:t>等工具，進行網路切片，將一個實體網路劃分成為多個對應不同應用服務情境之虛擬邏輯網路。</a:t>
            </a:r>
          </a:p>
          <a:p>
            <a:endParaRPr lang="zh-TW" altLang="en-US" dirty="0"/>
          </a:p>
        </p:txBody>
      </p:sp>
      <p:sp>
        <p:nvSpPr>
          <p:cNvPr id="4" name="投影片編號版面配置區 3"/>
          <p:cNvSpPr>
            <a:spLocks noGrp="1"/>
          </p:cNvSpPr>
          <p:nvPr>
            <p:ph type="sldNum" sz="quarter" idx="5"/>
          </p:nvPr>
        </p:nvSpPr>
        <p:spPr/>
        <p:txBody>
          <a:bodyPr/>
          <a:lstStyle/>
          <a:p>
            <a:fld id="{08227324-3899-4D4D-AD61-B3F74C3D6C20}" type="slidenum">
              <a:rPr lang="en-ID" smtClean="0"/>
              <a:t>2</a:t>
            </a:fld>
            <a:endParaRPr lang="en-ID"/>
          </a:p>
        </p:txBody>
      </p:sp>
    </p:spTree>
    <p:extLst>
      <p:ext uri="{BB962C8B-B14F-4D97-AF65-F5344CB8AC3E}">
        <p14:creationId xmlns:p14="http://schemas.microsoft.com/office/powerpoint/2010/main" val="3664073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為什麽會出現</a:t>
            </a:r>
            <a:r>
              <a:rPr lang="en-US" altLang="zh-TW" sz="1200" b="0" i="0" kern="1200" dirty="0">
                <a:solidFill>
                  <a:schemeClr val="tx1"/>
                </a:solidFill>
                <a:effectLst/>
                <a:latin typeface="+mn-lt"/>
                <a:ea typeface="+mn-ea"/>
                <a:cs typeface="+mn-cs"/>
              </a:rPr>
              <a:t>LLDP</a:t>
            </a:r>
            <a:r>
              <a:rPr lang="zh-TW" altLang="en-US" sz="1200" b="0" i="0" kern="1200" dirty="0">
                <a:solidFill>
                  <a:schemeClr val="tx1"/>
                </a:solidFill>
                <a:effectLst/>
                <a:latin typeface="+mn-lt"/>
                <a:ea typeface="+mn-ea"/>
                <a:cs typeface="+mn-cs"/>
              </a:rPr>
              <a:t>？</a:t>
            </a:r>
            <a:br>
              <a:rPr lang="zh-TW" altLang="en-US" dirty="0"/>
            </a:br>
            <a:r>
              <a:rPr lang="zh-TW" altLang="en-US" sz="1200" b="0" i="0" kern="1200" dirty="0">
                <a:solidFill>
                  <a:schemeClr val="tx1"/>
                </a:solidFill>
                <a:effectLst/>
                <a:latin typeface="+mn-lt"/>
                <a:ea typeface="+mn-ea"/>
                <a:cs typeface="+mn-cs"/>
              </a:rPr>
              <a:t>隨著網絡技術的發展，接入網絡的設備的種類越來越多，配置越來越復雜，這就導致在一個網絡中往往會有很多具有不同特性的、來自不同廠商的設備，為了方便對這樣的網絡進行管理，就需要使得不同廠商的設備能夠在網絡中相互發現並交互各自的系統及配置信息。</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LLDP</a:t>
            </a:r>
            <a:r>
              <a:rPr lang="zh-TW" altLang="en-US" sz="1200" b="0" i="0" kern="1200" dirty="0">
                <a:solidFill>
                  <a:schemeClr val="tx1"/>
                </a:solidFill>
                <a:effectLst/>
                <a:latin typeface="+mn-lt"/>
                <a:ea typeface="+mn-ea"/>
                <a:cs typeface="+mn-cs"/>
              </a:rPr>
              <a:t>是一種</a:t>
            </a:r>
            <a:r>
              <a:rPr lang="en-US" altLang="zh-TW" sz="1200" b="0" i="0" u="none" strike="noStrike" kern="1200" dirty="0">
                <a:solidFill>
                  <a:schemeClr val="tx1"/>
                </a:solidFill>
                <a:effectLst/>
                <a:latin typeface="+mn-lt"/>
                <a:ea typeface="+mn-ea"/>
                <a:cs typeface="+mn-cs"/>
              </a:rPr>
              <a:t>linking layer</a:t>
            </a:r>
            <a:r>
              <a:rPr lang="zh-TW" altLang="en-US" sz="1200" b="0" i="0" kern="1200" dirty="0">
                <a:solidFill>
                  <a:schemeClr val="tx1"/>
                </a:solidFill>
                <a:effectLst/>
                <a:latin typeface="+mn-lt"/>
                <a:ea typeface="+mn-ea"/>
                <a:cs typeface="+mn-cs"/>
              </a:rPr>
              <a:t>協定，網路裝置</a:t>
            </a:r>
            <a:r>
              <a:rPr lang="en-US" altLang="zh-TW" sz="1200" b="0" i="0" kern="1200" dirty="0">
                <a:solidFill>
                  <a:schemeClr val="tx1"/>
                </a:solidFill>
                <a:effectLst/>
                <a:latin typeface="+mn-lt"/>
                <a:ea typeface="+mn-ea"/>
                <a:cs typeface="+mn-cs"/>
              </a:rPr>
              <a:t>(Switch, router</a:t>
            </a:r>
            <a:r>
              <a:rPr lang="zh-TW" altLang="en-US" sz="1200" b="0" i="0" kern="1200" dirty="0">
                <a:solidFill>
                  <a:schemeClr val="tx1"/>
                </a:solidFill>
                <a:effectLst/>
                <a:latin typeface="+mn-lt"/>
                <a:ea typeface="+mn-ea"/>
                <a:cs typeface="+mn-cs"/>
              </a:rPr>
              <a:t>等</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可以通過在網路中傳送</a:t>
            </a:r>
            <a:r>
              <a:rPr lang="en-US" altLang="zh-TW" sz="1200" b="0" i="0" kern="1200" dirty="0">
                <a:solidFill>
                  <a:schemeClr val="tx1"/>
                </a:solidFill>
                <a:effectLst/>
                <a:latin typeface="+mn-lt"/>
                <a:ea typeface="+mn-ea"/>
                <a:cs typeface="+mn-cs"/>
              </a:rPr>
              <a:t>LLDPDU</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Link Layer Discovery Protocol Data Unit</a:t>
            </a:r>
            <a:r>
              <a:rPr lang="zh-TW" altLang="en-US" sz="1200" b="0" i="0" kern="1200" dirty="0">
                <a:solidFill>
                  <a:schemeClr val="tx1"/>
                </a:solidFill>
                <a:effectLst/>
                <a:latin typeface="+mn-lt"/>
                <a:ea typeface="+mn-ea"/>
                <a:cs typeface="+mn-cs"/>
              </a:rPr>
              <a:t>）來通告其他裝置自身的狀態。是一種能夠使網路中的裝置互相發現、告知狀態資訊並且保存的協定。</a:t>
            </a:r>
            <a:endParaRPr lang="en-US" altLang="zh-TW"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装有</a:t>
            </a:r>
            <a:r>
              <a:rPr lang="en-US" altLang="zh-CN" sz="1200" b="0" i="0" kern="1200" dirty="0">
                <a:solidFill>
                  <a:schemeClr val="tx1"/>
                </a:solidFill>
                <a:effectLst/>
                <a:latin typeface="+mn-lt"/>
                <a:ea typeface="+mn-ea"/>
                <a:cs typeface="+mn-cs"/>
              </a:rPr>
              <a:t>LLDPDU</a:t>
            </a:r>
            <a:r>
              <a:rPr lang="zh-CN" altLang="en-US" sz="1200" b="0" i="0" kern="1200" dirty="0">
                <a:solidFill>
                  <a:schemeClr val="tx1"/>
                </a:solidFill>
                <a:effectLst/>
                <a:latin typeface="+mn-lt"/>
                <a:ea typeface="+mn-ea"/>
                <a:cs typeface="+mn-cs"/>
              </a:rPr>
              <a:t>的</a:t>
            </a:r>
            <a:r>
              <a:rPr lang="en-US" altLang="zh-CN" sz="1200" b="0" i="0" u="none" strike="noStrike" kern="1200" dirty="0">
                <a:solidFill>
                  <a:schemeClr val="tx1"/>
                </a:solidFill>
                <a:effectLst/>
                <a:latin typeface="+mn-lt"/>
                <a:ea typeface="+mn-ea"/>
                <a:cs typeface="+mn-cs"/>
              </a:rPr>
              <a:t>Message</a:t>
            </a:r>
            <a:r>
              <a:rPr lang="zh-CN" altLang="en-US" sz="1200" b="0" i="0" kern="1200" dirty="0">
                <a:solidFill>
                  <a:schemeClr val="tx1"/>
                </a:solidFill>
                <a:effectLst/>
                <a:latin typeface="+mn-lt"/>
                <a:ea typeface="+mn-ea"/>
                <a:cs typeface="+mn-cs"/>
              </a:rPr>
              <a:t>称为</a:t>
            </a:r>
            <a:r>
              <a:rPr lang="en-US" altLang="zh-CN" sz="1200" b="0" i="0" kern="1200" dirty="0">
                <a:solidFill>
                  <a:schemeClr val="tx1"/>
                </a:solidFill>
                <a:effectLst/>
                <a:latin typeface="+mn-lt"/>
                <a:ea typeface="+mn-ea"/>
                <a:cs typeface="+mn-cs"/>
              </a:rPr>
              <a:t>LLDP Message </a:t>
            </a:r>
            <a:r>
              <a:rPr lang="zh-TW" altLang="en-US" sz="1200" b="0" i="0" kern="1200" dirty="0">
                <a:solidFill>
                  <a:schemeClr val="tx1"/>
                </a:solidFill>
                <a:effectLst/>
                <a:latin typeface="+mn-lt"/>
                <a:ea typeface="+mn-ea"/>
                <a:cs typeface="+mn-cs"/>
              </a:rPr>
              <a:t>，它將本地設備的信息組織成</a:t>
            </a:r>
            <a:r>
              <a:rPr lang="en-US" altLang="zh-TW" sz="1200" b="0" i="0" kern="1200" dirty="0">
                <a:solidFill>
                  <a:schemeClr val="tx1"/>
                </a:solidFill>
                <a:effectLst/>
                <a:latin typeface="+mn-lt"/>
                <a:ea typeface="+mn-ea"/>
                <a:cs typeface="+mn-cs"/>
              </a:rPr>
              <a:t>TLV</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Type/Length/Value </a:t>
            </a:r>
            <a:r>
              <a:rPr lang="zh-TW" altLang="en-US" sz="1200" b="0" i="0" kern="1200" dirty="0">
                <a:solidFill>
                  <a:schemeClr val="tx1"/>
                </a:solidFill>
                <a:effectLst/>
                <a:latin typeface="+mn-lt"/>
                <a:ea typeface="+mn-ea"/>
                <a:cs typeface="+mn-cs"/>
              </a:rPr>
              <a:t>，類型</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長度</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值）封裝在</a:t>
            </a:r>
            <a:r>
              <a:rPr lang="en-US" altLang="zh-TW" sz="1200" b="0" i="0" kern="1200" dirty="0">
                <a:solidFill>
                  <a:schemeClr val="tx1"/>
                </a:solidFill>
                <a:effectLst/>
                <a:latin typeface="+mn-lt"/>
                <a:ea typeface="+mn-ea"/>
                <a:cs typeface="+mn-cs"/>
              </a:rPr>
              <a:t>LLDPDU</a:t>
            </a:r>
          </a:p>
          <a:p>
            <a:r>
              <a:rPr lang="en-US" altLang="zh-CN" sz="1200" b="0" i="0" kern="1200" dirty="0">
                <a:solidFill>
                  <a:schemeClr val="tx1"/>
                </a:solidFill>
                <a:effectLst/>
                <a:latin typeface="+mn-lt"/>
                <a:ea typeface="+mn-ea"/>
                <a:cs typeface="+mn-cs"/>
              </a:rPr>
              <a:t>TLV</a:t>
            </a:r>
            <a:r>
              <a:rPr lang="zh-CN" altLang="en-US" sz="1200" b="0" i="0" kern="1200" dirty="0">
                <a:solidFill>
                  <a:schemeClr val="tx1"/>
                </a:solidFill>
                <a:effectLst/>
                <a:latin typeface="+mn-lt"/>
                <a:ea typeface="+mn-ea"/>
                <a:cs typeface="+mn-cs"/>
              </a:rPr>
              <a:t>是组成 </a:t>
            </a:r>
            <a:r>
              <a:rPr lang="en-US" altLang="zh-CN" sz="1200" b="0" i="0" kern="1200" dirty="0">
                <a:solidFill>
                  <a:schemeClr val="tx1"/>
                </a:solidFill>
                <a:effectLst/>
                <a:latin typeface="+mn-lt"/>
                <a:ea typeface="+mn-ea"/>
                <a:cs typeface="+mn-cs"/>
              </a:rPr>
              <a:t>LLDPDU</a:t>
            </a:r>
            <a:r>
              <a:rPr lang="zh-CN" altLang="en-US" sz="1200" b="0" i="0" kern="1200" dirty="0">
                <a:solidFill>
                  <a:schemeClr val="tx1"/>
                </a:solidFill>
                <a:effectLst/>
                <a:latin typeface="+mn-lt"/>
                <a:ea typeface="+mn-ea"/>
                <a:cs typeface="+mn-cs"/>
              </a:rPr>
              <a:t>的单元，每个 </a:t>
            </a:r>
            <a:r>
              <a:rPr lang="en-US" altLang="zh-CN" sz="1200" b="0" i="0" kern="1200" dirty="0">
                <a:solidFill>
                  <a:schemeClr val="tx1"/>
                </a:solidFill>
                <a:effectLst/>
                <a:latin typeface="+mn-lt"/>
                <a:ea typeface="+mn-ea"/>
                <a:cs typeface="+mn-cs"/>
              </a:rPr>
              <a:t>TLV</a:t>
            </a:r>
            <a:r>
              <a:rPr lang="zh-CN" altLang="en-US" sz="1200" b="0" i="0" kern="1200" dirty="0">
                <a:solidFill>
                  <a:schemeClr val="tx1"/>
                </a:solidFill>
                <a:effectLst/>
                <a:latin typeface="+mn-lt"/>
                <a:ea typeface="+mn-ea"/>
                <a:cs typeface="+mn-cs"/>
              </a:rPr>
              <a:t>都代表一个信息。</a:t>
            </a:r>
            <a:endParaRPr lang="zh-TW" altLang="en-US" dirty="0"/>
          </a:p>
        </p:txBody>
      </p:sp>
      <p:sp>
        <p:nvSpPr>
          <p:cNvPr id="4" name="投影片編號版面配置區 3"/>
          <p:cNvSpPr>
            <a:spLocks noGrp="1"/>
          </p:cNvSpPr>
          <p:nvPr>
            <p:ph type="sldNum" sz="quarter" idx="5"/>
          </p:nvPr>
        </p:nvSpPr>
        <p:spPr/>
        <p:txBody>
          <a:bodyPr/>
          <a:lstStyle/>
          <a:p>
            <a:fld id="{08227324-3899-4D4D-AD61-B3F74C3D6C20}" type="slidenum">
              <a:rPr lang="en-ID" smtClean="0"/>
              <a:t>3</a:t>
            </a:fld>
            <a:endParaRPr lang="en-ID"/>
          </a:p>
        </p:txBody>
      </p:sp>
    </p:spTree>
    <p:extLst>
      <p:ext uri="{BB962C8B-B14F-4D97-AF65-F5344CB8AC3E}">
        <p14:creationId xmlns:p14="http://schemas.microsoft.com/office/powerpoint/2010/main" val="1581325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kern="1200" dirty="0">
                <a:solidFill>
                  <a:schemeClr val="tx1"/>
                </a:solidFill>
                <a:effectLst/>
                <a:latin typeface="+mn-lt"/>
                <a:ea typeface="+mn-ea"/>
                <a:cs typeface="+mn-cs"/>
              </a:rPr>
              <a:t>LLDPDU </a:t>
            </a:r>
            <a:r>
              <a:rPr lang="zh-TW" altLang="en-US" sz="1200" b="1" kern="1200" dirty="0">
                <a:solidFill>
                  <a:schemeClr val="tx1"/>
                </a:solidFill>
                <a:effectLst/>
                <a:latin typeface="+mn-lt"/>
                <a:ea typeface="+mn-ea"/>
                <a:cs typeface="+mn-cs"/>
              </a:rPr>
              <a:t>發送機制</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當端口工作在</a:t>
            </a:r>
            <a:r>
              <a:rPr lang="en-US" altLang="zh-TW" sz="1200" b="0" i="0" kern="1200" dirty="0" err="1">
                <a:solidFill>
                  <a:schemeClr val="tx1"/>
                </a:solidFill>
                <a:effectLst/>
                <a:latin typeface="+mn-lt"/>
                <a:ea typeface="+mn-ea"/>
                <a:cs typeface="+mn-cs"/>
              </a:rPr>
              <a:t>TxRx</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或</a:t>
            </a:r>
            <a:r>
              <a:rPr lang="en-US" altLang="zh-TW" sz="1200" b="0" i="0" kern="1200" dirty="0">
                <a:solidFill>
                  <a:schemeClr val="tx1"/>
                </a:solidFill>
                <a:effectLst/>
                <a:latin typeface="+mn-lt"/>
                <a:ea typeface="+mn-ea"/>
                <a:cs typeface="+mn-cs"/>
              </a:rPr>
              <a:t>Tx </a:t>
            </a:r>
            <a:r>
              <a:rPr lang="zh-TW" altLang="en-US" sz="1200" b="0" i="0" kern="1200" dirty="0">
                <a:solidFill>
                  <a:schemeClr val="tx1"/>
                </a:solidFill>
                <a:effectLst/>
                <a:latin typeface="+mn-lt"/>
                <a:ea typeface="+mn-ea"/>
                <a:cs typeface="+mn-cs"/>
              </a:rPr>
              <a:t>模式時，將按照指定的時間間隔週期性的向鄰居設備發送</a:t>
            </a:r>
            <a:r>
              <a:rPr lang="en-US" altLang="zh-TW" sz="1200" b="0" i="0" kern="1200" dirty="0">
                <a:solidFill>
                  <a:schemeClr val="tx1"/>
                </a:solidFill>
                <a:effectLst/>
                <a:latin typeface="+mn-lt"/>
                <a:ea typeface="+mn-ea"/>
                <a:cs typeface="+mn-cs"/>
              </a:rPr>
              <a:t>LLDPDU </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當發現一個新鄰居（即接收到一個新的</a:t>
            </a:r>
            <a:r>
              <a:rPr lang="en-US" altLang="zh-TW" sz="1200" b="0" i="0" kern="1200" dirty="0">
                <a:solidFill>
                  <a:schemeClr val="tx1"/>
                </a:solidFill>
                <a:effectLst/>
                <a:latin typeface="+mn-lt"/>
                <a:ea typeface="+mn-ea"/>
                <a:cs typeface="+mn-cs"/>
              </a:rPr>
              <a:t>LLDPDU </a:t>
            </a:r>
            <a:r>
              <a:rPr lang="zh-TW" altLang="en-US" sz="1200" b="0" i="0" kern="1200" dirty="0">
                <a:solidFill>
                  <a:schemeClr val="tx1"/>
                </a:solidFill>
                <a:effectLst/>
                <a:latin typeface="+mn-lt"/>
                <a:ea typeface="+mn-ea"/>
                <a:cs typeface="+mn-cs"/>
              </a:rPr>
              <a:t>且本地沒有保存發送該</a:t>
            </a:r>
            <a:r>
              <a:rPr lang="en-US" altLang="zh-TW" sz="1200" b="0" i="0" kern="1200" dirty="0">
                <a:solidFill>
                  <a:schemeClr val="tx1"/>
                </a:solidFill>
                <a:effectLst/>
                <a:latin typeface="+mn-lt"/>
                <a:ea typeface="+mn-ea"/>
                <a:cs typeface="+mn-cs"/>
              </a:rPr>
              <a:t>LLDPDU </a:t>
            </a:r>
            <a:r>
              <a:rPr lang="zh-TW" altLang="en-US" sz="1200" b="0" i="0" kern="1200" dirty="0">
                <a:solidFill>
                  <a:schemeClr val="tx1"/>
                </a:solidFill>
                <a:effectLst/>
                <a:latin typeface="+mn-lt"/>
                <a:ea typeface="+mn-ea"/>
                <a:cs typeface="+mn-cs"/>
              </a:rPr>
              <a:t>的設備的信息）或工作模式從</a:t>
            </a:r>
            <a:r>
              <a:rPr lang="en-US" altLang="zh-TW" sz="1200" b="0" i="0" kern="1200" dirty="0">
                <a:solidFill>
                  <a:schemeClr val="tx1"/>
                </a:solidFill>
                <a:effectLst/>
                <a:latin typeface="+mn-lt"/>
                <a:ea typeface="+mn-ea"/>
                <a:cs typeface="+mn-cs"/>
              </a:rPr>
              <a:t>Disable</a:t>
            </a:r>
            <a:r>
              <a:rPr lang="zh-TW" altLang="en-US" sz="1200" b="0" i="0" kern="1200" dirty="0">
                <a:solidFill>
                  <a:schemeClr val="tx1"/>
                </a:solidFill>
                <a:effectLst/>
                <a:latin typeface="+mn-lt"/>
                <a:ea typeface="+mn-ea"/>
                <a:cs typeface="+mn-cs"/>
              </a:rPr>
              <a:t>（或</a:t>
            </a:r>
            <a:r>
              <a:rPr lang="en-US" altLang="zh-TW" sz="1200" b="0" i="0" kern="1200" dirty="0">
                <a:solidFill>
                  <a:schemeClr val="tx1"/>
                </a:solidFill>
                <a:effectLst/>
                <a:latin typeface="+mn-lt"/>
                <a:ea typeface="+mn-ea"/>
                <a:cs typeface="+mn-cs"/>
              </a:rPr>
              <a:t>Rx </a:t>
            </a:r>
            <a:r>
              <a:rPr lang="zh-TW" altLang="en-US" sz="1200" b="0" i="0" kern="1200" dirty="0">
                <a:solidFill>
                  <a:schemeClr val="tx1"/>
                </a:solidFill>
                <a:effectLst/>
                <a:latin typeface="+mn-lt"/>
                <a:ea typeface="+mn-ea"/>
                <a:cs typeface="+mn-cs"/>
              </a:rPr>
              <a:t>）切換為</a:t>
            </a:r>
            <a:r>
              <a:rPr lang="en-US" altLang="zh-TW" sz="1200" b="0" i="0" kern="1200" dirty="0" err="1">
                <a:solidFill>
                  <a:schemeClr val="tx1"/>
                </a:solidFill>
                <a:effectLst/>
                <a:latin typeface="+mn-lt"/>
                <a:ea typeface="+mn-ea"/>
                <a:cs typeface="+mn-cs"/>
              </a:rPr>
              <a:t>TxRx</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（或</a:t>
            </a:r>
            <a:r>
              <a:rPr lang="en-US" altLang="zh-TW" sz="1200" b="0" i="0" kern="1200" dirty="0">
                <a:solidFill>
                  <a:schemeClr val="tx1"/>
                </a:solidFill>
                <a:effectLst/>
                <a:latin typeface="+mn-lt"/>
                <a:ea typeface="+mn-ea"/>
                <a:cs typeface="+mn-cs"/>
              </a:rPr>
              <a:t>Tx </a:t>
            </a:r>
            <a:r>
              <a:rPr lang="zh-TW" altLang="en-US" sz="1200" b="0" i="0" kern="1200" dirty="0">
                <a:solidFill>
                  <a:schemeClr val="tx1"/>
                </a:solidFill>
                <a:effectLst/>
                <a:latin typeface="+mn-lt"/>
                <a:ea typeface="+mn-ea"/>
                <a:cs typeface="+mn-cs"/>
              </a:rPr>
              <a:t>）時，為了讓其它設備盡快發現本設備，將啟用快速發送機制，即將</a:t>
            </a:r>
            <a:r>
              <a:rPr lang="en-US" altLang="zh-TW" sz="1200" b="0" i="0" kern="1200" dirty="0">
                <a:solidFill>
                  <a:schemeClr val="tx1"/>
                </a:solidFill>
                <a:effectLst/>
                <a:latin typeface="+mn-lt"/>
                <a:ea typeface="+mn-ea"/>
                <a:cs typeface="+mn-cs"/>
              </a:rPr>
              <a:t>LLDP </a:t>
            </a:r>
            <a:r>
              <a:rPr lang="zh-TW" altLang="en-US" sz="1200" b="0" i="0" kern="1200" dirty="0">
                <a:solidFill>
                  <a:schemeClr val="tx1"/>
                </a:solidFill>
                <a:effectLst/>
                <a:latin typeface="+mn-lt"/>
                <a:ea typeface="+mn-ea"/>
                <a:cs typeface="+mn-cs"/>
              </a:rPr>
              <a:t>報文的發送週期縮短為</a:t>
            </a:r>
            <a:r>
              <a:rPr lang="en-US" altLang="zh-TW" sz="1200" b="0" i="0" kern="1200" dirty="0">
                <a:solidFill>
                  <a:schemeClr val="tx1"/>
                </a:solidFill>
                <a:effectLst/>
                <a:latin typeface="+mn-lt"/>
                <a:ea typeface="+mn-ea"/>
                <a:cs typeface="+mn-cs"/>
              </a:rPr>
              <a:t>1 </a:t>
            </a:r>
            <a:r>
              <a:rPr lang="zh-TW" altLang="en-US" sz="1200" b="0" i="0" kern="1200" dirty="0">
                <a:solidFill>
                  <a:schemeClr val="tx1"/>
                </a:solidFill>
                <a:effectLst/>
                <a:latin typeface="+mn-lt"/>
                <a:ea typeface="+mn-ea"/>
                <a:cs typeface="+mn-cs"/>
              </a:rPr>
              <a:t>秒，並連續發送指定數量的</a:t>
            </a:r>
            <a:r>
              <a:rPr lang="en-US" altLang="zh-TW" sz="1200" b="0" i="0" kern="1200" dirty="0">
                <a:solidFill>
                  <a:schemeClr val="tx1"/>
                </a:solidFill>
                <a:effectLst/>
                <a:latin typeface="+mn-lt"/>
                <a:ea typeface="+mn-ea"/>
                <a:cs typeface="+mn-cs"/>
              </a:rPr>
              <a:t>LLDPDU </a:t>
            </a:r>
            <a:r>
              <a:rPr lang="zh-TW" altLang="en-US" sz="1200" b="0" i="0" kern="1200" dirty="0">
                <a:solidFill>
                  <a:schemeClr val="tx1"/>
                </a:solidFill>
                <a:effectLst/>
                <a:latin typeface="+mn-lt"/>
                <a:ea typeface="+mn-ea"/>
                <a:cs typeface="+mn-cs"/>
              </a:rPr>
              <a:t>後再恢復為正常的發送週期。</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kern="1200" dirty="0">
                <a:solidFill>
                  <a:schemeClr val="tx1"/>
                </a:solidFill>
                <a:effectLst/>
                <a:latin typeface="+mn-lt"/>
                <a:ea typeface="+mn-ea"/>
                <a:cs typeface="+mn-cs"/>
              </a:rPr>
              <a:t>LLDPDU </a:t>
            </a:r>
            <a:r>
              <a:rPr lang="zh-TW" altLang="en-US" sz="1200" b="1" kern="1200" dirty="0">
                <a:solidFill>
                  <a:schemeClr val="tx1"/>
                </a:solidFill>
                <a:effectLst/>
                <a:latin typeface="+mn-lt"/>
                <a:ea typeface="+mn-ea"/>
                <a:cs typeface="+mn-cs"/>
              </a:rPr>
              <a:t>接收機制</a:t>
            </a:r>
            <a:endParaRPr lang="en-US" altLang="zh-TW"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a:solidFill>
                  <a:schemeClr val="tx1"/>
                </a:solidFill>
                <a:effectLst/>
                <a:latin typeface="+mn-lt"/>
                <a:ea typeface="+mn-ea"/>
                <a:cs typeface="+mn-cs"/>
              </a:rPr>
              <a:t>當端口工作在</a:t>
            </a:r>
            <a:r>
              <a:rPr lang="en-US" altLang="zh-TW" sz="1200" b="0" i="0" kern="1200" dirty="0" err="1">
                <a:solidFill>
                  <a:schemeClr val="tx1"/>
                </a:solidFill>
                <a:effectLst/>
                <a:latin typeface="+mn-lt"/>
                <a:ea typeface="+mn-ea"/>
                <a:cs typeface="+mn-cs"/>
              </a:rPr>
              <a:t>TxRx</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或</a:t>
            </a:r>
            <a:r>
              <a:rPr lang="en-US" altLang="zh-TW" sz="1200" b="0" i="0" kern="1200" dirty="0">
                <a:solidFill>
                  <a:schemeClr val="tx1"/>
                </a:solidFill>
                <a:effectLst/>
                <a:latin typeface="+mn-lt"/>
                <a:ea typeface="+mn-ea"/>
                <a:cs typeface="+mn-cs"/>
              </a:rPr>
              <a:t>Rx </a:t>
            </a:r>
            <a:r>
              <a:rPr lang="zh-TW" altLang="en-US" sz="1200" b="0" i="0" kern="1200" dirty="0">
                <a:solidFill>
                  <a:schemeClr val="tx1"/>
                </a:solidFill>
                <a:effectLst/>
                <a:latin typeface="+mn-lt"/>
                <a:ea typeface="+mn-ea"/>
                <a:cs typeface="+mn-cs"/>
              </a:rPr>
              <a:t>模式時，將對收到的</a:t>
            </a:r>
            <a:r>
              <a:rPr lang="en-US" altLang="zh-TW" sz="1200" b="0" i="0" kern="1200" dirty="0">
                <a:solidFill>
                  <a:schemeClr val="tx1"/>
                </a:solidFill>
                <a:effectLst/>
                <a:latin typeface="+mn-lt"/>
                <a:ea typeface="+mn-ea"/>
                <a:cs typeface="+mn-cs"/>
              </a:rPr>
              <a:t>LLDPDU </a:t>
            </a:r>
            <a:r>
              <a:rPr lang="zh-TW" altLang="en-US" sz="1200" b="0" i="0" kern="1200" dirty="0">
                <a:solidFill>
                  <a:schemeClr val="tx1"/>
                </a:solidFill>
                <a:effectLst/>
                <a:latin typeface="+mn-lt"/>
                <a:ea typeface="+mn-ea"/>
                <a:cs typeface="+mn-cs"/>
              </a:rPr>
              <a:t>及其攜帶的</a:t>
            </a:r>
            <a:r>
              <a:rPr lang="en-US" altLang="zh-TW" sz="1200" b="0" i="0" kern="1200" dirty="0">
                <a:solidFill>
                  <a:schemeClr val="tx1"/>
                </a:solidFill>
                <a:effectLst/>
                <a:latin typeface="+mn-lt"/>
                <a:ea typeface="+mn-ea"/>
                <a:cs typeface="+mn-cs"/>
              </a:rPr>
              <a:t>TLV </a:t>
            </a:r>
            <a:r>
              <a:rPr lang="zh-TW" altLang="en-US" sz="1200" b="0" i="0" kern="1200" dirty="0">
                <a:solidFill>
                  <a:schemeClr val="tx1"/>
                </a:solidFill>
                <a:effectLst/>
                <a:latin typeface="+mn-lt"/>
                <a:ea typeface="+mn-ea"/>
                <a:cs typeface="+mn-cs"/>
              </a:rPr>
              <a:t>進行有效性檢查。通過有效性檢查後，將鄰居信息保存到本地設備</a:t>
            </a:r>
            <a:endParaRPr lang="zh-TW" altLang="en-US" sz="1200" b="1"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08227324-3899-4D4D-AD61-B3F74C3D6C20}" type="slidenum">
              <a:rPr lang="en-ID" smtClean="0"/>
              <a:t>4</a:t>
            </a:fld>
            <a:endParaRPr lang="en-ID"/>
          </a:p>
        </p:txBody>
      </p:sp>
    </p:spTree>
    <p:extLst>
      <p:ext uri="{BB962C8B-B14F-4D97-AF65-F5344CB8AC3E}">
        <p14:creationId xmlns:p14="http://schemas.microsoft.com/office/powerpoint/2010/main" val="740190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a:p>
            <a:r>
              <a:rPr lang="en-US" altLang="zh-TW" dirty="0" err="1"/>
              <a:t>QoE</a:t>
            </a:r>
            <a:r>
              <a:rPr lang="en-US" altLang="zh-TW" dirty="0"/>
              <a:t>: </a:t>
            </a:r>
            <a:r>
              <a:rPr lang="en-US" altLang="zh-CN" sz="1200" b="0" i="0" kern="1200" dirty="0" err="1">
                <a:solidFill>
                  <a:schemeClr val="tx1"/>
                </a:solidFill>
                <a:effectLst/>
                <a:latin typeface="+mn-lt"/>
                <a:ea typeface="+mn-ea"/>
                <a:cs typeface="+mn-cs"/>
              </a:rPr>
              <a:t>QoE</a:t>
            </a:r>
            <a:r>
              <a:rPr lang="zh-CN" altLang="en-US" sz="1200" b="0" i="0" kern="1200" dirty="0">
                <a:solidFill>
                  <a:schemeClr val="tx1"/>
                </a:solidFill>
                <a:effectLst/>
                <a:latin typeface="+mn-lt"/>
                <a:ea typeface="+mn-ea"/>
                <a:cs typeface="+mn-cs"/>
              </a:rPr>
              <a:t>的评价主体是终端用户</a:t>
            </a:r>
            <a:r>
              <a:rPr lang="zh-TW" alt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评价对象是网络</a:t>
            </a:r>
            <a:r>
              <a:rPr lang="zh-TW" altLang="en-US"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用户对设备、网络和系统、应用或业务的质量和性能的主观感受</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用户感受到的完成整个过程的难易程度</a:t>
            </a:r>
            <a:r>
              <a:rPr lang="en-US" altLang="zh-TW"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QoS:</a:t>
            </a:r>
            <a:r>
              <a:rPr lang="zh-CN" altLang="en-US" sz="1200" b="0" i="0" kern="1200" dirty="0">
                <a:solidFill>
                  <a:schemeClr val="tx1"/>
                </a:solidFill>
                <a:effectLst/>
                <a:latin typeface="+mn-lt"/>
                <a:ea typeface="+mn-ea"/>
                <a:cs typeface="+mn-cs"/>
              </a:rPr>
              <a:t>对于</a:t>
            </a:r>
            <a:r>
              <a:rPr lang="en-US" altLang="zh-CN" sz="1200" b="0" i="0" kern="1200" dirty="0" err="1">
                <a:solidFill>
                  <a:schemeClr val="tx1"/>
                </a:solidFill>
                <a:effectLst/>
                <a:latin typeface="+mn-lt"/>
                <a:ea typeface="+mn-ea"/>
                <a:cs typeface="+mn-cs"/>
              </a:rPr>
              <a:t>QoE</a:t>
            </a:r>
            <a:r>
              <a:rPr lang="zh-CN" altLang="en-US" sz="1200" b="0" i="0" kern="1200" dirty="0">
                <a:solidFill>
                  <a:schemeClr val="tx1"/>
                </a:solidFill>
                <a:effectLst/>
                <a:latin typeface="+mn-lt"/>
                <a:ea typeface="+mn-ea"/>
                <a:cs typeface="+mn-cs"/>
              </a:rPr>
              <a:t>而言，</a:t>
            </a:r>
            <a:r>
              <a:rPr lang="en-US" altLang="zh-CN" sz="1200" b="0" i="0" kern="1200" dirty="0">
                <a:solidFill>
                  <a:schemeClr val="tx1"/>
                </a:solidFill>
                <a:effectLst/>
                <a:latin typeface="+mn-lt"/>
                <a:ea typeface="+mn-ea"/>
                <a:cs typeface="+mn-cs"/>
              </a:rPr>
              <a:t>QoS</a:t>
            </a:r>
            <a:r>
              <a:rPr lang="zh-CN" altLang="en-US" sz="1200" b="0" i="0" kern="1200" dirty="0">
                <a:solidFill>
                  <a:schemeClr val="tx1"/>
                </a:solidFill>
                <a:effectLst/>
                <a:latin typeface="+mn-lt"/>
                <a:ea typeface="+mn-ea"/>
                <a:cs typeface="+mn-cs"/>
              </a:rPr>
              <a:t>是为了保证或增加</a:t>
            </a:r>
            <a:r>
              <a:rPr lang="en-US" altLang="zh-CN" sz="1200" b="0" i="0" kern="1200" dirty="0" err="1">
                <a:solidFill>
                  <a:schemeClr val="tx1"/>
                </a:solidFill>
                <a:effectLst/>
                <a:latin typeface="+mn-lt"/>
                <a:ea typeface="+mn-ea"/>
                <a:cs typeface="+mn-cs"/>
              </a:rPr>
              <a:t>QoE</a:t>
            </a:r>
            <a:r>
              <a:rPr lang="zh-CN" altLang="en-US" sz="1200" b="0" i="0" kern="1200" dirty="0">
                <a:solidFill>
                  <a:schemeClr val="tx1"/>
                </a:solidFill>
                <a:effectLst/>
                <a:latin typeface="+mn-lt"/>
                <a:ea typeface="+mn-ea"/>
                <a:cs typeface="+mn-cs"/>
              </a:rPr>
              <a:t>而应用在网络上的技术体制</a:t>
            </a:r>
            <a:r>
              <a:rPr lang="zh-TW" altLang="en-US" sz="1200" b="0" i="0" kern="1200" dirty="0">
                <a:solidFill>
                  <a:schemeClr val="tx1"/>
                </a:solidFill>
                <a:effectLst/>
                <a:latin typeface="+mn-lt"/>
                <a:ea typeface="+mn-ea"/>
                <a:cs typeface="+mn-cs"/>
              </a:rPr>
              <a:t> 指標有 </a:t>
            </a:r>
            <a:r>
              <a:rPr lang="zh-CN" altLang="en-US" sz="1200" b="0" i="0" kern="1200" dirty="0">
                <a:solidFill>
                  <a:schemeClr val="tx1"/>
                </a:solidFill>
                <a:effectLst/>
                <a:latin typeface="+mn-lt"/>
                <a:ea typeface="+mn-ea"/>
                <a:cs typeface="+mn-cs"/>
              </a:rPr>
              <a:t>可用性、</a:t>
            </a:r>
            <a:r>
              <a:rPr lang="en-US" altLang="zh-TW" sz="1200" b="0" i="0" kern="1200" dirty="0">
                <a:solidFill>
                  <a:schemeClr val="tx1"/>
                </a:solidFill>
                <a:effectLst/>
                <a:latin typeface="+mn-lt"/>
                <a:ea typeface="+mn-ea"/>
                <a:cs typeface="+mn-cs"/>
              </a:rPr>
              <a:t>capacity</a:t>
            </a:r>
            <a:r>
              <a:rPr lang="zh-CN" altLang="en-US"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延遲</a:t>
            </a:r>
            <a:endParaRPr lang="en-US" altLang="zh-TW" dirty="0"/>
          </a:p>
          <a:p>
            <a:endParaRPr lang="en-US" altLang="zh-CN"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IQX:</a:t>
            </a:r>
            <a:r>
              <a:rPr lang="zh-TW" altLang="en-US" sz="1200" b="0" i="0" kern="1200" dirty="0">
                <a:solidFill>
                  <a:schemeClr val="tx1"/>
                </a:solidFill>
                <a:effectLst/>
                <a:latin typeface="+mn-lt"/>
                <a:ea typeface="+mn-ea"/>
                <a:cs typeface="+mn-cs"/>
              </a:rPr>
              <a:t> 兩者之間的指數相關性</a:t>
            </a:r>
            <a:endParaRPr lang="en-US" altLang="zh-CN"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08227324-3899-4D4D-AD61-B3F74C3D6C20}" type="slidenum">
              <a:rPr lang="en-ID" smtClean="0"/>
              <a:t>5</a:t>
            </a:fld>
            <a:endParaRPr lang="en-ID"/>
          </a:p>
        </p:txBody>
      </p:sp>
    </p:spTree>
    <p:extLst>
      <p:ext uri="{BB962C8B-B14F-4D97-AF65-F5344CB8AC3E}">
        <p14:creationId xmlns:p14="http://schemas.microsoft.com/office/powerpoint/2010/main" val="2469855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我們可以將</a:t>
            </a:r>
            <a:r>
              <a:rPr lang="en-US" altLang="zh-TW" dirty="0"/>
              <a:t>QoS</a:t>
            </a:r>
            <a:r>
              <a:rPr lang="zh-TW" altLang="en-US" dirty="0"/>
              <a:t>信息作為自定義</a:t>
            </a:r>
            <a:r>
              <a:rPr lang="en-US" altLang="zh-TW" dirty="0"/>
              <a:t>TLV</a:t>
            </a:r>
            <a:r>
              <a:rPr lang="zh-TW" altLang="en-US" dirty="0"/>
              <a:t>包含在</a:t>
            </a:r>
            <a:r>
              <a:rPr lang="en-US" altLang="zh-TW" dirty="0"/>
              <a:t>LLDP</a:t>
            </a:r>
            <a:r>
              <a:rPr lang="zh-TW" altLang="en-US" dirty="0"/>
              <a:t>數據包中。 以這種方式，</a:t>
            </a:r>
            <a:r>
              <a:rPr lang="en-US" altLang="zh-TW" dirty="0"/>
              <a:t>LLDP</a:t>
            </a:r>
            <a:r>
              <a:rPr lang="zh-TW" altLang="en-US" dirty="0"/>
              <a:t>可以被視為包含</a:t>
            </a:r>
            <a:r>
              <a:rPr lang="en-US" altLang="zh-TW" dirty="0"/>
              <a:t>QoS</a:t>
            </a:r>
            <a:r>
              <a:rPr lang="zh-TW" altLang="en-US" dirty="0"/>
              <a:t>信息（即，基於</a:t>
            </a:r>
            <a:r>
              <a:rPr lang="en-US" altLang="zh-TW" dirty="0"/>
              <a:t>LLDP</a:t>
            </a:r>
            <a:r>
              <a:rPr lang="zh-TW" altLang="en-US" dirty="0"/>
              <a:t>的</a:t>
            </a:r>
            <a:r>
              <a:rPr lang="en-US" altLang="zh-TW" dirty="0"/>
              <a:t>QoS</a:t>
            </a:r>
            <a:r>
              <a:rPr lang="zh-TW" altLang="en-US" dirty="0"/>
              <a:t>）和其他有用屬性作為其有效載荷的“渡輪”。 我們如圖所示定義</a:t>
            </a:r>
            <a:r>
              <a:rPr lang="en-US" altLang="zh-TW" dirty="0"/>
              <a:t>QoS TLV</a:t>
            </a:r>
            <a:r>
              <a:rPr lang="zh-TW" altLang="en-US" dirty="0"/>
              <a:t>。</a:t>
            </a:r>
            <a:endParaRPr lang="en-US" altLang="zh-TW" dirty="0"/>
          </a:p>
          <a:p>
            <a:endParaRPr lang="en-US" altLang="zh-TW" dirty="0"/>
          </a:p>
          <a:p>
            <a:endParaRPr lang="en-US" altLang="zh-TW" dirty="0"/>
          </a:p>
          <a:p>
            <a:r>
              <a:rPr lang="en-US" altLang="zh-TW" dirty="0"/>
              <a:t>(</a:t>
            </a:r>
            <a:r>
              <a:rPr lang="zh-TW" altLang="en-US" sz="1200" b="0" i="0" kern="1200" dirty="0">
                <a:solidFill>
                  <a:schemeClr val="tx1"/>
                </a:solidFill>
                <a:effectLst/>
                <a:latin typeface="+mn-lt"/>
                <a:ea typeface="+mn-ea"/>
                <a:cs typeface="+mn-cs"/>
              </a:rPr>
              <a:t>封包到達目的地的時間長短不一，稱為</a:t>
            </a:r>
            <a:r>
              <a:rPr lang="en-US" altLang="zh-TW" sz="1200" b="0" i="1" kern="1200" dirty="0">
                <a:solidFill>
                  <a:schemeClr val="tx1"/>
                </a:solidFill>
                <a:effectLst/>
                <a:latin typeface="+mn-lt"/>
                <a:ea typeface="+mn-ea"/>
                <a:cs typeface="+mn-cs"/>
              </a:rPr>
              <a:t>jitter</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抖動</a:t>
            </a:r>
            <a:r>
              <a:rPr lang="en-US" altLang="zh-TW" sz="1200" b="0" i="0" kern="1200" dirty="0">
                <a:solidFill>
                  <a:schemeClr val="tx1"/>
                </a:solidFill>
                <a:effectLst/>
                <a:latin typeface="+mn-lt"/>
                <a:ea typeface="+mn-ea"/>
                <a:cs typeface="+mn-cs"/>
              </a:rPr>
              <a:t>))</a:t>
            </a:r>
          </a:p>
          <a:p>
            <a:endParaRPr lang="zh-TW" altLang="en-US" dirty="0"/>
          </a:p>
        </p:txBody>
      </p:sp>
      <p:sp>
        <p:nvSpPr>
          <p:cNvPr id="4" name="投影片編號版面配置區 3"/>
          <p:cNvSpPr>
            <a:spLocks noGrp="1"/>
          </p:cNvSpPr>
          <p:nvPr>
            <p:ph type="sldNum" sz="quarter" idx="5"/>
          </p:nvPr>
        </p:nvSpPr>
        <p:spPr/>
        <p:txBody>
          <a:bodyPr/>
          <a:lstStyle/>
          <a:p>
            <a:fld id="{08227324-3899-4D4D-AD61-B3F74C3D6C20}" type="slidenum">
              <a:rPr lang="en-ID" smtClean="0"/>
              <a:t>6</a:t>
            </a:fld>
            <a:endParaRPr lang="en-ID"/>
          </a:p>
        </p:txBody>
      </p:sp>
    </p:spTree>
    <p:extLst>
      <p:ext uri="{BB962C8B-B14F-4D97-AF65-F5344CB8AC3E}">
        <p14:creationId xmlns:p14="http://schemas.microsoft.com/office/powerpoint/2010/main" val="2314501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可以在沒有事先存在的情況下按需實例化</a:t>
            </a:r>
            <a:r>
              <a:rPr lang="en-US" altLang="zh-TW" dirty="0"/>
              <a:t>VNF</a:t>
            </a:r>
            <a:r>
              <a:rPr lang="zh-TW" altLang="en-US" dirty="0"/>
              <a:t>實例。換句話說，只要有足夠的資源用於實例化，託管</a:t>
            </a:r>
            <a:r>
              <a:rPr lang="en-US" altLang="zh-TW" dirty="0"/>
              <a:t>VNF</a:t>
            </a:r>
            <a:r>
              <a:rPr lang="zh-TW" altLang="en-US" dirty="0"/>
              <a:t>實例的商品服務器的剩餘資源可以被視為潛在的</a:t>
            </a:r>
            <a:r>
              <a:rPr lang="en-US" altLang="zh-TW" dirty="0"/>
              <a:t>VNF</a:t>
            </a:r>
            <a:r>
              <a:rPr lang="zh-TW" altLang="en-US" dirty="0"/>
              <a:t>實例，這種實例化然後再選擇它 與只根據現有</a:t>
            </a:r>
            <a:r>
              <a:rPr lang="en-US" altLang="zh-TW" dirty="0"/>
              <a:t>VNF</a:t>
            </a:r>
            <a:r>
              <a:rPr lang="zh-TW" altLang="en-US" dirty="0"/>
              <a:t>實例的選擇不同，因為它會產生額外的啟動時間，額外的功耗，額外的操作活動等，這可以被視為運營支出（</a:t>
            </a:r>
            <a:r>
              <a:rPr lang="en-US" altLang="zh-TW" dirty="0"/>
              <a:t>OPEX</a:t>
            </a:r>
            <a:r>
              <a:rPr lang="zh-TW" altLang="en-US" dirty="0"/>
              <a:t>），</a:t>
            </a:r>
            <a:endParaRPr lang="en-US" altLang="zh-TW" dirty="0"/>
          </a:p>
          <a:p>
            <a:endParaRPr lang="en-US" altLang="zh-TW" dirty="0"/>
          </a:p>
          <a:p>
            <a:r>
              <a:rPr lang="zh-TW" altLang="en-US" dirty="0"/>
              <a:t>大</a:t>
            </a:r>
            <a:r>
              <a:rPr lang="en-US" altLang="zh-TW" dirty="0"/>
              <a:t>C</a:t>
            </a:r>
            <a:r>
              <a:rPr lang="zh-TW" altLang="en-US" dirty="0"/>
              <a:t>是符合要求條件的所有</a:t>
            </a:r>
            <a:r>
              <a:rPr lang="en-US" altLang="zh-TW" dirty="0"/>
              <a:t>SFC</a:t>
            </a:r>
          </a:p>
          <a:p>
            <a:endParaRPr lang="en-US" altLang="zh-TW" dirty="0"/>
          </a:p>
          <a:p>
            <a:r>
              <a:rPr lang="en-US" altLang="zh-TW" dirty="0"/>
              <a:t>F-SFC</a:t>
            </a:r>
            <a:r>
              <a:rPr lang="zh-TW" altLang="en-US" dirty="0"/>
              <a:t>在所有候選的</a:t>
            </a:r>
            <a:r>
              <a:rPr lang="en-US" altLang="zh-TW" dirty="0"/>
              <a:t>VNF</a:t>
            </a:r>
            <a:r>
              <a:rPr lang="zh-TW" altLang="en-US" dirty="0"/>
              <a:t>中挑選</a:t>
            </a:r>
            <a:r>
              <a:rPr lang="en-US" altLang="zh-TW" dirty="0" err="1"/>
              <a:t>QoE</a:t>
            </a:r>
            <a:r>
              <a:rPr lang="zh-TW" altLang="en-US" dirty="0"/>
              <a:t>最大的</a:t>
            </a:r>
          </a:p>
        </p:txBody>
      </p:sp>
      <p:sp>
        <p:nvSpPr>
          <p:cNvPr id="4" name="投影片編號版面配置區 3"/>
          <p:cNvSpPr>
            <a:spLocks noGrp="1"/>
          </p:cNvSpPr>
          <p:nvPr>
            <p:ph type="sldNum" sz="quarter" idx="5"/>
          </p:nvPr>
        </p:nvSpPr>
        <p:spPr/>
        <p:txBody>
          <a:bodyPr/>
          <a:lstStyle/>
          <a:p>
            <a:fld id="{08227324-3899-4D4D-AD61-B3F74C3D6C20}" type="slidenum">
              <a:rPr lang="en-ID" smtClean="0"/>
              <a:t>7</a:t>
            </a:fld>
            <a:endParaRPr lang="en-ID"/>
          </a:p>
        </p:txBody>
      </p:sp>
    </p:spTree>
    <p:extLst>
      <p:ext uri="{BB962C8B-B14F-4D97-AF65-F5344CB8AC3E}">
        <p14:creationId xmlns:p14="http://schemas.microsoft.com/office/powerpoint/2010/main" val="4252890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QoE</a:t>
            </a:r>
            <a:r>
              <a:rPr lang="en-US" altLang="zh-TW" dirty="0"/>
              <a:t>/QoS-aware SFC Orchestration (Q2-SFC) is the </a:t>
            </a:r>
            <a:r>
              <a:rPr lang="en-US" altLang="zh-TW" dirty="0" err="1"/>
              <a:t>QoE</a:t>
            </a:r>
            <a:r>
              <a:rPr lang="en-US" altLang="zh-TW" dirty="0"/>
              <a:t>-SFC that satisﬁes the QoS constraints of the SFC request.</a:t>
            </a:r>
          </a:p>
          <a:p>
            <a:endParaRPr lang="en-US" altLang="zh-TW" dirty="0"/>
          </a:p>
          <a:p>
            <a:r>
              <a:rPr lang="en-US" altLang="zh-TW" dirty="0"/>
              <a:t>1~K </a:t>
            </a:r>
            <a:r>
              <a:rPr lang="zh-TW" altLang="en-US" dirty="0"/>
              <a:t>的是代表</a:t>
            </a:r>
            <a:r>
              <a:rPr lang="en-US" altLang="zh-TW" dirty="0" err="1"/>
              <a:t>qos</a:t>
            </a:r>
            <a:r>
              <a:rPr lang="zh-TW" altLang="en-US" dirty="0"/>
              <a:t>的</a:t>
            </a:r>
            <a:r>
              <a:rPr lang="en-US" altLang="zh-TW" dirty="0"/>
              <a:t>positive matrix</a:t>
            </a:r>
            <a:r>
              <a:rPr lang="zh-TW" altLang="en-US" dirty="0"/>
              <a:t> 這邊的值越高越號</a:t>
            </a:r>
            <a:endParaRPr lang="en-US" altLang="zh-TW" dirty="0"/>
          </a:p>
          <a:p>
            <a:r>
              <a:rPr lang="en-US" altLang="zh-TW" dirty="0"/>
              <a:t>k+1~L</a:t>
            </a:r>
            <a:r>
              <a:rPr lang="zh-TW" altLang="en-US" dirty="0"/>
              <a:t>代表</a:t>
            </a:r>
            <a:r>
              <a:rPr lang="en-US" altLang="zh-TW" dirty="0" err="1"/>
              <a:t>qos</a:t>
            </a:r>
            <a:r>
              <a:rPr lang="en-US" altLang="zh-TW" dirty="0"/>
              <a:t> </a:t>
            </a:r>
            <a:r>
              <a:rPr lang="zh-TW" altLang="en-US" dirty="0"/>
              <a:t>的</a:t>
            </a:r>
            <a:r>
              <a:rPr lang="en-US" altLang="zh-TW" dirty="0"/>
              <a:t>negative</a:t>
            </a:r>
            <a:r>
              <a:rPr lang="zh-TW" altLang="en-US" dirty="0"/>
              <a:t> </a:t>
            </a:r>
            <a:r>
              <a:rPr lang="en-US" altLang="zh-TW" dirty="0"/>
              <a:t>matrix </a:t>
            </a:r>
            <a:r>
              <a:rPr lang="zh-TW" altLang="en-US" dirty="0"/>
              <a:t>這邊代表越低越好</a:t>
            </a:r>
          </a:p>
        </p:txBody>
      </p:sp>
      <p:sp>
        <p:nvSpPr>
          <p:cNvPr id="4" name="投影片編號版面配置區 3"/>
          <p:cNvSpPr>
            <a:spLocks noGrp="1"/>
          </p:cNvSpPr>
          <p:nvPr>
            <p:ph type="sldNum" sz="quarter" idx="5"/>
          </p:nvPr>
        </p:nvSpPr>
        <p:spPr/>
        <p:txBody>
          <a:bodyPr/>
          <a:lstStyle/>
          <a:p>
            <a:fld id="{08227324-3899-4D4D-AD61-B3F74C3D6C20}" type="slidenum">
              <a:rPr lang="en-ID" smtClean="0"/>
              <a:t>8</a:t>
            </a:fld>
            <a:endParaRPr lang="en-ID"/>
          </a:p>
        </p:txBody>
      </p:sp>
    </p:spTree>
    <p:extLst>
      <p:ext uri="{BB962C8B-B14F-4D97-AF65-F5344CB8AC3E}">
        <p14:creationId xmlns:p14="http://schemas.microsoft.com/office/powerpoint/2010/main" val="2339808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sng" kern="1200" dirty="0">
                    <a:solidFill>
                      <a:schemeClr val="tx1"/>
                    </a:solidFill>
                    <a:effectLst/>
                    <a:latin typeface="+mn-lt"/>
                    <a:ea typeface="+mn-ea"/>
                    <a:cs typeface="+mn-cs"/>
                    <a:hlinkClick r:id="rId3"/>
                  </a:rPr>
                  <a:t>韋伯</a:t>
                </a:r>
                <a:r>
                  <a:rPr lang="en-US" altLang="zh-TW" sz="1200" b="0" i="0" u="sng" kern="1200" dirty="0">
                    <a:solidFill>
                      <a:schemeClr val="tx1"/>
                    </a:solidFill>
                    <a:effectLst/>
                    <a:latin typeface="+mn-lt"/>
                    <a:ea typeface="+mn-ea"/>
                    <a:cs typeface="+mn-cs"/>
                    <a:hlinkClick r:id="rId3"/>
                  </a:rPr>
                  <a:t>-</a:t>
                </a:r>
                <a:r>
                  <a:rPr lang="zh-TW" altLang="en-US" sz="1200" b="0" i="0" u="sng" kern="1200" dirty="0">
                    <a:solidFill>
                      <a:schemeClr val="tx1"/>
                    </a:solidFill>
                    <a:effectLst/>
                    <a:latin typeface="+mn-lt"/>
                    <a:ea typeface="+mn-ea"/>
                    <a:cs typeface="+mn-cs"/>
                    <a:hlinkClick r:id="rId3"/>
                  </a:rPr>
                  <a:t>費希納定理</a:t>
                </a:r>
              </a:p>
              <a:p>
                <a:endParaRPr lang="en-US" altLang="zh-TW" dirty="0"/>
              </a:p>
              <a:p>
                <a:r>
                  <a:rPr lang="zh-TW" altLang="en-US" dirty="0"/>
                  <a:t>個人感受 是根據物體變化的比例而不是變化的絕對值</a:t>
                </a:r>
                <a:endParaRPr lang="en-US" altLang="zh-TW" dirty="0"/>
              </a:p>
              <a:p>
                <a:endParaRPr lang="en-US" altLang="zh-TW" dirty="0"/>
              </a:p>
              <a:p>
                <a14:m>
                  <m:oMath xmlns:m="http://schemas.openxmlformats.org/officeDocument/2006/math">
                    <m:r>
                      <m:rPr>
                        <m:sty m:val="p"/>
                      </m:rPr>
                      <a:rPr lang="zh-TW" altLang="en-US" smtClean="0">
                        <a:latin typeface="Cambria Math" panose="02040503050406030204" pitchFamily="18" charset="0"/>
                      </a:rPr>
                      <m:t>Δ</m:t>
                    </m:r>
                  </m:oMath>
                </a14:m>
                <a:r>
                  <a:rPr lang="en-US" altLang="zh-TW" dirty="0"/>
                  <a:t>S</a:t>
                </a:r>
                <a:r>
                  <a:rPr lang="zh-TW" altLang="en-US" dirty="0"/>
                  <a:t> 為</a:t>
                </a:r>
                <a:r>
                  <a:rPr lang="zh-TW" altLang="en-US" sz="1200" b="0" i="0" kern="1200" dirty="0">
                    <a:solidFill>
                      <a:schemeClr val="tx1"/>
                    </a:solidFill>
                    <a:effectLst/>
                    <a:latin typeface="+mn-lt"/>
                    <a:ea typeface="+mn-ea"/>
                    <a:cs typeface="+mn-cs"/>
                  </a:rPr>
                  <a:t>某東西實質變化 </a:t>
                </a:r>
                <a:endParaRPr lang="en-US" altLang="zh-TW" sz="1200" b="0" i="0" kern="1200" dirty="0">
                  <a:solidFill>
                    <a:schemeClr val="tx1"/>
                  </a:solidFill>
                  <a:effectLst/>
                  <a:latin typeface="+mn-lt"/>
                  <a:ea typeface="+mn-ea"/>
                  <a:cs typeface="+mn-cs"/>
                </a:endParaRPr>
              </a:p>
              <a:p>
                <a14:m>
                  <m:oMath xmlns:m="http://schemas.openxmlformats.org/officeDocument/2006/math">
                    <m:r>
                      <m:rPr>
                        <m:sty m:val="p"/>
                      </m:rPr>
                      <a:rPr lang="zh-TW" altLang="en-US" smtClean="0">
                        <a:latin typeface="Cambria Math" panose="02040503050406030204" pitchFamily="18" charset="0"/>
                      </a:rPr>
                      <m:t>Δ</m:t>
                    </m:r>
                  </m:oMath>
                </a14:m>
                <a:r>
                  <a:rPr lang="en-US" altLang="zh-TW" dirty="0"/>
                  <a:t>P</a:t>
                </a:r>
                <a:r>
                  <a:rPr lang="zh-TW" altLang="en-US" dirty="0"/>
                  <a:t>為</a:t>
                </a:r>
                <a:r>
                  <a:rPr lang="zh-TW" altLang="en-US" sz="1200" b="0" i="0" kern="1200" dirty="0">
                    <a:solidFill>
                      <a:schemeClr val="tx1"/>
                    </a:solidFill>
                    <a:effectLst/>
                    <a:latin typeface="+mn-lt"/>
                    <a:ea typeface="+mn-ea"/>
                    <a:cs typeface="+mn-cs"/>
                  </a:rPr>
                  <a:t>某東西的主觀的感覺變化</a:t>
                </a:r>
                <a:endParaRPr lang="en-US" altLang="zh-TW" sz="1200" b="0" i="0" kern="1200" dirty="0">
                  <a:solidFill>
                    <a:schemeClr val="tx1"/>
                  </a:solidFill>
                  <a:effectLst/>
                  <a:latin typeface="+mn-lt"/>
                  <a:ea typeface="+mn-ea"/>
                  <a:cs typeface="+mn-cs"/>
                </a:endParaRPr>
              </a:p>
              <a:p>
                <a:endParaRPr lang="zh-TW" altLang="en-US" dirty="0"/>
              </a:p>
            </p:txBody>
          </p:sp>
        </mc:Choice>
        <mc:Fallback>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sng" kern="1200" dirty="0">
                    <a:solidFill>
                      <a:schemeClr val="tx1"/>
                    </a:solidFill>
                    <a:effectLst/>
                    <a:latin typeface="+mn-lt"/>
                    <a:ea typeface="+mn-ea"/>
                    <a:cs typeface="+mn-cs"/>
                    <a:hlinkClick r:id="rId3"/>
                  </a:rPr>
                  <a:t>韋伯</a:t>
                </a:r>
                <a:r>
                  <a:rPr lang="en-US" altLang="zh-TW" sz="1200" b="0" i="0" u="sng" kern="1200" dirty="0">
                    <a:solidFill>
                      <a:schemeClr val="tx1"/>
                    </a:solidFill>
                    <a:effectLst/>
                    <a:latin typeface="+mn-lt"/>
                    <a:ea typeface="+mn-ea"/>
                    <a:cs typeface="+mn-cs"/>
                    <a:hlinkClick r:id="rId3"/>
                  </a:rPr>
                  <a:t>-</a:t>
                </a:r>
                <a:r>
                  <a:rPr lang="zh-TW" altLang="en-US" sz="1200" b="0" i="0" u="sng" kern="1200" dirty="0">
                    <a:solidFill>
                      <a:schemeClr val="tx1"/>
                    </a:solidFill>
                    <a:effectLst/>
                    <a:latin typeface="+mn-lt"/>
                    <a:ea typeface="+mn-ea"/>
                    <a:cs typeface="+mn-cs"/>
                    <a:hlinkClick r:id="rId3"/>
                  </a:rPr>
                  <a:t>費希納定理</a:t>
                </a:r>
              </a:p>
              <a:p>
                <a:endParaRPr lang="en-US" altLang="zh-TW" dirty="0"/>
              </a:p>
              <a:p>
                <a:r>
                  <a:rPr lang="zh-TW" altLang="en-US" dirty="0"/>
                  <a:t>個人感受 是根據物體變化的比例而不是變化的絕對值</a:t>
                </a:r>
                <a:endParaRPr lang="en-US" altLang="zh-TW" dirty="0"/>
              </a:p>
              <a:p>
                <a:endParaRPr lang="en-US" altLang="zh-TW" dirty="0"/>
              </a:p>
              <a:p>
                <a:r>
                  <a:rPr lang="zh-TW" altLang="en-US" i="0">
                    <a:latin typeface="Cambria Math" panose="02040503050406030204" pitchFamily="18" charset="0"/>
                  </a:rPr>
                  <a:t>Δ</a:t>
                </a:r>
                <a:r>
                  <a:rPr lang="en-US" altLang="zh-TW" dirty="0"/>
                  <a:t>S</a:t>
                </a:r>
                <a:r>
                  <a:rPr lang="zh-TW" altLang="en-US" dirty="0"/>
                  <a:t> 為</a:t>
                </a:r>
                <a:r>
                  <a:rPr lang="zh-TW" altLang="en-US" sz="1200" b="0" i="0" kern="1200" dirty="0">
                    <a:solidFill>
                      <a:schemeClr val="tx1"/>
                    </a:solidFill>
                    <a:effectLst/>
                    <a:latin typeface="+mn-lt"/>
                    <a:ea typeface="+mn-ea"/>
                    <a:cs typeface="+mn-cs"/>
                  </a:rPr>
                  <a:t>某東西實質變化 </a:t>
                </a:r>
                <a:endParaRPr lang="en-US" altLang="zh-TW" sz="1200" b="0" i="0" kern="1200" dirty="0">
                  <a:solidFill>
                    <a:schemeClr val="tx1"/>
                  </a:solidFill>
                  <a:effectLst/>
                  <a:latin typeface="+mn-lt"/>
                  <a:ea typeface="+mn-ea"/>
                  <a:cs typeface="+mn-cs"/>
                </a:endParaRPr>
              </a:p>
              <a:p>
                <a:r>
                  <a:rPr lang="zh-TW" altLang="en-US" i="0">
                    <a:latin typeface="Cambria Math" panose="02040503050406030204" pitchFamily="18" charset="0"/>
                  </a:rPr>
                  <a:t>Δ</a:t>
                </a:r>
                <a:r>
                  <a:rPr lang="en-US" altLang="zh-TW" dirty="0"/>
                  <a:t>P</a:t>
                </a:r>
                <a:r>
                  <a:rPr lang="zh-TW" altLang="en-US" dirty="0"/>
                  <a:t>為</a:t>
                </a:r>
                <a:r>
                  <a:rPr lang="zh-TW" altLang="en-US" sz="1200" b="0" i="0" kern="1200" dirty="0">
                    <a:solidFill>
                      <a:schemeClr val="tx1"/>
                    </a:solidFill>
                    <a:effectLst/>
                    <a:latin typeface="+mn-lt"/>
                    <a:ea typeface="+mn-ea"/>
                    <a:cs typeface="+mn-cs"/>
                  </a:rPr>
                  <a:t>某東西的主觀的感覺變化</a:t>
                </a:r>
                <a:endParaRPr lang="en-US" altLang="zh-TW" sz="1200" b="0" i="0" kern="1200" dirty="0">
                  <a:solidFill>
                    <a:schemeClr val="tx1"/>
                  </a:solidFill>
                  <a:effectLst/>
                  <a:latin typeface="+mn-lt"/>
                  <a:ea typeface="+mn-ea"/>
                  <a:cs typeface="+mn-cs"/>
                </a:endParaRPr>
              </a:p>
              <a:p>
                <a:endParaRPr lang="zh-TW" altLang="en-US" dirty="0"/>
              </a:p>
            </p:txBody>
          </p:sp>
        </mc:Fallback>
      </mc:AlternateContent>
      <p:sp>
        <p:nvSpPr>
          <p:cNvPr id="4" name="投影片編號版面配置區 3"/>
          <p:cNvSpPr>
            <a:spLocks noGrp="1"/>
          </p:cNvSpPr>
          <p:nvPr>
            <p:ph type="sldNum" sz="quarter" idx="5"/>
          </p:nvPr>
        </p:nvSpPr>
        <p:spPr/>
        <p:txBody>
          <a:bodyPr/>
          <a:lstStyle/>
          <a:p>
            <a:fld id="{08227324-3899-4D4D-AD61-B3F74C3D6C20}" type="slidenum">
              <a:rPr lang="en-ID" smtClean="0"/>
              <a:t>9</a:t>
            </a:fld>
            <a:endParaRPr lang="en-ID"/>
          </a:p>
        </p:txBody>
      </p:sp>
    </p:spTree>
    <p:extLst>
      <p:ext uri="{BB962C8B-B14F-4D97-AF65-F5344CB8AC3E}">
        <p14:creationId xmlns:p14="http://schemas.microsoft.com/office/powerpoint/2010/main" val="3532953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希臘字母代表不變的常數 但是超出本篇範圍 作者不講 要讀者有興趣自己看數學</a:t>
            </a:r>
            <a:r>
              <a:rPr lang="en-US" altLang="zh-TW" dirty="0"/>
              <a:t>paper</a:t>
            </a:r>
          </a:p>
          <a:p>
            <a:r>
              <a:rPr lang="en-US" altLang="zh-TW" dirty="0"/>
              <a:t>WFL: </a:t>
            </a:r>
            <a:r>
              <a:rPr lang="zh-TW" altLang="en-US" dirty="0"/>
              <a:t>原本用戶的頻寬只有</a:t>
            </a:r>
            <a:r>
              <a:rPr lang="en-US" altLang="zh-TW" dirty="0"/>
              <a:t>10mbps</a:t>
            </a:r>
            <a:r>
              <a:rPr lang="zh-TW" altLang="en-US" dirty="0"/>
              <a:t> 現在給他</a:t>
            </a:r>
            <a:r>
              <a:rPr lang="en-US" altLang="zh-TW" dirty="0"/>
              <a:t>20mbps </a:t>
            </a:r>
            <a:r>
              <a:rPr lang="zh-TW" altLang="en-US" dirty="0"/>
              <a:t>用戶感覺不出有兩倍差異，但當我妹直接給他</a:t>
            </a:r>
            <a:r>
              <a:rPr lang="en-US" altLang="zh-TW" dirty="0"/>
              <a:t>100mpbs</a:t>
            </a:r>
            <a:r>
              <a:rPr lang="zh-TW" altLang="en-US" dirty="0"/>
              <a:t>，用戶就能感受到明顯差別。</a:t>
            </a:r>
            <a:endParaRPr lang="en-US" altLang="zh-TW" dirty="0"/>
          </a:p>
          <a:p>
            <a:endParaRPr lang="en-US" altLang="zh-TW" dirty="0"/>
          </a:p>
          <a:p>
            <a:r>
              <a:rPr lang="en-US" altLang="zh-TW" dirty="0"/>
              <a:t>IQX:</a:t>
            </a:r>
            <a:r>
              <a:rPr lang="zh-TW" altLang="en-US" dirty="0"/>
              <a:t>因為</a:t>
            </a:r>
            <a:r>
              <a:rPr lang="en-US" altLang="zh-TW" dirty="0"/>
              <a:t>packet</a:t>
            </a:r>
            <a:r>
              <a:rPr lang="zh-TW" altLang="en-US" dirty="0"/>
              <a:t>丟失導致影片出現故障或暫停，會影響用戶體驗，可能造成他們不耐煩的去刷新網頁</a:t>
            </a:r>
            <a:endParaRPr lang="en-US" altLang="zh-TW" dirty="0"/>
          </a:p>
        </p:txBody>
      </p:sp>
      <p:sp>
        <p:nvSpPr>
          <p:cNvPr id="4" name="投影片編號版面配置區 3"/>
          <p:cNvSpPr>
            <a:spLocks noGrp="1"/>
          </p:cNvSpPr>
          <p:nvPr>
            <p:ph type="sldNum" sz="quarter" idx="5"/>
          </p:nvPr>
        </p:nvSpPr>
        <p:spPr/>
        <p:txBody>
          <a:bodyPr/>
          <a:lstStyle/>
          <a:p>
            <a:fld id="{08227324-3899-4D4D-AD61-B3F74C3D6C20}" type="slidenum">
              <a:rPr lang="en-ID" smtClean="0"/>
              <a:t>10</a:t>
            </a:fld>
            <a:endParaRPr lang="en-ID"/>
          </a:p>
        </p:txBody>
      </p:sp>
    </p:spTree>
    <p:extLst>
      <p:ext uri="{BB962C8B-B14F-4D97-AF65-F5344CB8AC3E}">
        <p14:creationId xmlns:p14="http://schemas.microsoft.com/office/powerpoint/2010/main" val="2641187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有兩種策略來選擇</a:t>
            </a:r>
            <a:r>
              <a:rPr lang="en-US" altLang="zh-TW" dirty="0"/>
              <a:t>VNF</a:t>
            </a:r>
            <a:r>
              <a:rPr lang="zh-TW" altLang="en-US" dirty="0"/>
              <a:t>實例：</a:t>
            </a:r>
            <a:r>
              <a:rPr lang="en-US" altLang="zh-TW" dirty="0"/>
              <a:t>1</a:t>
            </a:r>
            <a:r>
              <a:rPr lang="zh-TW" altLang="en-US" dirty="0"/>
              <a:t>）它可能更喜歡選擇尚未執行的新</a:t>
            </a:r>
            <a:r>
              <a:rPr lang="en-US" altLang="zh-TW" dirty="0"/>
              <a:t>VNF</a:t>
            </a:r>
            <a:r>
              <a:rPr lang="zh-TW" altLang="en-US" dirty="0"/>
              <a:t>實例，增強對網絡情況（即探索）的感知並提高它們的概率 做出最佳決策</a:t>
            </a:r>
            <a:r>
              <a:rPr lang="en-US" altLang="zh-TW" dirty="0"/>
              <a:t>; </a:t>
            </a:r>
            <a:r>
              <a:rPr lang="zh-TW" altLang="en-US" dirty="0"/>
              <a:t>或者</a:t>
            </a:r>
            <a:r>
              <a:rPr lang="en-US" altLang="zh-TW" dirty="0"/>
              <a:t>2</a:t>
            </a:r>
            <a:r>
              <a:rPr lang="zh-TW" altLang="en-US" dirty="0"/>
              <a:t>）它還可能更喜歡根據當前網絡情況重複選擇當前已知的最佳</a:t>
            </a:r>
            <a:r>
              <a:rPr lang="en-US" altLang="zh-TW" dirty="0"/>
              <a:t>VNF</a:t>
            </a:r>
            <a:r>
              <a:rPr lang="zh-TW" altLang="en-US" dirty="0"/>
              <a:t>實例，並用相對保守的方法獲得最大已知回報 </a:t>
            </a:r>
            <a:endParaRPr lang="en-US" altLang="zh-TW" dirty="0"/>
          </a:p>
          <a:p>
            <a:r>
              <a:rPr lang="zh-TW" altLang="en-US" dirty="0"/>
              <a:t>而過度開採可能會失去發現更好的替代方案的機會</a:t>
            </a:r>
            <a:r>
              <a:rPr lang="en-US" altLang="zh-TW" dirty="0"/>
              <a:t>; </a:t>
            </a:r>
            <a:r>
              <a:rPr lang="zh-TW" altLang="en-US" dirty="0"/>
              <a:t>同時，可用資源也可能因過度利用而耗盡（例如，某些節點可能過載）。</a:t>
            </a:r>
          </a:p>
        </p:txBody>
      </p:sp>
      <p:sp>
        <p:nvSpPr>
          <p:cNvPr id="4" name="投影片編號版面配置區 3"/>
          <p:cNvSpPr>
            <a:spLocks noGrp="1"/>
          </p:cNvSpPr>
          <p:nvPr>
            <p:ph type="sldNum" sz="quarter" idx="5"/>
          </p:nvPr>
        </p:nvSpPr>
        <p:spPr/>
        <p:txBody>
          <a:bodyPr/>
          <a:lstStyle/>
          <a:p>
            <a:fld id="{08227324-3899-4D4D-AD61-B3F74C3D6C20}" type="slidenum">
              <a:rPr lang="en-ID" smtClean="0"/>
              <a:t>11</a:t>
            </a:fld>
            <a:endParaRPr lang="en-ID"/>
          </a:p>
        </p:txBody>
      </p:sp>
    </p:spTree>
    <p:extLst>
      <p:ext uri="{BB962C8B-B14F-4D97-AF65-F5344CB8AC3E}">
        <p14:creationId xmlns:p14="http://schemas.microsoft.com/office/powerpoint/2010/main" val="1906522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epsilon-Greedy</a:t>
            </a:r>
            <a:r>
              <a:rPr lang="zh-TW" altLang="en-US" sz="1200" b="0" i="0" kern="1200" dirty="0">
                <a:solidFill>
                  <a:schemeClr val="tx1"/>
                </a:solidFill>
                <a:effectLst/>
                <a:latin typeface="+mn-lt"/>
                <a:ea typeface="+mn-ea"/>
                <a:cs typeface="+mn-cs"/>
              </a:rPr>
              <a:t>算法（</a:t>
            </a:r>
            <a:r>
              <a:rPr lang="el-GR" altLang="zh-TW" sz="1200" b="0" i="0" u="none" strike="noStrike" kern="1200" dirty="0">
                <a:solidFill>
                  <a:schemeClr val="tx1"/>
                </a:solidFill>
                <a:effectLst/>
                <a:latin typeface="+mn-lt"/>
                <a:ea typeface="+mn-ea"/>
                <a:cs typeface="+mn-cs"/>
              </a:rPr>
              <a:t>ϵ</a:t>
            </a:r>
            <a:r>
              <a:rPr lang="el-GR"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贪婪算法）算是</a:t>
            </a:r>
            <a:r>
              <a:rPr lang="en-US" altLang="zh-TW" sz="1200" b="0" i="0" kern="1200" dirty="0">
                <a:solidFill>
                  <a:schemeClr val="tx1"/>
                </a:solidFill>
                <a:effectLst/>
                <a:latin typeface="+mn-lt"/>
                <a:ea typeface="+mn-ea"/>
                <a:cs typeface="+mn-cs"/>
              </a:rPr>
              <a:t>MBA(Multiarmed Bandit Algorithms)</a:t>
            </a:r>
            <a:r>
              <a:rPr lang="zh-TW" altLang="en-US" sz="1200" b="0" i="0" kern="1200" dirty="0">
                <a:solidFill>
                  <a:schemeClr val="tx1"/>
                </a:solidFill>
                <a:effectLst/>
                <a:latin typeface="+mn-lt"/>
                <a:ea typeface="+mn-ea"/>
                <a:cs typeface="+mn-cs"/>
              </a:rPr>
              <a:t>算法中最简单的一种，</a:t>
            </a:r>
            <a:endParaRPr lang="en-US" altLang="zh-TW" sz="1200" b="0" i="0" kern="1200" dirty="0">
              <a:solidFill>
                <a:schemeClr val="tx1"/>
              </a:solidFill>
              <a:effectLst/>
              <a:latin typeface="+mn-lt"/>
              <a:ea typeface="+mn-ea"/>
              <a:cs typeface="+mn-cs"/>
            </a:endParaRPr>
          </a:p>
          <a:p>
            <a:r>
              <a:rPr lang="zh-CN" altLang="en-US" dirty="0"/>
              <a:t>现在假如你面前有</a:t>
            </a:r>
            <a:r>
              <a:rPr lang="en-US" altLang="zh-CN" dirty="0"/>
              <a:t>n</a:t>
            </a:r>
            <a:r>
              <a:rPr lang="zh-CN" altLang="en-US" dirty="0"/>
              <a:t>台老虎机，每台老虎机吐钱的概率不一样。你并不清楚每台老虎机的吐钱的概率分布。那么，如果你想要最大化收益，你该怎么办呢？ 通常来说，你内心可能有两种好的决策：</a:t>
            </a:r>
            <a:r>
              <a:rPr lang="en-US" altLang="zh-CN" dirty="0"/>
              <a:t>1</a:t>
            </a:r>
            <a:r>
              <a:rPr lang="zh-CN" altLang="en-US" dirty="0"/>
              <a:t>、找到某一台收益还不错的老虎机，然后坚持摇这台老虎机；</a:t>
            </a:r>
            <a:r>
              <a:rPr lang="en-US" altLang="zh-CN" dirty="0"/>
              <a:t>2</a:t>
            </a:r>
            <a:r>
              <a:rPr lang="zh-CN" altLang="en-US" dirty="0"/>
              <a:t>、不断尝试探索新的老虎机。这个探索的过程中，可能发现更好的老虎机，当然也要承担摇差的老虎机带来损失的风险。显然，第一种对应的就是“</a:t>
            </a:r>
            <a:r>
              <a:rPr lang="en-US" altLang="zh-CN" dirty="0"/>
              <a:t>exploit”</a:t>
            </a:r>
            <a:r>
              <a:rPr lang="zh-CN" altLang="en-US" dirty="0"/>
              <a:t>，第二种对应“</a:t>
            </a:r>
            <a:r>
              <a:rPr lang="en-US" altLang="zh-CN" dirty="0"/>
              <a:t>explore”</a:t>
            </a:r>
            <a:r>
              <a:rPr lang="zh-CN" altLang="en-US" dirty="0"/>
              <a:t>，而</a:t>
            </a:r>
            <a:r>
              <a:rPr lang="en-US" altLang="zh-CN" dirty="0"/>
              <a:t>bandit</a:t>
            </a:r>
            <a:r>
              <a:rPr lang="zh-CN" altLang="en-US" dirty="0"/>
              <a:t>算法就是要解决这种问题，实现最大化收益。</a:t>
            </a:r>
            <a:endParaRPr lang="en-US" altLang="zh-CN" dirty="0"/>
          </a:p>
          <a:p>
            <a:r>
              <a:rPr lang="zh-CN" altLang="en-US" sz="1200" b="0" i="0" kern="1200" dirty="0">
                <a:solidFill>
                  <a:schemeClr val="tx1"/>
                </a:solidFill>
                <a:effectLst/>
                <a:latin typeface="+mn-lt"/>
                <a:ea typeface="+mn-ea"/>
                <a:cs typeface="+mn-cs"/>
              </a:rPr>
              <a:t>纯粹贪婪的算法，放到这种多臂老虎机的场景来看就是每次都选择当前那个最好的臂摇，即使从长远来看可能非常不好。</a:t>
            </a:r>
            <a:endParaRPr lang="en-US" altLang="zh-CN" sz="1200" b="0" i="0" kern="1200" dirty="0">
              <a:solidFill>
                <a:schemeClr val="tx1"/>
              </a:solidFill>
              <a:effectLst/>
              <a:latin typeface="+mn-lt"/>
              <a:ea typeface="+mn-ea"/>
              <a:cs typeface="+mn-cs"/>
            </a:endParaRPr>
          </a:p>
          <a:p>
            <a:r>
              <a:rPr lang="zh-CN" altLang="en-US" dirty="0"/>
              <a:t>区别仅仅就在这个</a:t>
            </a:r>
            <a:r>
              <a:rPr lang="en-US" altLang="zh-CN" dirty="0"/>
              <a:t>ϵ</a:t>
            </a:r>
            <a:r>
              <a:rPr lang="zh-CN" altLang="en-US" dirty="0"/>
              <a:t>。这个</a:t>
            </a:r>
            <a:r>
              <a:rPr lang="en-US" altLang="zh-CN" dirty="0"/>
              <a:t>ϵ</a:t>
            </a:r>
            <a:r>
              <a:rPr lang="zh-CN" altLang="en-US" dirty="0"/>
              <a:t>代表执行执行“探索”的概率。比如设置</a:t>
            </a:r>
            <a:r>
              <a:rPr lang="en-US" altLang="zh-CN" dirty="0"/>
              <a:t>ϵϵ=0.1</a:t>
            </a:r>
            <a:r>
              <a:rPr lang="zh-CN" altLang="en-US" dirty="0"/>
              <a:t>，那么就表示有</a:t>
            </a:r>
            <a:r>
              <a:rPr lang="en-US" altLang="zh-CN" dirty="0"/>
              <a:t>10%</a:t>
            </a:r>
            <a:r>
              <a:rPr lang="zh-CN" altLang="en-US" dirty="0"/>
              <a:t>的概率会进行“探索”操作，而</a:t>
            </a:r>
            <a:r>
              <a:rPr lang="en-US" altLang="zh-CN" dirty="0"/>
              <a:t>90%</a:t>
            </a:r>
            <a:r>
              <a:rPr lang="zh-CN" altLang="en-US" dirty="0"/>
              <a:t>会进行“利用”操作，也就是摇当前最好的臂。如果以摇老虎机臂的过程，用次数来算的话，也就是，每</a:t>
            </a:r>
            <a:r>
              <a:rPr lang="en-US" altLang="zh-CN" dirty="0"/>
              <a:t>10</a:t>
            </a:r>
            <a:r>
              <a:rPr lang="zh-CN" altLang="en-US" dirty="0"/>
              <a:t>次操作，仅有</a:t>
            </a:r>
            <a:r>
              <a:rPr lang="en-US" altLang="zh-CN" dirty="0"/>
              <a:t>1</a:t>
            </a:r>
            <a:r>
              <a:rPr lang="zh-CN" altLang="en-US" dirty="0"/>
              <a:t>次操作去进行探索</a:t>
            </a:r>
            <a:r>
              <a:rPr lang="en-US" altLang="zh-CN" dirty="0"/>
              <a:t>——</a:t>
            </a:r>
            <a:r>
              <a:rPr lang="zh-CN" altLang="en-US" dirty="0"/>
              <a:t>尝试其他的臂。</a:t>
            </a:r>
          </a:p>
        </p:txBody>
      </p:sp>
      <p:sp>
        <p:nvSpPr>
          <p:cNvPr id="4" name="投影片編號版面配置區 3"/>
          <p:cNvSpPr>
            <a:spLocks noGrp="1"/>
          </p:cNvSpPr>
          <p:nvPr>
            <p:ph type="sldNum" sz="quarter" idx="5"/>
          </p:nvPr>
        </p:nvSpPr>
        <p:spPr/>
        <p:txBody>
          <a:bodyPr/>
          <a:lstStyle/>
          <a:p>
            <a:fld id="{08227324-3899-4D4D-AD61-B3F74C3D6C20}" type="slidenum">
              <a:rPr lang="en-ID" smtClean="0"/>
              <a:t>12</a:t>
            </a:fld>
            <a:endParaRPr lang="en-ID"/>
          </a:p>
        </p:txBody>
      </p:sp>
    </p:spTree>
    <p:extLst>
      <p:ext uri="{BB962C8B-B14F-4D97-AF65-F5344CB8AC3E}">
        <p14:creationId xmlns:p14="http://schemas.microsoft.com/office/powerpoint/2010/main" val="2283959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使用</a:t>
            </a:r>
            <a:r>
              <a:rPr lang="en-US" altLang="zh-TW" dirty="0"/>
              <a:t>e-greedy</a:t>
            </a:r>
            <a:r>
              <a:rPr lang="zh-TW" altLang="en-US" dirty="0"/>
              <a:t>來接一個</a:t>
            </a:r>
            <a:r>
              <a:rPr lang="en-US" altLang="zh-TW" dirty="0"/>
              <a:t>instance</a:t>
            </a:r>
            <a:r>
              <a:rPr lang="zh-TW" altLang="en-US" dirty="0"/>
              <a:t>，</a:t>
            </a:r>
            <a:endParaRPr lang="en-US" altLang="zh-TW" dirty="0"/>
          </a:p>
          <a:p>
            <a:r>
              <a:rPr lang="zh-TW" altLang="en-US" dirty="0"/>
              <a:t>觀察在</a:t>
            </a:r>
            <a:r>
              <a:rPr lang="en-US" altLang="zh-TW" dirty="0"/>
              <a:t>LLDP</a:t>
            </a:r>
            <a:r>
              <a:rPr lang="zh-TW" altLang="en-US" dirty="0"/>
              <a:t>上的</a:t>
            </a:r>
            <a:r>
              <a:rPr lang="en-US" altLang="zh-TW" dirty="0"/>
              <a:t>QoS state and reward</a:t>
            </a:r>
            <a:r>
              <a:rPr lang="zh-TW" altLang="en-US" dirty="0"/>
              <a:t>，</a:t>
            </a:r>
            <a:endParaRPr lang="en-US" altLang="zh-TW" dirty="0"/>
          </a:p>
          <a:p>
            <a:r>
              <a:rPr lang="zh-TW" altLang="en-US" dirty="0"/>
              <a:t>直到</a:t>
            </a:r>
            <a:r>
              <a:rPr lang="en-US" altLang="zh-TW" dirty="0"/>
              <a:t>state</a:t>
            </a:r>
            <a:r>
              <a:rPr lang="zh-TW" altLang="en-US" dirty="0"/>
              <a:t>為</a:t>
            </a:r>
            <a:r>
              <a:rPr lang="en-US" altLang="zh-TW" dirty="0"/>
              <a:t>terminal state </a:t>
            </a:r>
          </a:p>
          <a:p>
            <a:r>
              <a:rPr lang="zh-TW" altLang="en-US" dirty="0"/>
              <a:t>最後再梯度下降更新</a:t>
            </a:r>
            <a:r>
              <a:rPr lang="en-US" altLang="zh-TW" dirty="0"/>
              <a:t>Q-table</a:t>
            </a:r>
            <a:endParaRPr lang="zh-TW" altLang="en-US" dirty="0"/>
          </a:p>
        </p:txBody>
      </p:sp>
      <p:sp>
        <p:nvSpPr>
          <p:cNvPr id="4" name="投影片編號版面配置區 3"/>
          <p:cNvSpPr>
            <a:spLocks noGrp="1"/>
          </p:cNvSpPr>
          <p:nvPr>
            <p:ph type="sldNum" sz="quarter" idx="5"/>
          </p:nvPr>
        </p:nvSpPr>
        <p:spPr/>
        <p:txBody>
          <a:bodyPr/>
          <a:lstStyle/>
          <a:p>
            <a:fld id="{08227324-3899-4D4D-AD61-B3F74C3D6C20}" type="slidenum">
              <a:rPr lang="en-ID" smtClean="0"/>
              <a:t>13</a:t>
            </a:fld>
            <a:endParaRPr lang="en-ID"/>
          </a:p>
        </p:txBody>
      </p:sp>
    </p:spTree>
    <p:extLst>
      <p:ext uri="{BB962C8B-B14F-4D97-AF65-F5344CB8AC3E}">
        <p14:creationId xmlns:p14="http://schemas.microsoft.com/office/powerpoint/2010/main" val="3979210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實驗目的是比較它們在</a:t>
            </a:r>
            <a:r>
              <a:rPr lang="en-US" altLang="zh-TW" dirty="0" err="1"/>
              <a:t>QoE</a:t>
            </a:r>
            <a:r>
              <a:rPr lang="zh-TW" altLang="en-US" dirty="0"/>
              <a:t>配置，</a:t>
            </a:r>
            <a:r>
              <a:rPr lang="en-US" altLang="zh-TW" dirty="0"/>
              <a:t>QoS constraint</a:t>
            </a:r>
            <a:r>
              <a:rPr lang="zh-TW" altLang="en-US" dirty="0"/>
              <a:t>，響應時間等方面的性能</a:t>
            </a:r>
            <a:endParaRPr lang="en-US" altLang="zh-TW" dirty="0"/>
          </a:p>
          <a:p>
            <a:r>
              <a:rPr lang="en-US" altLang="zh-TW" dirty="0" err="1"/>
              <a:t>QoE</a:t>
            </a:r>
            <a:r>
              <a:rPr lang="zh-TW" altLang="en-US" dirty="0"/>
              <a:t>有隨著時間慢慢增加</a:t>
            </a:r>
          </a:p>
        </p:txBody>
      </p:sp>
      <p:sp>
        <p:nvSpPr>
          <p:cNvPr id="4" name="投影片編號版面配置區 3"/>
          <p:cNvSpPr>
            <a:spLocks noGrp="1"/>
          </p:cNvSpPr>
          <p:nvPr>
            <p:ph type="sldNum" sz="quarter" idx="5"/>
          </p:nvPr>
        </p:nvSpPr>
        <p:spPr/>
        <p:txBody>
          <a:bodyPr/>
          <a:lstStyle/>
          <a:p>
            <a:fld id="{08227324-3899-4D4D-AD61-B3F74C3D6C20}" type="slidenum">
              <a:rPr lang="en-ID" smtClean="0"/>
              <a:t>15</a:t>
            </a:fld>
            <a:endParaRPr lang="en-ID"/>
          </a:p>
        </p:txBody>
      </p:sp>
    </p:spTree>
    <p:extLst>
      <p:ext uri="{BB962C8B-B14F-4D97-AF65-F5344CB8AC3E}">
        <p14:creationId xmlns:p14="http://schemas.microsoft.com/office/powerpoint/2010/main" val="4090258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實驗目的是比較它們在</a:t>
            </a:r>
            <a:r>
              <a:rPr lang="en-US" altLang="zh-TW" dirty="0" err="1"/>
              <a:t>QoE</a:t>
            </a:r>
            <a:r>
              <a:rPr lang="zh-TW" altLang="en-US" dirty="0"/>
              <a:t>配置，</a:t>
            </a:r>
            <a:r>
              <a:rPr lang="en-US" altLang="zh-TW" dirty="0"/>
              <a:t>QoS</a:t>
            </a:r>
            <a:r>
              <a:rPr lang="zh-TW" altLang="en-US" dirty="0"/>
              <a:t> </a:t>
            </a:r>
            <a:r>
              <a:rPr lang="en-US" altLang="zh-TW" dirty="0"/>
              <a:t>constraint</a:t>
            </a:r>
            <a:r>
              <a:rPr lang="zh-TW" altLang="en-US" dirty="0"/>
              <a:t>，響應時間等方面的性能</a:t>
            </a:r>
            <a:endParaRPr lang="en-US" altLang="zh-TW" dirty="0"/>
          </a:p>
          <a:p>
            <a:r>
              <a:rPr lang="en-US" altLang="zh-TW" dirty="0" err="1"/>
              <a:t>QoE</a:t>
            </a:r>
            <a:r>
              <a:rPr lang="zh-TW" altLang="en-US" dirty="0"/>
              <a:t>有隨著時間慢慢增加</a:t>
            </a:r>
            <a:endParaRPr lang="en-US" altLang="zh-TW" dirty="0"/>
          </a:p>
          <a:p>
            <a:r>
              <a:rPr lang="en-US" altLang="zh-TW" dirty="0"/>
              <a:t>Error</a:t>
            </a:r>
            <a:r>
              <a:rPr lang="zh-TW" altLang="en-US" dirty="0"/>
              <a:t>有隨著時間慢慢減少</a:t>
            </a:r>
          </a:p>
        </p:txBody>
      </p:sp>
      <p:sp>
        <p:nvSpPr>
          <p:cNvPr id="4" name="投影片編號版面配置區 3"/>
          <p:cNvSpPr>
            <a:spLocks noGrp="1"/>
          </p:cNvSpPr>
          <p:nvPr>
            <p:ph type="sldNum" sz="quarter" idx="5"/>
          </p:nvPr>
        </p:nvSpPr>
        <p:spPr/>
        <p:txBody>
          <a:bodyPr/>
          <a:lstStyle/>
          <a:p>
            <a:fld id="{08227324-3899-4D4D-AD61-B3F74C3D6C20}" type="slidenum">
              <a:rPr lang="en-ID" smtClean="0"/>
              <a:t>16</a:t>
            </a:fld>
            <a:endParaRPr lang="en-ID"/>
          </a:p>
        </p:txBody>
      </p:sp>
    </p:spTree>
    <p:extLst>
      <p:ext uri="{BB962C8B-B14F-4D97-AF65-F5344CB8AC3E}">
        <p14:creationId xmlns:p14="http://schemas.microsoft.com/office/powerpoint/2010/main" val="800753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Response time</a:t>
            </a:r>
            <a:r>
              <a:rPr lang="zh-TW" altLang="en-US" dirty="0"/>
              <a:t>就是請求一條可以使用的通道所耗費的時間</a:t>
            </a:r>
            <a:r>
              <a:rPr lang="en-US" altLang="zh-TW" dirty="0"/>
              <a:t>:</a:t>
            </a:r>
          </a:p>
          <a:p>
            <a:endParaRPr lang="en-US" altLang="zh-TW" dirty="0"/>
          </a:p>
          <a:p>
            <a:r>
              <a:rPr lang="zh-TW" altLang="en-US" dirty="0"/>
              <a:t>隨機搜索 最快 </a:t>
            </a:r>
            <a:endParaRPr lang="en-US" altLang="zh-TW" dirty="0"/>
          </a:p>
          <a:p>
            <a:endParaRPr lang="en-US" altLang="zh-TW" dirty="0"/>
          </a:p>
          <a:p>
            <a:r>
              <a:rPr lang="zh-TW" altLang="en-US" dirty="0"/>
              <a:t>暴力搜索算法最慢 因為要找出一條最好的</a:t>
            </a:r>
            <a:endParaRPr lang="en-US" altLang="zh-TW" dirty="0"/>
          </a:p>
          <a:p>
            <a:endParaRPr lang="en-US" altLang="zh-TW" dirty="0"/>
          </a:p>
          <a:p>
            <a:r>
              <a:rPr lang="en-US" altLang="zh-TW" dirty="0"/>
              <a:t>DQN</a:t>
            </a:r>
            <a:r>
              <a:rPr lang="zh-TW" altLang="en-US" dirty="0"/>
              <a:t>則在兩者之間</a:t>
            </a:r>
          </a:p>
        </p:txBody>
      </p:sp>
      <p:sp>
        <p:nvSpPr>
          <p:cNvPr id="4" name="投影片編號版面配置區 3"/>
          <p:cNvSpPr>
            <a:spLocks noGrp="1"/>
          </p:cNvSpPr>
          <p:nvPr>
            <p:ph type="sldNum" sz="quarter" idx="5"/>
          </p:nvPr>
        </p:nvSpPr>
        <p:spPr/>
        <p:txBody>
          <a:bodyPr/>
          <a:lstStyle/>
          <a:p>
            <a:fld id="{08227324-3899-4D4D-AD61-B3F74C3D6C20}" type="slidenum">
              <a:rPr lang="en-ID" smtClean="0"/>
              <a:t>17</a:t>
            </a:fld>
            <a:endParaRPr lang="en-ID"/>
          </a:p>
        </p:txBody>
      </p:sp>
    </p:spTree>
    <p:extLst>
      <p:ext uri="{BB962C8B-B14F-4D97-AF65-F5344CB8AC3E}">
        <p14:creationId xmlns:p14="http://schemas.microsoft.com/office/powerpoint/2010/main" val="4068976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基於</a:t>
            </a:r>
            <a:r>
              <a:rPr lang="en-US" altLang="zh-TW" dirty="0"/>
              <a:t>DQN</a:t>
            </a:r>
            <a:r>
              <a:rPr lang="zh-TW" altLang="en-US" dirty="0"/>
              <a:t>的</a:t>
            </a:r>
            <a:r>
              <a:rPr lang="en-US" altLang="zh-TW" dirty="0"/>
              <a:t>SFC</a:t>
            </a:r>
            <a:r>
              <a:rPr lang="zh-TW" altLang="en-US" dirty="0"/>
              <a:t>算法，它綜合考慮</a:t>
            </a:r>
            <a:r>
              <a:rPr lang="en-US" altLang="zh-TW" dirty="0"/>
              <a:t>QoS</a:t>
            </a:r>
            <a:r>
              <a:rPr lang="zh-TW" altLang="en-US" dirty="0"/>
              <a:t>和</a:t>
            </a:r>
            <a:r>
              <a:rPr lang="en-US" altLang="zh-TW" dirty="0" err="1"/>
              <a:t>QoE</a:t>
            </a:r>
            <a:r>
              <a:rPr lang="zh-TW" altLang="en-US" dirty="0"/>
              <a:t>作為製定獎勵的關鍵要素。實驗表明，它適用於</a:t>
            </a:r>
            <a:r>
              <a:rPr lang="en-US" altLang="zh-TW" dirty="0"/>
              <a:t>5</a:t>
            </a:r>
            <a:r>
              <a:rPr lang="zh-TW" altLang="en-US" dirty="0"/>
              <a:t>個核心網的動態</a:t>
            </a:r>
            <a:r>
              <a:rPr lang="en-US" altLang="zh-TW" dirty="0"/>
              <a:t>QoS</a:t>
            </a:r>
            <a:r>
              <a:rPr lang="zh-TW" altLang="en-US" dirty="0"/>
              <a:t>環境中的服務功能鏈。在實際場景中服務功能鏈可能涉及跨切片網絡功能，這可能會引入分層編排設計。</a:t>
            </a:r>
          </a:p>
        </p:txBody>
      </p:sp>
      <p:sp>
        <p:nvSpPr>
          <p:cNvPr id="4" name="投影片編號版面配置區 3"/>
          <p:cNvSpPr>
            <a:spLocks noGrp="1"/>
          </p:cNvSpPr>
          <p:nvPr>
            <p:ph type="sldNum" sz="quarter" idx="5"/>
          </p:nvPr>
        </p:nvSpPr>
        <p:spPr/>
        <p:txBody>
          <a:bodyPr/>
          <a:lstStyle/>
          <a:p>
            <a:fld id="{08227324-3899-4D4D-AD61-B3F74C3D6C20}" type="slidenum">
              <a:rPr lang="en-ID" smtClean="0"/>
              <a:t>18</a:t>
            </a:fld>
            <a:endParaRPr lang="en-ID"/>
          </a:p>
        </p:txBody>
      </p:sp>
    </p:spTree>
    <p:extLst>
      <p:ext uri="{BB962C8B-B14F-4D97-AF65-F5344CB8AC3E}">
        <p14:creationId xmlns:p14="http://schemas.microsoft.com/office/powerpoint/2010/main" val="35720739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912C2A-B22B-448F-A288-E021474BDDEC}"/>
              </a:ext>
            </a:extLst>
          </p:cNvPr>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0" name="Straight Connector 9">
            <a:extLst>
              <a:ext uri="{FF2B5EF4-FFF2-40B4-BE49-F238E27FC236}">
                <a16:creationId xmlns:a16="http://schemas.microsoft.com/office/drawing/2014/main" id="{059979A1-D35F-4ABE-8D4D-983F14280482}"/>
              </a:ext>
            </a:extLst>
          </p:cNvPr>
          <p:cNvCxnSpPr>
            <a:cxnSpLocks/>
          </p:cNvCxnSpPr>
          <p:nvPr userDrawn="1"/>
        </p:nvCxnSpPr>
        <p:spPr>
          <a:xfrm>
            <a:off x="6711043" y="4895580"/>
            <a:ext cx="657910"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1C9CA36-D0B5-4D38-9A4A-0B73D73C9B9A}"/>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35690" t="44951" r="29720" b="44305"/>
          <a:stretch/>
        </p:blipFill>
        <p:spPr>
          <a:xfrm>
            <a:off x="6711043" y="2836636"/>
            <a:ext cx="1188357" cy="376464"/>
          </a:xfrm>
          <a:prstGeom prst="rect">
            <a:avLst/>
          </a:prstGeom>
          <a:effectLst/>
        </p:spPr>
      </p:pic>
      <p:sp>
        <p:nvSpPr>
          <p:cNvPr id="2" name="Title 1">
            <a:extLst>
              <a:ext uri="{FF2B5EF4-FFF2-40B4-BE49-F238E27FC236}">
                <a16:creationId xmlns:a16="http://schemas.microsoft.com/office/drawing/2014/main" id="{975F67BC-FC64-4CB9-8A47-C7ECDE86A7C6}"/>
              </a:ext>
            </a:extLst>
          </p:cNvPr>
          <p:cNvSpPr>
            <a:spLocks noGrp="1"/>
          </p:cNvSpPr>
          <p:nvPr>
            <p:ph type="ctrTitle"/>
          </p:nvPr>
        </p:nvSpPr>
        <p:spPr>
          <a:xfrm>
            <a:off x="6711042" y="3438520"/>
            <a:ext cx="4871357" cy="1329595"/>
          </a:xfrm>
        </p:spPr>
        <p:txBody>
          <a:bodyPr vert="horz" wrap="square" lIns="0" tIns="0" rIns="0" bIns="0" rtlCol="0" anchor="ctr">
            <a:spAutoFit/>
          </a:bodyPr>
          <a:lstStyle>
            <a:lvl1pPr>
              <a:defRPr lang="en-ID" sz="4800">
                <a:solidFill>
                  <a:schemeClr val="bg1"/>
                </a:solidFill>
              </a:defRPr>
            </a:lvl1pPr>
          </a:lstStyle>
          <a:p>
            <a:pPr marL="0" lvl="0"/>
            <a:r>
              <a:rPr lang="en-US" dirty="0"/>
              <a:t>Click to edit Master title style</a:t>
            </a:r>
            <a:endParaRPr lang="en-ID" dirty="0"/>
          </a:p>
        </p:txBody>
      </p:sp>
      <p:sp>
        <p:nvSpPr>
          <p:cNvPr id="3" name="Subtitle 2">
            <a:extLst>
              <a:ext uri="{FF2B5EF4-FFF2-40B4-BE49-F238E27FC236}">
                <a16:creationId xmlns:a16="http://schemas.microsoft.com/office/drawing/2014/main" id="{50C268F6-B020-445D-9AB5-BA8DD40ED247}"/>
              </a:ext>
            </a:extLst>
          </p:cNvPr>
          <p:cNvSpPr>
            <a:spLocks noGrp="1"/>
          </p:cNvSpPr>
          <p:nvPr>
            <p:ph type="subTitle" idx="1"/>
          </p:nvPr>
        </p:nvSpPr>
        <p:spPr>
          <a:xfrm>
            <a:off x="6711042" y="5023045"/>
            <a:ext cx="4871357" cy="387798"/>
          </a:xfrm>
        </p:spPr>
        <p:txBody>
          <a:bodyPr vert="horz" wrap="square" lIns="0" tIns="0" rIns="0" bIns="0" rtlCol="0">
            <a:spAutoFit/>
          </a:bodyPr>
          <a:lstStyle>
            <a:lvl1pPr marL="0" indent="0">
              <a:buNone/>
              <a:defRPr lang="en-ID">
                <a:solidFill>
                  <a:schemeClr val="bg1"/>
                </a:solidFill>
              </a:defRPr>
            </a:lvl1pPr>
          </a:lstStyle>
          <a:p>
            <a:pPr lvl="0"/>
            <a:r>
              <a:rPr lang="en-US" dirty="0"/>
              <a:t>Click to edit Master subtitle style</a:t>
            </a:r>
            <a:endParaRPr lang="en-ID" dirty="0"/>
          </a:p>
        </p:txBody>
      </p:sp>
      <p:sp>
        <p:nvSpPr>
          <p:cNvPr id="13" name="Picture Placeholder 12">
            <a:extLst>
              <a:ext uri="{FF2B5EF4-FFF2-40B4-BE49-F238E27FC236}">
                <a16:creationId xmlns:a16="http://schemas.microsoft.com/office/drawing/2014/main" id="{9D5B3D1E-D062-4490-AFA8-2A9F4EC54305}"/>
              </a:ext>
            </a:extLst>
          </p:cNvPr>
          <p:cNvSpPr>
            <a:spLocks noGrp="1"/>
          </p:cNvSpPr>
          <p:nvPr>
            <p:ph type="pic" sz="quarter" idx="10"/>
          </p:nvPr>
        </p:nvSpPr>
        <p:spPr>
          <a:xfrm>
            <a:off x="0" y="0"/>
            <a:ext cx="6096000" cy="6858000"/>
          </a:xfrm>
        </p:spPr>
        <p:txBody>
          <a:bodyPr/>
          <a:lstStyle/>
          <a:p>
            <a:endParaRPr lang="en-ID"/>
          </a:p>
        </p:txBody>
      </p:sp>
    </p:spTree>
    <p:extLst>
      <p:ext uri="{BB962C8B-B14F-4D97-AF65-F5344CB8AC3E}">
        <p14:creationId xmlns:p14="http://schemas.microsoft.com/office/powerpoint/2010/main" val="778985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AC92-5FD2-4804-8C8C-EA69998B39D3}"/>
              </a:ext>
            </a:extLst>
          </p:cNvPr>
          <p:cNvSpPr>
            <a:spLocks noGrp="1"/>
          </p:cNvSpPr>
          <p:nvPr>
            <p:ph type="title"/>
          </p:nvPr>
        </p:nvSpPr>
        <p:spPr>
          <a:xfrm>
            <a:off x="609600" y="88128"/>
            <a:ext cx="10972800" cy="706662"/>
          </a:xfrm>
        </p:spPr>
        <p:txBody>
          <a:bodyPr vert="horz" lIns="0" tIns="0" rIns="0" bIns="0" rtlCol="0" anchor="b">
            <a:normAutofit/>
          </a:bodyPr>
          <a:lstStyle>
            <a:lvl1pPr>
              <a:defRPr lang="en-ID" sz="3200">
                <a:solidFill>
                  <a:schemeClr val="tx2"/>
                </a:solidFill>
              </a:defRPr>
            </a:lvl1pPr>
          </a:lstStyle>
          <a:p>
            <a:pPr marL="0" lvl="0"/>
            <a:r>
              <a:rPr lang="en-US"/>
              <a:t>Click to edit Master title style</a:t>
            </a:r>
            <a:endParaRPr lang="en-ID"/>
          </a:p>
        </p:txBody>
      </p:sp>
      <p:sp>
        <p:nvSpPr>
          <p:cNvPr id="3" name="Content Placeholder 2">
            <a:extLst>
              <a:ext uri="{FF2B5EF4-FFF2-40B4-BE49-F238E27FC236}">
                <a16:creationId xmlns:a16="http://schemas.microsoft.com/office/drawing/2014/main" id="{A95BA649-F68C-4D5E-9DB9-AC1C3DB2EB63}"/>
              </a:ext>
            </a:extLst>
          </p:cNvPr>
          <p:cNvSpPr>
            <a:spLocks noGrp="1"/>
          </p:cNvSpPr>
          <p:nvPr>
            <p:ph idx="1"/>
          </p:nvPr>
        </p:nvSpPr>
        <p:spPr>
          <a:xfrm>
            <a:off x="609600" y="1008613"/>
            <a:ext cx="10972800" cy="5168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C3AAEE7-4095-415E-ADD4-8F767E2C3608}"/>
              </a:ext>
            </a:extLst>
          </p:cNvPr>
          <p:cNvSpPr>
            <a:spLocks noGrp="1"/>
          </p:cNvSpPr>
          <p:nvPr>
            <p:ph type="dt" sz="half" idx="10"/>
          </p:nvPr>
        </p:nvSpPr>
        <p:spPr>
          <a:xfrm>
            <a:off x="10560050" y="6463283"/>
            <a:ext cx="1022350" cy="184666"/>
          </a:xfrm>
        </p:spPr>
        <p:txBody>
          <a:bodyPr vert="horz" wrap="square" lIns="0" tIns="0" rIns="0" bIns="0" rtlCol="0" anchor="ctr">
            <a:spAutoFit/>
          </a:bodyPr>
          <a:lstStyle>
            <a:lvl1pPr algn="r">
              <a:defRPr lang="en-ID" smtClean="0">
                <a:solidFill>
                  <a:schemeClr val="tx1">
                    <a:lumMod val="50000"/>
                    <a:lumOff val="50000"/>
                  </a:schemeClr>
                </a:solidFill>
                <a:latin typeface="+mn-lt"/>
              </a:defRPr>
            </a:lvl1pPr>
          </a:lstStyle>
          <a:p>
            <a:fld id="{43E2D749-843A-4CF2-BA5B-0BB9149F832F}" type="datetime1">
              <a:rPr lang="en-ID" smtClean="0"/>
              <a:t>10/09/2019</a:t>
            </a:fld>
            <a:endParaRPr lang="en-ID"/>
          </a:p>
        </p:txBody>
      </p:sp>
      <p:sp>
        <p:nvSpPr>
          <p:cNvPr id="9" name="Rectangle: Top Corners Rounded 8">
            <a:extLst>
              <a:ext uri="{FF2B5EF4-FFF2-40B4-BE49-F238E27FC236}">
                <a16:creationId xmlns:a16="http://schemas.microsoft.com/office/drawing/2014/main" id="{7025C961-B06B-4956-806B-BE834F6811D5}"/>
              </a:ext>
            </a:extLst>
          </p:cNvPr>
          <p:cNvSpPr/>
          <p:nvPr userDrawn="1"/>
        </p:nvSpPr>
        <p:spPr>
          <a:xfrm rot="5400000">
            <a:off x="284614" y="6056744"/>
            <a:ext cx="428514" cy="997745"/>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ECF2B506-E791-4E0A-8A3C-9D25AABC6D56}"/>
              </a:ext>
            </a:extLst>
          </p:cNvPr>
          <p:cNvSpPr/>
          <p:nvPr userDrawn="1"/>
        </p:nvSpPr>
        <p:spPr>
          <a:xfrm>
            <a:off x="609600" y="6384166"/>
            <a:ext cx="342900" cy="342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cxnSp>
        <p:nvCxnSpPr>
          <p:cNvPr id="11" name="Straight Connector 10">
            <a:extLst>
              <a:ext uri="{FF2B5EF4-FFF2-40B4-BE49-F238E27FC236}">
                <a16:creationId xmlns:a16="http://schemas.microsoft.com/office/drawing/2014/main" id="{4E9005DD-915C-4E7E-BF60-69091252018F}"/>
              </a:ext>
            </a:extLst>
          </p:cNvPr>
          <p:cNvCxnSpPr/>
          <p:nvPr userDrawn="1"/>
        </p:nvCxnSpPr>
        <p:spPr>
          <a:xfrm>
            <a:off x="609600" y="901701"/>
            <a:ext cx="477440" cy="0"/>
          </a:xfrm>
          <a:prstGeom prst="line">
            <a:avLst/>
          </a:prstGeom>
          <a:ln w="254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D1B70B0-5FEC-49BA-A698-BEC51B8C4B6C}"/>
              </a:ext>
            </a:extLst>
          </p:cNvPr>
          <p:cNvSpPr>
            <a:spLocks noGrp="1"/>
          </p:cNvSpPr>
          <p:nvPr>
            <p:ph type="ftr" sz="quarter" idx="11"/>
          </p:nvPr>
        </p:nvSpPr>
        <p:spPr>
          <a:xfrm>
            <a:off x="1106090" y="6463283"/>
            <a:ext cx="4310460" cy="184666"/>
          </a:xfrm>
        </p:spPr>
        <p:txBody>
          <a:bodyPr vert="horz" wrap="square" lIns="0" tIns="0" rIns="0" bIns="0" rtlCol="0" anchor="ctr">
            <a:spAutoFit/>
          </a:bodyPr>
          <a:lstStyle>
            <a:lvl1pPr algn="l">
              <a:defRPr lang="en-ID" smtClean="0">
                <a:solidFill>
                  <a:schemeClr val="tx1">
                    <a:lumMod val="50000"/>
                    <a:lumOff val="50000"/>
                  </a:schemeClr>
                </a:solidFill>
                <a:latin typeface="+mj-lt"/>
              </a:defRPr>
            </a:lvl1pPr>
          </a:lstStyle>
          <a:p>
            <a:r>
              <a:rPr lang="en-ID"/>
              <a:t>Footer</a:t>
            </a:r>
          </a:p>
        </p:txBody>
      </p:sp>
      <p:sp>
        <p:nvSpPr>
          <p:cNvPr id="6" name="Slide Number Placeholder 5">
            <a:extLst>
              <a:ext uri="{FF2B5EF4-FFF2-40B4-BE49-F238E27FC236}">
                <a16:creationId xmlns:a16="http://schemas.microsoft.com/office/drawing/2014/main" id="{40F9F326-BA84-4729-AF08-57BF1C417D4B}"/>
              </a:ext>
            </a:extLst>
          </p:cNvPr>
          <p:cNvSpPr>
            <a:spLocks noGrp="1"/>
          </p:cNvSpPr>
          <p:nvPr>
            <p:ph type="sldNum" sz="quarter" idx="12"/>
          </p:nvPr>
        </p:nvSpPr>
        <p:spPr>
          <a:xfrm>
            <a:off x="667237" y="6463283"/>
            <a:ext cx="227626" cy="184666"/>
          </a:xfrm>
        </p:spPr>
        <p:txBody>
          <a:bodyPr vert="horz" wrap="none" lIns="0" tIns="0" rIns="0" bIns="0" rtlCol="0" anchor="ctr">
            <a:spAutoFit/>
          </a:bodyPr>
          <a:lstStyle>
            <a:lvl1pPr algn="ctr">
              <a:defRPr lang="en-ID" smtClean="0">
                <a:solidFill>
                  <a:schemeClr val="tx1">
                    <a:lumMod val="50000"/>
                    <a:lumOff val="50000"/>
                  </a:schemeClr>
                </a:solidFill>
                <a:latin typeface="+mj-lt"/>
              </a:defRPr>
            </a:lvl1pPr>
          </a:lstStyle>
          <a:p>
            <a:fld id="{20A13858-C2AA-4A16-A43A-77ABAD7631C2}" type="slidenum">
              <a:rPr lang="en-ID" smtClean="0"/>
              <a:pPr/>
              <a:t>‹#›</a:t>
            </a:fld>
            <a:endParaRPr lang="en-ID" dirty="0"/>
          </a:p>
        </p:txBody>
      </p:sp>
    </p:spTree>
    <p:extLst>
      <p:ext uri="{BB962C8B-B14F-4D97-AF65-F5344CB8AC3E}">
        <p14:creationId xmlns:p14="http://schemas.microsoft.com/office/powerpoint/2010/main" val="245638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1875B76-8257-423E-819D-4BE4130B36F7}"/>
              </a:ext>
            </a:extLst>
          </p:cNvPr>
          <p:cNvSpPr/>
          <p:nvPr userDrawn="1"/>
        </p:nvSpPr>
        <p:spPr>
          <a:xfrm>
            <a:off x="0" y="0"/>
            <a:ext cx="4813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9" name="Straight Connector 18">
            <a:extLst>
              <a:ext uri="{FF2B5EF4-FFF2-40B4-BE49-F238E27FC236}">
                <a16:creationId xmlns:a16="http://schemas.microsoft.com/office/drawing/2014/main" id="{B9038D0B-BB82-416A-8C81-3782C4AEB9F6}"/>
              </a:ext>
            </a:extLst>
          </p:cNvPr>
          <p:cNvCxnSpPr>
            <a:cxnSpLocks/>
          </p:cNvCxnSpPr>
          <p:nvPr userDrawn="1"/>
        </p:nvCxnSpPr>
        <p:spPr>
          <a:xfrm>
            <a:off x="609600" y="4375752"/>
            <a:ext cx="95488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Rectangle: Top Corners Rounded 19">
            <a:extLst>
              <a:ext uri="{FF2B5EF4-FFF2-40B4-BE49-F238E27FC236}">
                <a16:creationId xmlns:a16="http://schemas.microsoft.com/office/drawing/2014/main" id="{AF6EC00C-C9EE-4333-8815-7869F2E4CBAE}"/>
              </a:ext>
            </a:extLst>
          </p:cNvPr>
          <p:cNvSpPr/>
          <p:nvPr userDrawn="1"/>
        </p:nvSpPr>
        <p:spPr>
          <a:xfrm rot="5400000">
            <a:off x="284614" y="6056744"/>
            <a:ext cx="428514" cy="997745"/>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Oval 20">
            <a:extLst>
              <a:ext uri="{FF2B5EF4-FFF2-40B4-BE49-F238E27FC236}">
                <a16:creationId xmlns:a16="http://schemas.microsoft.com/office/drawing/2014/main" id="{2095A911-B621-4070-9983-9A15A523CD93}"/>
              </a:ext>
            </a:extLst>
          </p:cNvPr>
          <p:cNvSpPr/>
          <p:nvPr userDrawn="1"/>
        </p:nvSpPr>
        <p:spPr>
          <a:xfrm>
            <a:off x="609600" y="6384166"/>
            <a:ext cx="342900" cy="3429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sp>
        <p:nvSpPr>
          <p:cNvPr id="2" name="Title 1">
            <a:extLst>
              <a:ext uri="{FF2B5EF4-FFF2-40B4-BE49-F238E27FC236}">
                <a16:creationId xmlns:a16="http://schemas.microsoft.com/office/drawing/2014/main" id="{53DCAC92-5FD2-4804-8C8C-EA69998B39D3}"/>
              </a:ext>
            </a:extLst>
          </p:cNvPr>
          <p:cNvSpPr>
            <a:spLocks noGrp="1"/>
          </p:cNvSpPr>
          <p:nvPr>
            <p:ph type="title"/>
          </p:nvPr>
        </p:nvSpPr>
        <p:spPr>
          <a:xfrm>
            <a:off x="609600" y="3261872"/>
            <a:ext cx="3479800" cy="997196"/>
          </a:xfrm>
        </p:spPr>
        <p:txBody>
          <a:bodyPr vert="horz" wrap="square" lIns="0" tIns="0" rIns="0" bIns="0" rtlCol="0" anchor="b">
            <a:spAutoFit/>
          </a:bodyPr>
          <a:lstStyle>
            <a:lvl1pPr>
              <a:defRPr lang="en-ID" sz="3600">
                <a:solidFill>
                  <a:schemeClr val="bg1"/>
                </a:solidFill>
              </a:defRPr>
            </a:lvl1pPr>
          </a:lstStyle>
          <a:p>
            <a:pPr marL="0" lvl="0"/>
            <a:r>
              <a:rPr lang="en-US" dirty="0"/>
              <a:t>Click to edit Master title style</a:t>
            </a:r>
            <a:endParaRPr lang="en-ID" dirty="0"/>
          </a:p>
        </p:txBody>
      </p:sp>
      <p:sp>
        <p:nvSpPr>
          <p:cNvPr id="3" name="Content Placeholder 2">
            <a:extLst>
              <a:ext uri="{FF2B5EF4-FFF2-40B4-BE49-F238E27FC236}">
                <a16:creationId xmlns:a16="http://schemas.microsoft.com/office/drawing/2014/main" id="{A95BA649-F68C-4D5E-9DB9-AC1C3DB2EB63}"/>
              </a:ext>
            </a:extLst>
          </p:cNvPr>
          <p:cNvSpPr>
            <a:spLocks noGrp="1"/>
          </p:cNvSpPr>
          <p:nvPr>
            <p:ph idx="1"/>
          </p:nvPr>
        </p:nvSpPr>
        <p:spPr>
          <a:xfrm>
            <a:off x="5295900" y="667657"/>
            <a:ext cx="6286500" cy="5509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C3AAEE7-4095-415E-ADD4-8F767E2C3608}"/>
              </a:ext>
            </a:extLst>
          </p:cNvPr>
          <p:cNvSpPr>
            <a:spLocks noGrp="1"/>
          </p:cNvSpPr>
          <p:nvPr>
            <p:ph type="dt" sz="half" idx="10"/>
          </p:nvPr>
        </p:nvSpPr>
        <p:spPr>
          <a:xfrm>
            <a:off x="10560050" y="6463283"/>
            <a:ext cx="1022350" cy="184666"/>
          </a:xfrm>
        </p:spPr>
        <p:txBody>
          <a:bodyPr vert="horz" wrap="square" lIns="0" tIns="0" rIns="0" bIns="0" rtlCol="0" anchor="ctr">
            <a:spAutoFit/>
          </a:bodyPr>
          <a:lstStyle>
            <a:lvl1pPr algn="r">
              <a:defRPr lang="en-ID" smtClean="0">
                <a:solidFill>
                  <a:schemeClr val="tx1">
                    <a:lumMod val="50000"/>
                    <a:lumOff val="50000"/>
                  </a:schemeClr>
                </a:solidFill>
                <a:latin typeface="+mn-lt"/>
              </a:defRPr>
            </a:lvl1pPr>
          </a:lstStyle>
          <a:p>
            <a:fld id="{43E2D749-843A-4CF2-BA5B-0BB9149F832F}" type="datetime1">
              <a:rPr lang="en-ID" smtClean="0"/>
              <a:t>10/09/2019</a:t>
            </a:fld>
            <a:endParaRPr lang="en-ID"/>
          </a:p>
        </p:txBody>
      </p:sp>
      <p:sp>
        <p:nvSpPr>
          <p:cNvPr id="5" name="Footer Placeholder 4">
            <a:extLst>
              <a:ext uri="{FF2B5EF4-FFF2-40B4-BE49-F238E27FC236}">
                <a16:creationId xmlns:a16="http://schemas.microsoft.com/office/drawing/2014/main" id="{0D1B70B0-5FEC-49BA-A698-BEC51B8C4B6C}"/>
              </a:ext>
            </a:extLst>
          </p:cNvPr>
          <p:cNvSpPr>
            <a:spLocks noGrp="1"/>
          </p:cNvSpPr>
          <p:nvPr>
            <p:ph type="ftr" sz="quarter" idx="11"/>
          </p:nvPr>
        </p:nvSpPr>
        <p:spPr>
          <a:xfrm>
            <a:off x="1106090" y="6463283"/>
            <a:ext cx="2871550" cy="184666"/>
          </a:xfrm>
        </p:spPr>
        <p:txBody>
          <a:bodyPr vert="horz" wrap="square" lIns="0" tIns="0" rIns="0" bIns="0" rtlCol="0" anchor="ctr">
            <a:spAutoFit/>
          </a:bodyPr>
          <a:lstStyle>
            <a:lvl1pPr algn="l">
              <a:defRPr lang="en-ID" smtClean="0">
                <a:solidFill>
                  <a:schemeClr val="bg1"/>
                </a:solidFill>
                <a:latin typeface="+mj-lt"/>
              </a:defRPr>
            </a:lvl1pPr>
          </a:lstStyle>
          <a:p>
            <a:r>
              <a:rPr lang="en-ID"/>
              <a:t>Footer</a:t>
            </a:r>
          </a:p>
        </p:txBody>
      </p:sp>
      <p:sp>
        <p:nvSpPr>
          <p:cNvPr id="6" name="Slide Number Placeholder 5">
            <a:extLst>
              <a:ext uri="{FF2B5EF4-FFF2-40B4-BE49-F238E27FC236}">
                <a16:creationId xmlns:a16="http://schemas.microsoft.com/office/drawing/2014/main" id="{40F9F326-BA84-4729-AF08-57BF1C417D4B}"/>
              </a:ext>
            </a:extLst>
          </p:cNvPr>
          <p:cNvSpPr>
            <a:spLocks noGrp="1"/>
          </p:cNvSpPr>
          <p:nvPr>
            <p:ph type="sldNum" sz="quarter" idx="12"/>
          </p:nvPr>
        </p:nvSpPr>
        <p:spPr>
          <a:xfrm>
            <a:off x="667237" y="6463283"/>
            <a:ext cx="227626" cy="184666"/>
          </a:xfrm>
        </p:spPr>
        <p:txBody>
          <a:bodyPr vert="horz" wrap="none" lIns="0" tIns="0" rIns="0" bIns="0" rtlCol="0" anchor="ctr">
            <a:spAutoFit/>
          </a:bodyPr>
          <a:lstStyle>
            <a:lvl1pPr algn="ctr">
              <a:defRPr lang="en-ID" smtClean="0">
                <a:solidFill>
                  <a:schemeClr val="bg1"/>
                </a:solidFill>
                <a:latin typeface="+mj-lt"/>
              </a:defRPr>
            </a:lvl1pPr>
          </a:lstStyle>
          <a:p>
            <a:fld id="{20A13858-C2AA-4A16-A43A-77ABAD7631C2}" type="slidenum">
              <a:rPr lang="en-ID" smtClean="0"/>
              <a:pPr/>
              <a:t>‹#›</a:t>
            </a:fld>
            <a:endParaRPr lang="en-ID" dirty="0"/>
          </a:p>
        </p:txBody>
      </p:sp>
    </p:spTree>
    <p:extLst>
      <p:ext uri="{BB962C8B-B14F-4D97-AF65-F5344CB8AC3E}">
        <p14:creationId xmlns:p14="http://schemas.microsoft.com/office/powerpoint/2010/main" val="2975067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AC92-5FD2-4804-8C8C-EA69998B39D3}"/>
              </a:ext>
            </a:extLst>
          </p:cNvPr>
          <p:cNvSpPr>
            <a:spLocks noGrp="1"/>
          </p:cNvSpPr>
          <p:nvPr>
            <p:ph type="title"/>
          </p:nvPr>
        </p:nvSpPr>
        <p:spPr>
          <a:xfrm>
            <a:off x="609600" y="88128"/>
            <a:ext cx="10972800" cy="706662"/>
          </a:xfrm>
        </p:spPr>
        <p:txBody>
          <a:bodyPr vert="horz" lIns="0" tIns="0" rIns="0" bIns="0" rtlCol="0" anchor="b">
            <a:normAutofit/>
          </a:bodyPr>
          <a:lstStyle>
            <a:lvl1pPr>
              <a:defRPr lang="en-ID" sz="3200">
                <a:solidFill>
                  <a:schemeClr val="tx2"/>
                </a:solidFill>
              </a:defRPr>
            </a:lvl1pPr>
          </a:lstStyle>
          <a:p>
            <a:pPr marL="0" lvl="0"/>
            <a:r>
              <a:rPr lang="en-US"/>
              <a:t>Click to edit Master title style</a:t>
            </a:r>
            <a:endParaRPr lang="en-ID"/>
          </a:p>
        </p:txBody>
      </p:sp>
      <p:sp>
        <p:nvSpPr>
          <p:cNvPr id="3" name="Content Placeholder 2">
            <a:extLst>
              <a:ext uri="{FF2B5EF4-FFF2-40B4-BE49-F238E27FC236}">
                <a16:creationId xmlns:a16="http://schemas.microsoft.com/office/drawing/2014/main" id="{A95BA649-F68C-4D5E-9DB9-AC1C3DB2EB63}"/>
              </a:ext>
            </a:extLst>
          </p:cNvPr>
          <p:cNvSpPr>
            <a:spLocks noGrp="1"/>
          </p:cNvSpPr>
          <p:nvPr>
            <p:ph idx="1"/>
          </p:nvPr>
        </p:nvSpPr>
        <p:spPr>
          <a:xfrm>
            <a:off x="609600" y="1008613"/>
            <a:ext cx="5257800" cy="5168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C3AAEE7-4095-415E-ADD4-8F767E2C3608}"/>
              </a:ext>
            </a:extLst>
          </p:cNvPr>
          <p:cNvSpPr>
            <a:spLocks noGrp="1"/>
          </p:cNvSpPr>
          <p:nvPr>
            <p:ph type="dt" sz="half" idx="10"/>
          </p:nvPr>
        </p:nvSpPr>
        <p:spPr>
          <a:xfrm>
            <a:off x="10560050" y="6463283"/>
            <a:ext cx="1022350" cy="184666"/>
          </a:xfrm>
        </p:spPr>
        <p:txBody>
          <a:bodyPr vert="horz" wrap="square" lIns="0" tIns="0" rIns="0" bIns="0" rtlCol="0" anchor="ctr">
            <a:spAutoFit/>
          </a:bodyPr>
          <a:lstStyle>
            <a:lvl1pPr algn="r">
              <a:defRPr lang="en-ID" smtClean="0">
                <a:solidFill>
                  <a:schemeClr val="tx1">
                    <a:lumMod val="50000"/>
                    <a:lumOff val="50000"/>
                  </a:schemeClr>
                </a:solidFill>
                <a:latin typeface="+mn-lt"/>
              </a:defRPr>
            </a:lvl1pPr>
          </a:lstStyle>
          <a:p>
            <a:fld id="{43E2D749-843A-4CF2-BA5B-0BB9149F832F}" type="datetime1">
              <a:rPr lang="en-ID" smtClean="0"/>
              <a:t>10/09/2019</a:t>
            </a:fld>
            <a:endParaRPr lang="en-ID"/>
          </a:p>
        </p:txBody>
      </p:sp>
      <p:sp>
        <p:nvSpPr>
          <p:cNvPr id="9" name="Rectangle: Top Corners Rounded 8">
            <a:extLst>
              <a:ext uri="{FF2B5EF4-FFF2-40B4-BE49-F238E27FC236}">
                <a16:creationId xmlns:a16="http://schemas.microsoft.com/office/drawing/2014/main" id="{7025C961-B06B-4956-806B-BE834F6811D5}"/>
              </a:ext>
            </a:extLst>
          </p:cNvPr>
          <p:cNvSpPr/>
          <p:nvPr userDrawn="1"/>
        </p:nvSpPr>
        <p:spPr>
          <a:xfrm rot="5400000">
            <a:off x="284614" y="6056744"/>
            <a:ext cx="428514" cy="997745"/>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ECF2B506-E791-4E0A-8A3C-9D25AABC6D56}"/>
              </a:ext>
            </a:extLst>
          </p:cNvPr>
          <p:cNvSpPr/>
          <p:nvPr userDrawn="1"/>
        </p:nvSpPr>
        <p:spPr>
          <a:xfrm>
            <a:off x="609600" y="6384166"/>
            <a:ext cx="342900" cy="342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cxnSp>
        <p:nvCxnSpPr>
          <p:cNvPr id="11" name="Straight Connector 10">
            <a:extLst>
              <a:ext uri="{FF2B5EF4-FFF2-40B4-BE49-F238E27FC236}">
                <a16:creationId xmlns:a16="http://schemas.microsoft.com/office/drawing/2014/main" id="{4E9005DD-915C-4E7E-BF60-69091252018F}"/>
              </a:ext>
            </a:extLst>
          </p:cNvPr>
          <p:cNvCxnSpPr/>
          <p:nvPr userDrawn="1"/>
        </p:nvCxnSpPr>
        <p:spPr>
          <a:xfrm>
            <a:off x="609600" y="901701"/>
            <a:ext cx="477440" cy="0"/>
          </a:xfrm>
          <a:prstGeom prst="line">
            <a:avLst/>
          </a:prstGeom>
          <a:ln w="254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D1B70B0-5FEC-49BA-A698-BEC51B8C4B6C}"/>
              </a:ext>
            </a:extLst>
          </p:cNvPr>
          <p:cNvSpPr>
            <a:spLocks noGrp="1"/>
          </p:cNvSpPr>
          <p:nvPr>
            <p:ph type="ftr" sz="quarter" idx="11"/>
          </p:nvPr>
        </p:nvSpPr>
        <p:spPr>
          <a:xfrm>
            <a:off x="1106090" y="6463283"/>
            <a:ext cx="4310460" cy="184666"/>
          </a:xfrm>
        </p:spPr>
        <p:txBody>
          <a:bodyPr vert="horz" wrap="square" lIns="0" tIns="0" rIns="0" bIns="0" rtlCol="0" anchor="ctr">
            <a:spAutoFit/>
          </a:bodyPr>
          <a:lstStyle>
            <a:lvl1pPr algn="l">
              <a:defRPr lang="en-ID" smtClean="0">
                <a:solidFill>
                  <a:schemeClr val="tx1">
                    <a:lumMod val="50000"/>
                    <a:lumOff val="50000"/>
                  </a:schemeClr>
                </a:solidFill>
                <a:latin typeface="+mj-lt"/>
              </a:defRPr>
            </a:lvl1pPr>
          </a:lstStyle>
          <a:p>
            <a:r>
              <a:rPr lang="en-ID"/>
              <a:t>Footer</a:t>
            </a:r>
          </a:p>
        </p:txBody>
      </p:sp>
      <p:sp>
        <p:nvSpPr>
          <p:cNvPr id="6" name="Slide Number Placeholder 5">
            <a:extLst>
              <a:ext uri="{FF2B5EF4-FFF2-40B4-BE49-F238E27FC236}">
                <a16:creationId xmlns:a16="http://schemas.microsoft.com/office/drawing/2014/main" id="{40F9F326-BA84-4729-AF08-57BF1C417D4B}"/>
              </a:ext>
            </a:extLst>
          </p:cNvPr>
          <p:cNvSpPr>
            <a:spLocks noGrp="1"/>
          </p:cNvSpPr>
          <p:nvPr>
            <p:ph type="sldNum" sz="quarter" idx="12"/>
          </p:nvPr>
        </p:nvSpPr>
        <p:spPr>
          <a:xfrm>
            <a:off x="667237" y="6463283"/>
            <a:ext cx="227626" cy="184666"/>
          </a:xfrm>
        </p:spPr>
        <p:txBody>
          <a:bodyPr vert="horz" wrap="none" lIns="0" tIns="0" rIns="0" bIns="0" rtlCol="0" anchor="ctr">
            <a:spAutoFit/>
          </a:bodyPr>
          <a:lstStyle>
            <a:lvl1pPr algn="ctr">
              <a:defRPr lang="en-ID" smtClean="0">
                <a:solidFill>
                  <a:schemeClr val="tx1">
                    <a:lumMod val="50000"/>
                    <a:lumOff val="50000"/>
                  </a:schemeClr>
                </a:solidFill>
                <a:latin typeface="+mj-lt"/>
              </a:defRPr>
            </a:lvl1pPr>
          </a:lstStyle>
          <a:p>
            <a:fld id="{20A13858-C2AA-4A16-A43A-77ABAD7631C2}" type="slidenum">
              <a:rPr lang="en-ID" smtClean="0"/>
              <a:pPr/>
              <a:t>‹#›</a:t>
            </a:fld>
            <a:endParaRPr lang="en-ID" dirty="0"/>
          </a:p>
        </p:txBody>
      </p:sp>
      <p:sp>
        <p:nvSpPr>
          <p:cNvPr id="12" name="Content Placeholder 2">
            <a:extLst>
              <a:ext uri="{FF2B5EF4-FFF2-40B4-BE49-F238E27FC236}">
                <a16:creationId xmlns:a16="http://schemas.microsoft.com/office/drawing/2014/main" id="{49D02890-DF78-4B5C-836F-E6CA84457E35}"/>
              </a:ext>
            </a:extLst>
          </p:cNvPr>
          <p:cNvSpPr>
            <a:spLocks noGrp="1"/>
          </p:cNvSpPr>
          <p:nvPr>
            <p:ph idx="13"/>
          </p:nvPr>
        </p:nvSpPr>
        <p:spPr>
          <a:xfrm>
            <a:off x="6324600" y="1008613"/>
            <a:ext cx="5257800" cy="51683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2846195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AC92-5FD2-4804-8C8C-EA69998B39D3}"/>
              </a:ext>
            </a:extLst>
          </p:cNvPr>
          <p:cNvSpPr>
            <a:spLocks noGrp="1"/>
          </p:cNvSpPr>
          <p:nvPr>
            <p:ph type="title"/>
          </p:nvPr>
        </p:nvSpPr>
        <p:spPr>
          <a:xfrm>
            <a:off x="609600" y="88128"/>
            <a:ext cx="10972800" cy="706662"/>
          </a:xfrm>
        </p:spPr>
        <p:txBody>
          <a:bodyPr vert="horz" lIns="0" tIns="0" rIns="0" bIns="0" rtlCol="0" anchor="b">
            <a:normAutofit/>
          </a:bodyPr>
          <a:lstStyle>
            <a:lvl1pPr>
              <a:defRPr lang="en-ID" sz="3200">
                <a:solidFill>
                  <a:schemeClr val="tx2"/>
                </a:solidFill>
              </a:defRPr>
            </a:lvl1pPr>
          </a:lstStyle>
          <a:p>
            <a:pPr marL="0" lvl="0"/>
            <a:r>
              <a:rPr lang="en-US" dirty="0"/>
              <a:t>Click to edit Master title style</a:t>
            </a:r>
            <a:endParaRPr lang="en-ID" dirty="0"/>
          </a:p>
        </p:txBody>
      </p:sp>
      <p:sp>
        <p:nvSpPr>
          <p:cNvPr id="3" name="Content Placeholder 2">
            <a:extLst>
              <a:ext uri="{FF2B5EF4-FFF2-40B4-BE49-F238E27FC236}">
                <a16:creationId xmlns:a16="http://schemas.microsoft.com/office/drawing/2014/main" id="{A95BA649-F68C-4D5E-9DB9-AC1C3DB2EB63}"/>
              </a:ext>
            </a:extLst>
          </p:cNvPr>
          <p:cNvSpPr>
            <a:spLocks noGrp="1"/>
          </p:cNvSpPr>
          <p:nvPr>
            <p:ph idx="1"/>
          </p:nvPr>
        </p:nvSpPr>
        <p:spPr>
          <a:xfrm>
            <a:off x="609600" y="1832491"/>
            <a:ext cx="5257800" cy="43444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4" name="Date Placeholder 3">
            <a:extLst>
              <a:ext uri="{FF2B5EF4-FFF2-40B4-BE49-F238E27FC236}">
                <a16:creationId xmlns:a16="http://schemas.microsoft.com/office/drawing/2014/main" id="{EC3AAEE7-4095-415E-ADD4-8F767E2C3608}"/>
              </a:ext>
            </a:extLst>
          </p:cNvPr>
          <p:cNvSpPr>
            <a:spLocks noGrp="1"/>
          </p:cNvSpPr>
          <p:nvPr>
            <p:ph type="dt" sz="half" idx="10"/>
          </p:nvPr>
        </p:nvSpPr>
        <p:spPr>
          <a:xfrm>
            <a:off x="10560050" y="6463283"/>
            <a:ext cx="1022350" cy="184666"/>
          </a:xfrm>
        </p:spPr>
        <p:txBody>
          <a:bodyPr vert="horz" wrap="square" lIns="0" tIns="0" rIns="0" bIns="0" rtlCol="0" anchor="ctr">
            <a:spAutoFit/>
          </a:bodyPr>
          <a:lstStyle>
            <a:lvl1pPr algn="r">
              <a:defRPr lang="en-ID" smtClean="0">
                <a:solidFill>
                  <a:schemeClr val="tx1">
                    <a:lumMod val="50000"/>
                    <a:lumOff val="50000"/>
                  </a:schemeClr>
                </a:solidFill>
                <a:latin typeface="+mn-lt"/>
              </a:defRPr>
            </a:lvl1pPr>
          </a:lstStyle>
          <a:p>
            <a:fld id="{43E2D749-843A-4CF2-BA5B-0BB9149F832F}" type="datetime1">
              <a:rPr lang="en-ID" smtClean="0"/>
              <a:t>10/09/2019</a:t>
            </a:fld>
            <a:endParaRPr lang="en-ID"/>
          </a:p>
        </p:txBody>
      </p:sp>
      <p:sp>
        <p:nvSpPr>
          <p:cNvPr id="9" name="Rectangle: Top Corners Rounded 8">
            <a:extLst>
              <a:ext uri="{FF2B5EF4-FFF2-40B4-BE49-F238E27FC236}">
                <a16:creationId xmlns:a16="http://schemas.microsoft.com/office/drawing/2014/main" id="{7025C961-B06B-4956-806B-BE834F6811D5}"/>
              </a:ext>
            </a:extLst>
          </p:cNvPr>
          <p:cNvSpPr/>
          <p:nvPr userDrawn="1"/>
        </p:nvSpPr>
        <p:spPr>
          <a:xfrm rot="5400000">
            <a:off x="284614" y="6056744"/>
            <a:ext cx="428514" cy="997745"/>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ECF2B506-E791-4E0A-8A3C-9D25AABC6D56}"/>
              </a:ext>
            </a:extLst>
          </p:cNvPr>
          <p:cNvSpPr/>
          <p:nvPr userDrawn="1"/>
        </p:nvSpPr>
        <p:spPr>
          <a:xfrm>
            <a:off x="609600" y="6384166"/>
            <a:ext cx="342900" cy="342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cxnSp>
        <p:nvCxnSpPr>
          <p:cNvPr id="11" name="Straight Connector 10">
            <a:extLst>
              <a:ext uri="{FF2B5EF4-FFF2-40B4-BE49-F238E27FC236}">
                <a16:creationId xmlns:a16="http://schemas.microsoft.com/office/drawing/2014/main" id="{4E9005DD-915C-4E7E-BF60-69091252018F}"/>
              </a:ext>
            </a:extLst>
          </p:cNvPr>
          <p:cNvCxnSpPr/>
          <p:nvPr userDrawn="1"/>
        </p:nvCxnSpPr>
        <p:spPr>
          <a:xfrm>
            <a:off x="609600" y="901701"/>
            <a:ext cx="477440" cy="0"/>
          </a:xfrm>
          <a:prstGeom prst="line">
            <a:avLst/>
          </a:prstGeom>
          <a:ln w="254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D1B70B0-5FEC-49BA-A698-BEC51B8C4B6C}"/>
              </a:ext>
            </a:extLst>
          </p:cNvPr>
          <p:cNvSpPr>
            <a:spLocks noGrp="1"/>
          </p:cNvSpPr>
          <p:nvPr>
            <p:ph type="ftr" sz="quarter" idx="11"/>
          </p:nvPr>
        </p:nvSpPr>
        <p:spPr>
          <a:xfrm>
            <a:off x="1106090" y="6463283"/>
            <a:ext cx="4310460" cy="184666"/>
          </a:xfrm>
        </p:spPr>
        <p:txBody>
          <a:bodyPr vert="horz" wrap="square" lIns="0" tIns="0" rIns="0" bIns="0" rtlCol="0" anchor="ctr">
            <a:spAutoFit/>
          </a:bodyPr>
          <a:lstStyle>
            <a:lvl1pPr algn="l">
              <a:defRPr lang="en-ID" smtClean="0">
                <a:solidFill>
                  <a:schemeClr val="tx1">
                    <a:lumMod val="50000"/>
                    <a:lumOff val="50000"/>
                  </a:schemeClr>
                </a:solidFill>
                <a:latin typeface="+mj-lt"/>
              </a:defRPr>
            </a:lvl1pPr>
          </a:lstStyle>
          <a:p>
            <a:r>
              <a:rPr lang="en-ID"/>
              <a:t>Footer</a:t>
            </a:r>
          </a:p>
        </p:txBody>
      </p:sp>
      <p:sp>
        <p:nvSpPr>
          <p:cNvPr id="6" name="Slide Number Placeholder 5">
            <a:extLst>
              <a:ext uri="{FF2B5EF4-FFF2-40B4-BE49-F238E27FC236}">
                <a16:creationId xmlns:a16="http://schemas.microsoft.com/office/drawing/2014/main" id="{40F9F326-BA84-4729-AF08-57BF1C417D4B}"/>
              </a:ext>
            </a:extLst>
          </p:cNvPr>
          <p:cNvSpPr>
            <a:spLocks noGrp="1"/>
          </p:cNvSpPr>
          <p:nvPr>
            <p:ph type="sldNum" sz="quarter" idx="12"/>
          </p:nvPr>
        </p:nvSpPr>
        <p:spPr>
          <a:xfrm>
            <a:off x="667237" y="6463283"/>
            <a:ext cx="227626" cy="184666"/>
          </a:xfrm>
        </p:spPr>
        <p:txBody>
          <a:bodyPr vert="horz" wrap="none" lIns="0" tIns="0" rIns="0" bIns="0" rtlCol="0" anchor="ctr">
            <a:spAutoFit/>
          </a:bodyPr>
          <a:lstStyle>
            <a:lvl1pPr algn="ctr">
              <a:defRPr lang="en-ID" smtClean="0">
                <a:solidFill>
                  <a:schemeClr val="tx1">
                    <a:lumMod val="50000"/>
                    <a:lumOff val="50000"/>
                  </a:schemeClr>
                </a:solidFill>
                <a:latin typeface="+mj-lt"/>
              </a:defRPr>
            </a:lvl1pPr>
          </a:lstStyle>
          <a:p>
            <a:fld id="{20A13858-C2AA-4A16-A43A-77ABAD7631C2}" type="slidenum">
              <a:rPr lang="en-ID" smtClean="0"/>
              <a:pPr/>
              <a:t>‹#›</a:t>
            </a:fld>
            <a:endParaRPr lang="en-ID" dirty="0"/>
          </a:p>
        </p:txBody>
      </p:sp>
      <p:sp>
        <p:nvSpPr>
          <p:cNvPr id="8" name="Text Placeholder 7">
            <a:extLst>
              <a:ext uri="{FF2B5EF4-FFF2-40B4-BE49-F238E27FC236}">
                <a16:creationId xmlns:a16="http://schemas.microsoft.com/office/drawing/2014/main" id="{0B8BED67-5E70-402F-AC94-5C442E76D4C9}"/>
              </a:ext>
            </a:extLst>
          </p:cNvPr>
          <p:cNvSpPr>
            <a:spLocks noGrp="1"/>
          </p:cNvSpPr>
          <p:nvPr>
            <p:ph type="body" sz="quarter" idx="15"/>
          </p:nvPr>
        </p:nvSpPr>
        <p:spPr>
          <a:xfrm>
            <a:off x="609600" y="1151775"/>
            <a:ext cx="5257800" cy="537554"/>
          </a:xfrm>
        </p:spPr>
        <p:txBody>
          <a:bodyPr vert="horz" lIns="0" tIns="0" rIns="0" bIns="0" rtlCol="0">
            <a:normAutofit/>
          </a:bodyPr>
          <a:lstStyle>
            <a:lvl1pPr>
              <a:defRPr lang="en-US" dirty="0" smtClean="0">
                <a:latin typeface="+mj-lt"/>
              </a:defRPr>
            </a:lvl1pPr>
            <a:lvl2pPr>
              <a:defRPr lang="en-US" dirty="0" smtClean="0"/>
            </a:lvl2pPr>
            <a:lvl3pPr>
              <a:defRPr lang="en-US" dirty="0" smtClean="0"/>
            </a:lvl3pPr>
            <a:lvl4pPr>
              <a:defRPr lang="en-US" dirty="0" smtClean="0"/>
            </a:lvl4pPr>
            <a:lvl5pPr>
              <a:defRPr lang="en-ID" dirty="0"/>
            </a:lvl5pPr>
          </a:lstStyle>
          <a:p>
            <a:pPr marL="0" lvl="0" indent="0">
              <a:buNone/>
            </a:pPr>
            <a:r>
              <a:rPr lang="en-US" dirty="0"/>
              <a:t>Click to edit Master text styles</a:t>
            </a:r>
          </a:p>
        </p:txBody>
      </p:sp>
      <p:sp>
        <p:nvSpPr>
          <p:cNvPr id="14" name="Content Placeholder 2">
            <a:extLst>
              <a:ext uri="{FF2B5EF4-FFF2-40B4-BE49-F238E27FC236}">
                <a16:creationId xmlns:a16="http://schemas.microsoft.com/office/drawing/2014/main" id="{EA4AEC0B-D192-4CA5-A88C-6A36C2B93906}"/>
              </a:ext>
            </a:extLst>
          </p:cNvPr>
          <p:cNvSpPr>
            <a:spLocks noGrp="1"/>
          </p:cNvSpPr>
          <p:nvPr>
            <p:ph idx="16"/>
          </p:nvPr>
        </p:nvSpPr>
        <p:spPr>
          <a:xfrm>
            <a:off x="6324600" y="1832491"/>
            <a:ext cx="5257800" cy="43444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15" name="Text Placeholder 7">
            <a:extLst>
              <a:ext uri="{FF2B5EF4-FFF2-40B4-BE49-F238E27FC236}">
                <a16:creationId xmlns:a16="http://schemas.microsoft.com/office/drawing/2014/main" id="{A77F52AD-1E1F-4D69-B089-D9DBE278D3A5}"/>
              </a:ext>
            </a:extLst>
          </p:cNvPr>
          <p:cNvSpPr>
            <a:spLocks noGrp="1"/>
          </p:cNvSpPr>
          <p:nvPr>
            <p:ph type="body" sz="quarter" idx="17"/>
          </p:nvPr>
        </p:nvSpPr>
        <p:spPr>
          <a:xfrm>
            <a:off x="6324600" y="1151775"/>
            <a:ext cx="5257800" cy="537554"/>
          </a:xfrm>
        </p:spPr>
        <p:txBody>
          <a:bodyPr vert="horz" lIns="0" tIns="0" rIns="0" bIns="0" rtlCol="0">
            <a:normAutofit/>
          </a:bodyPr>
          <a:lstStyle>
            <a:lvl1pPr>
              <a:defRPr lang="en-US" dirty="0" smtClean="0">
                <a:latin typeface="+mj-lt"/>
              </a:defRPr>
            </a:lvl1pPr>
            <a:lvl2pPr>
              <a:defRPr lang="en-US" dirty="0" smtClean="0"/>
            </a:lvl2pPr>
            <a:lvl3pPr>
              <a:defRPr lang="en-US" dirty="0" smtClean="0"/>
            </a:lvl3pPr>
            <a:lvl4pPr>
              <a:defRPr lang="en-US" dirty="0" smtClean="0"/>
            </a:lvl4pPr>
            <a:lvl5pPr>
              <a:defRPr lang="en-ID" dirty="0"/>
            </a:lvl5pPr>
          </a:lstStyle>
          <a:p>
            <a:pPr marL="0" lvl="0" indent="0">
              <a:buNone/>
            </a:pPr>
            <a:r>
              <a:rPr lang="en-US" dirty="0"/>
              <a:t>Click to edit Master text styles</a:t>
            </a:r>
          </a:p>
        </p:txBody>
      </p:sp>
    </p:spTree>
    <p:extLst>
      <p:ext uri="{BB962C8B-B14F-4D97-AF65-F5344CB8AC3E}">
        <p14:creationId xmlns:p14="http://schemas.microsoft.com/office/powerpoint/2010/main" val="3144220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AC92-5FD2-4804-8C8C-EA69998B39D3}"/>
              </a:ext>
            </a:extLst>
          </p:cNvPr>
          <p:cNvSpPr>
            <a:spLocks noGrp="1"/>
          </p:cNvSpPr>
          <p:nvPr>
            <p:ph type="title"/>
          </p:nvPr>
        </p:nvSpPr>
        <p:spPr>
          <a:xfrm>
            <a:off x="609600" y="88128"/>
            <a:ext cx="10972800" cy="706662"/>
          </a:xfrm>
        </p:spPr>
        <p:txBody>
          <a:bodyPr vert="horz" lIns="0" tIns="0" rIns="0" bIns="0" rtlCol="0" anchor="b">
            <a:normAutofit/>
          </a:bodyPr>
          <a:lstStyle>
            <a:lvl1pPr>
              <a:defRPr lang="en-ID" sz="3200">
                <a:solidFill>
                  <a:schemeClr val="tx2"/>
                </a:solidFill>
              </a:defRPr>
            </a:lvl1pPr>
          </a:lstStyle>
          <a:p>
            <a:pPr marL="0" lvl="0"/>
            <a:r>
              <a:rPr lang="en-US" dirty="0"/>
              <a:t>Click to edit Master title style</a:t>
            </a:r>
            <a:endParaRPr lang="en-ID" dirty="0"/>
          </a:p>
        </p:txBody>
      </p:sp>
      <p:sp>
        <p:nvSpPr>
          <p:cNvPr id="4" name="Date Placeholder 3">
            <a:extLst>
              <a:ext uri="{FF2B5EF4-FFF2-40B4-BE49-F238E27FC236}">
                <a16:creationId xmlns:a16="http://schemas.microsoft.com/office/drawing/2014/main" id="{EC3AAEE7-4095-415E-ADD4-8F767E2C3608}"/>
              </a:ext>
            </a:extLst>
          </p:cNvPr>
          <p:cNvSpPr>
            <a:spLocks noGrp="1"/>
          </p:cNvSpPr>
          <p:nvPr>
            <p:ph type="dt" sz="half" idx="10"/>
          </p:nvPr>
        </p:nvSpPr>
        <p:spPr>
          <a:xfrm>
            <a:off x="10560050" y="6463283"/>
            <a:ext cx="1022350" cy="184666"/>
          </a:xfrm>
        </p:spPr>
        <p:txBody>
          <a:bodyPr vert="horz" wrap="square" lIns="0" tIns="0" rIns="0" bIns="0" rtlCol="0" anchor="ctr">
            <a:spAutoFit/>
          </a:bodyPr>
          <a:lstStyle>
            <a:lvl1pPr algn="r">
              <a:defRPr lang="en-ID" smtClean="0">
                <a:solidFill>
                  <a:schemeClr val="tx1">
                    <a:lumMod val="50000"/>
                    <a:lumOff val="50000"/>
                  </a:schemeClr>
                </a:solidFill>
                <a:latin typeface="+mn-lt"/>
              </a:defRPr>
            </a:lvl1pPr>
          </a:lstStyle>
          <a:p>
            <a:fld id="{43E2D749-843A-4CF2-BA5B-0BB9149F832F}" type="datetime1">
              <a:rPr lang="en-ID" smtClean="0"/>
              <a:t>10/09/2019</a:t>
            </a:fld>
            <a:endParaRPr lang="en-ID"/>
          </a:p>
        </p:txBody>
      </p:sp>
      <p:sp>
        <p:nvSpPr>
          <p:cNvPr id="9" name="Rectangle: Top Corners Rounded 8">
            <a:extLst>
              <a:ext uri="{FF2B5EF4-FFF2-40B4-BE49-F238E27FC236}">
                <a16:creationId xmlns:a16="http://schemas.microsoft.com/office/drawing/2014/main" id="{7025C961-B06B-4956-806B-BE834F6811D5}"/>
              </a:ext>
            </a:extLst>
          </p:cNvPr>
          <p:cNvSpPr/>
          <p:nvPr userDrawn="1"/>
        </p:nvSpPr>
        <p:spPr>
          <a:xfrm rot="5400000">
            <a:off x="284614" y="6056744"/>
            <a:ext cx="428514" cy="997745"/>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ECF2B506-E791-4E0A-8A3C-9D25AABC6D56}"/>
              </a:ext>
            </a:extLst>
          </p:cNvPr>
          <p:cNvSpPr/>
          <p:nvPr userDrawn="1"/>
        </p:nvSpPr>
        <p:spPr>
          <a:xfrm>
            <a:off x="609600" y="6384166"/>
            <a:ext cx="342900" cy="342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cxnSp>
        <p:nvCxnSpPr>
          <p:cNvPr id="11" name="Straight Connector 10">
            <a:extLst>
              <a:ext uri="{FF2B5EF4-FFF2-40B4-BE49-F238E27FC236}">
                <a16:creationId xmlns:a16="http://schemas.microsoft.com/office/drawing/2014/main" id="{4E9005DD-915C-4E7E-BF60-69091252018F}"/>
              </a:ext>
            </a:extLst>
          </p:cNvPr>
          <p:cNvCxnSpPr/>
          <p:nvPr userDrawn="1"/>
        </p:nvCxnSpPr>
        <p:spPr>
          <a:xfrm>
            <a:off x="609600" y="901701"/>
            <a:ext cx="477440" cy="0"/>
          </a:xfrm>
          <a:prstGeom prst="line">
            <a:avLst/>
          </a:prstGeom>
          <a:ln w="254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D1B70B0-5FEC-49BA-A698-BEC51B8C4B6C}"/>
              </a:ext>
            </a:extLst>
          </p:cNvPr>
          <p:cNvSpPr>
            <a:spLocks noGrp="1"/>
          </p:cNvSpPr>
          <p:nvPr>
            <p:ph type="ftr" sz="quarter" idx="11"/>
          </p:nvPr>
        </p:nvSpPr>
        <p:spPr>
          <a:xfrm>
            <a:off x="1106090" y="6463283"/>
            <a:ext cx="4310460" cy="184666"/>
          </a:xfrm>
        </p:spPr>
        <p:txBody>
          <a:bodyPr vert="horz" wrap="square" lIns="0" tIns="0" rIns="0" bIns="0" rtlCol="0" anchor="ctr">
            <a:spAutoFit/>
          </a:bodyPr>
          <a:lstStyle>
            <a:lvl1pPr algn="l">
              <a:defRPr lang="en-ID" smtClean="0">
                <a:solidFill>
                  <a:schemeClr val="tx1">
                    <a:lumMod val="50000"/>
                    <a:lumOff val="50000"/>
                  </a:schemeClr>
                </a:solidFill>
                <a:latin typeface="+mj-lt"/>
              </a:defRPr>
            </a:lvl1pPr>
          </a:lstStyle>
          <a:p>
            <a:r>
              <a:rPr lang="en-ID"/>
              <a:t>Footer</a:t>
            </a:r>
          </a:p>
        </p:txBody>
      </p:sp>
      <p:sp>
        <p:nvSpPr>
          <p:cNvPr id="6" name="Slide Number Placeholder 5">
            <a:extLst>
              <a:ext uri="{FF2B5EF4-FFF2-40B4-BE49-F238E27FC236}">
                <a16:creationId xmlns:a16="http://schemas.microsoft.com/office/drawing/2014/main" id="{40F9F326-BA84-4729-AF08-57BF1C417D4B}"/>
              </a:ext>
            </a:extLst>
          </p:cNvPr>
          <p:cNvSpPr>
            <a:spLocks noGrp="1"/>
          </p:cNvSpPr>
          <p:nvPr>
            <p:ph type="sldNum" sz="quarter" idx="12"/>
          </p:nvPr>
        </p:nvSpPr>
        <p:spPr>
          <a:xfrm>
            <a:off x="667237" y="6463283"/>
            <a:ext cx="227626" cy="184666"/>
          </a:xfrm>
        </p:spPr>
        <p:txBody>
          <a:bodyPr vert="horz" wrap="none" lIns="0" tIns="0" rIns="0" bIns="0" rtlCol="0" anchor="ctr">
            <a:spAutoFit/>
          </a:bodyPr>
          <a:lstStyle>
            <a:lvl1pPr algn="ctr">
              <a:defRPr lang="en-ID" smtClean="0">
                <a:solidFill>
                  <a:schemeClr val="tx1">
                    <a:lumMod val="50000"/>
                    <a:lumOff val="50000"/>
                  </a:schemeClr>
                </a:solidFill>
                <a:latin typeface="+mj-lt"/>
              </a:defRPr>
            </a:lvl1pPr>
          </a:lstStyle>
          <a:p>
            <a:fld id="{20A13858-C2AA-4A16-A43A-77ABAD7631C2}" type="slidenum">
              <a:rPr lang="en-ID" smtClean="0"/>
              <a:pPr/>
              <a:t>‹#›</a:t>
            </a:fld>
            <a:endParaRPr lang="en-ID" dirty="0"/>
          </a:p>
        </p:txBody>
      </p:sp>
    </p:spTree>
    <p:extLst>
      <p:ext uri="{BB962C8B-B14F-4D97-AF65-F5344CB8AC3E}">
        <p14:creationId xmlns:p14="http://schemas.microsoft.com/office/powerpoint/2010/main" val="2000513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C3AAEE7-4095-415E-ADD4-8F767E2C3608}"/>
              </a:ext>
            </a:extLst>
          </p:cNvPr>
          <p:cNvSpPr>
            <a:spLocks noGrp="1"/>
          </p:cNvSpPr>
          <p:nvPr>
            <p:ph type="dt" sz="half" idx="10"/>
          </p:nvPr>
        </p:nvSpPr>
        <p:spPr>
          <a:xfrm>
            <a:off x="10560050" y="6463283"/>
            <a:ext cx="1022350" cy="184666"/>
          </a:xfrm>
        </p:spPr>
        <p:txBody>
          <a:bodyPr vert="horz" wrap="square" lIns="0" tIns="0" rIns="0" bIns="0" rtlCol="0" anchor="ctr">
            <a:spAutoFit/>
          </a:bodyPr>
          <a:lstStyle>
            <a:lvl1pPr algn="r">
              <a:defRPr lang="en-ID" smtClean="0">
                <a:solidFill>
                  <a:schemeClr val="tx1">
                    <a:lumMod val="50000"/>
                    <a:lumOff val="50000"/>
                  </a:schemeClr>
                </a:solidFill>
                <a:latin typeface="+mn-lt"/>
              </a:defRPr>
            </a:lvl1pPr>
          </a:lstStyle>
          <a:p>
            <a:fld id="{43E2D749-843A-4CF2-BA5B-0BB9149F832F}" type="datetime1">
              <a:rPr lang="en-ID" smtClean="0"/>
              <a:t>10/09/2019</a:t>
            </a:fld>
            <a:endParaRPr lang="en-ID"/>
          </a:p>
        </p:txBody>
      </p:sp>
      <p:sp>
        <p:nvSpPr>
          <p:cNvPr id="9" name="Rectangle: Top Corners Rounded 8">
            <a:extLst>
              <a:ext uri="{FF2B5EF4-FFF2-40B4-BE49-F238E27FC236}">
                <a16:creationId xmlns:a16="http://schemas.microsoft.com/office/drawing/2014/main" id="{7025C961-B06B-4956-806B-BE834F6811D5}"/>
              </a:ext>
            </a:extLst>
          </p:cNvPr>
          <p:cNvSpPr/>
          <p:nvPr userDrawn="1"/>
        </p:nvSpPr>
        <p:spPr>
          <a:xfrm rot="5400000">
            <a:off x="284614" y="6056744"/>
            <a:ext cx="428514" cy="997745"/>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ECF2B506-E791-4E0A-8A3C-9D25AABC6D56}"/>
              </a:ext>
            </a:extLst>
          </p:cNvPr>
          <p:cNvSpPr/>
          <p:nvPr userDrawn="1"/>
        </p:nvSpPr>
        <p:spPr>
          <a:xfrm>
            <a:off x="609600" y="6384166"/>
            <a:ext cx="342900" cy="342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a:p>
        </p:txBody>
      </p:sp>
      <p:sp>
        <p:nvSpPr>
          <p:cNvPr id="5" name="Footer Placeholder 4">
            <a:extLst>
              <a:ext uri="{FF2B5EF4-FFF2-40B4-BE49-F238E27FC236}">
                <a16:creationId xmlns:a16="http://schemas.microsoft.com/office/drawing/2014/main" id="{0D1B70B0-5FEC-49BA-A698-BEC51B8C4B6C}"/>
              </a:ext>
            </a:extLst>
          </p:cNvPr>
          <p:cNvSpPr>
            <a:spLocks noGrp="1"/>
          </p:cNvSpPr>
          <p:nvPr>
            <p:ph type="ftr" sz="quarter" idx="11"/>
          </p:nvPr>
        </p:nvSpPr>
        <p:spPr>
          <a:xfrm>
            <a:off x="1106090" y="6463283"/>
            <a:ext cx="4310460" cy="184666"/>
          </a:xfrm>
        </p:spPr>
        <p:txBody>
          <a:bodyPr vert="horz" wrap="square" lIns="0" tIns="0" rIns="0" bIns="0" rtlCol="0" anchor="ctr">
            <a:spAutoFit/>
          </a:bodyPr>
          <a:lstStyle>
            <a:lvl1pPr algn="l">
              <a:defRPr lang="en-ID" smtClean="0">
                <a:solidFill>
                  <a:schemeClr val="tx1">
                    <a:lumMod val="50000"/>
                    <a:lumOff val="50000"/>
                  </a:schemeClr>
                </a:solidFill>
                <a:latin typeface="+mj-lt"/>
              </a:defRPr>
            </a:lvl1pPr>
          </a:lstStyle>
          <a:p>
            <a:r>
              <a:rPr lang="en-ID"/>
              <a:t>Footer</a:t>
            </a:r>
          </a:p>
        </p:txBody>
      </p:sp>
      <p:sp>
        <p:nvSpPr>
          <p:cNvPr id="6" name="Slide Number Placeholder 5">
            <a:extLst>
              <a:ext uri="{FF2B5EF4-FFF2-40B4-BE49-F238E27FC236}">
                <a16:creationId xmlns:a16="http://schemas.microsoft.com/office/drawing/2014/main" id="{40F9F326-BA84-4729-AF08-57BF1C417D4B}"/>
              </a:ext>
            </a:extLst>
          </p:cNvPr>
          <p:cNvSpPr>
            <a:spLocks noGrp="1"/>
          </p:cNvSpPr>
          <p:nvPr>
            <p:ph type="sldNum" sz="quarter" idx="12"/>
          </p:nvPr>
        </p:nvSpPr>
        <p:spPr>
          <a:xfrm>
            <a:off x="667237" y="6463283"/>
            <a:ext cx="227626" cy="184666"/>
          </a:xfrm>
        </p:spPr>
        <p:txBody>
          <a:bodyPr vert="horz" wrap="none" lIns="0" tIns="0" rIns="0" bIns="0" rtlCol="0" anchor="ctr">
            <a:spAutoFit/>
          </a:bodyPr>
          <a:lstStyle>
            <a:lvl1pPr algn="ctr">
              <a:defRPr lang="en-ID" smtClean="0">
                <a:solidFill>
                  <a:schemeClr val="tx1">
                    <a:lumMod val="50000"/>
                    <a:lumOff val="50000"/>
                  </a:schemeClr>
                </a:solidFill>
                <a:latin typeface="+mj-lt"/>
              </a:defRPr>
            </a:lvl1pPr>
          </a:lstStyle>
          <a:p>
            <a:fld id="{20A13858-C2AA-4A16-A43A-77ABAD7631C2}" type="slidenum">
              <a:rPr lang="en-ID" smtClean="0"/>
              <a:pPr/>
              <a:t>‹#›</a:t>
            </a:fld>
            <a:endParaRPr lang="en-ID" dirty="0"/>
          </a:p>
        </p:txBody>
      </p:sp>
    </p:spTree>
    <p:extLst>
      <p:ext uri="{BB962C8B-B14F-4D97-AF65-F5344CB8AC3E}">
        <p14:creationId xmlns:p14="http://schemas.microsoft.com/office/powerpoint/2010/main" val="2129987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3" name="Picture 22" descr="A tall building&#10;&#10;Description automatically generated">
            <a:extLst>
              <a:ext uri="{FF2B5EF4-FFF2-40B4-BE49-F238E27FC236}">
                <a16:creationId xmlns:a16="http://schemas.microsoft.com/office/drawing/2014/main" id="{77B99B29-F885-4B15-B7D6-B1BBD3240DCD}"/>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l="3750" t="43495" b="10305"/>
          <a:stretch/>
        </p:blipFill>
        <p:spPr>
          <a:xfrm>
            <a:off x="4368799" y="1103539"/>
            <a:ext cx="7823201" cy="4470396"/>
          </a:xfrm>
          <a:prstGeom prst="rect">
            <a:avLst/>
          </a:prstGeom>
        </p:spPr>
      </p:pic>
      <p:sp>
        <p:nvSpPr>
          <p:cNvPr id="8" name="Rectangle 7">
            <a:extLst>
              <a:ext uri="{FF2B5EF4-FFF2-40B4-BE49-F238E27FC236}">
                <a16:creationId xmlns:a16="http://schemas.microsoft.com/office/drawing/2014/main" id="{5A4B4D18-8E8D-4FFC-83B0-8EB50F244CA6}"/>
              </a:ext>
            </a:extLst>
          </p:cNvPr>
          <p:cNvSpPr/>
          <p:nvPr userDrawn="1"/>
        </p:nvSpPr>
        <p:spPr>
          <a:xfrm>
            <a:off x="4368800" y="1103539"/>
            <a:ext cx="7823200" cy="4470396"/>
          </a:xfrm>
          <a:prstGeom prst="rect">
            <a:avLst/>
          </a:prstGeom>
          <a:solidFill>
            <a:schemeClr val="tx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TextBox 8">
            <a:extLst>
              <a:ext uri="{FF2B5EF4-FFF2-40B4-BE49-F238E27FC236}">
                <a16:creationId xmlns:a16="http://schemas.microsoft.com/office/drawing/2014/main" id="{50FA4430-96DD-4FAF-92BE-365CB96C9661}"/>
              </a:ext>
            </a:extLst>
          </p:cNvPr>
          <p:cNvSpPr txBox="1"/>
          <p:nvPr userDrawn="1"/>
        </p:nvSpPr>
        <p:spPr>
          <a:xfrm>
            <a:off x="1676400" y="2507740"/>
            <a:ext cx="2197100" cy="1661993"/>
          </a:xfrm>
          <a:prstGeom prst="rect">
            <a:avLst/>
          </a:prstGeom>
        </p:spPr>
        <p:txBody>
          <a:bodyPr vert="horz" wrap="square" lIns="0" tIns="0" rIns="0" bIns="0" rtlCol="0" anchor="ctr">
            <a:spAutoFit/>
          </a:bodyPr>
          <a:lstStyle>
            <a:lvl1pPr>
              <a:lnSpc>
                <a:spcPct val="90000"/>
              </a:lnSpc>
              <a:spcBef>
                <a:spcPct val="0"/>
              </a:spcBef>
              <a:buNone/>
              <a:defRPr lang="en-ID" sz="4800">
                <a:solidFill>
                  <a:schemeClr val="bg1"/>
                </a:solidFill>
                <a:latin typeface="+mj-lt"/>
                <a:ea typeface="+mj-ea"/>
                <a:cs typeface="+mj-cs"/>
              </a:defRPr>
            </a:lvl1pPr>
          </a:lstStyle>
          <a:p>
            <a:r>
              <a:rPr lang="id-ID" sz="6000" dirty="0">
                <a:solidFill>
                  <a:schemeClr val="tx1">
                    <a:lumMod val="75000"/>
                    <a:lumOff val="25000"/>
                  </a:schemeClr>
                </a:solidFill>
              </a:rPr>
              <a:t>Thank You</a:t>
            </a:r>
            <a:endParaRPr lang="en-ID" sz="6000" dirty="0">
              <a:solidFill>
                <a:schemeClr val="tx1">
                  <a:lumMod val="75000"/>
                  <a:lumOff val="25000"/>
                </a:schemeClr>
              </a:solidFill>
            </a:endParaRPr>
          </a:p>
        </p:txBody>
      </p:sp>
      <p:grpSp>
        <p:nvGrpSpPr>
          <p:cNvPr id="12" name="Group 11">
            <a:extLst>
              <a:ext uri="{FF2B5EF4-FFF2-40B4-BE49-F238E27FC236}">
                <a16:creationId xmlns:a16="http://schemas.microsoft.com/office/drawing/2014/main" id="{7018F584-6C2B-4EF8-8771-1BFD1C4BAB0C}"/>
              </a:ext>
            </a:extLst>
          </p:cNvPr>
          <p:cNvGrpSpPr/>
          <p:nvPr userDrawn="1"/>
        </p:nvGrpSpPr>
        <p:grpSpPr>
          <a:xfrm>
            <a:off x="2235200" y="1958340"/>
            <a:ext cx="2133600" cy="2760794"/>
            <a:chOff x="1676400" y="1968500"/>
            <a:chExt cx="4686300" cy="2324100"/>
          </a:xfrm>
        </p:grpSpPr>
        <p:cxnSp>
          <p:nvCxnSpPr>
            <p:cNvPr id="14" name="Straight Connector 13">
              <a:extLst>
                <a:ext uri="{FF2B5EF4-FFF2-40B4-BE49-F238E27FC236}">
                  <a16:creationId xmlns:a16="http://schemas.microsoft.com/office/drawing/2014/main" id="{CFED6973-47BD-4714-8C1D-C388965D0C3C}"/>
                </a:ext>
              </a:extLst>
            </p:cNvPr>
            <p:cNvCxnSpPr/>
            <p:nvPr/>
          </p:nvCxnSpPr>
          <p:spPr>
            <a:xfrm>
              <a:off x="1676400" y="1968500"/>
              <a:ext cx="4686300" cy="0"/>
            </a:xfrm>
            <a:prstGeom prst="line">
              <a:avLst/>
            </a:prstGeom>
            <a:ln w="34925" cap="sq">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ADEA8B6-809A-407E-ABE3-510CFD9ED446}"/>
                </a:ext>
              </a:extLst>
            </p:cNvPr>
            <p:cNvCxnSpPr/>
            <p:nvPr/>
          </p:nvCxnSpPr>
          <p:spPr>
            <a:xfrm>
              <a:off x="1676400" y="4292600"/>
              <a:ext cx="4686300" cy="0"/>
            </a:xfrm>
            <a:prstGeom prst="line">
              <a:avLst/>
            </a:prstGeom>
            <a:ln w="34925" cap="sq">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D171F7E2-5D94-4545-868D-2BAA3F63AA38}"/>
              </a:ext>
            </a:extLst>
          </p:cNvPr>
          <p:cNvGrpSpPr/>
          <p:nvPr userDrawn="1"/>
        </p:nvGrpSpPr>
        <p:grpSpPr>
          <a:xfrm>
            <a:off x="4368800" y="1958340"/>
            <a:ext cx="1257300" cy="2760794"/>
            <a:chOff x="1676400" y="1968500"/>
            <a:chExt cx="4686300" cy="2324100"/>
          </a:xfrm>
        </p:grpSpPr>
        <p:cxnSp>
          <p:nvCxnSpPr>
            <p:cNvPr id="17" name="Straight Connector 16">
              <a:extLst>
                <a:ext uri="{FF2B5EF4-FFF2-40B4-BE49-F238E27FC236}">
                  <a16:creationId xmlns:a16="http://schemas.microsoft.com/office/drawing/2014/main" id="{1D8363CC-CF6B-4FAF-AD37-D4E6F3BF39FA}"/>
                </a:ext>
              </a:extLst>
            </p:cNvPr>
            <p:cNvCxnSpPr/>
            <p:nvPr/>
          </p:nvCxnSpPr>
          <p:spPr>
            <a:xfrm>
              <a:off x="1676400" y="1968500"/>
              <a:ext cx="4686300" cy="0"/>
            </a:xfrm>
            <a:prstGeom prst="line">
              <a:avLst/>
            </a:prstGeom>
            <a:ln w="34925" cap="sq">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F0229F1-DDD1-4D24-A890-4114E3DD9B57}"/>
                </a:ext>
              </a:extLst>
            </p:cNvPr>
            <p:cNvCxnSpPr/>
            <p:nvPr/>
          </p:nvCxnSpPr>
          <p:spPr>
            <a:xfrm>
              <a:off x="1676400" y="4292600"/>
              <a:ext cx="4686300" cy="0"/>
            </a:xfrm>
            <a:prstGeom prst="line">
              <a:avLst/>
            </a:prstGeom>
            <a:ln w="34925" cap="sq">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891DFB4C-B1AC-4E40-8D6A-42D3E5C3E5B4}"/>
              </a:ext>
            </a:extLst>
          </p:cNvPr>
          <p:cNvCxnSpPr>
            <a:cxnSpLocks/>
          </p:cNvCxnSpPr>
          <p:nvPr userDrawn="1"/>
        </p:nvCxnSpPr>
        <p:spPr>
          <a:xfrm>
            <a:off x="2235200" y="1958340"/>
            <a:ext cx="0" cy="342900"/>
          </a:xfrm>
          <a:prstGeom prst="line">
            <a:avLst/>
          </a:prstGeom>
          <a:ln w="34925" cap="sq">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CF57582-BB79-421A-8148-A0A61637F42F}"/>
              </a:ext>
            </a:extLst>
          </p:cNvPr>
          <p:cNvCxnSpPr>
            <a:cxnSpLocks/>
          </p:cNvCxnSpPr>
          <p:nvPr userDrawn="1"/>
        </p:nvCxnSpPr>
        <p:spPr>
          <a:xfrm>
            <a:off x="2235200" y="4376234"/>
            <a:ext cx="0" cy="342900"/>
          </a:xfrm>
          <a:prstGeom prst="line">
            <a:avLst/>
          </a:prstGeom>
          <a:ln w="34925" cap="sq">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95CDAA5-2A03-4D02-AE2A-83FAC20AFB9B}"/>
              </a:ext>
            </a:extLst>
          </p:cNvPr>
          <p:cNvCxnSpPr>
            <a:cxnSpLocks/>
          </p:cNvCxnSpPr>
          <p:nvPr userDrawn="1"/>
        </p:nvCxnSpPr>
        <p:spPr>
          <a:xfrm>
            <a:off x="5626100" y="1958340"/>
            <a:ext cx="0" cy="2760794"/>
          </a:xfrm>
          <a:prstGeom prst="line">
            <a:avLst/>
          </a:prstGeom>
          <a:ln w="34925" cap="sq">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11B427A-ADCF-4737-AF74-9D5E566BBFF8}"/>
              </a:ext>
            </a:extLst>
          </p:cNvPr>
          <p:cNvPicPr>
            <a:picLocks noChangeAspect="1"/>
          </p:cNvPicPr>
          <p:nvPr userDrawn="1"/>
        </p:nvPicPr>
        <p:blipFill rotWithShape="1">
          <a:blip r:embed="rId3">
            <a:extLst>
              <a:ext uri="{28A0092B-C50C-407E-A947-70E740481C1C}">
                <a14:useLocalDpi xmlns:a14="http://schemas.microsoft.com/office/drawing/2010/main"/>
              </a:ext>
            </a:extLst>
          </a:blip>
          <a:srcRect l="35690" t="44951" r="29720" b="44305"/>
          <a:stretch/>
        </p:blipFill>
        <p:spPr>
          <a:xfrm>
            <a:off x="10394043" y="5063269"/>
            <a:ext cx="1188357" cy="376464"/>
          </a:xfrm>
          <a:prstGeom prst="rect">
            <a:avLst/>
          </a:prstGeom>
          <a:effectLst/>
        </p:spPr>
      </p:pic>
    </p:spTree>
    <p:extLst>
      <p:ext uri="{BB962C8B-B14F-4D97-AF65-F5344CB8AC3E}">
        <p14:creationId xmlns:p14="http://schemas.microsoft.com/office/powerpoint/2010/main" val="22540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9DA85B-A1F7-4E51-8134-FAFAF227ECE2}" type="datetimeFigureOut">
              <a:rPr lang="en-US" smtClean="0"/>
              <a:t>9/10/2019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1430541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28625"/>
            <a:ext cx="10515600" cy="663575"/>
          </a:xfrm>
        </p:spPr>
        <p:txBody>
          <a:bodyPr>
            <a:normAutofit/>
          </a:bodyPr>
          <a:lstStyle>
            <a:lvl1pPr algn="ctr">
              <a:defRPr sz="3600" b="1">
                <a:solidFill>
                  <a:schemeClr val="tx1">
                    <a:lumMod val="85000"/>
                    <a:lumOff val="15000"/>
                  </a:schemeClr>
                </a:solidFill>
                <a:latin typeface="Century Gothic" panose="020B0502020202020204" pitchFamily="34" charset="0"/>
              </a:defRPr>
            </a:lvl1pPr>
          </a:lstStyle>
          <a:p>
            <a:r>
              <a:rPr lang="en-US" dirty="0"/>
              <a:t>Click to edit Master title style</a:t>
            </a:r>
          </a:p>
        </p:txBody>
      </p:sp>
      <p:sp>
        <p:nvSpPr>
          <p:cNvPr id="3" name="Content Placeholder 2"/>
          <p:cNvSpPr>
            <a:spLocks noGrp="1"/>
          </p:cNvSpPr>
          <p:nvPr>
            <p:ph idx="1"/>
          </p:nvPr>
        </p:nvSpPr>
        <p:spPr>
          <a:xfrm>
            <a:off x="838200" y="1422400"/>
            <a:ext cx="10515600" cy="4454526"/>
          </a:xfrm>
        </p:spPr>
        <p:txBody>
          <a:bodyPr>
            <a:norm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69DA85B-A1F7-4E51-8134-FAFAF227ECE2}" type="datetimeFigureOut">
              <a:rPr lang="en-US" smtClean="0"/>
              <a:t>9/10/2019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userDrawn="1"/>
        </p:nvSpPr>
        <p:spPr>
          <a:xfrm>
            <a:off x="10975976" y="5998483"/>
            <a:ext cx="752474" cy="752474"/>
          </a:xfrm>
          <a:custGeom>
            <a:avLst/>
            <a:gdLst>
              <a:gd name="connsiteX0" fmla="*/ 409189 w 818378"/>
              <a:gd name="connsiteY0" fmla="*/ 0 h 818377"/>
              <a:gd name="connsiteX1" fmla="*/ 534424 w 818378"/>
              <a:gd name="connsiteY1" fmla="*/ 125235 h 818377"/>
              <a:gd name="connsiteX2" fmla="*/ 534424 w 818378"/>
              <a:gd name="connsiteY2" fmla="*/ 283953 h 818377"/>
              <a:gd name="connsiteX3" fmla="*/ 693143 w 818378"/>
              <a:gd name="connsiteY3" fmla="*/ 283954 h 818377"/>
              <a:gd name="connsiteX4" fmla="*/ 818378 w 818378"/>
              <a:gd name="connsiteY4" fmla="*/ 409189 h 818377"/>
              <a:gd name="connsiteX5" fmla="*/ 818377 w 818378"/>
              <a:gd name="connsiteY5" fmla="*/ 409188 h 818377"/>
              <a:gd name="connsiteX6" fmla="*/ 693142 w 818378"/>
              <a:gd name="connsiteY6" fmla="*/ 534423 h 818377"/>
              <a:gd name="connsiteX7" fmla="*/ 534423 w 818378"/>
              <a:gd name="connsiteY7" fmla="*/ 534423 h 818377"/>
              <a:gd name="connsiteX8" fmla="*/ 534423 w 818378"/>
              <a:gd name="connsiteY8" fmla="*/ 693142 h 818377"/>
              <a:gd name="connsiteX9" fmla="*/ 409188 w 818378"/>
              <a:gd name="connsiteY9" fmla="*/ 818377 h 818377"/>
              <a:gd name="connsiteX10" fmla="*/ 409189 w 818378"/>
              <a:gd name="connsiteY10" fmla="*/ 818376 h 818377"/>
              <a:gd name="connsiteX11" fmla="*/ 283954 w 818378"/>
              <a:gd name="connsiteY11" fmla="*/ 693141 h 818377"/>
              <a:gd name="connsiteX12" fmla="*/ 283954 w 818378"/>
              <a:gd name="connsiteY12" fmla="*/ 534423 h 818377"/>
              <a:gd name="connsiteX13" fmla="*/ 125235 w 818378"/>
              <a:gd name="connsiteY13" fmla="*/ 534423 h 818377"/>
              <a:gd name="connsiteX14" fmla="*/ 0 w 818378"/>
              <a:gd name="connsiteY14" fmla="*/ 409188 h 818377"/>
              <a:gd name="connsiteX15" fmla="*/ 125235 w 818378"/>
              <a:gd name="connsiteY15" fmla="*/ 283953 h 818377"/>
              <a:gd name="connsiteX16" fmla="*/ 283954 w 818378"/>
              <a:gd name="connsiteY16" fmla="*/ 283953 h 818377"/>
              <a:gd name="connsiteX17" fmla="*/ 283954 w 818378"/>
              <a:gd name="connsiteY17" fmla="*/ 125235 h 818377"/>
              <a:gd name="connsiteX18" fmla="*/ 409189 w 818378"/>
              <a:gd name="connsiteY18" fmla="*/ 0 h 81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18378" h="818377">
                <a:moveTo>
                  <a:pt x="409189" y="0"/>
                </a:moveTo>
                <a:cubicBezTo>
                  <a:pt x="478354" y="0"/>
                  <a:pt x="534424" y="56070"/>
                  <a:pt x="534424" y="125235"/>
                </a:cubicBezTo>
                <a:lnTo>
                  <a:pt x="534424" y="283953"/>
                </a:lnTo>
                <a:lnTo>
                  <a:pt x="693143" y="283954"/>
                </a:lnTo>
                <a:cubicBezTo>
                  <a:pt x="762308" y="283954"/>
                  <a:pt x="818378" y="340024"/>
                  <a:pt x="818378" y="409189"/>
                </a:cubicBezTo>
                <a:lnTo>
                  <a:pt x="818377" y="409188"/>
                </a:lnTo>
                <a:cubicBezTo>
                  <a:pt x="818377" y="478353"/>
                  <a:pt x="762307" y="534423"/>
                  <a:pt x="693142" y="534423"/>
                </a:cubicBezTo>
                <a:lnTo>
                  <a:pt x="534423" y="534423"/>
                </a:lnTo>
                <a:lnTo>
                  <a:pt x="534423" y="693142"/>
                </a:lnTo>
                <a:cubicBezTo>
                  <a:pt x="534423" y="762307"/>
                  <a:pt x="478353" y="818377"/>
                  <a:pt x="409188" y="818377"/>
                </a:cubicBezTo>
                <a:lnTo>
                  <a:pt x="409189" y="818376"/>
                </a:lnTo>
                <a:cubicBezTo>
                  <a:pt x="340024" y="818376"/>
                  <a:pt x="283954" y="762306"/>
                  <a:pt x="283954" y="693141"/>
                </a:cubicBezTo>
                <a:lnTo>
                  <a:pt x="283954" y="534423"/>
                </a:lnTo>
                <a:lnTo>
                  <a:pt x="125235" y="534423"/>
                </a:lnTo>
                <a:cubicBezTo>
                  <a:pt x="56070" y="534423"/>
                  <a:pt x="0" y="478353"/>
                  <a:pt x="0" y="409188"/>
                </a:cubicBezTo>
                <a:cubicBezTo>
                  <a:pt x="0" y="340023"/>
                  <a:pt x="56070" y="283953"/>
                  <a:pt x="125235" y="283953"/>
                </a:cubicBezTo>
                <a:lnTo>
                  <a:pt x="283954" y="283953"/>
                </a:lnTo>
                <a:lnTo>
                  <a:pt x="283954" y="125235"/>
                </a:lnTo>
                <a:cubicBezTo>
                  <a:pt x="283954" y="56070"/>
                  <a:pt x="340024" y="0"/>
                  <a:pt x="409189" y="0"/>
                </a:cubicBezTo>
                <a:close/>
              </a:path>
            </a:pathLst>
          </a:custGeom>
          <a:solidFill>
            <a:srgbClr val="14A4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11133138" y="6192158"/>
            <a:ext cx="438150" cy="365125"/>
          </a:xfrm>
        </p:spPr>
        <p:txBody>
          <a:bodyPr/>
          <a:lstStyle>
            <a:lvl1pPr algn="ctr">
              <a:defRPr>
                <a:solidFill>
                  <a:schemeClr val="bg1"/>
                </a:solidFill>
              </a:defRPr>
            </a:lvl1pPr>
          </a:lstStyle>
          <a:p>
            <a:fld id="{4B654FAA-EE11-4340-9E4F-0FD740EF42A4}" type="slidenum">
              <a:rPr lang="en-US" smtClean="0"/>
              <a:pPr/>
              <a:t>‹#›</a:t>
            </a:fld>
            <a:endParaRPr lang="en-US" dirty="0"/>
          </a:p>
        </p:txBody>
      </p:sp>
      <p:sp>
        <p:nvSpPr>
          <p:cNvPr id="9" name="Oval 8"/>
          <p:cNvSpPr/>
          <p:nvPr userDrawn="1"/>
        </p:nvSpPr>
        <p:spPr>
          <a:xfrm>
            <a:off x="10772278" y="5881009"/>
            <a:ext cx="248085" cy="248085"/>
          </a:xfrm>
          <a:prstGeom prst="ellipse">
            <a:avLst/>
          </a:prstGeom>
          <a:noFill/>
          <a:ln w="114300">
            <a:solidFill>
              <a:srgbClr val="FFCC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userDrawn="1"/>
        </p:nvSpPr>
        <p:spPr>
          <a:xfrm>
            <a:off x="10688434" y="6460715"/>
            <a:ext cx="260760" cy="260760"/>
          </a:xfrm>
          <a:custGeom>
            <a:avLst/>
            <a:gdLst>
              <a:gd name="connsiteX0" fmla="*/ 409189 w 818378"/>
              <a:gd name="connsiteY0" fmla="*/ 0 h 818377"/>
              <a:gd name="connsiteX1" fmla="*/ 534424 w 818378"/>
              <a:gd name="connsiteY1" fmla="*/ 125235 h 818377"/>
              <a:gd name="connsiteX2" fmla="*/ 534424 w 818378"/>
              <a:gd name="connsiteY2" fmla="*/ 283953 h 818377"/>
              <a:gd name="connsiteX3" fmla="*/ 693143 w 818378"/>
              <a:gd name="connsiteY3" fmla="*/ 283954 h 818377"/>
              <a:gd name="connsiteX4" fmla="*/ 818378 w 818378"/>
              <a:gd name="connsiteY4" fmla="*/ 409189 h 818377"/>
              <a:gd name="connsiteX5" fmla="*/ 818377 w 818378"/>
              <a:gd name="connsiteY5" fmla="*/ 409188 h 818377"/>
              <a:gd name="connsiteX6" fmla="*/ 693142 w 818378"/>
              <a:gd name="connsiteY6" fmla="*/ 534423 h 818377"/>
              <a:gd name="connsiteX7" fmla="*/ 534423 w 818378"/>
              <a:gd name="connsiteY7" fmla="*/ 534423 h 818377"/>
              <a:gd name="connsiteX8" fmla="*/ 534423 w 818378"/>
              <a:gd name="connsiteY8" fmla="*/ 693142 h 818377"/>
              <a:gd name="connsiteX9" fmla="*/ 409188 w 818378"/>
              <a:gd name="connsiteY9" fmla="*/ 818377 h 818377"/>
              <a:gd name="connsiteX10" fmla="*/ 409189 w 818378"/>
              <a:gd name="connsiteY10" fmla="*/ 818376 h 818377"/>
              <a:gd name="connsiteX11" fmla="*/ 283954 w 818378"/>
              <a:gd name="connsiteY11" fmla="*/ 693141 h 818377"/>
              <a:gd name="connsiteX12" fmla="*/ 283954 w 818378"/>
              <a:gd name="connsiteY12" fmla="*/ 534423 h 818377"/>
              <a:gd name="connsiteX13" fmla="*/ 125235 w 818378"/>
              <a:gd name="connsiteY13" fmla="*/ 534423 h 818377"/>
              <a:gd name="connsiteX14" fmla="*/ 0 w 818378"/>
              <a:gd name="connsiteY14" fmla="*/ 409188 h 818377"/>
              <a:gd name="connsiteX15" fmla="*/ 125235 w 818378"/>
              <a:gd name="connsiteY15" fmla="*/ 283953 h 818377"/>
              <a:gd name="connsiteX16" fmla="*/ 283954 w 818378"/>
              <a:gd name="connsiteY16" fmla="*/ 283953 h 818377"/>
              <a:gd name="connsiteX17" fmla="*/ 283954 w 818378"/>
              <a:gd name="connsiteY17" fmla="*/ 125235 h 818377"/>
              <a:gd name="connsiteX18" fmla="*/ 409189 w 818378"/>
              <a:gd name="connsiteY18" fmla="*/ 0 h 81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18378" h="818377">
                <a:moveTo>
                  <a:pt x="409189" y="0"/>
                </a:moveTo>
                <a:cubicBezTo>
                  <a:pt x="478354" y="0"/>
                  <a:pt x="534424" y="56070"/>
                  <a:pt x="534424" y="125235"/>
                </a:cubicBezTo>
                <a:lnTo>
                  <a:pt x="534424" y="283953"/>
                </a:lnTo>
                <a:lnTo>
                  <a:pt x="693143" y="283954"/>
                </a:lnTo>
                <a:cubicBezTo>
                  <a:pt x="762308" y="283954"/>
                  <a:pt x="818378" y="340024"/>
                  <a:pt x="818378" y="409189"/>
                </a:cubicBezTo>
                <a:lnTo>
                  <a:pt x="818377" y="409188"/>
                </a:lnTo>
                <a:cubicBezTo>
                  <a:pt x="818377" y="478353"/>
                  <a:pt x="762307" y="534423"/>
                  <a:pt x="693142" y="534423"/>
                </a:cubicBezTo>
                <a:lnTo>
                  <a:pt x="534423" y="534423"/>
                </a:lnTo>
                <a:lnTo>
                  <a:pt x="534423" y="693142"/>
                </a:lnTo>
                <a:cubicBezTo>
                  <a:pt x="534423" y="762307"/>
                  <a:pt x="478353" y="818377"/>
                  <a:pt x="409188" y="818377"/>
                </a:cubicBezTo>
                <a:lnTo>
                  <a:pt x="409189" y="818376"/>
                </a:lnTo>
                <a:cubicBezTo>
                  <a:pt x="340024" y="818376"/>
                  <a:pt x="283954" y="762306"/>
                  <a:pt x="283954" y="693141"/>
                </a:cubicBezTo>
                <a:lnTo>
                  <a:pt x="283954" y="534423"/>
                </a:lnTo>
                <a:lnTo>
                  <a:pt x="125235" y="534423"/>
                </a:lnTo>
                <a:cubicBezTo>
                  <a:pt x="56070" y="534423"/>
                  <a:pt x="0" y="478353"/>
                  <a:pt x="0" y="409188"/>
                </a:cubicBezTo>
                <a:cubicBezTo>
                  <a:pt x="0" y="340023"/>
                  <a:pt x="56070" y="283953"/>
                  <a:pt x="125235" y="283953"/>
                </a:cubicBezTo>
                <a:lnTo>
                  <a:pt x="283954" y="283953"/>
                </a:lnTo>
                <a:lnTo>
                  <a:pt x="283954" y="125235"/>
                </a:lnTo>
                <a:cubicBezTo>
                  <a:pt x="283954" y="56070"/>
                  <a:pt x="340024" y="0"/>
                  <a:pt x="409189" y="0"/>
                </a:cubicBezTo>
                <a:close/>
              </a:path>
            </a:pathLst>
          </a:custGeom>
          <a:solidFill>
            <a:srgbClr val="1288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userDrawn="1"/>
        </p:nvGrpSpPr>
        <p:grpSpPr>
          <a:xfrm>
            <a:off x="1" y="0"/>
            <a:ext cx="1427767" cy="1317687"/>
            <a:chOff x="1" y="0"/>
            <a:chExt cx="1427767" cy="1317687"/>
          </a:xfrm>
        </p:grpSpPr>
        <p:sp>
          <p:nvSpPr>
            <p:cNvPr id="11" name="Freeform 10"/>
            <p:cNvSpPr/>
            <p:nvPr userDrawn="1"/>
          </p:nvSpPr>
          <p:spPr>
            <a:xfrm flipV="1">
              <a:off x="1" y="0"/>
              <a:ext cx="1358900" cy="1317687"/>
            </a:xfrm>
            <a:custGeom>
              <a:avLst/>
              <a:gdLst>
                <a:gd name="connsiteX0" fmla="*/ 397917 w 1974490"/>
                <a:gd name="connsiteY0" fmla="*/ 0 h 1914608"/>
                <a:gd name="connsiteX1" fmla="*/ 1974490 w 1974490"/>
                <a:gd name="connsiteY1" fmla="*/ 1576573 h 1914608"/>
                <a:gd name="connsiteX2" fmla="*/ 1942460 w 1974490"/>
                <a:gd name="connsiteY2" fmla="*/ 1894308 h 1914608"/>
                <a:gd name="connsiteX3" fmla="*/ 1937240 w 1974490"/>
                <a:gd name="connsiteY3" fmla="*/ 1914608 h 1914608"/>
                <a:gd name="connsiteX4" fmla="*/ 1107324 w 1974490"/>
                <a:gd name="connsiteY4" fmla="*/ 1914608 h 1914608"/>
                <a:gd name="connsiteX5" fmla="*/ 1124258 w 1974490"/>
                <a:gd name="connsiteY5" fmla="*/ 1883410 h 1914608"/>
                <a:gd name="connsiteX6" fmla="*/ 1186205 w 1974490"/>
                <a:gd name="connsiteY6" fmla="*/ 1576573 h 1914608"/>
                <a:gd name="connsiteX7" fmla="*/ 397918 w 1974490"/>
                <a:gd name="connsiteY7" fmla="*/ 788286 h 1914608"/>
                <a:gd name="connsiteX8" fmla="*/ 91081 w 1974490"/>
                <a:gd name="connsiteY8" fmla="*/ 850234 h 1914608"/>
                <a:gd name="connsiteX9" fmla="*/ 0 w 1974490"/>
                <a:gd name="connsiteY9" fmla="*/ 899671 h 1914608"/>
                <a:gd name="connsiteX10" fmla="*/ 0 w 1974490"/>
                <a:gd name="connsiteY10" fmla="*/ 52648 h 1914608"/>
                <a:gd name="connsiteX11" fmla="*/ 80183 w 1974490"/>
                <a:gd name="connsiteY11" fmla="*/ 32031 h 1914608"/>
                <a:gd name="connsiteX12" fmla="*/ 397917 w 1974490"/>
                <a:gd name="connsiteY12" fmla="*/ 0 h 191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4490" h="1914608">
                  <a:moveTo>
                    <a:pt x="397917" y="0"/>
                  </a:moveTo>
                  <a:cubicBezTo>
                    <a:pt x="1268634" y="0"/>
                    <a:pt x="1974490" y="705856"/>
                    <a:pt x="1974490" y="1576573"/>
                  </a:cubicBezTo>
                  <a:cubicBezTo>
                    <a:pt x="1974490" y="1685413"/>
                    <a:pt x="1963461" y="1791677"/>
                    <a:pt x="1942460" y="1894308"/>
                  </a:cubicBezTo>
                  <a:lnTo>
                    <a:pt x="1937240" y="1914608"/>
                  </a:lnTo>
                  <a:lnTo>
                    <a:pt x="1107324" y="1914608"/>
                  </a:lnTo>
                  <a:lnTo>
                    <a:pt x="1124258" y="1883410"/>
                  </a:lnTo>
                  <a:cubicBezTo>
                    <a:pt x="1164147" y="1789101"/>
                    <a:pt x="1186205" y="1685413"/>
                    <a:pt x="1186205" y="1576573"/>
                  </a:cubicBezTo>
                  <a:cubicBezTo>
                    <a:pt x="1186205" y="1141214"/>
                    <a:pt x="833277" y="788286"/>
                    <a:pt x="397918" y="788286"/>
                  </a:cubicBezTo>
                  <a:cubicBezTo>
                    <a:pt x="289078" y="788286"/>
                    <a:pt x="185390" y="810344"/>
                    <a:pt x="91081" y="850234"/>
                  </a:cubicBezTo>
                  <a:lnTo>
                    <a:pt x="0" y="899671"/>
                  </a:lnTo>
                  <a:lnTo>
                    <a:pt x="0" y="52648"/>
                  </a:lnTo>
                  <a:lnTo>
                    <a:pt x="80183" y="32031"/>
                  </a:lnTo>
                  <a:cubicBezTo>
                    <a:pt x="182814" y="11029"/>
                    <a:pt x="289077" y="0"/>
                    <a:pt x="397917" y="0"/>
                  </a:cubicBezTo>
                  <a:close/>
                </a:path>
              </a:pathLst>
            </a:custGeom>
            <a:gradFill>
              <a:gsLst>
                <a:gs pos="20000">
                  <a:srgbClr val="14A4A6"/>
                </a:gs>
                <a:gs pos="92000">
                  <a:srgbClr val="107476"/>
                </a:gs>
              </a:gsLst>
              <a:lin ang="5400000" scaled="1"/>
            </a:gradFill>
            <a:ln w="61913">
              <a:noFill/>
              <a:prstDash val="solid"/>
              <a:round/>
              <a:headEnd/>
              <a:tailEnd/>
            </a:ln>
          </p:spPr>
          <p:txBody>
            <a:bodyPr vert="horz" wrap="square" lIns="91440" tIns="45720" rIns="91440" bIns="45720" numCol="1" anchor="t" anchorCtr="0" compatLnSpc="1">
              <a:prstTxWarp prst="textNoShape">
                <a:avLst/>
              </a:prstTxWarp>
              <a:noAutofit/>
            </a:bodyPr>
            <a:lstStyle/>
            <a:p>
              <a:endParaRPr lang="en-US">
                <a:solidFill>
                  <a:schemeClr val="tx1"/>
                </a:solidFill>
              </a:endParaRPr>
            </a:p>
          </p:txBody>
        </p:sp>
        <p:sp>
          <p:nvSpPr>
            <p:cNvPr id="12" name="Oval 11"/>
            <p:cNvSpPr/>
            <p:nvPr userDrawn="1"/>
          </p:nvSpPr>
          <p:spPr>
            <a:xfrm>
              <a:off x="1169664" y="283481"/>
              <a:ext cx="258104" cy="258104"/>
            </a:xfrm>
            <a:prstGeom prst="ellipse">
              <a:avLst/>
            </a:prstGeom>
            <a:noFill/>
            <a:ln w="104775">
              <a:solidFill>
                <a:srgbClr val="FFCC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07963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69DA85B-A1F7-4E51-8134-FAFAF227ECE2}" type="datetimeFigureOut">
              <a:rPr lang="en-US" smtClean="0"/>
              <a:t>9/10/2019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1437325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9DA85B-A1F7-4E51-8134-FAFAF227ECE2}" type="datetimeFigureOut">
              <a:rPr lang="en-US" smtClean="0"/>
              <a:t>9/10/2019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3220892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9DA85B-A1F7-4E51-8134-FAFAF227ECE2}" type="datetimeFigureOut">
              <a:rPr lang="en-US" smtClean="0"/>
              <a:t>9/10/2019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38815371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9DA85B-A1F7-4E51-8134-FAFAF227ECE2}" type="datetimeFigureOut">
              <a:rPr lang="en-US" smtClean="0"/>
              <a:t>9/10/2019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1278531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9DA85B-A1F7-4E51-8134-FAFAF227ECE2}" type="datetimeFigureOut">
              <a:rPr lang="en-US" smtClean="0"/>
              <a:t>9/10/2019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1688380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9DA85B-A1F7-4E51-8134-FAFAF227ECE2}" type="datetimeFigureOut">
              <a:rPr lang="en-US" smtClean="0"/>
              <a:t>9/10/2019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3250284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9DA85B-A1F7-4E51-8134-FAFAF227ECE2}" type="datetimeFigureOut">
              <a:rPr lang="en-US" smtClean="0"/>
              <a:t>9/10/2019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16998577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9DA85B-A1F7-4E51-8134-FAFAF227ECE2}" type="datetimeFigureOut">
              <a:rPr lang="en-US" smtClean="0"/>
              <a:t>9/10/2019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330244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9DA85B-A1F7-4E51-8134-FAFAF227ECE2}" type="datetimeFigureOut">
              <a:rPr lang="en-US" smtClean="0"/>
              <a:t>9/10/2019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654FAA-EE11-4340-9E4F-0FD740EF42A4}" type="slidenum">
              <a:rPr lang="en-US" smtClean="0"/>
              <a:t>‹#›</a:t>
            </a:fld>
            <a:endParaRPr lang="en-US"/>
          </a:p>
        </p:txBody>
      </p:sp>
    </p:spTree>
    <p:extLst>
      <p:ext uri="{BB962C8B-B14F-4D97-AF65-F5344CB8AC3E}">
        <p14:creationId xmlns:p14="http://schemas.microsoft.com/office/powerpoint/2010/main" val="20306271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2BFC978-B996-459D-BCF0-F22C2E413C01}"/>
              </a:ext>
            </a:extLst>
          </p:cNvPr>
          <p:cNvGrpSpPr/>
          <p:nvPr userDrawn="1"/>
        </p:nvGrpSpPr>
        <p:grpSpPr>
          <a:xfrm>
            <a:off x="-593721" y="3690907"/>
            <a:ext cx="3604881" cy="4440403"/>
            <a:chOff x="-593721" y="3690907"/>
            <a:chExt cx="3604881" cy="4440403"/>
          </a:xfrm>
        </p:grpSpPr>
        <p:sp>
          <p:nvSpPr>
            <p:cNvPr id="8" name="Rectangle: Rounded Corners 7">
              <a:extLst>
                <a:ext uri="{FF2B5EF4-FFF2-40B4-BE49-F238E27FC236}">
                  <a16:creationId xmlns:a16="http://schemas.microsoft.com/office/drawing/2014/main" id="{A553C576-F934-4166-AB17-344413522F1F}"/>
                </a:ext>
              </a:extLst>
            </p:cNvPr>
            <p:cNvSpPr/>
            <p:nvPr/>
          </p:nvSpPr>
          <p:spPr>
            <a:xfrm rot="18900000">
              <a:off x="-593721" y="4583741"/>
              <a:ext cx="1354347" cy="1354347"/>
            </a:xfrm>
            <a:prstGeom prst="round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C5B5652C-1DC8-4D78-B762-3A80D5B57344}"/>
                </a:ext>
              </a:extLst>
            </p:cNvPr>
            <p:cNvSpPr/>
            <p:nvPr/>
          </p:nvSpPr>
          <p:spPr>
            <a:xfrm rot="18900000">
              <a:off x="-593720" y="6369410"/>
              <a:ext cx="1354347" cy="1354347"/>
            </a:xfrm>
            <a:prstGeom prst="round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DA7A6C2-4EEE-4AC8-9A1B-741C1DE2E446}"/>
                </a:ext>
              </a:extLst>
            </p:cNvPr>
            <p:cNvSpPr/>
            <p:nvPr/>
          </p:nvSpPr>
          <p:spPr>
            <a:xfrm rot="18900000">
              <a:off x="531546" y="3690907"/>
              <a:ext cx="1354347" cy="1354347"/>
            </a:xfrm>
            <a:prstGeom prst="round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0BE8859B-D620-4D3F-88BD-169E8E728135}"/>
                </a:ext>
              </a:extLst>
            </p:cNvPr>
            <p:cNvSpPr/>
            <p:nvPr/>
          </p:nvSpPr>
          <p:spPr>
            <a:xfrm rot="18900000">
              <a:off x="531547" y="5476576"/>
              <a:ext cx="1354347" cy="1354347"/>
            </a:xfrm>
            <a:prstGeom prst="roundRect">
              <a:avLst/>
            </a:prstGeom>
            <a:noFill/>
            <a:ln>
              <a:solidFill>
                <a:srgbClr val="1AA39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Rectangle: Rounded Corners 11">
              <a:extLst>
                <a:ext uri="{FF2B5EF4-FFF2-40B4-BE49-F238E27FC236}">
                  <a16:creationId xmlns:a16="http://schemas.microsoft.com/office/drawing/2014/main" id="{A08C0260-EDCE-41B7-A5E8-932C42F5D4ED}"/>
                </a:ext>
              </a:extLst>
            </p:cNvPr>
            <p:cNvSpPr/>
            <p:nvPr/>
          </p:nvSpPr>
          <p:spPr>
            <a:xfrm rot="18900000">
              <a:off x="1656812" y="4583741"/>
              <a:ext cx="1354347" cy="1354347"/>
            </a:xfrm>
            <a:prstGeom prst="round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6FAD573-7540-407E-A530-DB6CA6A80BDC}"/>
                </a:ext>
              </a:extLst>
            </p:cNvPr>
            <p:cNvSpPr/>
            <p:nvPr/>
          </p:nvSpPr>
          <p:spPr>
            <a:xfrm rot="18900000">
              <a:off x="1656813" y="6369410"/>
              <a:ext cx="1354347" cy="1354347"/>
            </a:xfrm>
            <a:prstGeom prst="round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BC9E3436-BF30-4145-A538-A38F2EF9D385}"/>
                </a:ext>
              </a:extLst>
            </p:cNvPr>
            <p:cNvSpPr/>
            <p:nvPr/>
          </p:nvSpPr>
          <p:spPr>
            <a:xfrm rot="18900000">
              <a:off x="123991" y="5961858"/>
              <a:ext cx="2169452" cy="2169452"/>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EF9B11AE-6FB6-4B87-8E89-E1D065DB0E34}"/>
              </a:ext>
            </a:extLst>
          </p:cNvPr>
          <p:cNvSpPr/>
          <p:nvPr userDrawn="1"/>
        </p:nvSpPr>
        <p:spPr>
          <a:xfrm>
            <a:off x="0" y="3429000"/>
            <a:ext cx="4432300" cy="3429000"/>
          </a:xfrm>
          <a:prstGeom prst="rect">
            <a:avLst/>
          </a:pr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B6437C02-0FE9-4694-A7B5-DAA2E7F92826}"/>
              </a:ext>
            </a:extLst>
          </p:cNvPr>
          <p:cNvSpPr>
            <a:spLocks noGrp="1"/>
          </p:cNvSpPr>
          <p:nvPr>
            <p:ph type="dt" sz="half" idx="10"/>
          </p:nvPr>
        </p:nvSpPr>
        <p:spPr/>
        <p:txBody>
          <a:bodyPr/>
          <a:lstStyle/>
          <a:p>
            <a:fld id="{93E9C760-6439-437F-BBB1-C3856724A8A8}" type="datetime1">
              <a:rPr lang="en-US" smtClean="0"/>
              <a:t>9/10/2019</a:t>
            </a:fld>
            <a:endParaRPr lang="en-US"/>
          </a:p>
        </p:txBody>
      </p:sp>
      <p:sp>
        <p:nvSpPr>
          <p:cNvPr id="5" name="Footer Placeholder 4">
            <a:extLst>
              <a:ext uri="{FF2B5EF4-FFF2-40B4-BE49-F238E27FC236}">
                <a16:creationId xmlns:a16="http://schemas.microsoft.com/office/drawing/2014/main" id="{B6259E44-CD78-4CC7-8AA4-C4FF8D368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3EE96-960C-45FC-BB52-209ED2441814}"/>
              </a:ext>
            </a:extLst>
          </p:cNvPr>
          <p:cNvSpPr>
            <a:spLocks noGrp="1"/>
          </p:cNvSpPr>
          <p:nvPr>
            <p:ph type="sldNum" sz="quarter" idx="12"/>
          </p:nvPr>
        </p:nvSpPr>
        <p:spPr/>
        <p:txBody>
          <a:bodyPr/>
          <a:lstStyle/>
          <a:p>
            <a:fld id="{313DEBBE-1EFA-4D2E-88F5-083B206EF4A4}" type="slidenum">
              <a:rPr lang="en-US" smtClean="0"/>
              <a:t>‹#›</a:t>
            </a:fld>
            <a:endParaRPr lang="en-US"/>
          </a:p>
        </p:txBody>
      </p:sp>
      <p:sp>
        <p:nvSpPr>
          <p:cNvPr id="15" name="Rectangle 14">
            <a:extLst>
              <a:ext uri="{FF2B5EF4-FFF2-40B4-BE49-F238E27FC236}">
                <a16:creationId xmlns:a16="http://schemas.microsoft.com/office/drawing/2014/main" id="{7D2EF540-DE6E-4F6A-A782-50F96103DA3E}"/>
              </a:ext>
            </a:extLst>
          </p:cNvPr>
          <p:cNvSpPr/>
          <p:nvPr userDrawn="1"/>
        </p:nvSpPr>
        <p:spPr>
          <a:xfrm>
            <a:off x="11747500" y="366740"/>
            <a:ext cx="444500" cy="444500"/>
          </a:xfrm>
          <a:prstGeom prst="rect">
            <a:avLst/>
          </a:prstGeom>
          <a:solidFill>
            <a:srgbClr val="F6AF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0582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1F7715-3D28-49B7-8D14-7DC1F9D1B782}"/>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0374315F-B19E-4EC7-A6CE-6C3BBEDF060F}"/>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F4765A3-F703-4A4A-A183-B03215C5A678}"/>
              </a:ext>
            </a:extLst>
          </p:cNvPr>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2254059E-35E9-4665-B055-F38C1A590830}" type="datetime1">
              <a:rPr lang="en-ID" smtClean="0"/>
              <a:t>10/09/2019</a:t>
            </a:fld>
            <a:endParaRPr lang="en-ID"/>
          </a:p>
        </p:txBody>
      </p:sp>
      <p:sp>
        <p:nvSpPr>
          <p:cNvPr id="5" name="Footer Placeholder 4">
            <a:extLst>
              <a:ext uri="{FF2B5EF4-FFF2-40B4-BE49-F238E27FC236}">
                <a16:creationId xmlns:a16="http://schemas.microsoft.com/office/drawing/2014/main" id="{0B34C58C-7145-4375-96A0-8423F1ECA3EB}"/>
              </a:ext>
            </a:extLst>
          </p:cNvPr>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ID"/>
              <a:t>Footer</a:t>
            </a:r>
          </a:p>
        </p:txBody>
      </p:sp>
      <p:sp>
        <p:nvSpPr>
          <p:cNvPr id="6" name="Slide Number Placeholder 5">
            <a:extLst>
              <a:ext uri="{FF2B5EF4-FFF2-40B4-BE49-F238E27FC236}">
                <a16:creationId xmlns:a16="http://schemas.microsoft.com/office/drawing/2014/main" id="{19C8BE6F-2A63-41B3-B1F7-C56B103E0B93}"/>
              </a:ext>
            </a:extLst>
          </p:cNvPr>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20A13858-C2AA-4A16-A43A-77ABAD7631C2}" type="slidenum">
              <a:rPr lang="en-ID" smtClean="0"/>
              <a:t>‹#›</a:t>
            </a:fld>
            <a:endParaRPr lang="en-ID"/>
          </a:p>
        </p:txBody>
      </p:sp>
    </p:spTree>
    <p:extLst>
      <p:ext uri="{BB962C8B-B14F-4D97-AF65-F5344CB8AC3E}">
        <p14:creationId xmlns:p14="http://schemas.microsoft.com/office/powerpoint/2010/main" val="3231445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0" r:id="rId4"/>
    <p:sldLayoutId id="2147483661" r:id="rId5"/>
    <p:sldLayoutId id="2147483662" r:id="rId6"/>
    <p:sldLayoutId id="2147483663" r:id="rId7"/>
    <p:sldLayoutId id="2147483665" r:id="rId8"/>
  </p:sldLayoutIdLst>
  <p:hf hdr="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DA85B-A1F7-4E51-8134-FAFAF227ECE2}" type="datetimeFigureOut">
              <a:rPr lang="en-US" smtClean="0"/>
              <a:t>9/10/2019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654FAA-EE11-4340-9E4F-0FD740EF42A4}" type="slidenum">
              <a:rPr lang="en-US" smtClean="0"/>
              <a:t>‹#›</a:t>
            </a:fld>
            <a:endParaRPr lang="en-US"/>
          </a:p>
        </p:txBody>
      </p:sp>
    </p:spTree>
    <p:extLst>
      <p:ext uri="{BB962C8B-B14F-4D97-AF65-F5344CB8AC3E}">
        <p14:creationId xmlns:p14="http://schemas.microsoft.com/office/powerpoint/2010/main" val="374560370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tm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tmp"/></Relationships>
</file>

<file path=ppt/slides/_rels/slide7.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8.tmp"/></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5.tm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tmp"/></Relationships>
</file>

<file path=ppt/slides/_rels/slide13.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0.tmp"/><Relationship Id="rId5" Type="http://schemas.openxmlformats.org/officeDocument/2006/relationships/image" Target="../media/image17.tmp"/><Relationship Id="rId4" Type="http://schemas.openxmlformats.org/officeDocument/2006/relationships/image" Target="../media/image19.tmp"/></Relationships>
</file>

<file path=ppt/slides/_rels/slide14.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C4A1E4F9-EAC4-4252-9341-784CBB7CD1FD}"/>
              </a:ext>
            </a:extLst>
          </p:cNvPr>
          <p:cNvSpPr txBox="1">
            <a:spLocks/>
          </p:cNvSpPr>
          <p:nvPr/>
        </p:nvSpPr>
        <p:spPr>
          <a:xfrm>
            <a:off x="1164443" y="1672658"/>
            <a:ext cx="9863114" cy="181957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3600" b="1" dirty="0">
                <a:solidFill>
                  <a:schemeClr val="bg2">
                    <a:lumMod val="50000"/>
                  </a:schemeClr>
                </a:solidFill>
              </a:rPr>
              <a:t>Reinforcement</a:t>
            </a:r>
            <a:r>
              <a:rPr lang="zh-TW" altLang="en-US" sz="3600" b="1" dirty="0">
                <a:solidFill>
                  <a:schemeClr val="bg2">
                    <a:lumMod val="50000"/>
                  </a:schemeClr>
                </a:solidFill>
              </a:rPr>
              <a:t> </a:t>
            </a:r>
            <a:r>
              <a:rPr lang="en-US" altLang="zh-TW" sz="3600" b="1" dirty="0">
                <a:solidFill>
                  <a:schemeClr val="bg2">
                    <a:lumMod val="50000"/>
                  </a:schemeClr>
                </a:solidFill>
              </a:rPr>
              <a:t>Learning</a:t>
            </a:r>
            <a:r>
              <a:rPr lang="zh-TW" altLang="en-US" sz="3600" b="1" dirty="0">
                <a:solidFill>
                  <a:schemeClr val="bg2">
                    <a:lumMod val="50000"/>
                  </a:schemeClr>
                </a:solidFill>
              </a:rPr>
              <a:t> </a:t>
            </a:r>
            <a:r>
              <a:rPr lang="en-US" altLang="zh-TW" sz="3600" b="1" dirty="0">
                <a:solidFill>
                  <a:schemeClr val="bg2">
                    <a:lumMod val="50000"/>
                  </a:schemeClr>
                </a:solidFill>
              </a:rPr>
              <a:t>based</a:t>
            </a:r>
            <a:r>
              <a:rPr lang="zh-TW" altLang="en-US" sz="3600" b="1" dirty="0">
                <a:solidFill>
                  <a:schemeClr val="bg2">
                    <a:lumMod val="50000"/>
                  </a:schemeClr>
                </a:solidFill>
              </a:rPr>
              <a:t> </a:t>
            </a:r>
            <a:r>
              <a:rPr lang="en-US" altLang="zh-TW" sz="3600" b="1" dirty="0">
                <a:solidFill>
                  <a:schemeClr val="bg2">
                    <a:lumMod val="50000"/>
                  </a:schemeClr>
                </a:solidFill>
              </a:rPr>
              <a:t>QoS/</a:t>
            </a:r>
            <a:r>
              <a:rPr lang="en-US" altLang="zh-TW" sz="3600" b="1" dirty="0" err="1">
                <a:solidFill>
                  <a:schemeClr val="bg2">
                    <a:lumMod val="50000"/>
                  </a:schemeClr>
                </a:solidFill>
              </a:rPr>
              <a:t>QoE</a:t>
            </a:r>
            <a:r>
              <a:rPr lang="en-US" altLang="zh-TW" sz="3600" b="1" dirty="0">
                <a:solidFill>
                  <a:schemeClr val="bg2">
                    <a:lumMod val="50000"/>
                  </a:schemeClr>
                </a:solidFill>
              </a:rPr>
              <a:t>-aware</a:t>
            </a:r>
          </a:p>
          <a:p>
            <a:pPr algn="ctr"/>
            <a:r>
              <a:rPr lang="zh-TW" altLang="en-US" sz="3600" b="1" dirty="0">
                <a:solidFill>
                  <a:schemeClr val="bg2">
                    <a:lumMod val="50000"/>
                  </a:schemeClr>
                </a:solidFill>
              </a:rPr>
              <a:t> </a:t>
            </a:r>
            <a:r>
              <a:rPr lang="en-US" altLang="zh-TW" sz="3600" b="1" dirty="0">
                <a:solidFill>
                  <a:schemeClr val="bg2">
                    <a:lumMod val="50000"/>
                  </a:schemeClr>
                </a:solidFill>
              </a:rPr>
              <a:t>Service</a:t>
            </a:r>
            <a:r>
              <a:rPr lang="zh-TW" altLang="en-US" sz="3600" b="1" dirty="0">
                <a:solidFill>
                  <a:schemeClr val="bg2">
                    <a:lumMod val="50000"/>
                  </a:schemeClr>
                </a:solidFill>
              </a:rPr>
              <a:t> </a:t>
            </a:r>
            <a:r>
              <a:rPr lang="en-US" altLang="zh-TW" sz="3600" b="1" dirty="0">
                <a:solidFill>
                  <a:schemeClr val="bg2">
                    <a:lumMod val="50000"/>
                  </a:schemeClr>
                </a:solidFill>
              </a:rPr>
              <a:t>Function Chaining</a:t>
            </a:r>
            <a:r>
              <a:rPr lang="zh-TW" altLang="en-US" sz="3600" b="1" dirty="0">
                <a:solidFill>
                  <a:schemeClr val="bg2">
                    <a:lumMod val="50000"/>
                  </a:schemeClr>
                </a:solidFill>
              </a:rPr>
              <a:t> </a:t>
            </a:r>
            <a:r>
              <a:rPr lang="en-US" altLang="zh-TW" sz="3600" b="1" dirty="0">
                <a:solidFill>
                  <a:schemeClr val="bg2">
                    <a:lumMod val="50000"/>
                  </a:schemeClr>
                </a:solidFill>
              </a:rPr>
              <a:t>in</a:t>
            </a:r>
            <a:r>
              <a:rPr lang="zh-TW" altLang="en-US" sz="3600" b="1" dirty="0">
                <a:solidFill>
                  <a:schemeClr val="bg2">
                    <a:lumMod val="50000"/>
                  </a:schemeClr>
                </a:solidFill>
              </a:rPr>
              <a:t> </a:t>
            </a:r>
            <a:r>
              <a:rPr lang="en-US" altLang="zh-TW" sz="3600" b="1" dirty="0">
                <a:solidFill>
                  <a:schemeClr val="bg2">
                    <a:lumMod val="50000"/>
                  </a:schemeClr>
                </a:solidFill>
              </a:rPr>
              <a:t>Software-Driven</a:t>
            </a:r>
            <a:r>
              <a:rPr lang="zh-TW" altLang="en-US" sz="3600" b="1" dirty="0">
                <a:solidFill>
                  <a:schemeClr val="bg2">
                    <a:lumMod val="50000"/>
                  </a:schemeClr>
                </a:solidFill>
              </a:rPr>
              <a:t> </a:t>
            </a:r>
            <a:endParaRPr lang="en-US" altLang="zh-TW" sz="3600" b="1" dirty="0">
              <a:solidFill>
                <a:schemeClr val="bg2">
                  <a:lumMod val="50000"/>
                </a:schemeClr>
              </a:solidFill>
            </a:endParaRPr>
          </a:p>
          <a:p>
            <a:pPr algn="ctr"/>
            <a:r>
              <a:rPr lang="en-US" altLang="zh-TW" sz="3600" b="1" dirty="0">
                <a:solidFill>
                  <a:schemeClr val="bg2">
                    <a:lumMod val="50000"/>
                  </a:schemeClr>
                </a:solidFill>
              </a:rPr>
              <a:t>5G</a:t>
            </a:r>
            <a:r>
              <a:rPr lang="zh-TW" altLang="en-US" sz="3600" b="1" dirty="0">
                <a:solidFill>
                  <a:schemeClr val="bg2">
                    <a:lumMod val="50000"/>
                  </a:schemeClr>
                </a:solidFill>
              </a:rPr>
              <a:t> </a:t>
            </a:r>
            <a:r>
              <a:rPr lang="en-US" altLang="zh-TW" sz="3600" b="1" dirty="0">
                <a:solidFill>
                  <a:schemeClr val="bg2">
                    <a:lumMod val="50000"/>
                  </a:schemeClr>
                </a:solidFill>
              </a:rPr>
              <a:t>Slices</a:t>
            </a:r>
          </a:p>
        </p:txBody>
      </p:sp>
      <p:sp>
        <p:nvSpPr>
          <p:cNvPr id="3" name="文字版面配置區 2">
            <a:extLst>
              <a:ext uri="{FF2B5EF4-FFF2-40B4-BE49-F238E27FC236}">
                <a16:creationId xmlns:a16="http://schemas.microsoft.com/office/drawing/2014/main" id="{66247379-AE19-4380-B5C4-5D284FA86842}"/>
              </a:ext>
            </a:extLst>
          </p:cNvPr>
          <p:cNvSpPr txBox="1">
            <a:spLocks/>
          </p:cNvSpPr>
          <p:nvPr/>
        </p:nvSpPr>
        <p:spPr>
          <a:xfrm>
            <a:off x="1809345" y="3818107"/>
            <a:ext cx="9144000" cy="169747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TW" sz="1800" b="1" dirty="0"/>
              <a:t>Authors: </a:t>
            </a:r>
            <a:r>
              <a:rPr lang="en-US" altLang="zh-TW" sz="1800" dirty="0"/>
              <a:t>	Xi Chen, </a:t>
            </a:r>
            <a:r>
              <a:rPr lang="en-US" altLang="zh-TW" sz="1800" dirty="0" err="1"/>
              <a:t>Zonghang</a:t>
            </a:r>
            <a:r>
              <a:rPr lang="en-US" altLang="zh-TW" sz="1800" dirty="0"/>
              <a:t> Li, </a:t>
            </a:r>
            <a:r>
              <a:rPr lang="en-US" altLang="zh-TW" sz="1800" dirty="0" err="1"/>
              <a:t>Yupeng</a:t>
            </a:r>
            <a:r>
              <a:rPr lang="en-US" altLang="zh-TW" sz="1800" dirty="0"/>
              <a:t> Zhang, </a:t>
            </a:r>
            <a:r>
              <a:rPr lang="en-US" altLang="zh-TW" sz="1800" dirty="0" err="1"/>
              <a:t>Ruiming</a:t>
            </a:r>
            <a:r>
              <a:rPr lang="en-US" altLang="zh-TW" sz="1800" dirty="0"/>
              <a:t> Long, </a:t>
            </a:r>
            <a:r>
              <a:rPr lang="en-US" altLang="zh-TW" sz="1800" dirty="0" err="1"/>
              <a:t>Hongfang</a:t>
            </a:r>
            <a:r>
              <a:rPr lang="en-US" altLang="zh-TW" sz="1800" dirty="0"/>
              <a:t> Yu, </a:t>
            </a:r>
            <a:r>
              <a:rPr lang="en-US" altLang="zh-TW" sz="1800" dirty="0" err="1"/>
              <a:t>Xiaojiang</a:t>
            </a:r>
            <a:r>
              <a:rPr lang="en-US" altLang="zh-TW" sz="1800" dirty="0"/>
              <a:t> Du, 	Mohsen </a:t>
            </a:r>
            <a:r>
              <a:rPr lang="en-US" altLang="zh-TW" sz="1800" dirty="0" err="1"/>
              <a:t>Guizani</a:t>
            </a:r>
            <a:endParaRPr lang="en-US" altLang="zh-TW" sz="1800" dirty="0"/>
          </a:p>
          <a:p>
            <a:pPr algn="l"/>
            <a:r>
              <a:rPr lang="en-US" altLang="zh-TW" sz="1800" b="1" dirty="0"/>
              <a:t>Publish on </a:t>
            </a:r>
            <a:r>
              <a:rPr lang="en-US" altLang="zh-TW" sz="1800" dirty="0"/>
              <a:t>WILEY </a:t>
            </a:r>
            <a:r>
              <a:rPr lang="fr-FR" altLang="zh-TW" sz="1800" dirty="0"/>
              <a:t>Transactions on Emerging Telecommunications Technologies</a:t>
            </a:r>
            <a:r>
              <a:rPr lang="en-US" altLang="zh-TW" sz="1800" dirty="0"/>
              <a:t>,</a:t>
            </a:r>
            <a:r>
              <a:rPr lang="zh-TW" altLang="en-US" sz="1800" dirty="0"/>
              <a:t> </a:t>
            </a:r>
            <a:r>
              <a:rPr lang="en-US" altLang="zh-TW" sz="1800" dirty="0"/>
              <a:t>April 2018</a:t>
            </a:r>
          </a:p>
          <a:p>
            <a:pPr algn="l"/>
            <a:r>
              <a:rPr lang="en-US" altLang="zh-TW" sz="1800" b="1" dirty="0"/>
              <a:t>Presenter:</a:t>
            </a:r>
            <a:r>
              <a:rPr lang="en-US" altLang="zh-TW" sz="1800" dirty="0"/>
              <a:t> </a:t>
            </a:r>
            <a:r>
              <a:rPr lang="en-US" altLang="zh-TW" sz="1800" dirty="0" err="1"/>
              <a:t>ChiYuan</a:t>
            </a:r>
            <a:r>
              <a:rPr lang="en-US" altLang="zh-TW" sz="1800" dirty="0"/>
              <a:t> Huang</a:t>
            </a:r>
            <a:endParaRPr lang="fr-FR" altLang="zh-TW" sz="1800" dirty="0"/>
          </a:p>
        </p:txBody>
      </p:sp>
    </p:spTree>
    <p:extLst>
      <p:ext uri="{BB962C8B-B14F-4D97-AF65-F5344CB8AC3E}">
        <p14:creationId xmlns:p14="http://schemas.microsoft.com/office/powerpoint/2010/main" val="903972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24162342-FFB6-458D-AF0F-A5D40C25C42C}"/>
              </a:ext>
            </a:extLst>
          </p:cNvPr>
          <p:cNvSpPr txBox="1"/>
          <p:nvPr/>
        </p:nvSpPr>
        <p:spPr>
          <a:xfrm>
            <a:off x="923193" y="153792"/>
            <a:ext cx="4484077" cy="646331"/>
          </a:xfrm>
          <a:prstGeom prst="rect">
            <a:avLst/>
          </a:prstGeom>
          <a:noFill/>
        </p:spPr>
        <p:txBody>
          <a:bodyPr wrap="square" rtlCol="0">
            <a:spAutoFit/>
          </a:bodyPr>
          <a:lstStyle/>
          <a:p>
            <a:r>
              <a:rPr lang="en-US" altLang="zh-TW" sz="3600" b="1" dirty="0"/>
              <a:t>Network Slicing</a:t>
            </a:r>
            <a:endParaRPr lang="zh-TW" altLang="en-US" sz="3600" b="1" dirty="0"/>
          </a:p>
        </p:txBody>
      </p:sp>
      <p:pic>
        <p:nvPicPr>
          <p:cNvPr id="3" name="Picture 2" descr="ãnetwork slicingãçåçæå°çµæ">
            <a:extLst>
              <a:ext uri="{FF2B5EF4-FFF2-40B4-BE49-F238E27FC236}">
                <a16:creationId xmlns:a16="http://schemas.microsoft.com/office/drawing/2014/main" id="{2B6298C4-A2F9-4D9C-8604-162D6096DF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563" y="895342"/>
            <a:ext cx="5476875" cy="552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418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1706B3-A3F4-4C3E-AFE5-901210C6EA13}"/>
              </a:ext>
            </a:extLst>
          </p:cNvPr>
          <p:cNvSpPr>
            <a:spLocks noGrp="1"/>
          </p:cNvSpPr>
          <p:nvPr>
            <p:ph type="title"/>
          </p:nvPr>
        </p:nvSpPr>
        <p:spPr>
          <a:xfrm>
            <a:off x="1585608" y="428625"/>
            <a:ext cx="9768191" cy="663575"/>
          </a:xfrm>
        </p:spPr>
        <p:txBody>
          <a:bodyPr/>
          <a:lstStyle/>
          <a:p>
            <a:pPr algn="l"/>
            <a:r>
              <a:rPr lang="en-US" altLang="zh-TW" dirty="0">
                <a:solidFill>
                  <a:schemeClr val="bg2">
                    <a:lumMod val="50000"/>
                  </a:schemeClr>
                </a:solidFill>
                <a:latin typeface="+mn-lt"/>
              </a:rPr>
              <a:t>LLDP (Link Layer Discovery Protocol)</a:t>
            </a:r>
            <a:endParaRPr lang="zh-TW" altLang="en-US" dirty="0">
              <a:solidFill>
                <a:schemeClr val="bg2">
                  <a:lumMod val="50000"/>
                </a:schemeClr>
              </a:solidFill>
              <a:latin typeface="+mn-lt"/>
            </a:endParaRPr>
          </a:p>
        </p:txBody>
      </p:sp>
      <p:sp>
        <p:nvSpPr>
          <p:cNvPr id="3" name="內容版面配置區 2">
            <a:extLst>
              <a:ext uri="{FF2B5EF4-FFF2-40B4-BE49-F238E27FC236}">
                <a16:creationId xmlns:a16="http://schemas.microsoft.com/office/drawing/2014/main" id="{A630FDE5-6156-4E04-BC87-0EB970F38FE6}"/>
              </a:ext>
            </a:extLst>
          </p:cNvPr>
          <p:cNvSpPr>
            <a:spLocks noGrp="1"/>
          </p:cNvSpPr>
          <p:nvPr>
            <p:ph idx="1"/>
          </p:nvPr>
        </p:nvSpPr>
        <p:spPr>
          <a:xfrm>
            <a:off x="449932" y="1428339"/>
            <a:ext cx="11452508" cy="4454526"/>
          </a:xfrm>
        </p:spPr>
        <p:txBody>
          <a:bodyPr/>
          <a:lstStyle/>
          <a:p>
            <a:r>
              <a:rPr lang="en-US" altLang="zh-TW" dirty="0"/>
              <a:t>A link layer protocol used by network devices for advertising their identity, capabilities, and neighbors on a local area network based on IEEE 802 technology, principally wired Ethernet.</a:t>
            </a:r>
            <a:endParaRPr lang="zh-TW" altLang="en-US" dirty="0"/>
          </a:p>
        </p:txBody>
      </p:sp>
      <p:pic>
        <p:nvPicPr>
          <p:cNvPr id="6" name="圖片 5">
            <a:extLst>
              <a:ext uri="{FF2B5EF4-FFF2-40B4-BE49-F238E27FC236}">
                <a16:creationId xmlns:a16="http://schemas.microsoft.com/office/drawing/2014/main" id="{68C294D0-9D0C-4806-AE0A-12FCF5A40A8B}"/>
              </a:ext>
            </a:extLst>
          </p:cNvPr>
          <p:cNvPicPr>
            <a:picLocks noChangeAspect="1"/>
          </p:cNvPicPr>
          <p:nvPr/>
        </p:nvPicPr>
        <p:blipFill rotWithShape="1">
          <a:blip r:embed="rId3">
            <a:extLst>
              <a:ext uri="{28A0092B-C50C-407E-A947-70E740481C1C}">
                <a14:useLocalDpi xmlns:a14="http://schemas.microsoft.com/office/drawing/2010/main" val="0"/>
              </a:ext>
            </a:extLst>
          </a:blip>
          <a:srcRect l="6321" r="13788"/>
          <a:stretch/>
        </p:blipFill>
        <p:spPr>
          <a:xfrm>
            <a:off x="582126" y="5181426"/>
            <a:ext cx="11105567" cy="1247949"/>
          </a:xfrm>
          <a:prstGeom prst="rect">
            <a:avLst/>
          </a:prstGeom>
        </p:spPr>
      </p:pic>
      <p:sp>
        <p:nvSpPr>
          <p:cNvPr id="7" name="矩形 6">
            <a:extLst>
              <a:ext uri="{FF2B5EF4-FFF2-40B4-BE49-F238E27FC236}">
                <a16:creationId xmlns:a16="http://schemas.microsoft.com/office/drawing/2014/main" id="{9032C575-1214-4C12-B08A-64755461D8A7}"/>
              </a:ext>
            </a:extLst>
          </p:cNvPr>
          <p:cNvSpPr/>
          <p:nvPr/>
        </p:nvSpPr>
        <p:spPr>
          <a:xfrm>
            <a:off x="6352074" y="4475955"/>
            <a:ext cx="2752035" cy="369332"/>
          </a:xfrm>
          <a:prstGeom prst="rect">
            <a:avLst/>
          </a:prstGeom>
        </p:spPr>
        <p:txBody>
          <a:bodyPr wrap="none">
            <a:spAutoFit/>
          </a:bodyPr>
          <a:lstStyle/>
          <a:p>
            <a:pPr marL="396240">
              <a:spcBef>
                <a:spcPts val="800"/>
              </a:spcBef>
              <a:spcAft>
                <a:spcPts val="800"/>
              </a:spcAft>
            </a:pPr>
            <a:r>
              <a:rPr lang="en-US" altLang="zh-TW" b="1" dirty="0">
                <a:solidFill>
                  <a:srgbClr val="800000"/>
                </a:solidFill>
                <a:latin typeface="Arial" panose="020B0604020202020204" pitchFamily="34" charset="0"/>
              </a:rPr>
              <a:t>LLDPDU</a:t>
            </a:r>
            <a:r>
              <a:rPr lang="zh-TW" altLang="en-US" b="1" dirty="0">
                <a:solidFill>
                  <a:srgbClr val="800000"/>
                </a:solidFill>
                <a:latin typeface="Arial" panose="020B0604020202020204" pitchFamily="34" charset="0"/>
              </a:rPr>
              <a:t> </a:t>
            </a:r>
            <a:r>
              <a:rPr lang="en-US" altLang="zh-TW" b="1" dirty="0">
                <a:solidFill>
                  <a:srgbClr val="800000"/>
                </a:solidFill>
                <a:latin typeface="Arial" panose="020B0604020202020204" pitchFamily="34" charset="0"/>
              </a:rPr>
              <a:t>(Data Unit)</a:t>
            </a:r>
          </a:p>
        </p:txBody>
      </p:sp>
      <p:sp>
        <p:nvSpPr>
          <p:cNvPr id="8" name="矩形 7">
            <a:extLst>
              <a:ext uri="{FF2B5EF4-FFF2-40B4-BE49-F238E27FC236}">
                <a16:creationId xmlns:a16="http://schemas.microsoft.com/office/drawing/2014/main" id="{1C5A6FBD-CAD1-447C-999A-369C88996EB5}"/>
              </a:ext>
            </a:extLst>
          </p:cNvPr>
          <p:cNvSpPr/>
          <p:nvPr/>
        </p:nvSpPr>
        <p:spPr>
          <a:xfrm>
            <a:off x="116645" y="2645722"/>
            <a:ext cx="3235053" cy="369332"/>
          </a:xfrm>
          <a:prstGeom prst="rect">
            <a:avLst/>
          </a:prstGeom>
        </p:spPr>
        <p:txBody>
          <a:bodyPr wrap="none">
            <a:spAutoFit/>
          </a:bodyPr>
          <a:lstStyle/>
          <a:p>
            <a:pPr marL="396240">
              <a:spcBef>
                <a:spcPts val="800"/>
              </a:spcBef>
              <a:spcAft>
                <a:spcPts val="800"/>
              </a:spcAft>
            </a:pPr>
            <a:r>
              <a:rPr lang="en-US" altLang="zh-TW" b="1" dirty="0">
                <a:solidFill>
                  <a:srgbClr val="800000"/>
                </a:solidFill>
                <a:latin typeface="Arial" panose="020B0604020202020204" pitchFamily="34" charset="0"/>
              </a:rPr>
              <a:t>TLV</a:t>
            </a:r>
            <a:r>
              <a:rPr lang="zh-TW" altLang="en-US" b="1" dirty="0">
                <a:solidFill>
                  <a:srgbClr val="800000"/>
                </a:solidFill>
                <a:latin typeface="Arial" panose="020B0604020202020204" pitchFamily="34" charset="0"/>
              </a:rPr>
              <a:t> </a:t>
            </a:r>
            <a:r>
              <a:rPr lang="en-US" altLang="zh-TW" b="1" dirty="0">
                <a:solidFill>
                  <a:srgbClr val="800000"/>
                </a:solidFill>
                <a:latin typeface="Arial" panose="020B0604020202020204" pitchFamily="34" charset="0"/>
              </a:rPr>
              <a:t>(type, length, value)</a:t>
            </a:r>
          </a:p>
        </p:txBody>
      </p:sp>
      <p:pic>
        <p:nvPicPr>
          <p:cNvPr id="10" name="圖片 9">
            <a:extLst>
              <a:ext uri="{FF2B5EF4-FFF2-40B4-BE49-F238E27FC236}">
                <a16:creationId xmlns:a16="http://schemas.microsoft.com/office/drawing/2014/main" id="{DD15AF85-435E-4B5D-94B4-DE40DCB972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3287" y="3179721"/>
            <a:ext cx="3323583" cy="1326452"/>
          </a:xfrm>
          <a:prstGeom prst="rect">
            <a:avLst/>
          </a:prstGeom>
        </p:spPr>
      </p:pic>
      <p:cxnSp>
        <p:nvCxnSpPr>
          <p:cNvPr id="12" name="直線接點 11">
            <a:extLst>
              <a:ext uri="{FF2B5EF4-FFF2-40B4-BE49-F238E27FC236}">
                <a16:creationId xmlns:a16="http://schemas.microsoft.com/office/drawing/2014/main" id="{57DA6EB0-B4E5-4FA1-9C16-56EEE554E9D5}"/>
              </a:ext>
            </a:extLst>
          </p:cNvPr>
          <p:cNvCxnSpPr>
            <a:cxnSpLocks/>
          </p:cNvCxnSpPr>
          <p:nvPr/>
        </p:nvCxnSpPr>
        <p:spPr>
          <a:xfrm flipV="1">
            <a:off x="4495070" y="4705007"/>
            <a:ext cx="1600930" cy="4764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3D66CA36-85CE-421D-A223-75F98973A60F}"/>
              </a:ext>
            </a:extLst>
          </p:cNvPr>
          <p:cNvCxnSpPr>
            <a:cxnSpLocks/>
          </p:cNvCxnSpPr>
          <p:nvPr/>
        </p:nvCxnSpPr>
        <p:spPr>
          <a:xfrm>
            <a:off x="9589869" y="4705007"/>
            <a:ext cx="1763930" cy="514866"/>
          </a:xfrm>
          <a:prstGeom prst="line">
            <a:avLst/>
          </a:prstGeom>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90576522-6979-4547-97BE-056C41A7598A}"/>
              </a:ext>
            </a:extLst>
          </p:cNvPr>
          <p:cNvSpPr/>
          <p:nvPr/>
        </p:nvSpPr>
        <p:spPr>
          <a:xfrm>
            <a:off x="172884" y="4812094"/>
            <a:ext cx="2222083" cy="369332"/>
          </a:xfrm>
          <a:prstGeom prst="rect">
            <a:avLst/>
          </a:prstGeom>
        </p:spPr>
        <p:txBody>
          <a:bodyPr wrap="none">
            <a:spAutoFit/>
          </a:bodyPr>
          <a:lstStyle/>
          <a:p>
            <a:pPr marL="396240">
              <a:spcBef>
                <a:spcPts val="800"/>
              </a:spcBef>
              <a:spcAft>
                <a:spcPts val="800"/>
              </a:spcAft>
            </a:pPr>
            <a:r>
              <a:rPr lang="en-US" altLang="zh-TW" b="1" dirty="0">
                <a:solidFill>
                  <a:srgbClr val="800000"/>
                </a:solidFill>
                <a:latin typeface="Arial" panose="020B0604020202020204" pitchFamily="34" charset="0"/>
              </a:rPr>
              <a:t>LLDP</a:t>
            </a:r>
            <a:r>
              <a:rPr lang="zh-TW" altLang="en-US" b="1" dirty="0">
                <a:solidFill>
                  <a:srgbClr val="800000"/>
                </a:solidFill>
                <a:latin typeface="Arial" panose="020B0604020202020204" pitchFamily="34" charset="0"/>
              </a:rPr>
              <a:t> </a:t>
            </a:r>
            <a:r>
              <a:rPr lang="en-US" altLang="zh-TW" b="1" dirty="0">
                <a:solidFill>
                  <a:srgbClr val="800000"/>
                </a:solidFill>
                <a:latin typeface="Arial" panose="020B0604020202020204" pitchFamily="34" charset="0"/>
              </a:rPr>
              <a:t>Message</a:t>
            </a:r>
          </a:p>
        </p:txBody>
      </p:sp>
    </p:spTree>
    <p:extLst>
      <p:ext uri="{BB962C8B-B14F-4D97-AF65-F5344CB8AC3E}">
        <p14:creationId xmlns:p14="http://schemas.microsoft.com/office/powerpoint/2010/main" val="3979370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4B026B-91DF-41AD-8CB4-28B2A9D6BCF7}"/>
              </a:ext>
            </a:extLst>
          </p:cNvPr>
          <p:cNvSpPr>
            <a:spLocks noGrp="1"/>
          </p:cNvSpPr>
          <p:nvPr>
            <p:ph type="title"/>
          </p:nvPr>
        </p:nvSpPr>
        <p:spPr>
          <a:xfrm>
            <a:off x="1556426" y="428625"/>
            <a:ext cx="9797374" cy="663575"/>
          </a:xfrm>
        </p:spPr>
        <p:txBody>
          <a:bodyPr>
            <a:normAutofit/>
          </a:bodyPr>
          <a:lstStyle/>
          <a:p>
            <a:pPr algn="l"/>
            <a:r>
              <a:rPr lang="en-US" altLang="zh-TW" dirty="0">
                <a:solidFill>
                  <a:schemeClr val="bg1">
                    <a:lumMod val="50000"/>
                  </a:schemeClr>
                </a:solidFill>
                <a:latin typeface="+mn-lt"/>
              </a:rPr>
              <a:t>LLDP working model</a:t>
            </a:r>
            <a:endParaRPr lang="zh-TW" altLang="en-US" dirty="0">
              <a:solidFill>
                <a:schemeClr val="bg1">
                  <a:lumMod val="50000"/>
                </a:schemeClr>
              </a:solidFill>
              <a:latin typeface="+mn-lt"/>
            </a:endParaRPr>
          </a:p>
        </p:txBody>
      </p:sp>
      <p:sp>
        <p:nvSpPr>
          <p:cNvPr id="3" name="內容版面配置區 2">
            <a:extLst>
              <a:ext uri="{FF2B5EF4-FFF2-40B4-BE49-F238E27FC236}">
                <a16:creationId xmlns:a16="http://schemas.microsoft.com/office/drawing/2014/main" id="{A4E61719-8447-4479-A769-E189629034B6}"/>
              </a:ext>
            </a:extLst>
          </p:cNvPr>
          <p:cNvSpPr>
            <a:spLocks noGrp="1"/>
          </p:cNvSpPr>
          <p:nvPr>
            <p:ph idx="1"/>
          </p:nvPr>
        </p:nvSpPr>
        <p:spPr>
          <a:xfrm>
            <a:off x="838200" y="1422400"/>
            <a:ext cx="10515600" cy="4201160"/>
          </a:xfrm>
        </p:spPr>
        <p:txBody>
          <a:bodyPr>
            <a:normAutofit/>
          </a:bodyPr>
          <a:lstStyle/>
          <a:p>
            <a:r>
              <a:rPr lang="en-US" altLang="zh-TW" dirty="0" err="1"/>
              <a:t>TxRx</a:t>
            </a:r>
            <a:r>
              <a:rPr lang="en-US" altLang="zh-TW" dirty="0"/>
              <a:t> </a:t>
            </a:r>
            <a:r>
              <a:rPr lang="zh-TW" altLang="en-US" dirty="0"/>
              <a:t>    ：</a:t>
            </a:r>
            <a:r>
              <a:rPr lang="en-US" altLang="zh-TW" dirty="0"/>
              <a:t>Send &amp; Receive LLDPDU</a:t>
            </a:r>
          </a:p>
          <a:p>
            <a:r>
              <a:rPr lang="en-US" altLang="zh-TW" dirty="0"/>
              <a:t>Tx 	</a:t>
            </a:r>
            <a:r>
              <a:rPr lang="zh-TW" altLang="en-US" dirty="0"/>
              <a:t>   ：</a:t>
            </a:r>
            <a:r>
              <a:rPr lang="en-US" altLang="zh-TW" dirty="0"/>
              <a:t>Only Send LLDPDU</a:t>
            </a:r>
          </a:p>
          <a:p>
            <a:r>
              <a:rPr lang="en-US" altLang="zh-TW" dirty="0"/>
              <a:t>Rx 	</a:t>
            </a:r>
            <a:r>
              <a:rPr lang="zh-TW" altLang="en-US" dirty="0"/>
              <a:t>   ：</a:t>
            </a:r>
            <a:r>
              <a:rPr lang="en-US" altLang="zh-TW" dirty="0"/>
              <a:t>Only Receive LLDPDU</a:t>
            </a:r>
          </a:p>
          <a:p>
            <a:r>
              <a:rPr lang="en-US" altLang="zh-TW" dirty="0"/>
              <a:t>Disable</a:t>
            </a:r>
            <a:r>
              <a:rPr lang="zh-TW" altLang="en-US" dirty="0"/>
              <a:t>：</a:t>
            </a:r>
            <a:r>
              <a:rPr lang="en-US" altLang="zh-TW" dirty="0"/>
              <a:t>Either Send nor </a:t>
            </a:r>
            <a:r>
              <a:rPr lang="en-US" altLang="zh-TW" dirty="0" err="1"/>
              <a:t>Resceive</a:t>
            </a:r>
            <a:r>
              <a:rPr lang="en-US" altLang="zh-TW" dirty="0"/>
              <a:t> LLDPDU</a:t>
            </a:r>
          </a:p>
          <a:p>
            <a:pPr marL="0" indent="0">
              <a:buNone/>
            </a:pPr>
            <a:endParaRPr lang="en-US" altLang="zh-TW" dirty="0"/>
          </a:p>
          <a:p>
            <a:pPr marL="0" indent="0">
              <a:buNone/>
            </a:pPr>
            <a:r>
              <a:rPr lang="en-US" altLang="zh-TW" sz="2800" dirty="0"/>
              <a:t>Sending mechanism :</a:t>
            </a:r>
          </a:p>
          <a:p>
            <a:pPr lvl="1"/>
            <a:r>
              <a:rPr lang="en-US" altLang="zh-TW" sz="2400" dirty="0"/>
              <a:t>	Send LLDP Message periodicity</a:t>
            </a:r>
          </a:p>
          <a:p>
            <a:pPr lvl="1"/>
            <a:r>
              <a:rPr lang="en-US" altLang="zh-TW" sz="2400" dirty="0"/>
              <a:t>	When discover a new neighbor, or Disable/Rx model change to </a:t>
            </a:r>
            <a:r>
              <a:rPr lang="en-US" altLang="zh-TW" sz="2400" dirty="0" err="1"/>
              <a:t>TxRx</a:t>
            </a:r>
            <a:r>
              <a:rPr lang="en-US" altLang="zh-TW" sz="2400" dirty="0"/>
              <a:t>/Tx  	model, in order to inform other devices asap, it will send a number of 	LLDPDU periodicity in a short </a:t>
            </a:r>
            <a:r>
              <a:rPr lang="en-US" altLang="zh-TW" sz="2400" dirty="0" err="1"/>
              <a:t>time.Sending</a:t>
            </a:r>
            <a:r>
              <a:rPr lang="en-US" altLang="zh-TW" sz="2400" dirty="0"/>
              <a:t> mechanism :</a:t>
            </a:r>
          </a:p>
          <a:p>
            <a:pPr marL="457200" lvl="1" indent="0">
              <a:buNone/>
            </a:pPr>
            <a:endParaRPr lang="en-US" altLang="zh-TW" sz="2400" dirty="0"/>
          </a:p>
        </p:txBody>
      </p:sp>
      <p:sp>
        <p:nvSpPr>
          <p:cNvPr id="6" name="矩形 5">
            <a:extLst>
              <a:ext uri="{FF2B5EF4-FFF2-40B4-BE49-F238E27FC236}">
                <a16:creationId xmlns:a16="http://schemas.microsoft.com/office/drawing/2014/main" id="{1221873E-4442-4372-B76B-D9216CDFBFFA}"/>
              </a:ext>
            </a:extLst>
          </p:cNvPr>
          <p:cNvSpPr/>
          <p:nvPr/>
        </p:nvSpPr>
        <p:spPr>
          <a:xfrm>
            <a:off x="838200" y="5692150"/>
            <a:ext cx="8511625" cy="892552"/>
          </a:xfrm>
          <a:prstGeom prst="rect">
            <a:avLst/>
          </a:prstGeom>
        </p:spPr>
        <p:txBody>
          <a:bodyPr wrap="none">
            <a:spAutoFit/>
          </a:bodyPr>
          <a:lstStyle/>
          <a:p>
            <a:r>
              <a:rPr lang="en-US" altLang="zh-TW" sz="2800" dirty="0"/>
              <a:t>Receiving mechanism :</a:t>
            </a:r>
          </a:p>
          <a:p>
            <a:pPr marL="914400" lvl="1" indent="-457200">
              <a:buFont typeface="Arial" panose="020B0604020202020204" pitchFamily="34" charset="0"/>
              <a:buChar char="•"/>
            </a:pPr>
            <a:r>
              <a:rPr lang="en-US" altLang="zh-TW" sz="2400" dirty="0"/>
              <a:t>Check the validation of LLDPDU &amp;</a:t>
            </a:r>
            <a:r>
              <a:rPr lang="zh-TW" altLang="en-US" sz="2400" dirty="0"/>
              <a:t> </a:t>
            </a:r>
            <a:r>
              <a:rPr lang="en-US" altLang="zh-TW" sz="2400" dirty="0"/>
              <a:t>TLV</a:t>
            </a:r>
            <a:r>
              <a:rPr lang="zh-TW" altLang="en-US" sz="2400" dirty="0"/>
              <a:t> </a:t>
            </a:r>
            <a:r>
              <a:rPr lang="en-US" altLang="zh-TW" sz="2400" dirty="0"/>
              <a:t>and save it in devices</a:t>
            </a:r>
            <a:endParaRPr lang="en-US" altLang="zh-TW" sz="2800" dirty="0"/>
          </a:p>
        </p:txBody>
      </p:sp>
      <p:sp>
        <p:nvSpPr>
          <p:cNvPr id="7" name="矩形 6">
            <a:extLst>
              <a:ext uri="{FF2B5EF4-FFF2-40B4-BE49-F238E27FC236}">
                <a16:creationId xmlns:a16="http://schemas.microsoft.com/office/drawing/2014/main" id="{D8C8A7A1-951F-4014-9695-AFD2F492EB2A}"/>
              </a:ext>
            </a:extLst>
          </p:cNvPr>
          <p:cNvSpPr/>
          <p:nvPr/>
        </p:nvSpPr>
        <p:spPr>
          <a:xfrm>
            <a:off x="7928923" y="1353810"/>
            <a:ext cx="2841804" cy="369332"/>
          </a:xfrm>
          <a:prstGeom prst="rect">
            <a:avLst/>
          </a:prstGeom>
        </p:spPr>
        <p:txBody>
          <a:bodyPr wrap="none">
            <a:spAutoFit/>
          </a:bodyPr>
          <a:lstStyle/>
          <a:p>
            <a:pPr marL="396240">
              <a:spcBef>
                <a:spcPts val="800"/>
              </a:spcBef>
              <a:spcAft>
                <a:spcPts val="800"/>
              </a:spcAft>
            </a:pPr>
            <a:r>
              <a:rPr lang="en-US" altLang="zh-TW" b="1" dirty="0">
                <a:solidFill>
                  <a:schemeClr val="bg2">
                    <a:lumMod val="90000"/>
                  </a:schemeClr>
                </a:solidFill>
                <a:latin typeface="Arial" panose="020B0604020202020204" pitchFamily="34" charset="0"/>
              </a:rPr>
              <a:t>*LLDPDU</a:t>
            </a:r>
            <a:r>
              <a:rPr lang="zh-TW" altLang="en-US" b="1" dirty="0">
                <a:solidFill>
                  <a:schemeClr val="bg2">
                    <a:lumMod val="90000"/>
                  </a:schemeClr>
                </a:solidFill>
                <a:latin typeface="Arial" panose="020B0604020202020204" pitchFamily="34" charset="0"/>
              </a:rPr>
              <a:t> </a:t>
            </a:r>
            <a:r>
              <a:rPr lang="en-US" altLang="zh-TW" b="1" dirty="0">
                <a:solidFill>
                  <a:schemeClr val="bg2">
                    <a:lumMod val="90000"/>
                  </a:schemeClr>
                </a:solidFill>
                <a:latin typeface="Arial" panose="020B0604020202020204" pitchFamily="34" charset="0"/>
              </a:rPr>
              <a:t>(Data Unit)</a:t>
            </a:r>
          </a:p>
        </p:txBody>
      </p:sp>
    </p:spTree>
    <p:extLst>
      <p:ext uri="{BB962C8B-B14F-4D97-AF65-F5344CB8AC3E}">
        <p14:creationId xmlns:p14="http://schemas.microsoft.com/office/powerpoint/2010/main" val="3901059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48E110-AD2D-474A-9284-CCBA9093EB1F}"/>
              </a:ext>
            </a:extLst>
          </p:cNvPr>
          <p:cNvSpPr>
            <a:spLocks noGrp="1"/>
          </p:cNvSpPr>
          <p:nvPr>
            <p:ph type="title"/>
          </p:nvPr>
        </p:nvSpPr>
        <p:spPr/>
        <p:txBody>
          <a:bodyPr>
            <a:normAutofit/>
          </a:bodyPr>
          <a:lstStyle/>
          <a:p>
            <a:r>
              <a:rPr lang="en-US" altLang="zh-TW" dirty="0">
                <a:solidFill>
                  <a:schemeClr val="tx1">
                    <a:lumMod val="65000"/>
                    <a:lumOff val="35000"/>
                  </a:schemeClr>
                </a:solidFill>
              </a:rPr>
              <a:t>What is QoS/</a:t>
            </a:r>
            <a:r>
              <a:rPr lang="en-US" altLang="zh-TW" dirty="0" err="1">
                <a:solidFill>
                  <a:schemeClr val="tx1">
                    <a:lumMod val="65000"/>
                    <a:lumOff val="35000"/>
                  </a:schemeClr>
                </a:solidFill>
              </a:rPr>
              <a:t>QoE</a:t>
            </a:r>
            <a:r>
              <a:rPr lang="en-US" altLang="zh-TW" dirty="0">
                <a:solidFill>
                  <a:schemeClr val="tx1">
                    <a:lumMod val="65000"/>
                    <a:lumOff val="35000"/>
                  </a:schemeClr>
                </a:solidFill>
              </a:rPr>
              <a:t>?</a:t>
            </a:r>
            <a:endParaRPr lang="zh-TW" altLang="en-US" dirty="0">
              <a:solidFill>
                <a:schemeClr val="tx1">
                  <a:lumMod val="65000"/>
                  <a:lumOff val="35000"/>
                </a:schemeClr>
              </a:solidFill>
            </a:endParaRPr>
          </a:p>
        </p:txBody>
      </p:sp>
      <p:sp>
        <p:nvSpPr>
          <p:cNvPr id="3" name="日期版面配置區 2">
            <a:extLst>
              <a:ext uri="{FF2B5EF4-FFF2-40B4-BE49-F238E27FC236}">
                <a16:creationId xmlns:a16="http://schemas.microsoft.com/office/drawing/2014/main" id="{EC34B505-730C-444B-996C-E4E80B4B21F1}"/>
              </a:ext>
            </a:extLst>
          </p:cNvPr>
          <p:cNvSpPr>
            <a:spLocks noGrp="1"/>
          </p:cNvSpPr>
          <p:nvPr>
            <p:ph type="dt" sz="half" idx="10"/>
          </p:nvPr>
        </p:nvSpPr>
        <p:spPr/>
        <p:txBody>
          <a:bodyPr/>
          <a:lstStyle/>
          <a:p>
            <a:fld id="{43E2D749-843A-4CF2-BA5B-0BB9149F832F}" type="datetime1">
              <a:rPr lang="en-ID" smtClean="0"/>
              <a:t>10/09/2019</a:t>
            </a:fld>
            <a:endParaRPr lang="en-ID"/>
          </a:p>
        </p:txBody>
      </p:sp>
      <p:sp>
        <p:nvSpPr>
          <p:cNvPr id="4" name="頁尾版面配置區 3">
            <a:extLst>
              <a:ext uri="{FF2B5EF4-FFF2-40B4-BE49-F238E27FC236}">
                <a16:creationId xmlns:a16="http://schemas.microsoft.com/office/drawing/2014/main" id="{5AAAEB7F-6E8C-49CA-8142-DC753C0566F8}"/>
              </a:ext>
            </a:extLst>
          </p:cNvPr>
          <p:cNvSpPr>
            <a:spLocks noGrp="1"/>
          </p:cNvSpPr>
          <p:nvPr>
            <p:ph type="ftr" sz="quarter" idx="11"/>
          </p:nvPr>
        </p:nvSpPr>
        <p:spPr/>
        <p:txBody>
          <a:bodyPr/>
          <a:lstStyle/>
          <a:p>
            <a:r>
              <a:rPr lang="en-ID"/>
              <a:t>Footer</a:t>
            </a:r>
          </a:p>
        </p:txBody>
      </p:sp>
      <p:sp>
        <p:nvSpPr>
          <p:cNvPr id="5" name="投影片編號版面配置區 4">
            <a:extLst>
              <a:ext uri="{FF2B5EF4-FFF2-40B4-BE49-F238E27FC236}">
                <a16:creationId xmlns:a16="http://schemas.microsoft.com/office/drawing/2014/main" id="{02239899-8E34-49E7-9A36-E99826949343}"/>
              </a:ext>
            </a:extLst>
          </p:cNvPr>
          <p:cNvSpPr>
            <a:spLocks noGrp="1"/>
          </p:cNvSpPr>
          <p:nvPr>
            <p:ph type="sldNum" sz="quarter" idx="12"/>
          </p:nvPr>
        </p:nvSpPr>
        <p:spPr/>
        <p:txBody>
          <a:bodyPr/>
          <a:lstStyle/>
          <a:p>
            <a:fld id="{20A13858-C2AA-4A16-A43A-77ABAD7631C2}" type="slidenum">
              <a:rPr lang="en-ID" smtClean="0"/>
              <a:pPr/>
              <a:t>5</a:t>
            </a:fld>
            <a:endParaRPr lang="en-ID" dirty="0"/>
          </a:p>
        </p:txBody>
      </p:sp>
      <p:sp>
        <p:nvSpPr>
          <p:cNvPr id="7" name="矩形 6">
            <a:extLst>
              <a:ext uri="{FF2B5EF4-FFF2-40B4-BE49-F238E27FC236}">
                <a16:creationId xmlns:a16="http://schemas.microsoft.com/office/drawing/2014/main" id="{169C8E3D-088D-4DD7-A880-5ADCB14CFB4C}"/>
              </a:ext>
            </a:extLst>
          </p:cNvPr>
          <p:cNvSpPr/>
          <p:nvPr/>
        </p:nvSpPr>
        <p:spPr>
          <a:xfrm>
            <a:off x="609600" y="1415767"/>
            <a:ext cx="11752729" cy="3416320"/>
          </a:xfrm>
          <a:prstGeom prst="rect">
            <a:avLst/>
          </a:prstGeom>
        </p:spPr>
        <p:txBody>
          <a:bodyPr wrap="square">
            <a:spAutoFit/>
          </a:bodyPr>
          <a:lstStyle/>
          <a:p>
            <a:r>
              <a:rPr lang="en-US" altLang="zh-TW" sz="3600" dirty="0">
                <a:solidFill>
                  <a:srgbClr val="3269AC"/>
                </a:solidFill>
                <a:latin typeface="arial" panose="020B0604020202020204" pitchFamily="34" charset="0"/>
              </a:rPr>
              <a:t>QoS : </a:t>
            </a:r>
            <a:r>
              <a:rPr lang="en-US" altLang="zh-TW" sz="3600" dirty="0">
                <a:solidFill>
                  <a:srgbClr val="DD4B39"/>
                </a:solidFill>
                <a:latin typeface="arial" panose="020B0604020202020204" pitchFamily="34" charset="0"/>
              </a:rPr>
              <a:t>Quality of Service</a:t>
            </a:r>
          </a:p>
          <a:p>
            <a:endParaRPr lang="en-US" altLang="zh-TW" sz="3600" dirty="0">
              <a:solidFill>
                <a:srgbClr val="DD4B39"/>
              </a:solidFill>
              <a:latin typeface="arial" panose="020B0604020202020204" pitchFamily="34" charset="0"/>
            </a:endParaRPr>
          </a:p>
          <a:p>
            <a:r>
              <a:rPr lang="en-US" altLang="zh-TW" sz="3600" dirty="0" err="1">
                <a:solidFill>
                  <a:srgbClr val="3269AC"/>
                </a:solidFill>
                <a:latin typeface="arial" panose="020B0604020202020204" pitchFamily="34" charset="0"/>
              </a:rPr>
              <a:t>QoE</a:t>
            </a:r>
            <a:r>
              <a:rPr lang="en-US" altLang="zh-TW" sz="3600" dirty="0">
                <a:solidFill>
                  <a:srgbClr val="3269AC"/>
                </a:solidFill>
                <a:latin typeface="arial" panose="020B0604020202020204" pitchFamily="34" charset="0"/>
              </a:rPr>
              <a:t> :</a:t>
            </a:r>
            <a:r>
              <a:rPr lang="en-US" altLang="zh-TW" sz="3600" dirty="0">
                <a:solidFill>
                  <a:srgbClr val="DD4B39"/>
                </a:solidFill>
                <a:latin typeface="arial" panose="020B0604020202020204" pitchFamily="34" charset="0"/>
              </a:rPr>
              <a:t> Quality of Experience</a:t>
            </a:r>
          </a:p>
          <a:p>
            <a:endParaRPr lang="en-US" altLang="zh-TW" sz="3600" dirty="0">
              <a:solidFill>
                <a:srgbClr val="DD4B39"/>
              </a:solidFill>
              <a:latin typeface="arial" panose="020B0604020202020204" pitchFamily="34" charset="0"/>
            </a:endParaRPr>
          </a:p>
          <a:p>
            <a:r>
              <a:rPr lang="en-US" altLang="zh-TW" sz="3600" dirty="0">
                <a:solidFill>
                  <a:srgbClr val="3269AC"/>
                </a:solidFill>
                <a:latin typeface="arial" panose="020B0604020202020204" pitchFamily="34" charset="0"/>
              </a:rPr>
              <a:t>IQX  :</a:t>
            </a:r>
            <a:r>
              <a:rPr lang="en-US" altLang="zh-TW" sz="3600" dirty="0">
                <a:solidFill>
                  <a:srgbClr val="DD4B39"/>
                </a:solidFill>
                <a:latin typeface="arial" panose="020B0604020202020204" pitchFamily="34" charset="0"/>
              </a:rPr>
              <a:t> Exponential Interdependency of </a:t>
            </a:r>
            <a:r>
              <a:rPr lang="en-US" altLang="zh-TW" sz="3600" dirty="0" err="1">
                <a:solidFill>
                  <a:srgbClr val="DD4B39"/>
                </a:solidFill>
                <a:latin typeface="arial" panose="020B0604020202020204" pitchFamily="34" charset="0"/>
              </a:rPr>
              <a:t>QoE</a:t>
            </a:r>
            <a:r>
              <a:rPr lang="en-US" altLang="zh-TW" sz="3600" dirty="0">
                <a:solidFill>
                  <a:srgbClr val="DD4B39"/>
                </a:solidFill>
                <a:latin typeface="arial" panose="020B0604020202020204" pitchFamily="34" charset="0"/>
              </a:rPr>
              <a:t> and QoS</a:t>
            </a:r>
          </a:p>
          <a:p>
            <a:endParaRPr lang="zh-TW" altLang="en-US" sz="3600" dirty="0"/>
          </a:p>
        </p:txBody>
      </p:sp>
    </p:spTree>
    <p:extLst>
      <p:ext uri="{BB962C8B-B14F-4D97-AF65-F5344CB8AC3E}">
        <p14:creationId xmlns:p14="http://schemas.microsoft.com/office/powerpoint/2010/main" val="1929439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636DA5F5-5D6F-404B-8BA5-2CF6B935D002}"/>
              </a:ext>
            </a:extLst>
          </p:cNvPr>
          <p:cNvSpPr>
            <a:spLocks noGrp="1"/>
          </p:cNvSpPr>
          <p:nvPr>
            <p:ph type="ftr" sz="quarter" idx="11"/>
          </p:nvPr>
        </p:nvSpPr>
        <p:spPr/>
        <p:txBody>
          <a:bodyPr wrap="square">
            <a:spAutoFit/>
          </a:bodyPr>
          <a:lstStyle/>
          <a:p>
            <a:pPr algn="l"/>
            <a:r>
              <a:rPr lang="en-ID" dirty="0">
                <a:solidFill>
                  <a:schemeClr val="bg1"/>
                </a:solidFill>
                <a:latin typeface="+mj-lt"/>
              </a:rPr>
              <a:t>Footer</a:t>
            </a:r>
          </a:p>
        </p:txBody>
      </p:sp>
      <p:sp>
        <p:nvSpPr>
          <p:cNvPr id="4" name="Slide Number Placeholder 3">
            <a:extLst>
              <a:ext uri="{FF2B5EF4-FFF2-40B4-BE49-F238E27FC236}">
                <a16:creationId xmlns:a16="http://schemas.microsoft.com/office/drawing/2014/main" id="{1A165F3E-D55E-40DA-8C0F-B22B760739E9}"/>
              </a:ext>
            </a:extLst>
          </p:cNvPr>
          <p:cNvSpPr>
            <a:spLocks noGrp="1"/>
          </p:cNvSpPr>
          <p:nvPr>
            <p:ph type="sldNum" sz="quarter" idx="12"/>
          </p:nvPr>
        </p:nvSpPr>
        <p:spPr/>
        <p:txBody>
          <a:bodyPr/>
          <a:lstStyle/>
          <a:p>
            <a:fld id="{20A13858-C2AA-4A16-A43A-77ABAD7631C2}" type="slidenum">
              <a:rPr lang="en-ID" smtClean="0">
                <a:solidFill>
                  <a:schemeClr val="bg1"/>
                </a:solidFill>
              </a:rPr>
              <a:pPr/>
              <a:t>6</a:t>
            </a:fld>
            <a:endParaRPr lang="en-ID" dirty="0">
              <a:solidFill>
                <a:schemeClr val="bg1"/>
              </a:solidFill>
            </a:endParaRPr>
          </a:p>
        </p:txBody>
      </p:sp>
      <p:cxnSp>
        <p:nvCxnSpPr>
          <p:cNvPr id="7" name="Straight Connector 6">
            <a:extLst>
              <a:ext uri="{FF2B5EF4-FFF2-40B4-BE49-F238E27FC236}">
                <a16:creationId xmlns:a16="http://schemas.microsoft.com/office/drawing/2014/main" id="{881E63D9-0008-438E-86B3-8126E100E6C6}"/>
              </a:ext>
            </a:extLst>
          </p:cNvPr>
          <p:cNvCxnSpPr>
            <a:cxnSpLocks/>
          </p:cNvCxnSpPr>
          <p:nvPr/>
        </p:nvCxnSpPr>
        <p:spPr>
          <a:xfrm>
            <a:off x="609600" y="4375752"/>
            <a:ext cx="95488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81E044B-4157-4D84-A9F6-2CC20FC52E62}"/>
              </a:ext>
            </a:extLst>
          </p:cNvPr>
          <p:cNvSpPr txBox="1"/>
          <p:nvPr/>
        </p:nvSpPr>
        <p:spPr>
          <a:xfrm>
            <a:off x="5205812" y="447794"/>
            <a:ext cx="6159500" cy="369332"/>
          </a:xfrm>
          <a:prstGeom prst="rect">
            <a:avLst/>
          </a:prstGeom>
          <a:noFill/>
        </p:spPr>
        <p:txBody>
          <a:bodyPr wrap="square" lIns="0" tIns="0" rIns="0" bIns="0" rtlCol="0">
            <a:spAutoFit/>
          </a:bodyPr>
          <a:lstStyle/>
          <a:p>
            <a:r>
              <a:rPr lang="da-DK" sz="2400" b="1" dirty="0">
                <a:solidFill>
                  <a:schemeClr val="accent3">
                    <a:lumMod val="75000"/>
                  </a:schemeClr>
                </a:solidFill>
                <a:latin typeface="+mj-lt"/>
              </a:rPr>
              <a:t>QoS over LLDP</a:t>
            </a:r>
            <a:endParaRPr lang="en-ID" sz="2400" b="1" dirty="0">
              <a:solidFill>
                <a:schemeClr val="accent3">
                  <a:lumMod val="75000"/>
                </a:schemeClr>
              </a:solidFill>
              <a:latin typeface="+mj-lt"/>
            </a:endParaRPr>
          </a:p>
        </p:txBody>
      </p:sp>
      <p:grpSp>
        <p:nvGrpSpPr>
          <p:cNvPr id="47" name="Group 4">
            <a:extLst>
              <a:ext uri="{FF2B5EF4-FFF2-40B4-BE49-F238E27FC236}">
                <a16:creationId xmlns:a16="http://schemas.microsoft.com/office/drawing/2014/main" id="{2FB7CDC3-1112-4A2F-ADF8-FBA72A5D80FD}"/>
              </a:ext>
            </a:extLst>
          </p:cNvPr>
          <p:cNvGrpSpPr>
            <a:grpSpLocks noChangeAspect="1"/>
          </p:cNvGrpSpPr>
          <p:nvPr/>
        </p:nvGrpSpPr>
        <p:grpSpPr bwMode="auto">
          <a:xfrm>
            <a:off x="467745" y="758388"/>
            <a:ext cx="554038" cy="577850"/>
            <a:chOff x="392" y="1682"/>
            <a:chExt cx="349" cy="364"/>
          </a:xfrm>
        </p:grpSpPr>
        <p:sp>
          <p:nvSpPr>
            <p:cNvPr id="49" name="Rectangle 5">
              <a:extLst>
                <a:ext uri="{FF2B5EF4-FFF2-40B4-BE49-F238E27FC236}">
                  <a16:creationId xmlns:a16="http://schemas.microsoft.com/office/drawing/2014/main" id="{D6580F0E-E66E-4F0E-A1E6-F100AEF412EB}"/>
                </a:ext>
              </a:extLst>
            </p:cNvPr>
            <p:cNvSpPr>
              <a:spLocks noChangeArrowheads="1"/>
            </p:cNvSpPr>
            <p:nvPr/>
          </p:nvSpPr>
          <p:spPr bwMode="auto">
            <a:xfrm>
              <a:off x="392" y="1682"/>
              <a:ext cx="349" cy="47"/>
            </a:xfrm>
            <a:prstGeom prst="rect">
              <a:avLst/>
            </a:prstGeom>
            <a:noFill/>
            <a:ln w="1905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0" name="Line 6">
              <a:extLst>
                <a:ext uri="{FF2B5EF4-FFF2-40B4-BE49-F238E27FC236}">
                  <a16:creationId xmlns:a16="http://schemas.microsoft.com/office/drawing/2014/main" id="{909107A3-0C4A-440C-90CD-B37FED4E8108}"/>
                </a:ext>
              </a:extLst>
            </p:cNvPr>
            <p:cNvSpPr>
              <a:spLocks noChangeShapeType="1"/>
            </p:cNvSpPr>
            <p:nvPr/>
          </p:nvSpPr>
          <p:spPr bwMode="auto">
            <a:xfrm>
              <a:off x="392" y="1951"/>
              <a:ext cx="349" cy="0"/>
            </a:xfrm>
            <a:prstGeom prst="line">
              <a:avLst/>
            </a:prstGeom>
            <a:noFill/>
            <a:ln w="1905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1" name="Rectangle 7">
              <a:extLst>
                <a:ext uri="{FF2B5EF4-FFF2-40B4-BE49-F238E27FC236}">
                  <a16:creationId xmlns:a16="http://schemas.microsoft.com/office/drawing/2014/main" id="{6AFEFE77-C5B8-41FA-BEE5-AFB604E28AB5}"/>
                </a:ext>
              </a:extLst>
            </p:cNvPr>
            <p:cNvSpPr>
              <a:spLocks noChangeArrowheads="1"/>
            </p:cNvSpPr>
            <p:nvPr/>
          </p:nvSpPr>
          <p:spPr bwMode="auto">
            <a:xfrm>
              <a:off x="424" y="1729"/>
              <a:ext cx="285" cy="222"/>
            </a:xfrm>
            <a:prstGeom prst="rect">
              <a:avLst/>
            </a:prstGeom>
            <a:noFill/>
            <a:ln w="1905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2" name="Line 8">
              <a:extLst>
                <a:ext uri="{FF2B5EF4-FFF2-40B4-BE49-F238E27FC236}">
                  <a16:creationId xmlns:a16="http://schemas.microsoft.com/office/drawing/2014/main" id="{290060A7-550A-416C-8085-A0CBEFA67B94}"/>
                </a:ext>
              </a:extLst>
            </p:cNvPr>
            <p:cNvSpPr>
              <a:spLocks noChangeShapeType="1"/>
            </p:cNvSpPr>
            <p:nvPr/>
          </p:nvSpPr>
          <p:spPr bwMode="auto">
            <a:xfrm>
              <a:off x="567" y="1951"/>
              <a:ext cx="0" cy="48"/>
            </a:xfrm>
            <a:prstGeom prst="line">
              <a:avLst/>
            </a:prstGeom>
            <a:noFill/>
            <a:ln w="19050"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3" name="Oval 9">
              <a:extLst>
                <a:ext uri="{FF2B5EF4-FFF2-40B4-BE49-F238E27FC236}">
                  <a16:creationId xmlns:a16="http://schemas.microsoft.com/office/drawing/2014/main" id="{A73FB624-81FC-4271-B864-AFDCF44521ED}"/>
                </a:ext>
              </a:extLst>
            </p:cNvPr>
            <p:cNvSpPr>
              <a:spLocks noChangeArrowheads="1"/>
            </p:cNvSpPr>
            <p:nvPr/>
          </p:nvSpPr>
          <p:spPr bwMode="auto">
            <a:xfrm>
              <a:off x="543" y="1999"/>
              <a:ext cx="47" cy="47"/>
            </a:xfrm>
            <a:prstGeom prst="ellipse">
              <a:avLst/>
            </a:prstGeom>
            <a:noFill/>
            <a:ln w="1905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4" name="Rectangle 10">
              <a:extLst>
                <a:ext uri="{FF2B5EF4-FFF2-40B4-BE49-F238E27FC236}">
                  <a16:creationId xmlns:a16="http://schemas.microsoft.com/office/drawing/2014/main" id="{FB59B439-1E14-4B36-B211-C567B040DB41}"/>
                </a:ext>
              </a:extLst>
            </p:cNvPr>
            <p:cNvSpPr>
              <a:spLocks noChangeArrowheads="1"/>
            </p:cNvSpPr>
            <p:nvPr/>
          </p:nvSpPr>
          <p:spPr bwMode="auto">
            <a:xfrm>
              <a:off x="567" y="1856"/>
              <a:ext cx="31" cy="63"/>
            </a:xfrm>
            <a:prstGeom prst="rect">
              <a:avLst/>
            </a:prstGeom>
            <a:noFill/>
            <a:ln w="1905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5" name="Rectangle 11">
              <a:extLst>
                <a:ext uri="{FF2B5EF4-FFF2-40B4-BE49-F238E27FC236}">
                  <a16:creationId xmlns:a16="http://schemas.microsoft.com/office/drawing/2014/main" id="{18B575BF-A42B-472F-BF66-1DDA0066B88A}"/>
                </a:ext>
              </a:extLst>
            </p:cNvPr>
            <p:cNvSpPr>
              <a:spLocks noChangeArrowheads="1"/>
            </p:cNvSpPr>
            <p:nvPr/>
          </p:nvSpPr>
          <p:spPr bwMode="auto">
            <a:xfrm>
              <a:off x="630" y="1777"/>
              <a:ext cx="32" cy="142"/>
            </a:xfrm>
            <a:prstGeom prst="rect">
              <a:avLst/>
            </a:prstGeom>
            <a:noFill/>
            <a:ln w="1905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6" name="Freeform 12">
              <a:extLst>
                <a:ext uri="{FF2B5EF4-FFF2-40B4-BE49-F238E27FC236}">
                  <a16:creationId xmlns:a16="http://schemas.microsoft.com/office/drawing/2014/main" id="{6AD10DD2-05BE-4274-A64F-E1829D48E9E9}"/>
                </a:ext>
              </a:extLst>
            </p:cNvPr>
            <p:cNvSpPr>
              <a:spLocks/>
            </p:cNvSpPr>
            <p:nvPr/>
          </p:nvSpPr>
          <p:spPr bwMode="auto">
            <a:xfrm>
              <a:off x="459" y="1777"/>
              <a:ext cx="56" cy="107"/>
            </a:xfrm>
            <a:custGeom>
              <a:avLst/>
              <a:gdLst>
                <a:gd name="T0" fmla="*/ 0 w 14"/>
                <a:gd name="T1" fmla="*/ 21 h 27"/>
                <a:gd name="T2" fmla="*/ 7 w 14"/>
                <a:gd name="T3" fmla="*/ 27 h 27"/>
                <a:gd name="T4" fmla="*/ 14 w 14"/>
                <a:gd name="T5" fmla="*/ 21 h 27"/>
                <a:gd name="T6" fmla="*/ 7 w 14"/>
                <a:gd name="T7" fmla="*/ 14 h 27"/>
                <a:gd name="T8" fmla="*/ 0 w 14"/>
                <a:gd name="T9" fmla="*/ 7 h 27"/>
                <a:gd name="T10" fmla="*/ 7 w 14"/>
                <a:gd name="T11" fmla="*/ 0 h 27"/>
                <a:gd name="T12" fmla="*/ 14 w 14"/>
                <a:gd name="T13" fmla="*/ 7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0" y="21"/>
                  </a:moveTo>
                  <a:cubicBezTo>
                    <a:pt x="0" y="24"/>
                    <a:pt x="3" y="27"/>
                    <a:pt x="7" y="27"/>
                  </a:cubicBezTo>
                  <a:cubicBezTo>
                    <a:pt x="11" y="27"/>
                    <a:pt x="14" y="24"/>
                    <a:pt x="14" y="21"/>
                  </a:cubicBezTo>
                  <a:cubicBezTo>
                    <a:pt x="14" y="17"/>
                    <a:pt x="11" y="14"/>
                    <a:pt x="7" y="14"/>
                  </a:cubicBezTo>
                  <a:cubicBezTo>
                    <a:pt x="3" y="14"/>
                    <a:pt x="0" y="11"/>
                    <a:pt x="0" y="7"/>
                  </a:cubicBezTo>
                  <a:cubicBezTo>
                    <a:pt x="0" y="4"/>
                    <a:pt x="3" y="0"/>
                    <a:pt x="7" y="0"/>
                  </a:cubicBezTo>
                  <a:cubicBezTo>
                    <a:pt x="11" y="0"/>
                    <a:pt x="14" y="4"/>
                    <a:pt x="14" y="7"/>
                  </a:cubicBezTo>
                </a:path>
              </a:pathLst>
            </a:custGeom>
            <a:noFill/>
            <a:ln w="1905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7" name="Line 13">
              <a:extLst>
                <a:ext uri="{FF2B5EF4-FFF2-40B4-BE49-F238E27FC236}">
                  <a16:creationId xmlns:a16="http://schemas.microsoft.com/office/drawing/2014/main" id="{E5498485-E12D-486E-B73D-CF8075786A2C}"/>
                </a:ext>
              </a:extLst>
            </p:cNvPr>
            <p:cNvSpPr>
              <a:spLocks noChangeShapeType="1"/>
            </p:cNvSpPr>
            <p:nvPr/>
          </p:nvSpPr>
          <p:spPr bwMode="auto">
            <a:xfrm>
              <a:off x="487" y="1884"/>
              <a:ext cx="0" cy="20"/>
            </a:xfrm>
            <a:prstGeom prst="line">
              <a:avLst/>
            </a:prstGeom>
            <a:noFill/>
            <a:ln w="1905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8" name="Line 14">
              <a:extLst>
                <a:ext uri="{FF2B5EF4-FFF2-40B4-BE49-F238E27FC236}">
                  <a16:creationId xmlns:a16="http://schemas.microsoft.com/office/drawing/2014/main" id="{B480868E-C6C4-4801-8DC3-92B68CEE5A93}"/>
                </a:ext>
              </a:extLst>
            </p:cNvPr>
            <p:cNvSpPr>
              <a:spLocks noChangeShapeType="1"/>
            </p:cNvSpPr>
            <p:nvPr/>
          </p:nvSpPr>
          <p:spPr bwMode="auto">
            <a:xfrm>
              <a:off x="487" y="1761"/>
              <a:ext cx="0" cy="16"/>
            </a:xfrm>
            <a:prstGeom prst="line">
              <a:avLst/>
            </a:prstGeom>
            <a:noFill/>
            <a:ln w="1905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D"/>
            </a:p>
          </p:txBody>
        </p:sp>
      </p:grpSp>
      <p:pic>
        <p:nvPicPr>
          <p:cNvPr id="6" name="圖片 5">
            <a:extLst>
              <a:ext uri="{FF2B5EF4-FFF2-40B4-BE49-F238E27FC236}">
                <a16:creationId xmlns:a16="http://schemas.microsoft.com/office/drawing/2014/main" id="{F3ACFCCD-3097-4EA6-8782-3A5D0D893001}"/>
              </a:ext>
            </a:extLst>
          </p:cNvPr>
          <p:cNvPicPr>
            <a:picLocks noChangeAspect="1"/>
          </p:cNvPicPr>
          <p:nvPr/>
        </p:nvPicPr>
        <p:blipFill rotWithShape="1">
          <a:blip r:embed="rId3">
            <a:extLst>
              <a:ext uri="{28A0092B-C50C-407E-A947-70E740481C1C}">
                <a14:useLocalDpi xmlns:a14="http://schemas.microsoft.com/office/drawing/2010/main" val="0"/>
              </a:ext>
            </a:extLst>
          </a:blip>
          <a:srcRect l="3670" r="2666"/>
          <a:stretch/>
        </p:blipFill>
        <p:spPr>
          <a:xfrm>
            <a:off x="4919990" y="2611758"/>
            <a:ext cx="7146280" cy="2907157"/>
          </a:xfrm>
          <a:prstGeom prst="rect">
            <a:avLst/>
          </a:prstGeom>
        </p:spPr>
      </p:pic>
      <p:sp>
        <p:nvSpPr>
          <p:cNvPr id="46" name="矩形 45">
            <a:extLst>
              <a:ext uri="{FF2B5EF4-FFF2-40B4-BE49-F238E27FC236}">
                <a16:creationId xmlns:a16="http://schemas.microsoft.com/office/drawing/2014/main" id="{520456C0-BCD3-489B-BEB2-469B0838B1FB}"/>
              </a:ext>
            </a:extLst>
          </p:cNvPr>
          <p:cNvSpPr/>
          <p:nvPr/>
        </p:nvSpPr>
        <p:spPr>
          <a:xfrm>
            <a:off x="125730" y="2404117"/>
            <a:ext cx="3526478" cy="400110"/>
          </a:xfrm>
          <a:prstGeom prst="rect">
            <a:avLst/>
          </a:prstGeom>
        </p:spPr>
        <p:txBody>
          <a:bodyPr wrap="none">
            <a:spAutoFit/>
          </a:bodyPr>
          <a:lstStyle/>
          <a:p>
            <a:pPr marL="396240">
              <a:spcBef>
                <a:spcPts val="800"/>
              </a:spcBef>
              <a:spcAft>
                <a:spcPts val="800"/>
              </a:spcAft>
            </a:pPr>
            <a:r>
              <a:rPr lang="en-US" altLang="zh-TW" sz="2000" b="1" dirty="0">
                <a:solidFill>
                  <a:schemeClr val="accent3">
                    <a:lumMod val="20000"/>
                    <a:lumOff val="80000"/>
                  </a:schemeClr>
                </a:solidFill>
                <a:latin typeface="Arial" panose="020B0604020202020204" pitchFamily="34" charset="0"/>
              </a:rPr>
              <a:t>TLV</a:t>
            </a:r>
            <a:r>
              <a:rPr lang="zh-TW" altLang="en-US" sz="2000" b="1" dirty="0">
                <a:solidFill>
                  <a:schemeClr val="accent3">
                    <a:lumMod val="20000"/>
                    <a:lumOff val="80000"/>
                  </a:schemeClr>
                </a:solidFill>
                <a:latin typeface="Arial" panose="020B0604020202020204" pitchFamily="34" charset="0"/>
              </a:rPr>
              <a:t> </a:t>
            </a:r>
            <a:r>
              <a:rPr lang="en-US" altLang="zh-TW" sz="2000" b="1" dirty="0">
                <a:solidFill>
                  <a:schemeClr val="accent3">
                    <a:lumMod val="20000"/>
                    <a:lumOff val="80000"/>
                  </a:schemeClr>
                </a:solidFill>
                <a:latin typeface="Arial" panose="020B0604020202020204" pitchFamily="34" charset="0"/>
              </a:rPr>
              <a:t>(type, length, value)</a:t>
            </a:r>
          </a:p>
        </p:txBody>
      </p:sp>
      <p:pic>
        <p:nvPicPr>
          <p:cNvPr id="48" name="圖片 47">
            <a:extLst>
              <a:ext uri="{FF2B5EF4-FFF2-40B4-BE49-F238E27FC236}">
                <a16:creationId xmlns:a16="http://schemas.microsoft.com/office/drawing/2014/main" id="{395EE8FA-237E-45B6-9CD4-EDC640BEF1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108" y="3107410"/>
            <a:ext cx="3323583" cy="1326452"/>
          </a:xfrm>
          <a:prstGeom prst="rect">
            <a:avLst/>
          </a:prstGeom>
        </p:spPr>
      </p:pic>
    </p:spTree>
    <p:extLst>
      <p:ext uri="{BB962C8B-B14F-4D97-AF65-F5344CB8AC3E}">
        <p14:creationId xmlns:p14="http://schemas.microsoft.com/office/powerpoint/2010/main" val="1434370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4BD970-3514-4653-A1D3-79F622405F91}"/>
              </a:ext>
            </a:extLst>
          </p:cNvPr>
          <p:cNvSpPr>
            <a:spLocks noGrp="1"/>
          </p:cNvSpPr>
          <p:nvPr>
            <p:ph type="title"/>
          </p:nvPr>
        </p:nvSpPr>
        <p:spPr>
          <a:xfrm>
            <a:off x="1645920" y="428625"/>
            <a:ext cx="9707880" cy="663575"/>
          </a:xfrm>
        </p:spPr>
        <p:txBody>
          <a:bodyPr/>
          <a:lstStyle/>
          <a:p>
            <a:pPr algn="l"/>
            <a:r>
              <a:rPr lang="en-US" altLang="zh-TW" dirty="0" err="1">
                <a:solidFill>
                  <a:schemeClr val="tx1">
                    <a:lumMod val="50000"/>
                    <a:lumOff val="50000"/>
                  </a:schemeClr>
                </a:solidFill>
              </a:rPr>
              <a:t>QoE</a:t>
            </a:r>
            <a:r>
              <a:rPr lang="en-US" altLang="zh-TW" dirty="0">
                <a:solidFill>
                  <a:schemeClr val="tx1">
                    <a:lumMod val="50000"/>
                    <a:lumOff val="50000"/>
                  </a:schemeClr>
                </a:solidFill>
              </a:rPr>
              <a:t>-aware SFC Orchestration</a:t>
            </a:r>
            <a:r>
              <a:rPr lang="zh-TW" altLang="en-US" dirty="0">
                <a:solidFill>
                  <a:schemeClr val="tx1">
                    <a:lumMod val="50000"/>
                    <a:lumOff val="50000"/>
                  </a:schemeClr>
                </a:solidFill>
              </a:rPr>
              <a:t> </a:t>
            </a:r>
            <a:r>
              <a:rPr lang="en-US" altLang="zh-TW" dirty="0">
                <a:solidFill>
                  <a:schemeClr val="tx1">
                    <a:lumMod val="50000"/>
                    <a:lumOff val="50000"/>
                  </a:schemeClr>
                </a:solidFill>
              </a:rPr>
              <a:t>(</a:t>
            </a:r>
            <a:r>
              <a:rPr lang="en-US" altLang="zh-TW" dirty="0" err="1">
                <a:solidFill>
                  <a:schemeClr val="tx1">
                    <a:lumMod val="50000"/>
                    <a:lumOff val="50000"/>
                  </a:schemeClr>
                </a:solidFill>
              </a:rPr>
              <a:t>QoE</a:t>
            </a:r>
            <a:r>
              <a:rPr lang="en-US" altLang="zh-TW" dirty="0">
                <a:solidFill>
                  <a:schemeClr val="tx1">
                    <a:lumMod val="50000"/>
                    <a:lumOff val="50000"/>
                  </a:schemeClr>
                </a:solidFill>
              </a:rPr>
              <a:t>-SFC)</a:t>
            </a:r>
            <a:endParaRPr lang="zh-TW" altLang="en-US" dirty="0">
              <a:solidFill>
                <a:schemeClr val="tx1">
                  <a:lumMod val="50000"/>
                  <a:lumOff val="50000"/>
                </a:schemeClr>
              </a:solidFill>
            </a:endParaRPr>
          </a:p>
        </p:txBody>
      </p:sp>
      <p:pic>
        <p:nvPicPr>
          <p:cNvPr id="15" name="內容版面配置區 14">
            <a:extLst>
              <a:ext uri="{FF2B5EF4-FFF2-40B4-BE49-F238E27FC236}">
                <a16:creationId xmlns:a16="http://schemas.microsoft.com/office/drawing/2014/main" id="{75A0A472-A570-46C8-97C5-D444AACF26A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4979" y="3889725"/>
            <a:ext cx="4929723" cy="2419635"/>
          </a:xfrm>
        </p:spPr>
      </p:pic>
      <p:sp>
        <p:nvSpPr>
          <p:cNvPr id="16" name="矩形 15">
            <a:extLst>
              <a:ext uri="{FF2B5EF4-FFF2-40B4-BE49-F238E27FC236}">
                <a16:creationId xmlns:a16="http://schemas.microsoft.com/office/drawing/2014/main" id="{2FE4C0EA-EF90-40B1-B63C-680221B4C498}"/>
              </a:ext>
            </a:extLst>
          </p:cNvPr>
          <p:cNvSpPr/>
          <p:nvPr/>
        </p:nvSpPr>
        <p:spPr>
          <a:xfrm>
            <a:off x="1348740" y="1659965"/>
            <a:ext cx="9494520" cy="830997"/>
          </a:xfrm>
          <a:prstGeom prst="rect">
            <a:avLst/>
          </a:prstGeom>
        </p:spPr>
        <p:txBody>
          <a:bodyPr wrap="square">
            <a:spAutoFit/>
          </a:bodyPr>
          <a:lstStyle/>
          <a:p>
            <a:r>
              <a:rPr lang="zh-TW" altLang="en-US" sz="2400" dirty="0"/>
              <a:t>Let 𝐶 denote the set of all service function chains that can functionally satisfy the SFC request</a:t>
            </a:r>
          </a:p>
        </p:txBody>
      </p:sp>
      <p:sp>
        <p:nvSpPr>
          <p:cNvPr id="17" name="矩形 16">
            <a:extLst>
              <a:ext uri="{FF2B5EF4-FFF2-40B4-BE49-F238E27FC236}">
                <a16:creationId xmlns:a16="http://schemas.microsoft.com/office/drawing/2014/main" id="{0C8BBFA8-EFCC-4FEE-A450-6E2F7DABFF61}"/>
              </a:ext>
            </a:extLst>
          </p:cNvPr>
          <p:cNvSpPr/>
          <p:nvPr/>
        </p:nvSpPr>
        <p:spPr>
          <a:xfrm>
            <a:off x="1348740" y="3058727"/>
            <a:ext cx="8862060" cy="830997"/>
          </a:xfrm>
          <a:prstGeom prst="rect">
            <a:avLst/>
          </a:prstGeom>
        </p:spPr>
        <p:txBody>
          <a:bodyPr wrap="square">
            <a:spAutoFit/>
          </a:bodyPr>
          <a:lstStyle/>
          <a:p>
            <a:r>
              <a:rPr lang="zh-TW" altLang="en-US" sz="2400" dirty="0"/>
              <a:t> Let 𝑞𝑜𝑒𝑐 denote the the end</a:t>
            </a:r>
            <a:r>
              <a:rPr lang="en-US" altLang="zh-TW" sz="2400" dirty="0"/>
              <a:t>-</a:t>
            </a:r>
            <a:r>
              <a:rPr lang="zh-TW" altLang="en-US" sz="2400" dirty="0"/>
              <a:t>to-end QoE of service function chain </a:t>
            </a:r>
            <a:endParaRPr lang="en-US" altLang="zh-TW" sz="2400" dirty="0"/>
          </a:p>
          <a:p>
            <a:r>
              <a:rPr lang="zh-TW" altLang="en-US" sz="2400" dirty="0"/>
              <a:t>𝑐 ∈ 𝐶</a:t>
            </a:r>
          </a:p>
        </p:txBody>
      </p:sp>
      <p:pic>
        <p:nvPicPr>
          <p:cNvPr id="19" name="圖片 18">
            <a:extLst>
              <a:ext uri="{FF2B5EF4-FFF2-40B4-BE49-F238E27FC236}">
                <a16:creationId xmlns:a16="http://schemas.microsoft.com/office/drawing/2014/main" id="{93BF5870-7E22-42DF-94D1-449F0B4612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83871" y="7160803"/>
            <a:ext cx="4991797" cy="1314633"/>
          </a:xfrm>
          <a:prstGeom prst="rect">
            <a:avLst/>
          </a:prstGeom>
        </p:spPr>
      </p:pic>
    </p:spTree>
    <p:extLst>
      <p:ext uri="{BB962C8B-B14F-4D97-AF65-F5344CB8AC3E}">
        <p14:creationId xmlns:p14="http://schemas.microsoft.com/office/powerpoint/2010/main" val="1415737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4BD970-3514-4653-A1D3-79F622405F91}"/>
              </a:ext>
            </a:extLst>
          </p:cNvPr>
          <p:cNvSpPr>
            <a:spLocks noGrp="1"/>
          </p:cNvSpPr>
          <p:nvPr>
            <p:ph type="title"/>
          </p:nvPr>
        </p:nvSpPr>
        <p:spPr>
          <a:xfrm>
            <a:off x="1645920" y="428625"/>
            <a:ext cx="9707880" cy="663575"/>
          </a:xfrm>
        </p:spPr>
        <p:txBody>
          <a:bodyPr>
            <a:normAutofit fontScale="90000"/>
          </a:bodyPr>
          <a:lstStyle/>
          <a:p>
            <a:pPr algn="l"/>
            <a:r>
              <a:rPr lang="en-US" altLang="zh-TW" dirty="0" err="1">
                <a:solidFill>
                  <a:schemeClr val="tx1">
                    <a:lumMod val="50000"/>
                    <a:lumOff val="50000"/>
                  </a:schemeClr>
                </a:solidFill>
              </a:rPr>
              <a:t>QoE</a:t>
            </a:r>
            <a:r>
              <a:rPr lang="en-US" altLang="zh-TW" dirty="0">
                <a:solidFill>
                  <a:schemeClr val="tx1">
                    <a:lumMod val="50000"/>
                    <a:lumOff val="50000"/>
                  </a:schemeClr>
                </a:solidFill>
              </a:rPr>
              <a:t>/QoS-aware SFC Orchestration</a:t>
            </a:r>
            <a:r>
              <a:rPr lang="zh-TW" altLang="en-US" dirty="0">
                <a:solidFill>
                  <a:schemeClr val="tx1">
                    <a:lumMod val="50000"/>
                    <a:lumOff val="50000"/>
                  </a:schemeClr>
                </a:solidFill>
              </a:rPr>
              <a:t> </a:t>
            </a:r>
            <a:r>
              <a:rPr lang="en-US" altLang="zh-TW" dirty="0">
                <a:solidFill>
                  <a:schemeClr val="tx1">
                    <a:lumMod val="50000"/>
                    <a:lumOff val="50000"/>
                  </a:schemeClr>
                </a:solidFill>
              </a:rPr>
              <a:t>(Q2-SFC)</a:t>
            </a:r>
            <a:endParaRPr lang="zh-TW" altLang="en-US" dirty="0">
              <a:solidFill>
                <a:schemeClr val="tx1">
                  <a:lumMod val="50000"/>
                  <a:lumOff val="50000"/>
                </a:schemeClr>
              </a:solidFill>
            </a:endParaRPr>
          </a:p>
        </p:txBody>
      </p:sp>
      <p:sp>
        <p:nvSpPr>
          <p:cNvPr id="20" name="矩形 19">
            <a:extLst>
              <a:ext uri="{FF2B5EF4-FFF2-40B4-BE49-F238E27FC236}">
                <a16:creationId xmlns:a16="http://schemas.microsoft.com/office/drawing/2014/main" id="{12C3DDEF-08D7-44EC-B13C-A47916447BF9}"/>
              </a:ext>
            </a:extLst>
          </p:cNvPr>
          <p:cNvSpPr/>
          <p:nvPr/>
        </p:nvSpPr>
        <p:spPr>
          <a:xfrm>
            <a:off x="1645920" y="1375298"/>
            <a:ext cx="8191501" cy="830997"/>
          </a:xfrm>
          <a:prstGeom prst="rect">
            <a:avLst/>
          </a:prstGeom>
        </p:spPr>
        <p:txBody>
          <a:bodyPr wrap="square">
            <a:spAutoFit/>
          </a:bodyPr>
          <a:lstStyle/>
          <a:p>
            <a:r>
              <a:rPr lang="zh-TW" altLang="en-US" sz="2400" dirty="0"/>
              <a:t>Let 𝑞𝑜𝑠𝑐 denotean 𝐿 dimensional vector that indicates the QoS </a:t>
            </a:r>
            <a:r>
              <a:rPr lang="en-US" altLang="zh-TW" sz="2400" dirty="0"/>
              <a:t>metrics of service function chain</a:t>
            </a:r>
            <a:endParaRPr lang="zh-TW" altLang="en-US" sz="2400" dirty="0"/>
          </a:p>
        </p:txBody>
      </p:sp>
      <p:sp>
        <p:nvSpPr>
          <p:cNvPr id="21" name="矩形 20">
            <a:extLst>
              <a:ext uri="{FF2B5EF4-FFF2-40B4-BE49-F238E27FC236}">
                <a16:creationId xmlns:a16="http://schemas.microsoft.com/office/drawing/2014/main" id="{1586C9AF-BE8C-4ACE-8000-160F7EA2725B}"/>
              </a:ext>
            </a:extLst>
          </p:cNvPr>
          <p:cNvSpPr/>
          <p:nvPr/>
        </p:nvSpPr>
        <p:spPr>
          <a:xfrm>
            <a:off x="1645921" y="2420443"/>
            <a:ext cx="9159240" cy="830997"/>
          </a:xfrm>
          <a:prstGeom prst="rect">
            <a:avLst/>
          </a:prstGeom>
        </p:spPr>
        <p:txBody>
          <a:bodyPr wrap="square">
            <a:spAutoFit/>
          </a:bodyPr>
          <a:lstStyle/>
          <a:p>
            <a:r>
              <a:rPr lang="en-US" altLang="zh-TW" sz="2400" dirty="0"/>
              <a:t>Let </a:t>
            </a:r>
            <a:r>
              <a:rPr lang="en-US" altLang="zh-TW" sz="2400" dirty="0" err="1"/>
              <a:t>qcon</a:t>
            </a:r>
            <a:r>
              <a:rPr lang="en-US" altLang="zh-TW" sz="2400" dirty="0"/>
              <a:t> denote an </a:t>
            </a:r>
            <a:r>
              <a:rPr lang="zh-TW" altLang="en-US" sz="2400" dirty="0"/>
              <a:t>𝐿 dimensional vector that indicates the QoS constraints </a:t>
            </a:r>
            <a:r>
              <a:rPr lang="en-US" altLang="zh-TW" sz="2400" dirty="0"/>
              <a:t>of the SFC request</a:t>
            </a:r>
            <a:endParaRPr lang="zh-TW" altLang="en-US" sz="2400" dirty="0"/>
          </a:p>
        </p:txBody>
      </p:sp>
      <p:pic>
        <p:nvPicPr>
          <p:cNvPr id="31" name="內容版面配置區 30">
            <a:extLst>
              <a:ext uri="{FF2B5EF4-FFF2-40B4-BE49-F238E27FC236}">
                <a16:creationId xmlns:a16="http://schemas.microsoft.com/office/drawing/2014/main" id="{1F1A511D-0548-4473-A178-7411CF3B6DD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25406" y="3372560"/>
            <a:ext cx="6963747" cy="3258005"/>
          </a:xfrm>
        </p:spPr>
      </p:pic>
    </p:spTree>
    <p:extLst>
      <p:ext uri="{BB962C8B-B14F-4D97-AF65-F5344CB8AC3E}">
        <p14:creationId xmlns:p14="http://schemas.microsoft.com/office/powerpoint/2010/main" val="991596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CB5721-B475-47E2-B06A-47A0DF53B90F}"/>
              </a:ext>
            </a:extLst>
          </p:cNvPr>
          <p:cNvSpPr/>
          <p:nvPr/>
        </p:nvSpPr>
        <p:spPr>
          <a:xfrm>
            <a:off x="861930" y="620899"/>
            <a:ext cx="2118946" cy="3780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E12BBEEE-5135-4670-BBA7-FAB13716D049}"/>
              </a:ext>
            </a:extLst>
          </p:cNvPr>
          <p:cNvSpPr/>
          <p:nvPr/>
        </p:nvSpPr>
        <p:spPr>
          <a:xfrm>
            <a:off x="838463" y="568080"/>
            <a:ext cx="5047604" cy="707886"/>
          </a:xfrm>
          <a:prstGeom prst="rect">
            <a:avLst/>
          </a:prstGeom>
        </p:spPr>
        <p:txBody>
          <a:bodyPr wrap="square">
            <a:spAutoFit/>
          </a:bodyPr>
          <a:lstStyle/>
          <a:p>
            <a:r>
              <a:rPr lang="en-US" altLang="zh-TW" sz="4000" b="1" dirty="0">
                <a:latin typeface="Arial" panose="020B0604020202020204" pitchFamily="34" charset="0"/>
              </a:rPr>
              <a:t>Weber-Fechner Law</a:t>
            </a:r>
            <a:endParaRPr lang="zh-TW" altLang="en-US" sz="4000" b="1"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94F7FF7B-5402-40AF-8FFB-7D462A516628}"/>
                  </a:ext>
                </a:extLst>
              </p:cNvPr>
              <p:cNvSpPr txBox="1"/>
              <p:nvPr/>
            </p:nvSpPr>
            <p:spPr>
              <a:xfrm>
                <a:off x="1287232" y="4333788"/>
                <a:ext cx="2735451" cy="11567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TW" altLang="en-US" sz="4000" i="1" smtClean="0">
                              <a:latin typeface="Cambria Math" panose="02040503050406030204" pitchFamily="18" charset="0"/>
                            </a:rPr>
                          </m:ctrlPr>
                        </m:sSubPr>
                        <m:e>
                          <m:r>
                            <m:rPr>
                              <m:sty m:val="p"/>
                            </m:rPr>
                            <a:rPr lang="zh-TW" altLang="en-US" sz="4000" i="1" smtClean="0">
                              <a:latin typeface="Cambria Math" panose="02040503050406030204" pitchFamily="18" charset="0"/>
                            </a:rPr>
                            <m:t>Δ</m:t>
                          </m:r>
                        </m:e>
                        <m:sub>
                          <m:r>
                            <a:rPr lang="zh-TW" altLang="en-US" sz="4000" i="1" smtClean="0">
                              <a:latin typeface="Cambria Math" panose="02040503050406030204" pitchFamily="18" charset="0"/>
                            </a:rPr>
                            <m:t>𝑃</m:t>
                          </m:r>
                        </m:sub>
                      </m:sSub>
                      <m:r>
                        <a:rPr lang="zh-TW" altLang="en-US" sz="4000" i="1" smtClean="0">
                          <a:latin typeface="Cambria Math" panose="02040503050406030204" pitchFamily="18" charset="0"/>
                        </a:rPr>
                        <m:t>=</m:t>
                      </m:r>
                      <m:r>
                        <a:rPr lang="zh-TW" altLang="en-US" sz="4000" i="1" smtClean="0">
                          <a:latin typeface="Cambria Math" panose="02040503050406030204" pitchFamily="18" charset="0"/>
                        </a:rPr>
                        <m:t>𝑘</m:t>
                      </m:r>
                      <m:f>
                        <m:fPr>
                          <m:ctrlPr>
                            <a:rPr lang="zh-TW" altLang="en-US" sz="4000" i="1" smtClean="0">
                              <a:latin typeface="Cambria Math" panose="02040503050406030204" pitchFamily="18" charset="0"/>
                            </a:rPr>
                          </m:ctrlPr>
                        </m:fPr>
                        <m:num>
                          <m:r>
                            <m:rPr>
                              <m:sty m:val="p"/>
                            </m:rPr>
                            <a:rPr lang="zh-TW" altLang="en-US" sz="4000" i="1" smtClean="0">
                              <a:latin typeface="Cambria Math" panose="02040503050406030204" pitchFamily="18" charset="0"/>
                            </a:rPr>
                            <m:t>Δ</m:t>
                          </m:r>
                          <m:r>
                            <a:rPr lang="zh-TW" altLang="en-US" sz="4000" i="1" smtClean="0">
                              <a:latin typeface="Cambria Math" panose="02040503050406030204" pitchFamily="18" charset="0"/>
                            </a:rPr>
                            <m:t>𝑠</m:t>
                          </m:r>
                        </m:num>
                        <m:den>
                          <m:r>
                            <a:rPr lang="zh-TW" altLang="en-US" sz="4000" i="1" smtClean="0">
                              <a:latin typeface="Cambria Math" panose="02040503050406030204" pitchFamily="18" charset="0"/>
                            </a:rPr>
                            <m:t>𝑠</m:t>
                          </m:r>
                        </m:den>
                      </m:f>
                    </m:oMath>
                  </m:oMathPara>
                </a14:m>
                <a:endParaRPr lang="zh-TW" altLang="en-US" sz="4000" dirty="0"/>
              </a:p>
            </p:txBody>
          </p:sp>
        </mc:Choice>
        <mc:Fallback xmlns="">
          <p:sp>
            <p:nvSpPr>
              <p:cNvPr id="4" name="文字方塊 3">
                <a:extLst>
                  <a:ext uri="{FF2B5EF4-FFF2-40B4-BE49-F238E27FC236}">
                    <a16:creationId xmlns:a16="http://schemas.microsoft.com/office/drawing/2014/main" id="{94F7FF7B-5402-40AF-8FFB-7D462A516628}"/>
                  </a:ext>
                </a:extLst>
              </p:cNvPr>
              <p:cNvSpPr txBox="1">
                <a:spLocks noRot="1" noChangeAspect="1" noMove="1" noResize="1" noEditPoints="1" noAdjustHandles="1" noChangeArrowheads="1" noChangeShapeType="1" noTextEdit="1"/>
              </p:cNvSpPr>
              <p:nvPr/>
            </p:nvSpPr>
            <p:spPr>
              <a:xfrm>
                <a:off x="1287232" y="4333788"/>
                <a:ext cx="2735451" cy="115672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81862C60-839C-4ACC-9A24-BCBA0CE21271}"/>
                  </a:ext>
                </a:extLst>
              </p:cNvPr>
              <p:cNvSpPr txBox="1"/>
              <p:nvPr/>
            </p:nvSpPr>
            <p:spPr>
              <a:xfrm>
                <a:off x="7343425" y="922023"/>
                <a:ext cx="3433563" cy="10520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3600" i="1" smtClean="0">
                          <a:latin typeface="Cambria Math" panose="02040503050406030204" pitchFamily="18" charset="0"/>
                        </a:rPr>
                        <m:t>ⅆ</m:t>
                      </m:r>
                      <m:r>
                        <a:rPr lang="zh-TW" altLang="en-US" sz="3600" i="1" smtClean="0">
                          <a:latin typeface="Cambria Math" panose="02040503050406030204" pitchFamily="18" charset="0"/>
                        </a:rPr>
                        <m:t>𝑝</m:t>
                      </m:r>
                      <m:r>
                        <a:rPr lang="zh-TW" altLang="en-US" sz="3600" i="1" smtClean="0">
                          <a:latin typeface="Cambria Math" panose="02040503050406030204" pitchFamily="18" charset="0"/>
                        </a:rPr>
                        <m:t>=</m:t>
                      </m:r>
                      <m:r>
                        <a:rPr lang="zh-TW" altLang="en-US" sz="3600" i="1" smtClean="0">
                          <a:latin typeface="Cambria Math" panose="02040503050406030204" pitchFamily="18" charset="0"/>
                        </a:rPr>
                        <m:t>𝑘</m:t>
                      </m:r>
                      <m:f>
                        <m:fPr>
                          <m:ctrlPr>
                            <a:rPr lang="zh-TW" altLang="en-US" sz="3600" i="1" smtClean="0">
                              <a:latin typeface="Cambria Math" panose="02040503050406030204" pitchFamily="18" charset="0"/>
                            </a:rPr>
                          </m:ctrlPr>
                        </m:fPr>
                        <m:num>
                          <m:r>
                            <a:rPr lang="zh-TW" altLang="en-US" sz="3600" i="1" smtClean="0">
                              <a:latin typeface="Cambria Math" panose="02040503050406030204" pitchFamily="18" charset="0"/>
                            </a:rPr>
                            <m:t>ⅆ</m:t>
                          </m:r>
                          <m:r>
                            <a:rPr lang="zh-TW" altLang="en-US" sz="3600" i="1" smtClean="0">
                              <a:latin typeface="Cambria Math" panose="02040503050406030204" pitchFamily="18" charset="0"/>
                            </a:rPr>
                            <m:t>𝑠</m:t>
                          </m:r>
                        </m:num>
                        <m:den>
                          <m:r>
                            <a:rPr lang="zh-TW" altLang="en-US" sz="3600" i="1" smtClean="0">
                              <a:latin typeface="Cambria Math" panose="02040503050406030204" pitchFamily="18" charset="0"/>
                            </a:rPr>
                            <m:t>𝑠</m:t>
                          </m:r>
                        </m:den>
                      </m:f>
                    </m:oMath>
                  </m:oMathPara>
                </a14:m>
                <a:endParaRPr lang="zh-TW" altLang="en-US" sz="3600" dirty="0"/>
              </a:p>
            </p:txBody>
          </p:sp>
        </mc:Choice>
        <mc:Fallback xmlns="">
          <p:sp>
            <p:nvSpPr>
              <p:cNvPr id="5" name="文字方塊 4">
                <a:extLst>
                  <a:ext uri="{FF2B5EF4-FFF2-40B4-BE49-F238E27FC236}">
                    <a16:creationId xmlns:a16="http://schemas.microsoft.com/office/drawing/2014/main" id="{81862C60-839C-4ACC-9A24-BCBA0CE21271}"/>
                  </a:ext>
                </a:extLst>
              </p:cNvPr>
              <p:cNvSpPr txBox="1">
                <a:spLocks noRot="1" noChangeAspect="1" noMove="1" noResize="1" noEditPoints="1" noAdjustHandles="1" noChangeArrowheads="1" noChangeShapeType="1" noTextEdit="1"/>
              </p:cNvSpPr>
              <p:nvPr/>
            </p:nvSpPr>
            <p:spPr>
              <a:xfrm>
                <a:off x="7343425" y="922023"/>
                <a:ext cx="3433563" cy="1052019"/>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D952C0FA-F8A4-4270-8FE3-2A801F9E2E1E}"/>
                  </a:ext>
                </a:extLst>
              </p:cNvPr>
              <p:cNvSpPr txBox="1"/>
              <p:nvPr/>
            </p:nvSpPr>
            <p:spPr>
              <a:xfrm>
                <a:off x="7534583" y="2533285"/>
                <a:ext cx="3051246" cy="10246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subSup"/>
                          <m:grow m:val="on"/>
                          <m:ctrlPr>
                            <a:rPr lang="zh-TW" altLang="en-US" sz="2800" i="1" smtClean="0">
                              <a:latin typeface="Cambria Math" panose="02040503050406030204" pitchFamily="18" charset="0"/>
                            </a:rPr>
                          </m:ctrlPr>
                        </m:naryPr>
                        <m:sub>
                          <m:r>
                            <a:rPr lang="zh-TW" altLang="en-US" sz="2800" i="1" smtClean="0">
                              <a:latin typeface="Cambria Math" panose="02040503050406030204" pitchFamily="18" charset="0"/>
                            </a:rPr>
                            <m:t>0</m:t>
                          </m:r>
                        </m:sub>
                        <m:sup>
                          <m:r>
                            <a:rPr lang="zh-TW" altLang="en-US" sz="2800" i="1" smtClean="0">
                              <a:latin typeface="Cambria Math" panose="02040503050406030204" pitchFamily="18" charset="0"/>
                            </a:rPr>
                            <m:t>𝑝</m:t>
                          </m:r>
                        </m:sup>
                        <m:e>
                          <m:r>
                            <a:rPr lang="zh-TW" altLang="en-US" sz="2800" i="1" smtClean="0">
                              <a:latin typeface="Cambria Math" panose="02040503050406030204" pitchFamily="18" charset="0"/>
                            </a:rPr>
                            <m:t>ⅆ</m:t>
                          </m:r>
                          <m:r>
                            <a:rPr lang="zh-TW" altLang="en-US" sz="2800" i="1" smtClean="0">
                              <a:latin typeface="Cambria Math" panose="02040503050406030204" pitchFamily="18" charset="0"/>
                            </a:rPr>
                            <m:t>𝑃</m:t>
                          </m:r>
                        </m:e>
                      </m:nary>
                      <m:r>
                        <a:rPr lang="zh-TW" altLang="en-US" sz="2800" i="1" smtClean="0">
                          <a:latin typeface="Cambria Math" panose="02040503050406030204" pitchFamily="18" charset="0"/>
                        </a:rPr>
                        <m:t>=</m:t>
                      </m:r>
                      <m:r>
                        <a:rPr lang="zh-TW" altLang="en-US" sz="2800" i="1" smtClean="0">
                          <a:latin typeface="Cambria Math" panose="02040503050406030204" pitchFamily="18" charset="0"/>
                        </a:rPr>
                        <m:t>𝑘</m:t>
                      </m:r>
                      <m:nary>
                        <m:naryPr>
                          <m:limLoc m:val="subSup"/>
                          <m:grow m:val="on"/>
                          <m:ctrlPr>
                            <a:rPr lang="zh-TW" altLang="en-US" sz="2800" i="1" smtClean="0">
                              <a:latin typeface="Cambria Math" panose="02040503050406030204" pitchFamily="18" charset="0"/>
                            </a:rPr>
                          </m:ctrlPr>
                        </m:naryPr>
                        <m:sub>
                          <m:sSub>
                            <m:sSubPr>
                              <m:ctrlPr>
                                <a:rPr lang="zh-TW" altLang="en-US" sz="2800" i="1" smtClean="0">
                                  <a:latin typeface="Cambria Math" panose="02040503050406030204" pitchFamily="18" charset="0"/>
                                </a:rPr>
                              </m:ctrlPr>
                            </m:sSubPr>
                            <m:e>
                              <m:r>
                                <a:rPr lang="zh-TW" altLang="en-US" sz="2800" i="1" smtClean="0">
                                  <a:latin typeface="Cambria Math" panose="02040503050406030204" pitchFamily="18" charset="0"/>
                                </a:rPr>
                                <m:t>𝑆</m:t>
                              </m:r>
                            </m:e>
                            <m:sub>
                              <m:r>
                                <a:rPr lang="zh-TW" altLang="en-US" sz="2800" i="1" smtClean="0">
                                  <a:latin typeface="Cambria Math" panose="02040503050406030204" pitchFamily="18" charset="0"/>
                                </a:rPr>
                                <m:t>0</m:t>
                              </m:r>
                            </m:sub>
                          </m:sSub>
                        </m:sub>
                        <m:sup>
                          <m:r>
                            <a:rPr lang="zh-TW" altLang="en-US" sz="2800" i="1" smtClean="0">
                              <a:latin typeface="Cambria Math" panose="02040503050406030204" pitchFamily="18" charset="0"/>
                            </a:rPr>
                            <m:t>𝑆</m:t>
                          </m:r>
                        </m:sup>
                        <m:e>
                          <m:f>
                            <m:fPr>
                              <m:ctrlPr>
                                <a:rPr lang="zh-TW" altLang="en-US" sz="2800" i="1" smtClean="0">
                                  <a:latin typeface="Cambria Math" panose="02040503050406030204" pitchFamily="18" charset="0"/>
                                </a:rPr>
                              </m:ctrlPr>
                            </m:fPr>
                            <m:num>
                              <m:r>
                                <a:rPr lang="zh-TW" altLang="en-US" sz="2800" i="1" smtClean="0">
                                  <a:latin typeface="Cambria Math" panose="02040503050406030204" pitchFamily="18" charset="0"/>
                                </a:rPr>
                                <m:t>ⅆ</m:t>
                              </m:r>
                              <m:r>
                                <a:rPr lang="zh-TW" altLang="en-US" sz="2800" i="1" smtClean="0">
                                  <a:latin typeface="Cambria Math" panose="02040503050406030204" pitchFamily="18" charset="0"/>
                                </a:rPr>
                                <m:t>𝑆</m:t>
                              </m:r>
                            </m:num>
                            <m:den>
                              <m:r>
                                <a:rPr lang="zh-TW" altLang="en-US" sz="2800" i="1" smtClean="0">
                                  <a:latin typeface="Cambria Math" panose="02040503050406030204" pitchFamily="18" charset="0"/>
                                </a:rPr>
                                <m:t>𝑆</m:t>
                              </m:r>
                            </m:den>
                          </m:f>
                        </m:e>
                      </m:nary>
                    </m:oMath>
                  </m:oMathPara>
                </a14:m>
                <a:endParaRPr lang="zh-TW" altLang="en-US" dirty="0"/>
              </a:p>
            </p:txBody>
          </p:sp>
        </mc:Choice>
        <mc:Fallback xmlns="">
          <p:sp>
            <p:nvSpPr>
              <p:cNvPr id="6" name="文字方塊 5">
                <a:extLst>
                  <a:ext uri="{FF2B5EF4-FFF2-40B4-BE49-F238E27FC236}">
                    <a16:creationId xmlns:a16="http://schemas.microsoft.com/office/drawing/2014/main" id="{D952C0FA-F8A4-4270-8FE3-2A801F9E2E1E}"/>
                  </a:ext>
                </a:extLst>
              </p:cNvPr>
              <p:cNvSpPr txBox="1">
                <a:spLocks noRot="1" noChangeAspect="1" noMove="1" noResize="1" noEditPoints="1" noAdjustHandles="1" noChangeArrowheads="1" noChangeShapeType="1" noTextEdit="1"/>
              </p:cNvSpPr>
              <p:nvPr/>
            </p:nvSpPr>
            <p:spPr>
              <a:xfrm>
                <a:off x="7534583" y="2533285"/>
                <a:ext cx="3051246" cy="102463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C785C206-CCE3-4270-BC48-81118C5B8BD6}"/>
                  </a:ext>
                </a:extLst>
              </p:cNvPr>
              <p:cNvSpPr txBox="1"/>
              <p:nvPr/>
            </p:nvSpPr>
            <p:spPr>
              <a:xfrm>
                <a:off x="7343425" y="4117167"/>
                <a:ext cx="3611035" cy="11065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3200" i="1" smtClean="0">
                          <a:latin typeface="Cambria Math" panose="02040503050406030204" pitchFamily="18" charset="0"/>
                        </a:rPr>
                        <m:t>𝑝</m:t>
                      </m:r>
                      <m:r>
                        <a:rPr lang="zh-TW" altLang="en-US" sz="3200" i="1" smtClean="0">
                          <a:latin typeface="Cambria Math" panose="02040503050406030204" pitchFamily="18" charset="0"/>
                        </a:rPr>
                        <m:t>=</m:t>
                      </m:r>
                      <m:r>
                        <a:rPr lang="zh-TW" altLang="en-US" sz="3200" i="1" smtClean="0">
                          <a:latin typeface="Cambria Math" panose="02040503050406030204" pitchFamily="18" charset="0"/>
                        </a:rPr>
                        <m:t>𝑘</m:t>
                      </m:r>
                      <m:func>
                        <m:funcPr>
                          <m:ctrlPr>
                            <a:rPr lang="zh-TW" altLang="en-US" sz="3200" i="1" smtClean="0">
                              <a:latin typeface="Cambria Math" panose="02040503050406030204" pitchFamily="18" charset="0"/>
                            </a:rPr>
                          </m:ctrlPr>
                        </m:funcPr>
                        <m:fName>
                          <m:r>
                            <m:rPr>
                              <m:sty m:val="p"/>
                            </m:rPr>
                            <a:rPr lang="zh-TW" altLang="en-US" sz="3200" i="1" smtClean="0">
                              <a:latin typeface="Cambria Math" panose="02040503050406030204" pitchFamily="18" charset="0"/>
                            </a:rPr>
                            <m:t>ln</m:t>
                          </m:r>
                        </m:fName>
                        <m:e>
                          <m:d>
                            <m:dPr>
                              <m:ctrlPr>
                                <a:rPr lang="zh-TW" altLang="en-US" sz="3200" i="1" smtClean="0">
                                  <a:latin typeface="Cambria Math" panose="02040503050406030204" pitchFamily="18" charset="0"/>
                                </a:rPr>
                              </m:ctrlPr>
                            </m:dPr>
                            <m:e>
                              <m:f>
                                <m:fPr>
                                  <m:ctrlPr>
                                    <a:rPr lang="zh-TW" altLang="en-US" sz="3200" i="1" smtClean="0">
                                      <a:latin typeface="Cambria Math" panose="02040503050406030204" pitchFamily="18" charset="0"/>
                                    </a:rPr>
                                  </m:ctrlPr>
                                </m:fPr>
                                <m:num>
                                  <m:r>
                                    <a:rPr lang="zh-TW" altLang="en-US" sz="3200" i="1" smtClean="0">
                                      <a:latin typeface="Cambria Math" panose="02040503050406030204" pitchFamily="18" charset="0"/>
                                    </a:rPr>
                                    <m:t>𝑠</m:t>
                                  </m:r>
                                </m:num>
                                <m:den>
                                  <m:sSub>
                                    <m:sSubPr>
                                      <m:ctrlPr>
                                        <a:rPr lang="zh-TW" altLang="en-US" sz="3200" i="1" smtClean="0">
                                          <a:latin typeface="Cambria Math" panose="02040503050406030204" pitchFamily="18" charset="0"/>
                                        </a:rPr>
                                      </m:ctrlPr>
                                    </m:sSubPr>
                                    <m:e>
                                      <m:r>
                                        <a:rPr lang="zh-TW" altLang="en-US" sz="3200" i="1" smtClean="0">
                                          <a:latin typeface="Cambria Math" panose="02040503050406030204" pitchFamily="18" charset="0"/>
                                        </a:rPr>
                                        <m:t>𝑠</m:t>
                                      </m:r>
                                    </m:e>
                                    <m:sub>
                                      <m:r>
                                        <a:rPr lang="zh-TW" altLang="en-US" sz="3200" i="1" smtClean="0">
                                          <a:latin typeface="Cambria Math" panose="02040503050406030204" pitchFamily="18" charset="0"/>
                                        </a:rPr>
                                        <m:t>0</m:t>
                                      </m:r>
                                    </m:sub>
                                  </m:sSub>
                                </m:den>
                              </m:f>
                            </m:e>
                          </m:d>
                        </m:e>
                      </m:func>
                    </m:oMath>
                  </m:oMathPara>
                </a14:m>
                <a:endParaRPr lang="zh-TW" altLang="en-US" sz="3200" dirty="0"/>
              </a:p>
            </p:txBody>
          </p:sp>
        </mc:Choice>
        <mc:Fallback xmlns="">
          <p:sp>
            <p:nvSpPr>
              <p:cNvPr id="7" name="文字方塊 6">
                <a:extLst>
                  <a:ext uri="{FF2B5EF4-FFF2-40B4-BE49-F238E27FC236}">
                    <a16:creationId xmlns:a16="http://schemas.microsoft.com/office/drawing/2014/main" id="{C785C206-CCE3-4270-BC48-81118C5B8BD6}"/>
                  </a:ext>
                </a:extLst>
              </p:cNvPr>
              <p:cNvSpPr txBox="1">
                <a:spLocks noRot="1" noChangeAspect="1" noMove="1" noResize="1" noEditPoints="1" noAdjustHandles="1" noChangeArrowheads="1" noChangeShapeType="1" noTextEdit="1"/>
              </p:cNvSpPr>
              <p:nvPr/>
            </p:nvSpPr>
            <p:spPr>
              <a:xfrm>
                <a:off x="7343425" y="4117167"/>
                <a:ext cx="3611035" cy="1106521"/>
              </a:xfrm>
              <a:prstGeom prst="rect">
                <a:avLst/>
              </a:prstGeom>
              <a:blipFill>
                <a:blip r:embed="rId6"/>
                <a:stretch>
                  <a:fillRect/>
                </a:stretch>
              </a:blipFill>
            </p:spPr>
            <p:txBody>
              <a:bodyPr/>
              <a:lstStyle/>
              <a:p>
                <a:r>
                  <a:rPr lang="zh-TW" altLang="en-US">
                    <a:noFill/>
                  </a:rPr>
                  <a:t> </a:t>
                </a:r>
              </a:p>
            </p:txBody>
          </p:sp>
        </mc:Fallback>
      </mc:AlternateContent>
      <p:pic>
        <p:nvPicPr>
          <p:cNvPr id="8" name="Picture 2" descr="https://upload.wikimedia.org/wikipedia/commons/thumb/5/51/Weber-Fechner_law_demo_-_dots.png/220px-Weber-Fechner_law_demo_-_dots.png">
            <a:extLst>
              <a:ext uri="{FF2B5EF4-FFF2-40B4-BE49-F238E27FC236}">
                <a16:creationId xmlns:a16="http://schemas.microsoft.com/office/drawing/2014/main" id="{2DE8B381-4A4F-4239-885D-7C8470E211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3583" y="728088"/>
            <a:ext cx="5144593" cy="540182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圓角 8">
            <a:extLst>
              <a:ext uri="{FF2B5EF4-FFF2-40B4-BE49-F238E27FC236}">
                <a16:creationId xmlns:a16="http://schemas.microsoft.com/office/drawing/2014/main" id="{8B8D5CCD-5261-40FF-8E8D-9F1BA503D7A9}"/>
              </a:ext>
            </a:extLst>
          </p:cNvPr>
          <p:cNvSpPr/>
          <p:nvPr/>
        </p:nvSpPr>
        <p:spPr>
          <a:xfrm>
            <a:off x="5948061" y="620898"/>
            <a:ext cx="2735452" cy="5616207"/>
          </a:xfrm>
          <a:prstGeom prst="roundRect">
            <a:avLst/>
          </a:prstGeom>
          <a:no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0" name="矩形: 圓角 9">
            <a:extLst>
              <a:ext uri="{FF2B5EF4-FFF2-40B4-BE49-F238E27FC236}">
                <a16:creationId xmlns:a16="http://schemas.microsoft.com/office/drawing/2014/main" id="{99755D00-0B71-4EF7-9BF4-4F3DA33AB330}"/>
              </a:ext>
            </a:extLst>
          </p:cNvPr>
          <p:cNvSpPr/>
          <p:nvPr/>
        </p:nvSpPr>
        <p:spPr>
          <a:xfrm>
            <a:off x="8888245" y="620897"/>
            <a:ext cx="2735452" cy="5616207"/>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54338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2A597A2-2108-4FD5-9F91-91B05A4672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496" y="2387961"/>
            <a:ext cx="10247658" cy="2459439"/>
          </a:xfrm>
          <a:prstGeom prst="rect">
            <a:avLst/>
          </a:prstGeom>
        </p:spPr>
      </p:pic>
      <p:sp>
        <p:nvSpPr>
          <p:cNvPr id="4" name="矩形 3">
            <a:extLst>
              <a:ext uri="{FF2B5EF4-FFF2-40B4-BE49-F238E27FC236}">
                <a16:creationId xmlns:a16="http://schemas.microsoft.com/office/drawing/2014/main" id="{4D8075D9-666B-4ECE-AE10-6B667AB3D255}"/>
              </a:ext>
            </a:extLst>
          </p:cNvPr>
          <p:cNvSpPr/>
          <p:nvPr/>
        </p:nvSpPr>
        <p:spPr>
          <a:xfrm>
            <a:off x="870930" y="1889055"/>
            <a:ext cx="5321868" cy="461665"/>
          </a:xfrm>
          <a:prstGeom prst="rect">
            <a:avLst/>
          </a:prstGeom>
        </p:spPr>
        <p:txBody>
          <a:bodyPr wrap="square">
            <a:spAutoFit/>
          </a:bodyPr>
          <a:lstStyle/>
          <a:p>
            <a:r>
              <a:rPr lang="zh-TW" altLang="en-US" sz="2400" dirty="0"/>
              <a:t> For positive QoS metrics </a:t>
            </a:r>
            <a:r>
              <a:rPr lang="en-US" altLang="zh-TW" sz="2400" dirty="0"/>
              <a:t>we use</a:t>
            </a:r>
            <a:r>
              <a:rPr lang="zh-TW" altLang="en-US" sz="2400" dirty="0"/>
              <a:t> </a:t>
            </a:r>
            <a:r>
              <a:rPr lang="en-US" altLang="zh-TW" sz="2400" dirty="0"/>
              <a:t>WFL</a:t>
            </a:r>
            <a:r>
              <a:rPr lang="zh-TW" altLang="en-US" sz="2400" dirty="0"/>
              <a:t> </a:t>
            </a:r>
          </a:p>
        </p:txBody>
      </p:sp>
      <p:sp>
        <p:nvSpPr>
          <p:cNvPr id="5" name="矩形 4">
            <a:extLst>
              <a:ext uri="{FF2B5EF4-FFF2-40B4-BE49-F238E27FC236}">
                <a16:creationId xmlns:a16="http://schemas.microsoft.com/office/drawing/2014/main" id="{B56C0EFA-6E9F-47B5-AA1E-65F5D8BE1B6A}"/>
              </a:ext>
            </a:extLst>
          </p:cNvPr>
          <p:cNvSpPr/>
          <p:nvPr/>
        </p:nvSpPr>
        <p:spPr>
          <a:xfrm>
            <a:off x="870930" y="3617680"/>
            <a:ext cx="4826193" cy="461665"/>
          </a:xfrm>
          <a:prstGeom prst="rect">
            <a:avLst/>
          </a:prstGeom>
        </p:spPr>
        <p:txBody>
          <a:bodyPr wrap="none">
            <a:spAutoFit/>
          </a:bodyPr>
          <a:lstStyle/>
          <a:p>
            <a:r>
              <a:rPr lang="zh-TW" altLang="en-US" sz="2400" dirty="0"/>
              <a:t> For </a:t>
            </a:r>
            <a:r>
              <a:rPr lang="en-US" altLang="zh-TW" sz="2400" dirty="0"/>
              <a:t>negative</a:t>
            </a:r>
            <a:r>
              <a:rPr lang="zh-TW" altLang="en-US" sz="2400" dirty="0"/>
              <a:t> QoS metrics </a:t>
            </a:r>
            <a:r>
              <a:rPr lang="en-US" altLang="zh-TW" sz="2400" dirty="0"/>
              <a:t>we use IQX</a:t>
            </a:r>
            <a:endParaRPr lang="zh-TW" altLang="en-US" sz="2400" dirty="0"/>
          </a:p>
        </p:txBody>
      </p:sp>
      <p:sp>
        <p:nvSpPr>
          <p:cNvPr id="6" name="矩形 5">
            <a:extLst>
              <a:ext uri="{FF2B5EF4-FFF2-40B4-BE49-F238E27FC236}">
                <a16:creationId xmlns:a16="http://schemas.microsoft.com/office/drawing/2014/main" id="{AE5897A2-64BF-4DD7-A970-37B5D5BBED22}"/>
              </a:ext>
            </a:extLst>
          </p:cNvPr>
          <p:cNvSpPr/>
          <p:nvPr/>
        </p:nvSpPr>
        <p:spPr>
          <a:xfrm>
            <a:off x="829994" y="752629"/>
            <a:ext cx="5720925" cy="707886"/>
          </a:xfrm>
          <a:prstGeom prst="rect">
            <a:avLst/>
          </a:prstGeom>
        </p:spPr>
        <p:txBody>
          <a:bodyPr wrap="none">
            <a:spAutoFit/>
          </a:bodyPr>
          <a:lstStyle/>
          <a:p>
            <a:r>
              <a:rPr lang="en-US" altLang="zh-TW" sz="4000" dirty="0"/>
              <a:t>D</a:t>
            </a:r>
            <a:r>
              <a:rPr lang="zh-TW" altLang="en-US" sz="4000" dirty="0"/>
              <a:t>iﬀerential v.s.</a:t>
            </a:r>
            <a:r>
              <a:rPr lang="en-US" altLang="zh-TW" sz="4000" dirty="0"/>
              <a:t>E</a:t>
            </a:r>
            <a:r>
              <a:rPr lang="zh-TW" altLang="en-US" sz="4000" dirty="0"/>
              <a:t>xponential</a:t>
            </a:r>
          </a:p>
        </p:txBody>
      </p:sp>
      <p:pic>
        <p:nvPicPr>
          <p:cNvPr id="7" name="圖片 6">
            <a:extLst>
              <a:ext uri="{FF2B5EF4-FFF2-40B4-BE49-F238E27FC236}">
                <a16:creationId xmlns:a16="http://schemas.microsoft.com/office/drawing/2014/main" id="{0B399CB9-C800-4686-8CF8-2C27085F61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496" y="4914488"/>
            <a:ext cx="7966273" cy="1720716"/>
          </a:xfrm>
          <a:prstGeom prst="rect">
            <a:avLst/>
          </a:prstGeom>
        </p:spPr>
      </p:pic>
    </p:spTree>
    <p:extLst>
      <p:ext uri="{BB962C8B-B14F-4D97-AF65-F5344CB8AC3E}">
        <p14:creationId xmlns:p14="http://schemas.microsoft.com/office/powerpoint/2010/main" val="738002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9021B0-2DBA-4100-807A-2C148EA9EAFA}"/>
              </a:ext>
            </a:extLst>
          </p:cNvPr>
          <p:cNvSpPr>
            <a:spLocks noGrp="1"/>
          </p:cNvSpPr>
          <p:nvPr>
            <p:ph type="title"/>
          </p:nvPr>
        </p:nvSpPr>
        <p:spPr>
          <a:xfrm>
            <a:off x="1493520" y="428625"/>
            <a:ext cx="9860280" cy="663575"/>
          </a:xfrm>
        </p:spPr>
        <p:txBody>
          <a:bodyPr/>
          <a:lstStyle/>
          <a:p>
            <a:pPr algn="l"/>
            <a:r>
              <a:rPr lang="en-US" altLang="zh-TW" dirty="0">
                <a:solidFill>
                  <a:schemeClr val="tx1">
                    <a:lumMod val="50000"/>
                    <a:lumOff val="50000"/>
                  </a:schemeClr>
                </a:solidFill>
              </a:rPr>
              <a:t>VNF</a:t>
            </a:r>
            <a:r>
              <a:rPr lang="zh-TW" altLang="en-US" dirty="0">
                <a:solidFill>
                  <a:schemeClr val="tx1">
                    <a:lumMod val="50000"/>
                    <a:lumOff val="50000"/>
                  </a:schemeClr>
                </a:solidFill>
              </a:rPr>
              <a:t> </a:t>
            </a:r>
            <a:r>
              <a:rPr lang="en-US" altLang="zh-TW" dirty="0">
                <a:solidFill>
                  <a:schemeClr val="tx1">
                    <a:lumMod val="50000"/>
                    <a:lumOff val="50000"/>
                  </a:schemeClr>
                </a:solidFill>
              </a:rPr>
              <a:t>Instances</a:t>
            </a:r>
            <a:r>
              <a:rPr lang="zh-TW" altLang="en-US" dirty="0">
                <a:solidFill>
                  <a:schemeClr val="tx1">
                    <a:lumMod val="50000"/>
                    <a:lumOff val="50000"/>
                  </a:schemeClr>
                </a:solidFill>
              </a:rPr>
              <a:t> </a:t>
            </a:r>
            <a:r>
              <a:rPr lang="en-US" altLang="zh-TW" dirty="0">
                <a:solidFill>
                  <a:schemeClr val="tx1">
                    <a:lumMod val="50000"/>
                    <a:lumOff val="50000"/>
                  </a:schemeClr>
                </a:solidFill>
              </a:rPr>
              <a:t>Selection</a:t>
            </a:r>
            <a:endParaRPr lang="zh-TW" altLang="en-US" dirty="0">
              <a:solidFill>
                <a:schemeClr val="tx1">
                  <a:lumMod val="50000"/>
                  <a:lumOff val="50000"/>
                </a:schemeClr>
              </a:solidFill>
            </a:endParaRPr>
          </a:p>
        </p:txBody>
      </p:sp>
      <p:sp>
        <p:nvSpPr>
          <p:cNvPr id="3" name="內容版面配置區 2">
            <a:extLst>
              <a:ext uri="{FF2B5EF4-FFF2-40B4-BE49-F238E27FC236}">
                <a16:creationId xmlns:a16="http://schemas.microsoft.com/office/drawing/2014/main" id="{9D97DDD3-E128-4A4C-946E-4E80B83A9CF1}"/>
              </a:ext>
            </a:extLst>
          </p:cNvPr>
          <p:cNvSpPr>
            <a:spLocks noGrp="1"/>
          </p:cNvSpPr>
          <p:nvPr>
            <p:ph idx="1"/>
          </p:nvPr>
        </p:nvSpPr>
        <p:spPr>
          <a:xfrm>
            <a:off x="838200" y="1666240"/>
            <a:ext cx="10515600" cy="1259840"/>
          </a:xfrm>
        </p:spPr>
        <p:txBody>
          <a:bodyPr>
            <a:normAutofit fontScale="92500" lnSpcReduction="10000"/>
          </a:bodyPr>
          <a:lstStyle/>
          <a:p>
            <a:r>
              <a:rPr lang="en-US" altLang="zh-TW" sz="3200" dirty="0"/>
              <a:t>New VNF instances</a:t>
            </a:r>
          </a:p>
          <a:p>
            <a:pPr lvl="1"/>
            <a:r>
              <a:rPr lang="en-US" altLang="zh-TW" sz="2800" dirty="0"/>
              <a:t>Enhancing the perception of the network situation</a:t>
            </a:r>
          </a:p>
          <a:p>
            <a:pPr lvl="1"/>
            <a:r>
              <a:rPr lang="en-US" altLang="zh-TW" sz="2800" dirty="0"/>
              <a:t>Improving their probability of making optimal decisions</a:t>
            </a:r>
          </a:p>
        </p:txBody>
      </p:sp>
      <p:sp>
        <p:nvSpPr>
          <p:cNvPr id="4" name="矩形 3">
            <a:extLst>
              <a:ext uri="{FF2B5EF4-FFF2-40B4-BE49-F238E27FC236}">
                <a16:creationId xmlns:a16="http://schemas.microsoft.com/office/drawing/2014/main" id="{8DD7790A-8E59-42B4-9DA2-E03BB72136FF}"/>
              </a:ext>
            </a:extLst>
          </p:cNvPr>
          <p:cNvSpPr/>
          <p:nvPr/>
        </p:nvSpPr>
        <p:spPr>
          <a:xfrm>
            <a:off x="838200" y="3500120"/>
            <a:ext cx="6529993" cy="584775"/>
          </a:xfrm>
          <a:prstGeom prst="rect">
            <a:avLst/>
          </a:prstGeom>
        </p:spPr>
        <p:txBody>
          <a:bodyPr wrap="none">
            <a:spAutoFit/>
          </a:bodyPr>
          <a:lstStyle/>
          <a:p>
            <a:pPr marL="342900" indent="-342900">
              <a:buFont typeface="Arial" panose="020B0604020202020204" pitchFamily="34" charset="0"/>
              <a:buChar char="•"/>
            </a:pPr>
            <a:r>
              <a:rPr lang="en-US" altLang="zh-TW" sz="3200" dirty="0"/>
              <a:t>C</a:t>
            </a:r>
            <a:r>
              <a:rPr lang="zh-TW" altLang="en-US" sz="3200" dirty="0"/>
              <a:t>urrently known best VNF instances</a:t>
            </a:r>
          </a:p>
        </p:txBody>
      </p:sp>
      <p:sp>
        <p:nvSpPr>
          <p:cNvPr id="5" name="矩形 4">
            <a:extLst>
              <a:ext uri="{FF2B5EF4-FFF2-40B4-BE49-F238E27FC236}">
                <a16:creationId xmlns:a16="http://schemas.microsoft.com/office/drawing/2014/main" id="{443804D8-02E1-4D6F-8D61-5A025CC46A41}"/>
              </a:ext>
            </a:extLst>
          </p:cNvPr>
          <p:cNvSpPr/>
          <p:nvPr/>
        </p:nvSpPr>
        <p:spPr>
          <a:xfrm>
            <a:off x="979597" y="4822428"/>
            <a:ext cx="8286323" cy="1938992"/>
          </a:xfrm>
          <a:prstGeom prst="rect">
            <a:avLst/>
          </a:prstGeom>
        </p:spPr>
        <p:txBody>
          <a:bodyPr wrap="square">
            <a:spAutoFit/>
          </a:bodyPr>
          <a:lstStyle/>
          <a:p>
            <a:r>
              <a:rPr lang="en-US" altLang="zh-TW" sz="3200" dirty="0">
                <a:solidFill>
                  <a:srgbClr val="FF0000"/>
                </a:solidFill>
              </a:rPr>
              <a:t>Explore-Exploit</a:t>
            </a:r>
            <a:r>
              <a:rPr lang="zh-TW" altLang="en-US" sz="3200" dirty="0">
                <a:solidFill>
                  <a:srgbClr val="FF0000"/>
                </a:solidFill>
              </a:rPr>
              <a:t> Dilemma</a:t>
            </a:r>
            <a:r>
              <a:rPr lang="en-US" altLang="zh-TW" sz="3200" dirty="0">
                <a:solidFill>
                  <a:srgbClr val="FF0000"/>
                </a:solidFill>
              </a:rPr>
              <a:t>:</a:t>
            </a:r>
          </a:p>
          <a:p>
            <a:pPr marL="457200" indent="-457200">
              <a:buFont typeface="Arial" panose="020B0604020202020204" pitchFamily="34" charset="0"/>
              <a:buChar char="•"/>
            </a:pPr>
            <a:r>
              <a:rPr lang="en-US" altLang="zh-TW" sz="2800" dirty="0">
                <a:solidFill>
                  <a:schemeClr val="bg2">
                    <a:lumMod val="10000"/>
                  </a:schemeClr>
                </a:solidFill>
              </a:rPr>
              <a:t>discovering better alternatives</a:t>
            </a:r>
          </a:p>
          <a:p>
            <a:pPr marL="457200" indent="-457200">
              <a:buFont typeface="Arial" panose="020B0604020202020204" pitchFamily="34" charset="0"/>
              <a:buChar char="•"/>
            </a:pPr>
            <a:r>
              <a:rPr lang="en-US" altLang="zh-TW" sz="2800" dirty="0">
                <a:solidFill>
                  <a:schemeClr val="bg2">
                    <a:lumMod val="10000"/>
                  </a:schemeClr>
                </a:solidFill>
              </a:rPr>
              <a:t>available resources may also be exhausted</a:t>
            </a:r>
          </a:p>
          <a:p>
            <a:r>
              <a:rPr lang="en-US" altLang="zh-TW" sz="3200" dirty="0">
                <a:solidFill>
                  <a:srgbClr val="FF0000"/>
                </a:solidFill>
              </a:rPr>
              <a:t>	</a:t>
            </a:r>
            <a:endParaRPr lang="zh-TW" altLang="en-US" sz="3200" dirty="0">
              <a:solidFill>
                <a:srgbClr val="FF0000"/>
              </a:solidFill>
            </a:endParaRPr>
          </a:p>
        </p:txBody>
      </p:sp>
    </p:spTree>
    <p:extLst>
      <p:ext uri="{BB962C8B-B14F-4D97-AF65-F5344CB8AC3E}">
        <p14:creationId xmlns:p14="http://schemas.microsoft.com/office/powerpoint/2010/main" val="1297385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18BB69-7F9A-4F17-B6FC-C7E28A35AC7B}"/>
              </a:ext>
            </a:extLst>
          </p:cNvPr>
          <p:cNvSpPr>
            <a:spLocks noGrp="1"/>
          </p:cNvSpPr>
          <p:nvPr>
            <p:ph type="title"/>
          </p:nvPr>
        </p:nvSpPr>
        <p:spPr>
          <a:xfrm>
            <a:off x="667237" y="1698010"/>
            <a:ext cx="3479800" cy="2492990"/>
          </a:xfrm>
        </p:spPr>
        <p:txBody>
          <a:bodyPr/>
          <a:lstStyle/>
          <a:p>
            <a:pPr algn="ctr"/>
            <a:r>
              <a:rPr lang="en-US" altLang="zh-TW" dirty="0"/>
              <a:t>epsilon-Greedy</a:t>
            </a:r>
            <a:br>
              <a:rPr lang="en-US" altLang="zh-TW" dirty="0"/>
            </a:br>
            <a:br>
              <a:rPr lang="en-US" altLang="zh-TW" dirty="0"/>
            </a:br>
            <a:r>
              <a:rPr lang="el-GR" altLang="zh-TW" dirty="0"/>
              <a:t>ϵ</a:t>
            </a:r>
            <a:r>
              <a:rPr lang="en-US" altLang="zh-TW" dirty="0"/>
              <a:t> - Greedy</a:t>
            </a:r>
            <a:br>
              <a:rPr lang="el-GR" altLang="zh-TW" dirty="0"/>
            </a:br>
            <a:br>
              <a:rPr lang="en-US" altLang="zh-TW" dirty="0"/>
            </a:br>
            <a:endParaRPr lang="zh-TW" altLang="en-US" dirty="0"/>
          </a:p>
        </p:txBody>
      </p:sp>
      <p:sp>
        <p:nvSpPr>
          <p:cNvPr id="4" name="日期版面配置區 3">
            <a:extLst>
              <a:ext uri="{FF2B5EF4-FFF2-40B4-BE49-F238E27FC236}">
                <a16:creationId xmlns:a16="http://schemas.microsoft.com/office/drawing/2014/main" id="{33DE057B-8BAA-4FC3-A6A9-1B5B48012806}"/>
              </a:ext>
            </a:extLst>
          </p:cNvPr>
          <p:cNvSpPr>
            <a:spLocks noGrp="1"/>
          </p:cNvSpPr>
          <p:nvPr>
            <p:ph type="dt" sz="half" idx="10"/>
          </p:nvPr>
        </p:nvSpPr>
        <p:spPr/>
        <p:txBody>
          <a:bodyPr/>
          <a:lstStyle/>
          <a:p>
            <a:fld id="{43E2D749-843A-4CF2-BA5B-0BB9149F832F}" type="datetime1">
              <a:rPr lang="en-ID" smtClean="0"/>
              <a:t>10/09/2019</a:t>
            </a:fld>
            <a:endParaRPr lang="en-ID"/>
          </a:p>
        </p:txBody>
      </p:sp>
      <p:sp>
        <p:nvSpPr>
          <p:cNvPr id="5" name="頁尾版面配置區 4">
            <a:extLst>
              <a:ext uri="{FF2B5EF4-FFF2-40B4-BE49-F238E27FC236}">
                <a16:creationId xmlns:a16="http://schemas.microsoft.com/office/drawing/2014/main" id="{13DF50D3-623E-475D-B8E1-1303633BFFEA}"/>
              </a:ext>
            </a:extLst>
          </p:cNvPr>
          <p:cNvSpPr>
            <a:spLocks noGrp="1"/>
          </p:cNvSpPr>
          <p:nvPr>
            <p:ph type="ftr" sz="quarter" idx="11"/>
          </p:nvPr>
        </p:nvSpPr>
        <p:spPr/>
        <p:txBody>
          <a:bodyPr/>
          <a:lstStyle/>
          <a:p>
            <a:r>
              <a:rPr lang="en-ID"/>
              <a:t>Footer</a:t>
            </a:r>
          </a:p>
        </p:txBody>
      </p:sp>
      <p:sp>
        <p:nvSpPr>
          <p:cNvPr id="6" name="投影片編號版面配置區 5">
            <a:extLst>
              <a:ext uri="{FF2B5EF4-FFF2-40B4-BE49-F238E27FC236}">
                <a16:creationId xmlns:a16="http://schemas.microsoft.com/office/drawing/2014/main" id="{B3A7DF33-4062-4BF3-966E-0D6FC6B7EAB1}"/>
              </a:ext>
            </a:extLst>
          </p:cNvPr>
          <p:cNvSpPr>
            <a:spLocks noGrp="1"/>
          </p:cNvSpPr>
          <p:nvPr>
            <p:ph type="sldNum" sz="quarter" idx="12"/>
          </p:nvPr>
        </p:nvSpPr>
        <p:spPr/>
        <p:txBody>
          <a:bodyPr/>
          <a:lstStyle/>
          <a:p>
            <a:fld id="{20A13858-C2AA-4A16-A43A-77ABAD7631C2}" type="slidenum">
              <a:rPr lang="en-ID" smtClean="0"/>
              <a:pPr/>
              <a:t>12</a:t>
            </a:fld>
            <a:endParaRPr lang="en-ID" dirty="0"/>
          </a:p>
        </p:txBody>
      </p:sp>
      <p:pic>
        <p:nvPicPr>
          <p:cNvPr id="12" name="內容版面配置區 11">
            <a:extLst>
              <a:ext uri="{FF2B5EF4-FFF2-40B4-BE49-F238E27FC236}">
                <a16:creationId xmlns:a16="http://schemas.microsoft.com/office/drawing/2014/main" id="{14AE046B-EABF-4A72-8F14-21889E279B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02203" y="841037"/>
            <a:ext cx="6651535" cy="1896825"/>
          </a:xfrm>
        </p:spPr>
      </p:pic>
      <p:sp>
        <p:nvSpPr>
          <p:cNvPr id="13" name="矩形 12">
            <a:extLst>
              <a:ext uri="{FF2B5EF4-FFF2-40B4-BE49-F238E27FC236}">
                <a16:creationId xmlns:a16="http://schemas.microsoft.com/office/drawing/2014/main" id="{C47B27C0-6FFF-49B0-BCBE-9E26E1301418}"/>
              </a:ext>
            </a:extLst>
          </p:cNvPr>
          <p:cNvSpPr/>
          <p:nvPr/>
        </p:nvSpPr>
        <p:spPr>
          <a:xfrm>
            <a:off x="5638800" y="1789450"/>
            <a:ext cx="2697480" cy="75563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zh-TW" altLang="en-US" sz="2400" dirty="0"/>
              <a:t>隨機選擇一項活動</a:t>
            </a:r>
          </a:p>
        </p:txBody>
      </p:sp>
      <p:pic>
        <p:nvPicPr>
          <p:cNvPr id="15" name="圖片 14">
            <a:extLst>
              <a:ext uri="{FF2B5EF4-FFF2-40B4-BE49-F238E27FC236}">
                <a16:creationId xmlns:a16="http://schemas.microsoft.com/office/drawing/2014/main" id="{27011B02-5675-47A9-BB25-7F92374C9FCA}"/>
              </a:ext>
            </a:extLst>
          </p:cNvPr>
          <p:cNvPicPr>
            <a:picLocks noChangeAspect="1"/>
          </p:cNvPicPr>
          <p:nvPr/>
        </p:nvPicPr>
        <p:blipFill rotWithShape="1">
          <a:blip r:embed="rId4">
            <a:extLst>
              <a:ext uri="{28A0092B-C50C-407E-A947-70E740481C1C}">
                <a14:useLocalDpi xmlns:a14="http://schemas.microsoft.com/office/drawing/2010/main" val="0"/>
              </a:ext>
            </a:extLst>
          </a:blip>
          <a:srcRect l="5527"/>
          <a:stretch/>
        </p:blipFill>
        <p:spPr>
          <a:xfrm>
            <a:off x="4995546" y="4343401"/>
            <a:ext cx="7064851" cy="1362265"/>
          </a:xfrm>
          <a:prstGeom prst="rect">
            <a:avLst/>
          </a:prstGeom>
        </p:spPr>
      </p:pic>
    </p:spTree>
    <p:extLst>
      <p:ext uri="{BB962C8B-B14F-4D97-AF65-F5344CB8AC3E}">
        <p14:creationId xmlns:p14="http://schemas.microsoft.com/office/powerpoint/2010/main" val="1025297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A36E3E-86E7-43F9-8EFC-E5B12672311D}"/>
              </a:ext>
            </a:extLst>
          </p:cNvPr>
          <p:cNvSpPr>
            <a:spLocks noGrp="1"/>
          </p:cNvSpPr>
          <p:nvPr>
            <p:ph type="title"/>
          </p:nvPr>
        </p:nvSpPr>
        <p:spPr>
          <a:xfrm>
            <a:off x="1813560" y="428625"/>
            <a:ext cx="9540240" cy="663575"/>
          </a:xfrm>
        </p:spPr>
        <p:txBody>
          <a:bodyPr/>
          <a:lstStyle/>
          <a:p>
            <a:pPr algn="l"/>
            <a:r>
              <a:rPr lang="en-US" altLang="zh-TW" dirty="0">
                <a:solidFill>
                  <a:schemeClr val="tx1">
                    <a:lumMod val="65000"/>
                    <a:lumOff val="35000"/>
                  </a:schemeClr>
                </a:solidFill>
              </a:rPr>
              <a:t>QoS/</a:t>
            </a:r>
            <a:r>
              <a:rPr lang="en-US" altLang="zh-TW" dirty="0" err="1">
                <a:solidFill>
                  <a:schemeClr val="tx1">
                    <a:lumMod val="65000"/>
                    <a:lumOff val="35000"/>
                  </a:schemeClr>
                </a:solidFill>
              </a:rPr>
              <a:t>QoE</a:t>
            </a:r>
            <a:r>
              <a:rPr lang="en-US" altLang="zh-TW" dirty="0">
                <a:solidFill>
                  <a:schemeClr val="tx1">
                    <a:lumMod val="65000"/>
                    <a:lumOff val="35000"/>
                  </a:schemeClr>
                </a:solidFill>
              </a:rPr>
              <a:t>-aware</a:t>
            </a:r>
            <a:r>
              <a:rPr lang="zh-TW" altLang="en-US" dirty="0">
                <a:solidFill>
                  <a:schemeClr val="tx1">
                    <a:lumMod val="65000"/>
                    <a:lumOff val="35000"/>
                  </a:schemeClr>
                </a:solidFill>
              </a:rPr>
              <a:t> </a:t>
            </a:r>
            <a:r>
              <a:rPr lang="en-US" altLang="zh-TW" dirty="0">
                <a:solidFill>
                  <a:schemeClr val="tx1">
                    <a:lumMod val="65000"/>
                    <a:lumOff val="35000"/>
                  </a:schemeClr>
                </a:solidFill>
              </a:rPr>
              <a:t>SFC</a:t>
            </a:r>
            <a:r>
              <a:rPr lang="zh-TW" altLang="en-US" dirty="0">
                <a:solidFill>
                  <a:schemeClr val="tx1">
                    <a:lumMod val="65000"/>
                    <a:lumOff val="35000"/>
                  </a:schemeClr>
                </a:solidFill>
              </a:rPr>
              <a:t> </a:t>
            </a:r>
            <a:r>
              <a:rPr lang="en-US" altLang="zh-TW" dirty="0">
                <a:solidFill>
                  <a:schemeClr val="tx1">
                    <a:lumMod val="65000"/>
                    <a:lumOff val="35000"/>
                  </a:schemeClr>
                </a:solidFill>
              </a:rPr>
              <a:t>Algorithm</a:t>
            </a:r>
            <a:endParaRPr lang="zh-TW" altLang="en-US" dirty="0">
              <a:solidFill>
                <a:schemeClr val="tx1">
                  <a:lumMod val="65000"/>
                  <a:lumOff val="35000"/>
                </a:schemeClr>
              </a:solidFill>
            </a:endParaRPr>
          </a:p>
        </p:txBody>
      </p:sp>
      <p:pic>
        <p:nvPicPr>
          <p:cNvPr id="9" name="內容版面配置區 8">
            <a:extLst>
              <a:ext uri="{FF2B5EF4-FFF2-40B4-BE49-F238E27FC236}">
                <a16:creationId xmlns:a16="http://schemas.microsoft.com/office/drawing/2014/main" id="{9D5676F5-E93A-4669-9009-AEBB2F8AF89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95792" y="1092200"/>
            <a:ext cx="4960527" cy="5754212"/>
          </a:xfrm>
        </p:spPr>
      </p:pic>
      <p:pic>
        <p:nvPicPr>
          <p:cNvPr id="11" name="圖片 10">
            <a:extLst>
              <a:ext uri="{FF2B5EF4-FFF2-40B4-BE49-F238E27FC236}">
                <a16:creationId xmlns:a16="http://schemas.microsoft.com/office/drawing/2014/main" id="{2577CDBB-DC14-4DC7-9200-7407B6B135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136" y="3807084"/>
            <a:ext cx="2969127" cy="993516"/>
          </a:xfrm>
          <a:prstGeom prst="rect">
            <a:avLst/>
          </a:prstGeom>
        </p:spPr>
      </p:pic>
      <p:cxnSp>
        <p:nvCxnSpPr>
          <p:cNvPr id="13" name="直線單箭頭接點 12">
            <a:extLst>
              <a:ext uri="{FF2B5EF4-FFF2-40B4-BE49-F238E27FC236}">
                <a16:creationId xmlns:a16="http://schemas.microsoft.com/office/drawing/2014/main" id="{722296CF-2206-4EDA-B81A-961068EE6673}"/>
              </a:ext>
            </a:extLst>
          </p:cNvPr>
          <p:cNvCxnSpPr>
            <a:stCxn id="11" idx="3"/>
          </p:cNvCxnSpPr>
          <p:nvPr/>
        </p:nvCxnSpPr>
        <p:spPr>
          <a:xfrm flipV="1">
            <a:off x="3163263" y="4282440"/>
            <a:ext cx="768657" cy="21402"/>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4" name="圖片 13">
            <a:extLst>
              <a:ext uri="{FF2B5EF4-FFF2-40B4-BE49-F238E27FC236}">
                <a16:creationId xmlns:a16="http://schemas.microsoft.com/office/drawing/2014/main" id="{95046734-1045-42A9-8594-01A5EABC651F}"/>
              </a:ext>
            </a:extLst>
          </p:cNvPr>
          <p:cNvPicPr>
            <a:picLocks noChangeAspect="1"/>
          </p:cNvPicPr>
          <p:nvPr/>
        </p:nvPicPr>
        <p:blipFill rotWithShape="1">
          <a:blip r:embed="rId5">
            <a:extLst>
              <a:ext uri="{28A0092B-C50C-407E-A947-70E740481C1C}">
                <a14:useLocalDpi xmlns:a14="http://schemas.microsoft.com/office/drawing/2010/main" val="0"/>
              </a:ext>
            </a:extLst>
          </a:blip>
          <a:srcRect l="5527"/>
          <a:stretch/>
        </p:blipFill>
        <p:spPr>
          <a:xfrm>
            <a:off x="8559323" y="2099410"/>
            <a:ext cx="3632677" cy="700463"/>
          </a:xfrm>
          <a:prstGeom prst="rect">
            <a:avLst/>
          </a:prstGeom>
        </p:spPr>
      </p:pic>
      <p:cxnSp>
        <p:nvCxnSpPr>
          <p:cNvPr id="16" name="接點: 肘形 15">
            <a:extLst>
              <a:ext uri="{FF2B5EF4-FFF2-40B4-BE49-F238E27FC236}">
                <a16:creationId xmlns:a16="http://schemas.microsoft.com/office/drawing/2014/main" id="{13436BC6-FEA6-4202-9865-E2B992648016}"/>
              </a:ext>
            </a:extLst>
          </p:cNvPr>
          <p:cNvCxnSpPr>
            <a:stCxn id="14" idx="2"/>
          </p:cNvCxnSpPr>
          <p:nvPr/>
        </p:nvCxnSpPr>
        <p:spPr>
          <a:xfrm rot="5400000">
            <a:off x="9022571" y="2265982"/>
            <a:ext cx="819201" cy="1886982"/>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8" name="圖片 17">
            <a:extLst>
              <a:ext uri="{FF2B5EF4-FFF2-40B4-BE49-F238E27FC236}">
                <a16:creationId xmlns:a16="http://schemas.microsoft.com/office/drawing/2014/main" id="{BEE63E3A-3F50-4C1D-9311-22416FDD9E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62550" y="4478902"/>
            <a:ext cx="3426221" cy="847844"/>
          </a:xfrm>
          <a:prstGeom prst="rect">
            <a:avLst/>
          </a:prstGeom>
        </p:spPr>
      </p:pic>
      <p:cxnSp>
        <p:nvCxnSpPr>
          <p:cNvPr id="19" name="接點: 肘形 18">
            <a:extLst>
              <a:ext uri="{FF2B5EF4-FFF2-40B4-BE49-F238E27FC236}">
                <a16:creationId xmlns:a16="http://schemas.microsoft.com/office/drawing/2014/main" id="{1CE52900-EAB1-4116-B665-E8BC1853C685}"/>
              </a:ext>
            </a:extLst>
          </p:cNvPr>
          <p:cNvCxnSpPr/>
          <p:nvPr/>
        </p:nvCxnSpPr>
        <p:spPr>
          <a:xfrm rot="5400000">
            <a:off x="9022570" y="4792856"/>
            <a:ext cx="819201" cy="1886982"/>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059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78D81A-0797-4ADA-B080-001AC8F13A1C}"/>
              </a:ext>
            </a:extLst>
          </p:cNvPr>
          <p:cNvSpPr>
            <a:spLocks noGrp="1"/>
          </p:cNvSpPr>
          <p:nvPr>
            <p:ph type="title"/>
          </p:nvPr>
        </p:nvSpPr>
        <p:spPr/>
        <p:txBody>
          <a:bodyPr/>
          <a:lstStyle/>
          <a:p>
            <a:r>
              <a:rPr lang="en-US" altLang="zh-TW" dirty="0">
                <a:solidFill>
                  <a:schemeClr val="tx1">
                    <a:lumMod val="65000"/>
                    <a:lumOff val="35000"/>
                  </a:schemeClr>
                </a:solidFill>
              </a:rPr>
              <a:t>EXPERIMENT</a:t>
            </a:r>
            <a:endParaRPr lang="zh-TW" altLang="en-US" dirty="0">
              <a:solidFill>
                <a:schemeClr val="tx1">
                  <a:lumMod val="65000"/>
                  <a:lumOff val="35000"/>
                </a:schemeClr>
              </a:solidFill>
            </a:endParaRPr>
          </a:p>
        </p:txBody>
      </p:sp>
      <p:sp>
        <p:nvSpPr>
          <p:cNvPr id="3" name="內容版面配置區 2">
            <a:extLst>
              <a:ext uri="{FF2B5EF4-FFF2-40B4-BE49-F238E27FC236}">
                <a16:creationId xmlns:a16="http://schemas.microsoft.com/office/drawing/2014/main" id="{BD9A0020-390A-4814-8F89-ECDD726AF32E}"/>
              </a:ext>
            </a:extLst>
          </p:cNvPr>
          <p:cNvSpPr>
            <a:spLocks noGrp="1"/>
          </p:cNvSpPr>
          <p:nvPr>
            <p:ph idx="1"/>
          </p:nvPr>
        </p:nvSpPr>
        <p:spPr>
          <a:xfrm>
            <a:off x="532595" y="1044861"/>
            <a:ext cx="10972800" cy="5168350"/>
          </a:xfrm>
        </p:spPr>
        <p:txBody>
          <a:bodyPr/>
          <a:lstStyle/>
          <a:p>
            <a:r>
              <a:rPr lang="en-US" altLang="zh-TW" dirty="0">
                <a:solidFill>
                  <a:schemeClr val="tx1">
                    <a:lumMod val="65000"/>
                    <a:lumOff val="35000"/>
                  </a:schemeClr>
                </a:solidFill>
                <a:latin typeface="+mn-ea"/>
              </a:rPr>
              <a:t>Experiments on</a:t>
            </a:r>
            <a:r>
              <a:rPr lang="zh-TW" altLang="en-US" dirty="0">
                <a:solidFill>
                  <a:schemeClr val="tx1">
                    <a:lumMod val="65000"/>
                    <a:lumOff val="35000"/>
                  </a:schemeClr>
                </a:solidFill>
                <a:latin typeface="+mn-ea"/>
              </a:rPr>
              <a:t> </a:t>
            </a:r>
            <a:r>
              <a:rPr lang="en-US" altLang="zh-TW" dirty="0">
                <a:solidFill>
                  <a:schemeClr val="tx1">
                    <a:lumMod val="65000"/>
                    <a:lumOff val="35000"/>
                  </a:schemeClr>
                </a:solidFill>
                <a:latin typeface="+mn-ea"/>
              </a:rPr>
              <a:t>QoS</a:t>
            </a:r>
            <a:r>
              <a:rPr lang="zh-TW" altLang="en-US" dirty="0">
                <a:solidFill>
                  <a:schemeClr val="tx1">
                    <a:lumMod val="65000"/>
                    <a:lumOff val="35000"/>
                  </a:schemeClr>
                </a:solidFill>
                <a:latin typeface="+mn-ea"/>
              </a:rPr>
              <a:t> </a:t>
            </a:r>
            <a:r>
              <a:rPr lang="en-US" altLang="zh-TW" dirty="0">
                <a:solidFill>
                  <a:schemeClr val="tx1">
                    <a:lumMod val="65000"/>
                    <a:lumOff val="35000"/>
                  </a:schemeClr>
                </a:solidFill>
                <a:latin typeface="+mn-ea"/>
              </a:rPr>
              <a:t>over</a:t>
            </a:r>
            <a:r>
              <a:rPr lang="zh-TW" altLang="en-US" dirty="0">
                <a:solidFill>
                  <a:schemeClr val="tx1">
                    <a:lumMod val="65000"/>
                    <a:lumOff val="35000"/>
                  </a:schemeClr>
                </a:solidFill>
                <a:latin typeface="+mn-ea"/>
              </a:rPr>
              <a:t> </a:t>
            </a:r>
            <a:r>
              <a:rPr lang="en-US" altLang="zh-TW" dirty="0">
                <a:solidFill>
                  <a:schemeClr val="tx1">
                    <a:lumMod val="65000"/>
                    <a:lumOff val="35000"/>
                  </a:schemeClr>
                </a:solidFill>
                <a:latin typeface="+mn-ea"/>
              </a:rPr>
              <a:t>LLDP</a:t>
            </a:r>
          </a:p>
          <a:p>
            <a:endParaRPr lang="zh-TW" altLang="en-US" dirty="0">
              <a:solidFill>
                <a:schemeClr val="tx1">
                  <a:lumMod val="65000"/>
                  <a:lumOff val="35000"/>
                </a:schemeClr>
              </a:solidFill>
              <a:latin typeface="+mn-ea"/>
            </a:endParaRPr>
          </a:p>
        </p:txBody>
      </p:sp>
      <p:sp>
        <p:nvSpPr>
          <p:cNvPr id="4" name="日期版面配置區 3">
            <a:extLst>
              <a:ext uri="{FF2B5EF4-FFF2-40B4-BE49-F238E27FC236}">
                <a16:creationId xmlns:a16="http://schemas.microsoft.com/office/drawing/2014/main" id="{610CBDA1-92CA-4416-A14D-E56DAD4EB89B}"/>
              </a:ext>
            </a:extLst>
          </p:cNvPr>
          <p:cNvSpPr>
            <a:spLocks noGrp="1"/>
          </p:cNvSpPr>
          <p:nvPr>
            <p:ph type="dt" sz="half" idx="10"/>
          </p:nvPr>
        </p:nvSpPr>
        <p:spPr/>
        <p:txBody>
          <a:bodyPr/>
          <a:lstStyle/>
          <a:p>
            <a:fld id="{43E2D749-843A-4CF2-BA5B-0BB9149F832F}" type="datetime1">
              <a:rPr lang="en-ID" smtClean="0"/>
              <a:t>10/09/2019</a:t>
            </a:fld>
            <a:endParaRPr lang="en-ID"/>
          </a:p>
        </p:txBody>
      </p:sp>
      <p:sp>
        <p:nvSpPr>
          <p:cNvPr id="5" name="頁尾版面配置區 4">
            <a:extLst>
              <a:ext uri="{FF2B5EF4-FFF2-40B4-BE49-F238E27FC236}">
                <a16:creationId xmlns:a16="http://schemas.microsoft.com/office/drawing/2014/main" id="{F26B3602-A45B-44B6-A0B4-F19F0AC21A28}"/>
              </a:ext>
            </a:extLst>
          </p:cNvPr>
          <p:cNvSpPr>
            <a:spLocks noGrp="1"/>
          </p:cNvSpPr>
          <p:nvPr>
            <p:ph type="ftr" sz="quarter" idx="11"/>
          </p:nvPr>
        </p:nvSpPr>
        <p:spPr/>
        <p:txBody>
          <a:bodyPr/>
          <a:lstStyle/>
          <a:p>
            <a:r>
              <a:rPr lang="en-ID"/>
              <a:t>Footer</a:t>
            </a:r>
          </a:p>
        </p:txBody>
      </p:sp>
      <p:sp>
        <p:nvSpPr>
          <p:cNvPr id="6" name="投影片編號版面配置區 5">
            <a:extLst>
              <a:ext uri="{FF2B5EF4-FFF2-40B4-BE49-F238E27FC236}">
                <a16:creationId xmlns:a16="http://schemas.microsoft.com/office/drawing/2014/main" id="{6C296DA6-5EC6-465F-8C7A-52FCBCEE3665}"/>
              </a:ext>
            </a:extLst>
          </p:cNvPr>
          <p:cNvSpPr>
            <a:spLocks noGrp="1"/>
          </p:cNvSpPr>
          <p:nvPr>
            <p:ph type="sldNum" sz="quarter" idx="12"/>
          </p:nvPr>
        </p:nvSpPr>
        <p:spPr/>
        <p:txBody>
          <a:bodyPr/>
          <a:lstStyle/>
          <a:p>
            <a:fld id="{20A13858-C2AA-4A16-A43A-77ABAD7631C2}" type="slidenum">
              <a:rPr lang="en-ID" smtClean="0"/>
              <a:pPr/>
              <a:t>14</a:t>
            </a:fld>
            <a:endParaRPr lang="en-ID" dirty="0"/>
          </a:p>
        </p:txBody>
      </p:sp>
      <p:pic>
        <p:nvPicPr>
          <p:cNvPr id="11" name="圖片 10">
            <a:extLst>
              <a:ext uri="{FF2B5EF4-FFF2-40B4-BE49-F238E27FC236}">
                <a16:creationId xmlns:a16="http://schemas.microsoft.com/office/drawing/2014/main" id="{9F174225-09F4-4493-A613-F9AB8AB80B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605" y="3105959"/>
            <a:ext cx="10818790" cy="2471881"/>
          </a:xfrm>
          <a:prstGeom prst="rect">
            <a:avLst/>
          </a:prstGeom>
        </p:spPr>
      </p:pic>
    </p:spTree>
    <p:extLst>
      <p:ext uri="{BB962C8B-B14F-4D97-AF65-F5344CB8AC3E}">
        <p14:creationId xmlns:p14="http://schemas.microsoft.com/office/powerpoint/2010/main" val="2314758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78D81A-0797-4ADA-B080-001AC8F13A1C}"/>
              </a:ext>
            </a:extLst>
          </p:cNvPr>
          <p:cNvSpPr>
            <a:spLocks noGrp="1"/>
          </p:cNvSpPr>
          <p:nvPr>
            <p:ph type="title"/>
          </p:nvPr>
        </p:nvSpPr>
        <p:spPr/>
        <p:txBody>
          <a:bodyPr/>
          <a:lstStyle/>
          <a:p>
            <a:r>
              <a:rPr lang="en-US" altLang="zh-TW" dirty="0">
                <a:solidFill>
                  <a:schemeClr val="tx1">
                    <a:lumMod val="65000"/>
                    <a:lumOff val="35000"/>
                  </a:schemeClr>
                </a:solidFill>
              </a:rPr>
              <a:t>EXPERIMENT</a:t>
            </a:r>
            <a:endParaRPr lang="zh-TW" altLang="en-US" dirty="0">
              <a:solidFill>
                <a:schemeClr val="tx1">
                  <a:lumMod val="65000"/>
                  <a:lumOff val="35000"/>
                </a:schemeClr>
              </a:solidFill>
            </a:endParaRPr>
          </a:p>
        </p:txBody>
      </p:sp>
      <p:sp>
        <p:nvSpPr>
          <p:cNvPr id="3" name="內容版面配置區 2">
            <a:extLst>
              <a:ext uri="{FF2B5EF4-FFF2-40B4-BE49-F238E27FC236}">
                <a16:creationId xmlns:a16="http://schemas.microsoft.com/office/drawing/2014/main" id="{BD9A0020-390A-4814-8F89-ECDD726AF32E}"/>
              </a:ext>
            </a:extLst>
          </p:cNvPr>
          <p:cNvSpPr>
            <a:spLocks noGrp="1"/>
          </p:cNvSpPr>
          <p:nvPr>
            <p:ph idx="1"/>
          </p:nvPr>
        </p:nvSpPr>
        <p:spPr>
          <a:xfrm>
            <a:off x="532595" y="1044861"/>
            <a:ext cx="10972800" cy="5168350"/>
          </a:xfrm>
        </p:spPr>
        <p:txBody>
          <a:bodyPr>
            <a:normAutofit/>
          </a:bodyPr>
          <a:lstStyle/>
          <a:p>
            <a:r>
              <a:rPr lang="en-US" altLang="zh-TW" sz="2400" dirty="0">
                <a:solidFill>
                  <a:schemeClr val="tx1">
                    <a:lumMod val="65000"/>
                    <a:lumOff val="35000"/>
                  </a:schemeClr>
                </a:solidFill>
                <a:latin typeface="+mn-ea"/>
              </a:rPr>
              <a:t>Experiments</a:t>
            </a:r>
            <a:r>
              <a:rPr lang="zh-TW" altLang="en-US" sz="2400" dirty="0">
                <a:solidFill>
                  <a:schemeClr val="tx1">
                    <a:lumMod val="65000"/>
                    <a:lumOff val="35000"/>
                  </a:schemeClr>
                </a:solidFill>
                <a:latin typeface="+mn-ea"/>
              </a:rPr>
              <a:t> </a:t>
            </a:r>
            <a:r>
              <a:rPr lang="en-US" altLang="zh-TW" sz="2400" dirty="0">
                <a:solidFill>
                  <a:schemeClr val="tx1">
                    <a:lumMod val="65000"/>
                    <a:lumOff val="35000"/>
                  </a:schemeClr>
                </a:solidFill>
                <a:latin typeface="+mn-ea"/>
              </a:rPr>
              <a:t>on DQN-based QoS/</a:t>
            </a:r>
            <a:r>
              <a:rPr lang="en-US" altLang="zh-TW" sz="2400" dirty="0" err="1">
                <a:solidFill>
                  <a:schemeClr val="tx1">
                    <a:lumMod val="65000"/>
                    <a:lumOff val="35000"/>
                  </a:schemeClr>
                </a:solidFill>
                <a:latin typeface="+mn-ea"/>
              </a:rPr>
              <a:t>QoE</a:t>
            </a:r>
            <a:r>
              <a:rPr lang="en-US" altLang="zh-TW" sz="2400" dirty="0">
                <a:solidFill>
                  <a:schemeClr val="tx1">
                    <a:lumMod val="65000"/>
                    <a:lumOff val="35000"/>
                  </a:schemeClr>
                </a:solidFill>
                <a:latin typeface="+mn-ea"/>
              </a:rPr>
              <a:t>-aware Service Function Chaining</a:t>
            </a:r>
            <a:endParaRPr lang="zh-TW" altLang="en-US" sz="2400" dirty="0">
              <a:solidFill>
                <a:schemeClr val="tx1">
                  <a:lumMod val="65000"/>
                  <a:lumOff val="35000"/>
                </a:schemeClr>
              </a:solidFill>
              <a:latin typeface="+mn-ea"/>
            </a:endParaRPr>
          </a:p>
        </p:txBody>
      </p:sp>
      <p:sp>
        <p:nvSpPr>
          <p:cNvPr id="4" name="日期版面配置區 3">
            <a:extLst>
              <a:ext uri="{FF2B5EF4-FFF2-40B4-BE49-F238E27FC236}">
                <a16:creationId xmlns:a16="http://schemas.microsoft.com/office/drawing/2014/main" id="{610CBDA1-92CA-4416-A14D-E56DAD4EB89B}"/>
              </a:ext>
            </a:extLst>
          </p:cNvPr>
          <p:cNvSpPr>
            <a:spLocks noGrp="1"/>
          </p:cNvSpPr>
          <p:nvPr>
            <p:ph type="dt" sz="half" idx="10"/>
          </p:nvPr>
        </p:nvSpPr>
        <p:spPr/>
        <p:txBody>
          <a:bodyPr/>
          <a:lstStyle/>
          <a:p>
            <a:fld id="{43E2D749-843A-4CF2-BA5B-0BB9149F832F}" type="datetime1">
              <a:rPr lang="en-ID" smtClean="0"/>
              <a:t>10/09/2019</a:t>
            </a:fld>
            <a:endParaRPr lang="en-ID"/>
          </a:p>
        </p:txBody>
      </p:sp>
      <p:sp>
        <p:nvSpPr>
          <p:cNvPr id="5" name="頁尾版面配置區 4">
            <a:extLst>
              <a:ext uri="{FF2B5EF4-FFF2-40B4-BE49-F238E27FC236}">
                <a16:creationId xmlns:a16="http://schemas.microsoft.com/office/drawing/2014/main" id="{F26B3602-A45B-44B6-A0B4-F19F0AC21A28}"/>
              </a:ext>
            </a:extLst>
          </p:cNvPr>
          <p:cNvSpPr>
            <a:spLocks noGrp="1"/>
          </p:cNvSpPr>
          <p:nvPr>
            <p:ph type="ftr" sz="quarter" idx="11"/>
          </p:nvPr>
        </p:nvSpPr>
        <p:spPr/>
        <p:txBody>
          <a:bodyPr/>
          <a:lstStyle/>
          <a:p>
            <a:r>
              <a:rPr lang="en-ID"/>
              <a:t>Footer</a:t>
            </a:r>
          </a:p>
        </p:txBody>
      </p:sp>
      <p:sp>
        <p:nvSpPr>
          <p:cNvPr id="6" name="投影片編號版面配置區 5">
            <a:extLst>
              <a:ext uri="{FF2B5EF4-FFF2-40B4-BE49-F238E27FC236}">
                <a16:creationId xmlns:a16="http://schemas.microsoft.com/office/drawing/2014/main" id="{6C296DA6-5EC6-465F-8C7A-52FCBCEE3665}"/>
              </a:ext>
            </a:extLst>
          </p:cNvPr>
          <p:cNvSpPr>
            <a:spLocks noGrp="1"/>
          </p:cNvSpPr>
          <p:nvPr>
            <p:ph type="sldNum" sz="quarter" idx="12"/>
          </p:nvPr>
        </p:nvSpPr>
        <p:spPr/>
        <p:txBody>
          <a:bodyPr/>
          <a:lstStyle/>
          <a:p>
            <a:fld id="{20A13858-C2AA-4A16-A43A-77ABAD7631C2}" type="slidenum">
              <a:rPr lang="en-ID" smtClean="0"/>
              <a:pPr/>
              <a:t>15</a:t>
            </a:fld>
            <a:endParaRPr lang="en-ID" dirty="0"/>
          </a:p>
        </p:txBody>
      </p:sp>
      <p:pic>
        <p:nvPicPr>
          <p:cNvPr id="8" name="圖片 7">
            <a:extLst>
              <a:ext uri="{FF2B5EF4-FFF2-40B4-BE49-F238E27FC236}">
                <a16:creationId xmlns:a16="http://schemas.microsoft.com/office/drawing/2014/main" id="{80B984B6-07FA-4794-B9F6-B9D56B5C58A0}"/>
              </a:ext>
            </a:extLst>
          </p:cNvPr>
          <p:cNvPicPr>
            <a:picLocks noChangeAspect="1"/>
          </p:cNvPicPr>
          <p:nvPr/>
        </p:nvPicPr>
        <p:blipFill rotWithShape="1">
          <a:blip r:embed="rId3"/>
          <a:srcRect t="10970" r="7800"/>
          <a:stretch/>
        </p:blipFill>
        <p:spPr>
          <a:xfrm>
            <a:off x="2244936" y="1536952"/>
            <a:ext cx="6765682" cy="5232920"/>
          </a:xfrm>
          <a:prstGeom prst="rect">
            <a:avLst/>
          </a:prstGeom>
        </p:spPr>
      </p:pic>
    </p:spTree>
    <p:extLst>
      <p:ext uri="{BB962C8B-B14F-4D97-AF65-F5344CB8AC3E}">
        <p14:creationId xmlns:p14="http://schemas.microsoft.com/office/powerpoint/2010/main" val="3533884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78D81A-0797-4ADA-B080-001AC8F13A1C}"/>
              </a:ext>
            </a:extLst>
          </p:cNvPr>
          <p:cNvSpPr>
            <a:spLocks noGrp="1"/>
          </p:cNvSpPr>
          <p:nvPr>
            <p:ph type="title"/>
          </p:nvPr>
        </p:nvSpPr>
        <p:spPr/>
        <p:txBody>
          <a:bodyPr/>
          <a:lstStyle/>
          <a:p>
            <a:r>
              <a:rPr lang="en-US" altLang="zh-TW" dirty="0">
                <a:solidFill>
                  <a:schemeClr val="tx1">
                    <a:lumMod val="65000"/>
                    <a:lumOff val="35000"/>
                  </a:schemeClr>
                </a:solidFill>
              </a:rPr>
              <a:t>EXPERIMENT</a:t>
            </a:r>
            <a:endParaRPr lang="zh-TW" altLang="en-US" dirty="0">
              <a:solidFill>
                <a:schemeClr val="tx1">
                  <a:lumMod val="65000"/>
                  <a:lumOff val="35000"/>
                </a:schemeClr>
              </a:solidFill>
            </a:endParaRPr>
          </a:p>
        </p:txBody>
      </p:sp>
      <p:sp>
        <p:nvSpPr>
          <p:cNvPr id="3" name="內容版面配置區 2">
            <a:extLst>
              <a:ext uri="{FF2B5EF4-FFF2-40B4-BE49-F238E27FC236}">
                <a16:creationId xmlns:a16="http://schemas.microsoft.com/office/drawing/2014/main" id="{BD9A0020-390A-4814-8F89-ECDD726AF32E}"/>
              </a:ext>
            </a:extLst>
          </p:cNvPr>
          <p:cNvSpPr>
            <a:spLocks noGrp="1"/>
          </p:cNvSpPr>
          <p:nvPr>
            <p:ph idx="1"/>
          </p:nvPr>
        </p:nvSpPr>
        <p:spPr>
          <a:xfrm>
            <a:off x="532595" y="1044861"/>
            <a:ext cx="10972800" cy="5168350"/>
          </a:xfrm>
        </p:spPr>
        <p:txBody>
          <a:bodyPr>
            <a:normAutofit/>
          </a:bodyPr>
          <a:lstStyle/>
          <a:p>
            <a:r>
              <a:rPr lang="en-US" altLang="zh-TW" sz="2400" dirty="0">
                <a:solidFill>
                  <a:schemeClr val="tx1">
                    <a:lumMod val="65000"/>
                    <a:lumOff val="35000"/>
                  </a:schemeClr>
                </a:solidFill>
                <a:latin typeface="+mn-ea"/>
              </a:rPr>
              <a:t>Experiments</a:t>
            </a:r>
            <a:r>
              <a:rPr lang="zh-TW" altLang="en-US" sz="2400" dirty="0">
                <a:solidFill>
                  <a:schemeClr val="tx1">
                    <a:lumMod val="65000"/>
                    <a:lumOff val="35000"/>
                  </a:schemeClr>
                </a:solidFill>
                <a:latin typeface="+mn-ea"/>
              </a:rPr>
              <a:t> </a:t>
            </a:r>
            <a:r>
              <a:rPr lang="en-US" altLang="zh-TW" sz="2400" dirty="0">
                <a:solidFill>
                  <a:schemeClr val="tx1">
                    <a:lumMod val="65000"/>
                    <a:lumOff val="35000"/>
                  </a:schemeClr>
                </a:solidFill>
                <a:latin typeface="+mn-ea"/>
              </a:rPr>
              <a:t>on DQN-based QoS/</a:t>
            </a:r>
            <a:r>
              <a:rPr lang="en-US" altLang="zh-TW" sz="2400" dirty="0" err="1">
                <a:solidFill>
                  <a:schemeClr val="tx1">
                    <a:lumMod val="65000"/>
                    <a:lumOff val="35000"/>
                  </a:schemeClr>
                </a:solidFill>
                <a:latin typeface="+mn-ea"/>
              </a:rPr>
              <a:t>QoE</a:t>
            </a:r>
            <a:r>
              <a:rPr lang="en-US" altLang="zh-TW" sz="2400" dirty="0">
                <a:solidFill>
                  <a:schemeClr val="tx1">
                    <a:lumMod val="65000"/>
                    <a:lumOff val="35000"/>
                  </a:schemeClr>
                </a:solidFill>
                <a:latin typeface="+mn-ea"/>
              </a:rPr>
              <a:t>-aware Service Function Chaining</a:t>
            </a:r>
            <a:endParaRPr lang="zh-TW" altLang="en-US" sz="2400" dirty="0">
              <a:solidFill>
                <a:schemeClr val="tx1">
                  <a:lumMod val="65000"/>
                  <a:lumOff val="35000"/>
                </a:schemeClr>
              </a:solidFill>
              <a:latin typeface="+mn-ea"/>
            </a:endParaRPr>
          </a:p>
        </p:txBody>
      </p:sp>
      <p:sp>
        <p:nvSpPr>
          <p:cNvPr id="4" name="日期版面配置區 3">
            <a:extLst>
              <a:ext uri="{FF2B5EF4-FFF2-40B4-BE49-F238E27FC236}">
                <a16:creationId xmlns:a16="http://schemas.microsoft.com/office/drawing/2014/main" id="{610CBDA1-92CA-4416-A14D-E56DAD4EB89B}"/>
              </a:ext>
            </a:extLst>
          </p:cNvPr>
          <p:cNvSpPr>
            <a:spLocks noGrp="1"/>
          </p:cNvSpPr>
          <p:nvPr>
            <p:ph type="dt" sz="half" idx="10"/>
          </p:nvPr>
        </p:nvSpPr>
        <p:spPr/>
        <p:txBody>
          <a:bodyPr/>
          <a:lstStyle/>
          <a:p>
            <a:fld id="{43E2D749-843A-4CF2-BA5B-0BB9149F832F}" type="datetime1">
              <a:rPr lang="en-ID" smtClean="0"/>
              <a:t>10/09/2019</a:t>
            </a:fld>
            <a:endParaRPr lang="en-ID"/>
          </a:p>
        </p:txBody>
      </p:sp>
      <p:sp>
        <p:nvSpPr>
          <p:cNvPr id="5" name="頁尾版面配置區 4">
            <a:extLst>
              <a:ext uri="{FF2B5EF4-FFF2-40B4-BE49-F238E27FC236}">
                <a16:creationId xmlns:a16="http://schemas.microsoft.com/office/drawing/2014/main" id="{F26B3602-A45B-44B6-A0B4-F19F0AC21A28}"/>
              </a:ext>
            </a:extLst>
          </p:cNvPr>
          <p:cNvSpPr>
            <a:spLocks noGrp="1"/>
          </p:cNvSpPr>
          <p:nvPr>
            <p:ph type="ftr" sz="quarter" idx="11"/>
          </p:nvPr>
        </p:nvSpPr>
        <p:spPr/>
        <p:txBody>
          <a:bodyPr/>
          <a:lstStyle/>
          <a:p>
            <a:r>
              <a:rPr lang="en-ID"/>
              <a:t>Footer</a:t>
            </a:r>
          </a:p>
        </p:txBody>
      </p:sp>
      <p:sp>
        <p:nvSpPr>
          <p:cNvPr id="6" name="投影片編號版面配置區 5">
            <a:extLst>
              <a:ext uri="{FF2B5EF4-FFF2-40B4-BE49-F238E27FC236}">
                <a16:creationId xmlns:a16="http://schemas.microsoft.com/office/drawing/2014/main" id="{6C296DA6-5EC6-465F-8C7A-52FCBCEE3665}"/>
              </a:ext>
            </a:extLst>
          </p:cNvPr>
          <p:cNvSpPr>
            <a:spLocks noGrp="1"/>
          </p:cNvSpPr>
          <p:nvPr>
            <p:ph type="sldNum" sz="quarter" idx="12"/>
          </p:nvPr>
        </p:nvSpPr>
        <p:spPr/>
        <p:txBody>
          <a:bodyPr/>
          <a:lstStyle/>
          <a:p>
            <a:fld id="{20A13858-C2AA-4A16-A43A-77ABAD7631C2}" type="slidenum">
              <a:rPr lang="en-ID" smtClean="0"/>
              <a:pPr/>
              <a:t>16</a:t>
            </a:fld>
            <a:endParaRPr lang="en-ID" dirty="0"/>
          </a:p>
        </p:txBody>
      </p:sp>
      <p:pic>
        <p:nvPicPr>
          <p:cNvPr id="9" name="圖片 8">
            <a:extLst>
              <a:ext uri="{FF2B5EF4-FFF2-40B4-BE49-F238E27FC236}">
                <a16:creationId xmlns:a16="http://schemas.microsoft.com/office/drawing/2014/main" id="{910E4563-149D-4791-8D41-A2D88D7154BB}"/>
              </a:ext>
            </a:extLst>
          </p:cNvPr>
          <p:cNvPicPr>
            <a:picLocks noChangeAspect="1"/>
          </p:cNvPicPr>
          <p:nvPr/>
        </p:nvPicPr>
        <p:blipFill rotWithShape="1">
          <a:blip r:embed="rId3">
            <a:extLst>
              <a:ext uri="{28A0092B-C50C-407E-A947-70E740481C1C}">
                <a14:useLocalDpi xmlns:a14="http://schemas.microsoft.com/office/drawing/2010/main" val="0"/>
              </a:ext>
            </a:extLst>
          </a:blip>
          <a:srcRect l="1548" t="6660" r="5396" b="4661"/>
          <a:stretch/>
        </p:blipFill>
        <p:spPr>
          <a:xfrm>
            <a:off x="2682240" y="1588002"/>
            <a:ext cx="6827520" cy="5168350"/>
          </a:xfrm>
          <a:prstGeom prst="rect">
            <a:avLst/>
          </a:prstGeom>
        </p:spPr>
      </p:pic>
    </p:spTree>
    <p:extLst>
      <p:ext uri="{BB962C8B-B14F-4D97-AF65-F5344CB8AC3E}">
        <p14:creationId xmlns:p14="http://schemas.microsoft.com/office/powerpoint/2010/main" val="978111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78D81A-0797-4ADA-B080-001AC8F13A1C}"/>
              </a:ext>
            </a:extLst>
          </p:cNvPr>
          <p:cNvSpPr>
            <a:spLocks noGrp="1"/>
          </p:cNvSpPr>
          <p:nvPr>
            <p:ph type="title"/>
          </p:nvPr>
        </p:nvSpPr>
        <p:spPr/>
        <p:txBody>
          <a:bodyPr/>
          <a:lstStyle/>
          <a:p>
            <a:r>
              <a:rPr lang="en-US" altLang="zh-TW" dirty="0">
                <a:solidFill>
                  <a:schemeClr val="tx1">
                    <a:lumMod val="65000"/>
                    <a:lumOff val="35000"/>
                  </a:schemeClr>
                </a:solidFill>
              </a:rPr>
              <a:t>EXPERIMENT</a:t>
            </a:r>
            <a:endParaRPr lang="zh-TW" altLang="en-US" dirty="0">
              <a:solidFill>
                <a:schemeClr val="tx1">
                  <a:lumMod val="65000"/>
                  <a:lumOff val="35000"/>
                </a:schemeClr>
              </a:solidFill>
            </a:endParaRPr>
          </a:p>
        </p:txBody>
      </p:sp>
      <p:sp>
        <p:nvSpPr>
          <p:cNvPr id="3" name="內容版面配置區 2">
            <a:extLst>
              <a:ext uri="{FF2B5EF4-FFF2-40B4-BE49-F238E27FC236}">
                <a16:creationId xmlns:a16="http://schemas.microsoft.com/office/drawing/2014/main" id="{BD9A0020-390A-4814-8F89-ECDD726AF32E}"/>
              </a:ext>
            </a:extLst>
          </p:cNvPr>
          <p:cNvSpPr>
            <a:spLocks noGrp="1"/>
          </p:cNvSpPr>
          <p:nvPr>
            <p:ph idx="1"/>
          </p:nvPr>
        </p:nvSpPr>
        <p:spPr>
          <a:xfrm>
            <a:off x="532595" y="1044861"/>
            <a:ext cx="10972800" cy="5168350"/>
          </a:xfrm>
        </p:spPr>
        <p:txBody>
          <a:bodyPr>
            <a:normAutofit/>
          </a:bodyPr>
          <a:lstStyle/>
          <a:p>
            <a:r>
              <a:rPr lang="en-US" altLang="zh-TW" sz="2400" dirty="0">
                <a:solidFill>
                  <a:schemeClr val="tx1">
                    <a:lumMod val="65000"/>
                    <a:lumOff val="35000"/>
                  </a:schemeClr>
                </a:solidFill>
                <a:latin typeface="+mn-ea"/>
              </a:rPr>
              <a:t>Experiments</a:t>
            </a:r>
            <a:r>
              <a:rPr lang="zh-TW" altLang="en-US" sz="2400" dirty="0">
                <a:solidFill>
                  <a:schemeClr val="tx1">
                    <a:lumMod val="65000"/>
                    <a:lumOff val="35000"/>
                  </a:schemeClr>
                </a:solidFill>
                <a:latin typeface="+mn-ea"/>
              </a:rPr>
              <a:t> </a:t>
            </a:r>
            <a:r>
              <a:rPr lang="en-US" altLang="zh-TW" sz="2400" dirty="0">
                <a:solidFill>
                  <a:schemeClr val="tx1">
                    <a:lumMod val="65000"/>
                    <a:lumOff val="35000"/>
                  </a:schemeClr>
                </a:solidFill>
                <a:latin typeface="+mn-ea"/>
              </a:rPr>
              <a:t>on DQN-based QoS/</a:t>
            </a:r>
            <a:r>
              <a:rPr lang="en-US" altLang="zh-TW" sz="2400" dirty="0" err="1">
                <a:solidFill>
                  <a:schemeClr val="tx1">
                    <a:lumMod val="65000"/>
                    <a:lumOff val="35000"/>
                  </a:schemeClr>
                </a:solidFill>
                <a:latin typeface="+mn-ea"/>
              </a:rPr>
              <a:t>QoE</a:t>
            </a:r>
            <a:r>
              <a:rPr lang="en-US" altLang="zh-TW" sz="2400" dirty="0">
                <a:solidFill>
                  <a:schemeClr val="tx1">
                    <a:lumMod val="65000"/>
                    <a:lumOff val="35000"/>
                  </a:schemeClr>
                </a:solidFill>
                <a:latin typeface="+mn-ea"/>
              </a:rPr>
              <a:t>-aware Service Function Chaining</a:t>
            </a:r>
            <a:endParaRPr lang="zh-TW" altLang="en-US" sz="2400" dirty="0">
              <a:solidFill>
                <a:schemeClr val="tx1">
                  <a:lumMod val="65000"/>
                  <a:lumOff val="35000"/>
                </a:schemeClr>
              </a:solidFill>
              <a:latin typeface="+mn-ea"/>
            </a:endParaRPr>
          </a:p>
        </p:txBody>
      </p:sp>
      <p:sp>
        <p:nvSpPr>
          <p:cNvPr id="4" name="日期版面配置區 3">
            <a:extLst>
              <a:ext uri="{FF2B5EF4-FFF2-40B4-BE49-F238E27FC236}">
                <a16:creationId xmlns:a16="http://schemas.microsoft.com/office/drawing/2014/main" id="{610CBDA1-92CA-4416-A14D-E56DAD4EB89B}"/>
              </a:ext>
            </a:extLst>
          </p:cNvPr>
          <p:cNvSpPr>
            <a:spLocks noGrp="1"/>
          </p:cNvSpPr>
          <p:nvPr>
            <p:ph type="dt" sz="half" idx="10"/>
          </p:nvPr>
        </p:nvSpPr>
        <p:spPr/>
        <p:txBody>
          <a:bodyPr/>
          <a:lstStyle/>
          <a:p>
            <a:fld id="{43E2D749-843A-4CF2-BA5B-0BB9149F832F}" type="datetime1">
              <a:rPr lang="en-ID" smtClean="0"/>
              <a:t>10/09/2019</a:t>
            </a:fld>
            <a:endParaRPr lang="en-ID"/>
          </a:p>
        </p:txBody>
      </p:sp>
      <p:sp>
        <p:nvSpPr>
          <p:cNvPr id="5" name="頁尾版面配置區 4">
            <a:extLst>
              <a:ext uri="{FF2B5EF4-FFF2-40B4-BE49-F238E27FC236}">
                <a16:creationId xmlns:a16="http://schemas.microsoft.com/office/drawing/2014/main" id="{F26B3602-A45B-44B6-A0B4-F19F0AC21A28}"/>
              </a:ext>
            </a:extLst>
          </p:cNvPr>
          <p:cNvSpPr>
            <a:spLocks noGrp="1"/>
          </p:cNvSpPr>
          <p:nvPr>
            <p:ph type="ftr" sz="quarter" idx="11"/>
          </p:nvPr>
        </p:nvSpPr>
        <p:spPr/>
        <p:txBody>
          <a:bodyPr/>
          <a:lstStyle/>
          <a:p>
            <a:r>
              <a:rPr lang="en-ID"/>
              <a:t>Footer</a:t>
            </a:r>
          </a:p>
        </p:txBody>
      </p:sp>
      <p:sp>
        <p:nvSpPr>
          <p:cNvPr id="6" name="投影片編號版面配置區 5">
            <a:extLst>
              <a:ext uri="{FF2B5EF4-FFF2-40B4-BE49-F238E27FC236}">
                <a16:creationId xmlns:a16="http://schemas.microsoft.com/office/drawing/2014/main" id="{6C296DA6-5EC6-465F-8C7A-52FCBCEE3665}"/>
              </a:ext>
            </a:extLst>
          </p:cNvPr>
          <p:cNvSpPr>
            <a:spLocks noGrp="1"/>
          </p:cNvSpPr>
          <p:nvPr>
            <p:ph type="sldNum" sz="quarter" idx="12"/>
          </p:nvPr>
        </p:nvSpPr>
        <p:spPr/>
        <p:txBody>
          <a:bodyPr/>
          <a:lstStyle/>
          <a:p>
            <a:fld id="{20A13858-C2AA-4A16-A43A-77ABAD7631C2}" type="slidenum">
              <a:rPr lang="en-ID" smtClean="0"/>
              <a:pPr/>
              <a:t>17</a:t>
            </a:fld>
            <a:endParaRPr lang="en-ID" dirty="0"/>
          </a:p>
        </p:txBody>
      </p:sp>
      <p:pic>
        <p:nvPicPr>
          <p:cNvPr id="8" name="圖片 7">
            <a:extLst>
              <a:ext uri="{FF2B5EF4-FFF2-40B4-BE49-F238E27FC236}">
                <a16:creationId xmlns:a16="http://schemas.microsoft.com/office/drawing/2014/main" id="{01BC5742-B285-4DDC-8B98-519C2D3B2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1344" y="1815345"/>
            <a:ext cx="8515301" cy="3997794"/>
          </a:xfrm>
          <a:prstGeom prst="rect">
            <a:avLst/>
          </a:prstGeom>
        </p:spPr>
      </p:pic>
    </p:spTree>
    <p:extLst>
      <p:ext uri="{BB962C8B-B14F-4D97-AF65-F5344CB8AC3E}">
        <p14:creationId xmlns:p14="http://schemas.microsoft.com/office/powerpoint/2010/main" val="2409698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B32375-BCBC-4D94-B4CB-B0144E8BFB21}"/>
              </a:ext>
            </a:extLst>
          </p:cNvPr>
          <p:cNvSpPr>
            <a:spLocks noGrp="1"/>
          </p:cNvSpPr>
          <p:nvPr>
            <p:ph type="title"/>
          </p:nvPr>
        </p:nvSpPr>
        <p:spPr>
          <a:xfrm>
            <a:off x="609600" y="3760470"/>
            <a:ext cx="3479800" cy="498598"/>
          </a:xfrm>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B96936D5-E992-4460-B46C-8B0663840694}"/>
              </a:ext>
            </a:extLst>
          </p:cNvPr>
          <p:cNvSpPr>
            <a:spLocks noGrp="1"/>
          </p:cNvSpPr>
          <p:nvPr>
            <p:ph idx="1"/>
          </p:nvPr>
        </p:nvSpPr>
        <p:spPr/>
        <p:txBody>
          <a:bodyPr/>
          <a:lstStyle/>
          <a:p>
            <a:r>
              <a:rPr lang="en-US" altLang="zh-TW" dirty="0"/>
              <a:t>In a service outsourcing scenario, a service function chain might involve trans-slice network functions, which are likely to introduce hierarchical orchestration design. We consider this as a future work direction. </a:t>
            </a:r>
          </a:p>
          <a:p>
            <a:endParaRPr lang="en-US" altLang="zh-TW" dirty="0"/>
          </a:p>
          <a:p>
            <a:r>
              <a:rPr lang="en-US" altLang="zh-TW" dirty="0"/>
              <a:t>Our next step will also address to coordinate MEC in 5G edge networks with SFC in 5G core networks to bring end-to-end </a:t>
            </a:r>
            <a:r>
              <a:rPr lang="en-US" altLang="zh-TW" dirty="0" err="1"/>
              <a:t>QoE</a:t>
            </a:r>
            <a:r>
              <a:rPr lang="en-US" altLang="zh-TW" dirty="0"/>
              <a:t>-satisfactory services is also our next step work.</a:t>
            </a:r>
            <a:endParaRPr lang="zh-TW" altLang="en-US" dirty="0"/>
          </a:p>
        </p:txBody>
      </p:sp>
      <p:sp>
        <p:nvSpPr>
          <p:cNvPr id="4" name="日期版面配置區 3">
            <a:extLst>
              <a:ext uri="{FF2B5EF4-FFF2-40B4-BE49-F238E27FC236}">
                <a16:creationId xmlns:a16="http://schemas.microsoft.com/office/drawing/2014/main" id="{28F87CEB-EB4E-4A0C-9BC1-1BA606C4886B}"/>
              </a:ext>
            </a:extLst>
          </p:cNvPr>
          <p:cNvSpPr>
            <a:spLocks noGrp="1"/>
          </p:cNvSpPr>
          <p:nvPr>
            <p:ph type="dt" sz="half" idx="10"/>
          </p:nvPr>
        </p:nvSpPr>
        <p:spPr/>
        <p:txBody>
          <a:bodyPr/>
          <a:lstStyle/>
          <a:p>
            <a:fld id="{43E2D749-843A-4CF2-BA5B-0BB9149F832F}" type="datetime1">
              <a:rPr lang="en-ID" smtClean="0"/>
              <a:t>10/09/2019</a:t>
            </a:fld>
            <a:endParaRPr lang="en-ID"/>
          </a:p>
        </p:txBody>
      </p:sp>
      <p:sp>
        <p:nvSpPr>
          <p:cNvPr id="5" name="頁尾版面配置區 4">
            <a:extLst>
              <a:ext uri="{FF2B5EF4-FFF2-40B4-BE49-F238E27FC236}">
                <a16:creationId xmlns:a16="http://schemas.microsoft.com/office/drawing/2014/main" id="{E4203F4B-823E-4BC8-91BF-39B468171C5E}"/>
              </a:ext>
            </a:extLst>
          </p:cNvPr>
          <p:cNvSpPr>
            <a:spLocks noGrp="1"/>
          </p:cNvSpPr>
          <p:nvPr>
            <p:ph type="ftr" sz="quarter" idx="11"/>
          </p:nvPr>
        </p:nvSpPr>
        <p:spPr/>
        <p:txBody>
          <a:bodyPr/>
          <a:lstStyle/>
          <a:p>
            <a:r>
              <a:rPr lang="en-ID"/>
              <a:t>Footer</a:t>
            </a:r>
          </a:p>
        </p:txBody>
      </p:sp>
      <p:sp>
        <p:nvSpPr>
          <p:cNvPr id="6" name="投影片編號版面配置區 5">
            <a:extLst>
              <a:ext uri="{FF2B5EF4-FFF2-40B4-BE49-F238E27FC236}">
                <a16:creationId xmlns:a16="http://schemas.microsoft.com/office/drawing/2014/main" id="{D2C1CAB2-7A27-402B-AA18-EFAB6E0479F7}"/>
              </a:ext>
            </a:extLst>
          </p:cNvPr>
          <p:cNvSpPr>
            <a:spLocks noGrp="1"/>
          </p:cNvSpPr>
          <p:nvPr>
            <p:ph type="sldNum" sz="quarter" idx="12"/>
          </p:nvPr>
        </p:nvSpPr>
        <p:spPr/>
        <p:txBody>
          <a:bodyPr/>
          <a:lstStyle/>
          <a:p>
            <a:fld id="{20A13858-C2AA-4A16-A43A-77ABAD7631C2}" type="slidenum">
              <a:rPr lang="en-ID" smtClean="0"/>
              <a:pPr/>
              <a:t>18</a:t>
            </a:fld>
            <a:endParaRPr lang="en-ID" dirty="0"/>
          </a:p>
        </p:txBody>
      </p:sp>
    </p:spTree>
    <p:extLst>
      <p:ext uri="{BB962C8B-B14F-4D97-AF65-F5344CB8AC3E}">
        <p14:creationId xmlns:p14="http://schemas.microsoft.com/office/powerpoint/2010/main" val="4083936690"/>
      </p:ext>
    </p:extLst>
  </p:cSld>
  <p:clrMapOvr>
    <a:masterClrMapping/>
  </p:clrMapOvr>
</p:sld>
</file>

<file path=ppt/theme/theme1.xml><?xml version="1.0" encoding="utf-8"?>
<a:theme xmlns:a="http://schemas.openxmlformats.org/drawingml/2006/main" name="Office Theme">
  <a:themeElements>
    <a:clrScheme name="Custom 4">
      <a:dk1>
        <a:sysClr val="windowText" lastClr="000000"/>
      </a:dk1>
      <a:lt1>
        <a:sysClr val="window" lastClr="FFFFFF"/>
      </a:lt1>
      <a:dk2>
        <a:srgbClr val="91B5B5"/>
      </a:dk2>
      <a:lt2>
        <a:srgbClr val="C9E9E7"/>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7">
      <a:majorFont>
        <a:latin typeface="Georgia"/>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FE9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7430</TotalTime>
  <Words>1809</Words>
  <Application>Microsoft Office PowerPoint</Application>
  <PresentationFormat>寬螢幕</PresentationFormat>
  <Paragraphs>174</Paragraphs>
  <Slides>18</Slides>
  <Notes>16</Notes>
  <HiddenSlides>0</HiddenSlides>
  <MMClips>0</MMClips>
  <ScaleCrop>false</ScaleCrop>
  <HeadingPairs>
    <vt:vector size="6" baseType="variant">
      <vt:variant>
        <vt:lpstr>使用字型</vt:lpstr>
      </vt:variant>
      <vt:variant>
        <vt:i4>9</vt:i4>
      </vt:variant>
      <vt:variant>
        <vt:lpstr>佈景主題</vt:lpstr>
      </vt:variant>
      <vt:variant>
        <vt:i4>2</vt:i4>
      </vt:variant>
      <vt:variant>
        <vt:lpstr>投影片標題</vt:lpstr>
      </vt:variant>
      <vt:variant>
        <vt:i4>18</vt:i4>
      </vt:variant>
    </vt:vector>
  </HeadingPairs>
  <TitlesOfParts>
    <vt:vector size="29" baseType="lpstr">
      <vt:lpstr>等线</vt:lpstr>
      <vt:lpstr>新細明體</vt:lpstr>
      <vt:lpstr>Arial</vt:lpstr>
      <vt:lpstr>Arial</vt:lpstr>
      <vt:lpstr>Calibri</vt:lpstr>
      <vt:lpstr>Calibri Light</vt:lpstr>
      <vt:lpstr>Cambria Math</vt:lpstr>
      <vt:lpstr>Century Gothic</vt:lpstr>
      <vt:lpstr>Georgia</vt:lpstr>
      <vt:lpstr>Office Theme</vt:lpstr>
      <vt:lpstr>1_Office Theme</vt:lpstr>
      <vt:lpstr>PowerPoint 簡報</vt:lpstr>
      <vt:lpstr>PowerPoint 簡報</vt:lpstr>
      <vt:lpstr>LLDP (Link Layer Discovery Protocol)</vt:lpstr>
      <vt:lpstr>LLDP working model</vt:lpstr>
      <vt:lpstr>What is QoS/QoE?</vt:lpstr>
      <vt:lpstr>PowerPoint 簡報</vt:lpstr>
      <vt:lpstr>QoE-aware SFC Orchestration (QoE-SFC)</vt:lpstr>
      <vt:lpstr>QoE/QoS-aware SFC Orchestration (Q2-SFC)</vt:lpstr>
      <vt:lpstr>PowerPoint 簡報</vt:lpstr>
      <vt:lpstr>PowerPoint 簡報</vt:lpstr>
      <vt:lpstr>VNF Instances Selection</vt:lpstr>
      <vt:lpstr>epsilon-Greedy  ϵ - Greedy  </vt:lpstr>
      <vt:lpstr>QoS/QoE-aware SFC Algorithm</vt:lpstr>
      <vt:lpstr>EXPERIMENT</vt:lpstr>
      <vt:lpstr>EXPERIMENT</vt:lpstr>
      <vt:lpstr>EXPERIMENT</vt:lpstr>
      <vt:lpstr>EXPERIMENT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aidul firdaus</dc:creator>
  <cp:lastModifiedBy>Albert</cp:lastModifiedBy>
  <cp:revision>150</cp:revision>
  <dcterms:created xsi:type="dcterms:W3CDTF">2019-07-04T05:19:40Z</dcterms:created>
  <dcterms:modified xsi:type="dcterms:W3CDTF">2019-09-10T12:40:55Z</dcterms:modified>
</cp:coreProperties>
</file>