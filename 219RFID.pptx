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5" r:id="rId3"/>
    <p:sldId id="266" r:id="rId4"/>
    <p:sldId id="267" r:id="rId5"/>
    <p:sldId id="268" r:id="rId6"/>
    <p:sldId id="263" r:id="rId7"/>
    <p:sldId id="259" r:id="rId8"/>
    <p:sldId id="260" r:id="rId9"/>
    <p:sldId id="261" r:id="rId10"/>
    <p:sldId id="262" r:id="rId11"/>
    <p:sldId id="269" r:id="rId12"/>
    <p:sldId id="270" r:id="rId13"/>
    <p:sldId id="271" r:id="rId14"/>
    <p:sldId id="272" r:id="rId1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8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967986F-24BD-4C5B-B2F0-2C8BA50B71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588DD60E-8A26-4394-9B50-F5E5044DC7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1FCDCF7-396C-4B7E-B602-1D4B70D81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CFAFE-0C6D-43C1-8169-9D958A2032A2}" type="datetimeFigureOut">
              <a:rPr lang="zh-TW" altLang="en-US" smtClean="0"/>
              <a:t>2020/2/19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95E4DDC-807F-47D7-86E8-B681FE691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C6B92DE-87D0-4F19-86FF-06FE2C1AB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31532-2D9A-4221-B463-9A401F39ED9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9037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46303A7-4215-47FB-A115-3875A724C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9E6E579-3918-48BD-84FF-4A2B7CDB38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5259223-836A-40EE-8303-6795BC9AB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CFAFE-0C6D-43C1-8169-9D958A2032A2}" type="datetimeFigureOut">
              <a:rPr lang="zh-TW" altLang="en-US" smtClean="0"/>
              <a:t>2020/2/19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F1A63DA-8B32-4DBA-89F6-3F1F062CB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67015C2-4E16-41A8-A762-63FEAF39F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31532-2D9A-4221-B463-9A401F39ED9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1316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2218A14-3404-4D42-8147-1B28D777B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C25B83A-D986-455C-9455-CFA0DF7441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8F5B32E-B8ED-46E3-BDB8-B70BEEA3A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CFAFE-0C6D-43C1-8169-9D958A2032A2}" type="datetimeFigureOut">
              <a:rPr lang="zh-TW" altLang="en-US" smtClean="0"/>
              <a:t>2020/2/19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1AEE5BB-A607-49CD-A7B3-DB4272BE7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752B713-8563-4FA8-8B60-2FEA5F857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31532-2D9A-4221-B463-9A401F39ED9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2135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42925A5-E917-4679-A77F-EAB475569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95AB499-4D61-4A56-92F0-398B94D84C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5FEE0D6-E2F4-4601-99AE-3921C3F4D3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FA685D8-613F-4234-BFC1-9FC10CEB0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CFAFE-0C6D-43C1-8169-9D958A2032A2}" type="datetimeFigureOut">
              <a:rPr lang="zh-TW" altLang="en-US" smtClean="0"/>
              <a:t>2020/2/19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0CBC460-201B-4971-A218-DD6E56D39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D095CCE-7262-4C95-9906-5B4AABF52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31532-2D9A-4221-B463-9A401F39ED9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586259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E4C2EF9-1EC8-423A-B257-0107321D3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2ABBE78-8243-44D6-95BB-1FFE14E652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A275210-AA2A-4030-9130-AA66080540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28310DE6-2270-4210-A62C-2C2378FB57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FA1E82E9-A2DE-4561-81B0-69A9E00C92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4FFE389F-656B-47B4-9FD9-83AEA714F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CFAFE-0C6D-43C1-8169-9D958A2032A2}" type="datetimeFigureOut">
              <a:rPr lang="zh-TW" altLang="en-US" smtClean="0"/>
              <a:t>2020/2/19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D3BB76A2-7207-4EA2-BE8A-9D41902AA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C651DC54-87F8-4917-8D40-7635C132C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31532-2D9A-4221-B463-9A401F39ED9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45891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DDBB3A9-DE97-425E-B179-BF58512BD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E32AE681-1188-44A7-B84F-C103AFA88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CFAFE-0C6D-43C1-8169-9D958A2032A2}" type="datetimeFigureOut">
              <a:rPr lang="zh-TW" altLang="en-US" smtClean="0"/>
              <a:t>2020/2/19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DDD7730-1687-4616-9FC3-6F1CDCA3A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3A98506-A2EB-4DD5-B497-4C787AEB7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31532-2D9A-4221-B463-9A401F39ED9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43503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7B24500A-DC3D-4F90-B2A3-79E04D1A9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CFAFE-0C6D-43C1-8169-9D958A2032A2}" type="datetimeFigureOut">
              <a:rPr lang="zh-TW" altLang="en-US" smtClean="0"/>
              <a:t>2020/2/19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59A011A2-92FF-43D8-908A-D96ABB38A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932DF4E-7ADB-4EA0-B949-B1E84BB38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31532-2D9A-4221-B463-9A401F39ED9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7951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0B7C738-CE77-4E36-9FCF-C089DD0C8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AA50D9C-D364-4739-B361-16CEB7B8BA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D752F2E-81A6-4AA5-B4CF-5037587FF1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3D72C10-44E1-4D5E-B0A3-C025C8856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CFAFE-0C6D-43C1-8169-9D958A2032A2}" type="datetimeFigureOut">
              <a:rPr lang="zh-TW" altLang="en-US" smtClean="0"/>
              <a:t>2020/2/19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367F64E-FA36-4A1E-A09E-2F16BCFBE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22318C8-884A-4683-9247-17B501FC1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31532-2D9A-4221-B463-9A401F39ED9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5001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CF87DC0-130D-4C6E-8E2C-59CBF8105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5A30CD6C-A680-4449-86B2-F392A00B3F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9EE44CB-F818-4205-8EE0-FE9893D77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1DDC150-CF07-4FF9-B09E-9C41E7536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CFAFE-0C6D-43C1-8169-9D958A2032A2}" type="datetimeFigureOut">
              <a:rPr lang="zh-TW" altLang="en-US" smtClean="0"/>
              <a:t>2020/2/19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7B8B1A2-5B53-4061-8DD6-B2509E0EA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580FFF8-A817-459F-8EA8-731A4A5B7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31532-2D9A-4221-B463-9A401F39ED9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97523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E7221D6-B418-465B-8855-CBAA6DCF0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E353306-1B1B-4A17-9A61-2B9E81CC37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DC48C48-0342-4679-9CAB-06E0A0B7A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CFAFE-0C6D-43C1-8169-9D958A2032A2}" type="datetimeFigureOut">
              <a:rPr lang="zh-TW" altLang="en-US" smtClean="0"/>
              <a:t>2020/2/19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20E41FF-804A-46FD-AD8A-5D16B0947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50CB9C9-7E27-4C38-85B7-58F03267B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31532-2D9A-4221-B463-9A401F39ED9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418360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39B9A5E0-EBDB-4CEF-AAF5-0B8CB02F88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E6DF27F-BD57-4928-A25F-5E438317D2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4DBF9E9-4521-4F98-B82B-DDDBB8A6E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CFAFE-0C6D-43C1-8169-9D958A2032A2}" type="datetimeFigureOut">
              <a:rPr lang="zh-TW" altLang="en-US" smtClean="0"/>
              <a:t>2020/2/19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9204EFC-03AC-4AC6-8F5E-AFA547A80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472ADAF-8748-4EB3-93B6-B85E0F808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31532-2D9A-4221-B463-9A401F39ED9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8878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95DE921A-F65D-4A52-A7E8-F8918CB25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B514E87-F7E7-4C6C-9A3E-EFB2F51418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35DC217-C6FC-4962-BDD2-BF8CC805AA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FCFAFE-0C6D-43C1-8169-9D958A2032A2}" type="datetimeFigureOut">
              <a:rPr lang="zh-TW" altLang="en-US" smtClean="0"/>
              <a:t>2020/2/19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1A83BA8-7926-4362-B1C2-18B92E486F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690F480-05B2-4B1D-BDB0-629A84EC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531532-2D9A-4221-B463-9A401F39ED9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294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tlasrfidstore.com/alien-g-rfid-white-wet-inlay-aln-9654-higgs-3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D661E8E-8E8A-4A2C-9B7D-223DD158C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7093"/>
            <a:ext cx="10515600" cy="1325563"/>
          </a:xfrm>
        </p:spPr>
        <p:txBody>
          <a:bodyPr/>
          <a:lstStyle/>
          <a:p>
            <a:r>
              <a:rPr lang="en-US" altLang="zh-TW" b="1" dirty="0"/>
              <a:t>RFID tag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79563E7-288F-4F6C-BF35-333A753D03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2050" name="Picture 2" descr="https://i.imgur.com/XNOPxbr.png">
            <a:extLst>
              <a:ext uri="{FF2B5EF4-FFF2-40B4-BE49-F238E27FC236}">
                <a16:creationId xmlns:a16="http://schemas.microsoft.com/office/drawing/2014/main" id="{E6DBDCCB-0340-4CCE-BC02-95814BC6C0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2691" y="1520405"/>
            <a:ext cx="5297455" cy="5243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81971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1CF6195-175F-4D1A-9452-A9699CF9D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RFID </a:t>
            </a:r>
            <a:r>
              <a:rPr lang="zh-TW" altLang="en-US" b="1" dirty="0"/>
              <a:t>種類</a:t>
            </a:r>
            <a:endParaRPr lang="zh-TW" altLang="en-US" dirty="0"/>
          </a:p>
        </p:txBody>
      </p:sp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FB1F3BFE-49C6-4301-9372-A65503161E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0792336"/>
              </p:ext>
            </p:extLst>
          </p:nvPr>
        </p:nvGraphicFramePr>
        <p:xfrm>
          <a:off x="933644" y="2033701"/>
          <a:ext cx="7790478" cy="2314363"/>
        </p:xfrm>
        <a:graphic>
          <a:graphicData uri="http://schemas.openxmlformats.org/drawingml/2006/table">
            <a:tbl>
              <a:tblPr/>
              <a:tblGrid>
                <a:gridCol w="3895239">
                  <a:extLst>
                    <a:ext uri="{9D8B030D-6E8A-4147-A177-3AD203B41FA5}">
                      <a16:colId xmlns:a16="http://schemas.microsoft.com/office/drawing/2014/main" val="1144694234"/>
                    </a:ext>
                  </a:extLst>
                </a:gridCol>
                <a:gridCol w="3895239">
                  <a:extLst>
                    <a:ext uri="{9D8B030D-6E8A-4147-A177-3AD203B41FA5}">
                      <a16:colId xmlns:a16="http://schemas.microsoft.com/office/drawing/2014/main" val="2902951881"/>
                    </a:ext>
                  </a:extLst>
                </a:gridCol>
              </a:tblGrid>
              <a:tr h="524589">
                <a:tc>
                  <a:txBody>
                    <a:bodyPr/>
                    <a:lstStyle/>
                    <a:p>
                      <a:pPr algn="l"/>
                      <a:r>
                        <a:rPr lang="zh-TW" altLang="en-US" b="1">
                          <a:effectLst/>
                        </a:rPr>
                        <a:t>種類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1" dirty="0">
                          <a:effectLst/>
                        </a:rPr>
                        <a:t>特性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935498"/>
                  </a:ext>
                </a:extLst>
              </a:tr>
              <a:tr h="894887">
                <a:tc>
                  <a:txBody>
                    <a:bodyPr/>
                    <a:lstStyle/>
                    <a:p>
                      <a:r>
                        <a:rPr lang="zh-TW" altLang="en-US" dirty="0">
                          <a:effectLst/>
                        </a:rPr>
                        <a:t>被動式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>
                          <a:effectLst/>
                        </a:rPr>
                        <a:t>無電池、低價格、短距離</a:t>
                      </a:r>
                      <a:r>
                        <a:rPr lang="en-US" altLang="zh-TW">
                          <a:effectLst/>
                        </a:rPr>
                        <a:t>(</a:t>
                      </a:r>
                      <a:r>
                        <a:rPr lang="zh-TW" altLang="en-US">
                          <a:effectLst/>
                        </a:rPr>
                        <a:t>小於</a:t>
                      </a:r>
                      <a:r>
                        <a:rPr lang="en-US" altLang="zh-TW">
                          <a:effectLst/>
                        </a:rPr>
                        <a:t>10</a:t>
                      </a:r>
                      <a:r>
                        <a:rPr lang="zh-TW" altLang="en-US">
                          <a:effectLst/>
                        </a:rPr>
                        <a:t>公尺</a:t>
                      </a:r>
                      <a:r>
                        <a:rPr lang="en-US" altLang="zh-TW">
                          <a:effectLst/>
                        </a:rPr>
                        <a:t>)</a:t>
                      </a:r>
                      <a:r>
                        <a:rPr lang="zh-TW" altLang="en-US">
                          <a:effectLst/>
                        </a:rPr>
                        <a:t>、取代</a:t>
                      </a:r>
                      <a:r>
                        <a:rPr lang="en-US" altLang="zh-TW">
                          <a:effectLst/>
                        </a:rPr>
                        <a:t>Barcode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5912267"/>
                  </a:ext>
                </a:extLst>
              </a:tr>
              <a:tr h="894887">
                <a:tc>
                  <a:txBody>
                    <a:bodyPr/>
                    <a:lstStyle/>
                    <a:p>
                      <a:r>
                        <a:rPr lang="zh-TW" altLang="en-US">
                          <a:effectLst/>
                        </a:rPr>
                        <a:t>主動式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effectLst/>
                        </a:rPr>
                        <a:t>有電池，長距離</a:t>
                      </a:r>
                      <a:r>
                        <a:rPr lang="en-US" altLang="zh-TW" dirty="0">
                          <a:effectLst/>
                        </a:rPr>
                        <a:t>(10~50</a:t>
                      </a:r>
                      <a:r>
                        <a:rPr lang="zh-TW" altLang="en-US" dirty="0">
                          <a:effectLst/>
                        </a:rPr>
                        <a:t>公尺</a:t>
                      </a:r>
                      <a:r>
                        <a:rPr lang="en-US" altLang="zh-TW" dirty="0">
                          <a:effectLst/>
                        </a:rPr>
                        <a:t>) </a:t>
                      </a:r>
                      <a:r>
                        <a:rPr lang="zh-TW" altLang="en-US" dirty="0">
                          <a:effectLst/>
                        </a:rPr>
                        <a:t>、高成本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91385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10794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3A7C784-5779-41BB-9580-7C1CB619D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RFID</a:t>
            </a:r>
            <a:r>
              <a:rPr lang="zh-TW" altLang="en-US" b="1" dirty="0"/>
              <a:t>頻段</a:t>
            </a:r>
            <a:endParaRPr lang="zh-TW" altLang="en-US" dirty="0"/>
          </a:p>
        </p:txBody>
      </p:sp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0857528E-8E77-4103-BE26-07A1A9CB2E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6433253"/>
              </p:ext>
            </p:extLst>
          </p:nvPr>
        </p:nvGraphicFramePr>
        <p:xfrm>
          <a:off x="838200" y="1825625"/>
          <a:ext cx="10629120" cy="4351339"/>
        </p:xfrm>
        <a:graphic>
          <a:graphicData uri="http://schemas.openxmlformats.org/drawingml/2006/table">
            <a:tbl>
              <a:tblPr/>
              <a:tblGrid>
                <a:gridCol w="2125824">
                  <a:extLst>
                    <a:ext uri="{9D8B030D-6E8A-4147-A177-3AD203B41FA5}">
                      <a16:colId xmlns:a16="http://schemas.microsoft.com/office/drawing/2014/main" val="1911657566"/>
                    </a:ext>
                  </a:extLst>
                </a:gridCol>
                <a:gridCol w="2125824">
                  <a:extLst>
                    <a:ext uri="{9D8B030D-6E8A-4147-A177-3AD203B41FA5}">
                      <a16:colId xmlns:a16="http://schemas.microsoft.com/office/drawing/2014/main" val="4075598546"/>
                    </a:ext>
                  </a:extLst>
                </a:gridCol>
                <a:gridCol w="2125824">
                  <a:extLst>
                    <a:ext uri="{9D8B030D-6E8A-4147-A177-3AD203B41FA5}">
                      <a16:colId xmlns:a16="http://schemas.microsoft.com/office/drawing/2014/main" val="2223353531"/>
                    </a:ext>
                  </a:extLst>
                </a:gridCol>
                <a:gridCol w="2125824">
                  <a:extLst>
                    <a:ext uri="{9D8B030D-6E8A-4147-A177-3AD203B41FA5}">
                      <a16:colId xmlns:a16="http://schemas.microsoft.com/office/drawing/2014/main" val="2770201118"/>
                    </a:ext>
                  </a:extLst>
                </a:gridCol>
                <a:gridCol w="2125824">
                  <a:extLst>
                    <a:ext uri="{9D8B030D-6E8A-4147-A177-3AD203B41FA5}">
                      <a16:colId xmlns:a16="http://schemas.microsoft.com/office/drawing/2014/main" val="4015397481"/>
                    </a:ext>
                  </a:extLst>
                </a:gridCol>
              </a:tblGrid>
              <a:tr h="746464">
                <a:tc>
                  <a:txBody>
                    <a:bodyPr/>
                    <a:lstStyle/>
                    <a:p>
                      <a:pPr algn="l"/>
                      <a:endParaRPr lang="en-US" sz="1400" b="1" dirty="0">
                        <a:effectLst/>
                      </a:endParaRPr>
                    </a:p>
                  </a:txBody>
                  <a:tcPr marL="98618" marR="98618" marT="45516" marB="45516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 b="1">
                          <a:effectLst/>
                        </a:rPr>
                        <a:t>低頻</a:t>
                      </a:r>
                      <a:r>
                        <a:rPr lang="en-US" altLang="zh-TW" sz="1400" b="1">
                          <a:effectLst/>
                        </a:rPr>
                        <a:t>(</a:t>
                      </a:r>
                      <a:r>
                        <a:rPr lang="en-US" sz="1400" b="1">
                          <a:effectLst/>
                        </a:rPr>
                        <a:t>LF)</a:t>
                      </a:r>
                    </a:p>
                  </a:txBody>
                  <a:tcPr marL="98618" marR="98618" marT="45516" marB="45516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 b="1">
                          <a:effectLst/>
                        </a:rPr>
                        <a:t>高頻</a:t>
                      </a:r>
                      <a:r>
                        <a:rPr lang="en-US" altLang="zh-TW" sz="1400" b="1">
                          <a:effectLst/>
                        </a:rPr>
                        <a:t>(</a:t>
                      </a:r>
                      <a:r>
                        <a:rPr lang="en-US" sz="1400" b="1">
                          <a:effectLst/>
                        </a:rPr>
                        <a:t>HF)</a:t>
                      </a:r>
                    </a:p>
                  </a:txBody>
                  <a:tcPr marL="98618" marR="98618" marT="45516" marB="45516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 b="1">
                          <a:effectLst/>
                        </a:rPr>
                        <a:t>超高頻</a:t>
                      </a:r>
                      <a:r>
                        <a:rPr lang="en-US" altLang="zh-TW" sz="1400" b="1">
                          <a:effectLst/>
                        </a:rPr>
                        <a:t>(</a:t>
                      </a:r>
                      <a:r>
                        <a:rPr lang="en-US" sz="1400" b="1">
                          <a:effectLst/>
                        </a:rPr>
                        <a:t>UHF)</a:t>
                      </a:r>
                    </a:p>
                  </a:txBody>
                  <a:tcPr marL="98618" marR="98618" marT="45516" marB="45516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 b="1">
                          <a:effectLst/>
                        </a:rPr>
                        <a:t>微波</a:t>
                      </a:r>
                      <a:r>
                        <a:rPr lang="en-US" altLang="zh-TW" sz="1400" b="1">
                          <a:effectLst/>
                        </a:rPr>
                        <a:t>(</a:t>
                      </a:r>
                      <a:r>
                        <a:rPr lang="en-US" sz="1400" b="1">
                          <a:effectLst/>
                        </a:rPr>
                        <a:t>Microwave)</a:t>
                      </a:r>
                    </a:p>
                  </a:txBody>
                  <a:tcPr marL="98618" marR="98618" marT="45516" marB="45516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1589547"/>
                  </a:ext>
                </a:extLst>
              </a:tr>
              <a:tr h="527987">
                <a:tc>
                  <a:txBody>
                    <a:bodyPr/>
                    <a:lstStyle/>
                    <a:p>
                      <a:r>
                        <a:rPr lang="zh-TW" altLang="en-US" sz="1400">
                          <a:effectLst/>
                        </a:rPr>
                        <a:t>頻率</a:t>
                      </a:r>
                    </a:p>
                  </a:txBody>
                  <a:tcPr marL="98618" marR="98618" marT="45516" marB="45516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125~134kHz</a:t>
                      </a:r>
                    </a:p>
                  </a:txBody>
                  <a:tcPr marL="98618" marR="98618" marT="45516" marB="45516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13.56MHz</a:t>
                      </a:r>
                    </a:p>
                  </a:txBody>
                  <a:tcPr marL="98618" marR="98618" marT="45516" marB="45516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868~915MHz</a:t>
                      </a:r>
                    </a:p>
                  </a:txBody>
                  <a:tcPr marL="98618" marR="98618" marT="45516" marB="45516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2.45~5.8GHz</a:t>
                      </a:r>
                    </a:p>
                  </a:txBody>
                  <a:tcPr marL="98618" marR="98618" marT="45516" marB="45516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7512943"/>
                  </a:ext>
                </a:extLst>
              </a:tr>
              <a:tr h="527987">
                <a:tc>
                  <a:txBody>
                    <a:bodyPr/>
                    <a:lstStyle/>
                    <a:p>
                      <a:r>
                        <a:rPr lang="zh-TW" altLang="en-US" sz="1400">
                          <a:effectLst/>
                        </a:rPr>
                        <a:t>感應距離</a:t>
                      </a:r>
                    </a:p>
                  </a:txBody>
                  <a:tcPr marL="98618" marR="98618" marT="45516" marB="45516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400">
                          <a:effectLst/>
                        </a:rPr>
                        <a:t>達</a:t>
                      </a:r>
                      <a:r>
                        <a:rPr lang="en-US" altLang="zh-TW" sz="1400">
                          <a:effectLst/>
                        </a:rPr>
                        <a:t>1.2</a:t>
                      </a:r>
                      <a:r>
                        <a:rPr lang="zh-TW" altLang="en-US" sz="1400">
                          <a:effectLst/>
                        </a:rPr>
                        <a:t>公尺</a:t>
                      </a:r>
                    </a:p>
                  </a:txBody>
                  <a:tcPr marL="98618" marR="98618" marT="45516" marB="45516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>
                          <a:effectLst/>
                        </a:rPr>
                        <a:t>0.7~1.2</a:t>
                      </a:r>
                      <a:r>
                        <a:rPr lang="zh-TW" altLang="en-US" sz="1400">
                          <a:effectLst/>
                        </a:rPr>
                        <a:t>公尺</a:t>
                      </a:r>
                    </a:p>
                  </a:txBody>
                  <a:tcPr marL="98618" marR="98618" marT="45516" marB="45516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400">
                          <a:effectLst/>
                        </a:rPr>
                        <a:t>達</a:t>
                      </a:r>
                      <a:r>
                        <a:rPr lang="en-US" altLang="zh-TW" sz="1400">
                          <a:effectLst/>
                        </a:rPr>
                        <a:t>4</a:t>
                      </a:r>
                      <a:r>
                        <a:rPr lang="zh-TW" altLang="en-US" sz="1400">
                          <a:effectLst/>
                        </a:rPr>
                        <a:t>公尺</a:t>
                      </a:r>
                    </a:p>
                  </a:txBody>
                  <a:tcPr marL="98618" marR="98618" marT="45516" marB="45516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400">
                          <a:effectLst/>
                        </a:rPr>
                        <a:t>達</a:t>
                      </a:r>
                      <a:r>
                        <a:rPr lang="en-US" altLang="zh-TW" sz="1400">
                          <a:effectLst/>
                        </a:rPr>
                        <a:t>15</a:t>
                      </a:r>
                      <a:r>
                        <a:rPr lang="zh-TW" altLang="en-US" sz="1400">
                          <a:effectLst/>
                        </a:rPr>
                        <a:t>公尺</a:t>
                      </a:r>
                    </a:p>
                  </a:txBody>
                  <a:tcPr marL="98618" marR="98618" marT="45516" marB="45516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2131557"/>
                  </a:ext>
                </a:extLst>
              </a:tr>
              <a:tr h="527987">
                <a:tc>
                  <a:txBody>
                    <a:bodyPr/>
                    <a:lstStyle/>
                    <a:p>
                      <a:r>
                        <a:rPr lang="zh-TW" altLang="en-US" sz="1400">
                          <a:effectLst/>
                        </a:rPr>
                        <a:t>訊號傳輸速度</a:t>
                      </a:r>
                    </a:p>
                  </a:txBody>
                  <a:tcPr marL="98618" marR="98618" marT="45516" marB="45516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400">
                          <a:effectLst/>
                        </a:rPr>
                        <a:t>不快</a:t>
                      </a:r>
                    </a:p>
                  </a:txBody>
                  <a:tcPr marL="98618" marR="98618" marT="45516" marB="45516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400">
                          <a:effectLst/>
                        </a:rPr>
                        <a:t>中</a:t>
                      </a:r>
                    </a:p>
                  </a:txBody>
                  <a:tcPr marL="98618" marR="98618" marT="45516" marB="45516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400">
                          <a:effectLst/>
                        </a:rPr>
                        <a:t>快</a:t>
                      </a:r>
                    </a:p>
                  </a:txBody>
                  <a:tcPr marL="98618" marR="98618" marT="45516" marB="45516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400">
                          <a:effectLst/>
                        </a:rPr>
                        <a:t>非常快</a:t>
                      </a:r>
                    </a:p>
                  </a:txBody>
                  <a:tcPr marL="98618" marR="98618" marT="45516" marB="45516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5617224"/>
                  </a:ext>
                </a:extLst>
              </a:tr>
              <a:tr h="309509">
                <a:tc>
                  <a:txBody>
                    <a:bodyPr/>
                    <a:lstStyle/>
                    <a:p>
                      <a:r>
                        <a:rPr lang="zh-TW" altLang="en-US" sz="1400">
                          <a:effectLst/>
                        </a:rPr>
                        <a:t>潮溼影響</a:t>
                      </a:r>
                    </a:p>
                  </a:txBody>
                  <a:tcPr marL="98618" marR="98618" marT="45516" marB="45516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400">
                          <a:effectLst/>
                        </a:rPr>
                        <a:t>無</a:t>
                      </a:r>
                    </a:p>
                  </a:txBody>
                  <a:tcPr marL="98618" marR="98618" marT="45516" marB="45516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400">
                          <a:effectLst/>
                        </a:rPr>
                        <a:t>無</a:t>
                      </a:r>
                    </a:p>
                  </a:txBody>
                  <a:tcPr marL="98618" marR="98618" marT="45516" marB="45516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400">
                          <a:effectLst/>
                        </a:rPr>
                        <a:t>嚴重</a:t>
                      </a:r>
                    </a:p>
                  </a:txBody>
                  <a:tcPr marL="98618" marR="98618" marT="45516" marB="45516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400">
                          <a:effectLst/>
                        </a:rPr>
                        <a:t>嚴重</a:t>
                      </a:r>
                    </a:p>
                  </a:txBody>
                  <a:tcPr marL="98618" marR="98618" marT="45516" marB="45516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7640469"/>
                  </a:ext>
                </a:extLst>
              </a:tr>
              <a:tr h="527987">
                <a:tc>
                  <a:txBody>
                    <a:bodyPr/>
                    <a:lstStyle/>
                    <a:p>
                      <a:r>
                        <a:rPr lang="zh-TW" altLang="en-US" sz="1400">
                          <a:effectLst/>
                        </a:rPr>
                        <a:t>方向性限制</a:t>
                      </a:r>
                    </a:p>
                  </a:txBody>
                  <a:tcPr marL="98618" marR="98618" marT="45516" marB="45516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400">
                          <a:effectLst/>
                        </a:rPr>
                        <a:t>無</a:t>
                      </a:r>
                    </a:p>
                  </a:txBody>
                  <a:tcPr marL="98618" marR="98618" marT="45516" marB="45516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400">
                          <a:effectLst/>
                        </a:rPr>
                        <a:t>需近距離感離</a:t>
                      </a:r>
                    </a:p>
                  </a:txBody>
                  <a:tcPr marL="98618" marR="98618" marT="45516" marB="45516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400">
                          <a:effectLst/>
                        </a:rPr>
                        <a:t>部份必要</a:t>
                      </a:r>
                    </a:p>
                  </a:txBody>
                  <a:tcPr marL="98618" marR="98618" marT="45516" marB="45516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400">
                          <a:effectLst/>
                        </a:rPr>
                        <a:t>總是必要</a:t>
                      </a:r>
                    </a:p>
                  </a:txBody>
                  <a:tcPr marL="98618" marR="98618" marT="45516" marB="45516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1466175"/>
                  </a:ext>
                </a:extLst>
              </a:tr>
              <a:tr h="1183418">
                <a:tc>
                  <a:txBody>
                    <a:bodyPr/>
                    <a:lstStyle/>
                    <a:p>
                      <a:r>
                        <a:rPr lang="zh-TW" altLang="en-US" sz="1400">
                          <a:effectLst/>
                        </a:rPr>
                        <a:t>主要應用</a:t>
                      </a:r>
                    </a:p>
                  </a:txBody>
                  <a:tcPr marL="98618" marR="98618" marT="45516" marB="45516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400">
                          <a:effectLst/>
                        </a:rPr>
                        <a:t>門禁、畜牧或寵物管理</a:t>
                      </a:r>
                    </a:p>
                  </a:txBody>
                  <a:tcPr marL="98618" marR="98618" marT="45516" marB="45516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400">
                          <a:effectLst/>
                        </a:rPr>
                        <a:t>設備巡檢、智慧卡、機場驗票、圖書管理</a:t>
                      </a:r>
                      <a:r>
                        <a:rPr lang="en-US" altLang="zh-TW" sz="1400">
                          <a:effectLst/>
                        </a:rPr>
                        <a:t>…</a:t>
                      </a:r>
                      <a:r>
                        <a:rPr lang="zh-TW" altLang="en-US" sz="1400">
                          <a:effectLst/>
                        </a:rPr>
                        <a:t>等</a:t>
                      </a:r>
                    </a:p>
                  </a:txBody>
                  <a:tcPr marL="98618" marR="98618" marT="45516" marB="45516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400">
                          <a:effectLst/>
                        </a:rPr>
                        <a:t>貨物追蹤</a:t>
                      </a:r>
                    </a:p>
                  </a:txBody>
                  <a:tcPr marL="98618" marR="98618" marT="45516" marB="45516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400" dirty="0">
                          <a:effectLst/>
                        </a:rPr>
                        <a:t>高速公路收費</a:t>
                      </a:r>
                      <a:r>
                        <a:rPr lang="en-US" altLang="zh-TW" sz="1400" dirty="0">
                          <a:effectLst/>
                        </a:rPr>
                        <a:t>… </a:t>
                      </a:r>
                      <a:r>
                        <a:rPr lang="zh-TW" altLang="en-US" sz="1400" dirty="0">
                          <a:effectLst/>
                        </a:rPr>
                        <a:t>車輛管理</a:t>
                      </a:r>
                    </a:p>
                  </a:txBody>
                  <a:tcPr marL="98618" marR="98618" marT="45516" marB="45516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2514699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904B6A05-FE5D-43F2-9F2D-966120F59003}"/>
              </a:ext>
            </a:extLst>
          </p:cNvPr>
          <p:cNvSpPr/>
          <p:nvPr/>
        </p:nvSpPr>
        <p:spPr>
          <a:xfrm>
            <a:off x="7221895" y="1825625"/>
            <a:ext cx="2099387" cy="4351340"/>
          </a:xfrm>
          <a:prstGeom prst="rect">
            <a:avLst/>
          </a:prstGeom>
          <a:noFill/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146268A-F111-4F0E-8A06-952C552508E8}"/>
              </a:ext>
            </a:extLst>
          </p:cNvPr>
          <p:cNvSpPr txBox="1"/>
          <p:nvPr/>
        </p:nvSpPr>
        <p:spPr>
          <a:xfrm>
            <a:off x="6466114" y="578498"/>
            <a:ext cx="35269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/>
              <a:t>WiFi</a:t>
            </a:r>
            <a:r>
              <a:rPr lang="en-US" altLang="zh-TW" dirty="0"/>
              <a:t>:</a:t>
            </a:r>
          </a:p>
          <a:p>
            <a:r>
              <a:rPr lang="en-US" altLang="zh-TW" dirty="0"/>
              <a:t>(2.412GHz - 2.484 GHz)</a:t>
            </a:r>
          </a:p>
          <a:p>
            <a:r>
              <a:rPr lang="en-US" altLang="zh-TW" dirty="0"/>
              <a:t>(5.725 GHz - 5.825 GHz)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864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0C883CC-84F4-4B2E-A618-50FD2620B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UHF RFID tag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754F0A6-67C4-4DF4-9372-3E32FBE103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抗金屬標籤 </a:t>
            </a:r>
            <a:endParaRPr lang="en-US" altLang="zh-TW" dirty="0"/>
          </a:p>
          <a:p>
            <a:r>
              <a:rPr lang="en-US" altLang="zh-TW" b="1" dirty="0"/>
              <a:t>Alien G RFID White Wet Inlay (ALN-9654, Higgs-3)</a:t>
            </a:r>
            <a:endParaRPr lang="en-US" altLang="zh-TW" dirty="0"/>
          </a:p>
          <a:p>
            <a:r>
              <a:rPr lang="en-US" altLang="zh-TW" dirty="0"/>
              <a:t>1000</a:t>
            </a:r>
            <a:r>
              <a:rPr lang="zh-TW" altLang="en-US" dirty="0"/>
              <a:t>片約 </a:t>
            </a:r>
            <a:r>
              <a:rPr lang="en-US" altLang="zh-TW" dirty="0"/>
              <a:t>322</a:t>
            </a:r>
            <a:r>
              <a:rPr lang="zh-TW" altLang="en-US" dirty="0"/>
              <a:t> </a:t>
            </a:r>
            <a:r>
              <a:rPr lang="en-US" altLang="zh-TW" dirty="0"/>
              <a:t>$</a:t>
            </a:r>
            <a:r>
              <a:rPr lang="zh-TW" altLang="en-US" dirty="0"/>
              <a:t>  </a:t>
            </a:r>
            <a:r>
              <a:rPr lang="en-US" altLang="zh-TW" dirty="0"/>
              <a:t>(</a:t>
            </a:r>
            <a:r>
              <a:rPr lang="zh-TW" altLang="en-US" dirty="0"/>
              <a:t>平均一片 </a:t>
            </a:r>
            <a:r>
              <a:rPr lang="en-US" altLang="zh-TW" dirty="0"/>
              <a:t>0.322 $)</a:t>
            </a:r>
          </a:p>
          <a:p>
            <a:r>
              <a:rPr lang="en-US" altLang="zh-TW" dirty="0">
                <a:hlinkClick r:id="rId2"/>
              </a:rPr>
              <a:t>https://www.atlasrfidstore.com/alien-g-rfid-white-wet-inlay-aln-9654-higgs-3/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48392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EF35832-FB5B-4D86-BAB8-C7263B429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Long range RFID READER</a:t>
            </a:r>
            <a:endParaRPr lang="zh-TW" altLang="en-US" dirty="0"/>
          </a:p>
        </p:txBody>
      </p:sp>
      <p:pic>
        <p:nvPicPr>
          <p:cNvPr id="12290" name="Picture 2" descr="prodcut-image">
            <a:extLst>
              <a:ext uri="{FF2B5EF4-FFF2-40B4-BE49-F238E27FC236}">
                <a16:creationId xmlns:a16="http://schemas.microsoft.com/office/drawing/2014/main" id="{E1CB5768-704F-4B4D-A4E8-5B5FE4E4FE5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7866" y="1687433"/>
            <a:ext cx="3153844" cy="3153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2" name="Picture 4" descr="AR60 固定式 UHF RFID 讀取器">
            <a:extLst>
              <a:ext uri="{FF2B5EF4-FFF2-40B4-BE49-F238E27FC236}">
                <a16:creationId xmlns:a16="http://schemas.microsoft.com/office/drawing/2014/main" id="{9AA08391-9EAE-4CC6-90DB-329AEFBF55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915" y="2171992"/>
            <a:ext cx="3155714" cy="2184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BE596B3B-41BE-43E6-B882-D38AC9087BDC}"/>
              </a:ext>
            </a:extLst>
          </p:cNvPr>
          <p:cNvSpPr txBox="1"/>
          <p:nvPr/>
        </p:nvSpPr>
        <p:spPr>
          <a:xfrm>
            <a:off x="530290" y="4991878"/>
            <a:ext cx="27167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型號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/>
              <a:t>AR60 </a:t>
            </a:r>
          </a:p>
          <a:p>
            <a:r>
              <a:rPr lang="zh-TW" altLang="en-US" dirty="0"/>
              <a:t>廠牌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/>
              <a:t>IPRO</a:t>
            </a:r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C0EA0272-F8C1-4F16-AC92-636E41DB5591}"/>
              </a:ext>
            </a:extLst>
          </p:cNvPr>
          <p:cNvSpPr txBox="1"/>
          <p:nvPr/>
        </p:nvSpPr>
        <p:spPr>
          <a:xfrm>
            <a:off x="9220200" y="5144278"/>
            <a:ext cx="27167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型號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/>
              <a:t>LDR-RI01W </a:t>
            </a:r>
          </a:p>
          <a:p>
            <a:r>
              <a:rPr lang="zh-TW" altLang="en-US" dirty="0"/>
              <a:t>廠牌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 err="1"/>
              <a:t>Leadercolor</a:t>
            </a:r>
            <a:endParaRPr lang="en-US" altLang="zh-TW" dirty="0"/>
          </a:p>
          <a:p>
            <a:r>
              <a:rPr lang="zh-TW" altLang="en-US" dirty="0"/>
              <a:t>價錢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/>
              <a:t>$</a:t>
            </a:r>
            <a:r>
              <a:rPr lang="zh-TW" altLang="en-US" dirty="0"/>
              <a:t> </a:t>
            </a:r>
            <a:r>
              <a:rPr lang="en-US" altLang="zh-TW" dirty="0"/>
              <a:t>145.8</a:t>
            </a:r>
            <a:r>
              <a:rPr lang="zh-TW" altLang="en-US" dirty="0"/>
              <a:t> </a:t>
            </a:r>
          </a:p>
        </p:txBody>
      </p:sp>
      <p:pic>
        <p:nvPicPr>
          <p:cNvPr id="12294" name="Picture 6" descr="https://chtseng.files.wordpress.com/2017/02/3266_hj3jgy5qxa.png?w=1140">
            <a:extLst>
              <a:ext uri="{FF2B5EF4-FFF2-40B4-BE49-F238E27FC236}">
                <a16:creationId xmlns:a16="http://schemas.microsoft.com/office/drawing/2014/main" id="{E0DD4E1B-8902-43C9-979E-B37D972552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0363" y="2612571"/>
            <a:ext cx="3388004" cy="1744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3C9362FF-F57E-4FB1-8FE1-07871F31DC16}"/>
              </a:ext>
            </a:extLst>
          </p:cNvPr>
          <p:cNvSpPr txBox="1"/>
          <p:nvPr/>
        </p:nvSpPr>
        <p:spPr>
          <a:xfrm>
            <a:off x="4039329" y="4991878"/>
            <a:ext cx="42702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型號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/>
              <a:t>AS3992 Long Range UHF RFID reader </a:t>
            </a:r>
          </a:p>
          <a:p>
            <a:r>
              <a:rPr lang="zh-TW" altLang="en-US" dirty="0"/>
              <a:t>廠牌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/>
              <a:t>Dragon</a:t>
            </a:r>
          </a:p>
          <a:p>
            <a:r>
              <a:rPr lang="zh-TW" altLang="en-US" dirty="0"/>
              <a:t>價錢</a:t>
            </a:r>
            <a:r>
              <a:rPr lang="en-US" altLang="zh-TW" dirty="0"/>
              <a:t>:</a:t>
            </a:r>
            <a:r>
              <a:rPr lang="zh-TW" altLang="en-US" dirty="0"/>
              <a:t>  </a:t>
            </a:r>
            <a:r>
              <a:rPr lang="en-US" altLang="zh-TW" dirty="0"/>
              <a:t>$200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已停產</a:t>
            </a:r>
            <a:r>
              <a:rPr lang="en-US" altLang="zh-TW" dirty="0"/>
              <a:t>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586470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96828AF-90BD-4971-8BC3-65769C8E3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F15EF8-483A-4ED1-90F5-B97BB23AAD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23A3125-64B7-4CE7-BE47-80FA15EF97C6}"/>
              </a:ext>
            </a:extLst>
          </p:cNvPr>
          <p:cNvSpPr/>
          <p:nvPr/>
        </p:nvSpPr>
        <p:spPr>
          <a:xfrm>
            <a:off x="1677797" y="1228732"/>
            <a:ext cx="8992999" cy="5155289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4CE0505-6C4D-4115-84B1-A1EA96C6128A}"/>
              </a:ext>
            </a:extLst>
          </p:cNvPr>
          <p:cNvSpPr/>
          <p:nvPr/>
        </p:nvSpPr>
        <p:spPr>
          <a:xfrm>
            <a:off x="1677797" y="3122673"/>
            <a:ext cx="8976220" cy="1367406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B2B6CF74-15E1-43CF-8908-DEC290A5B1F3}"/>
              </a:ext>
            </a:extLst>
          </p:cNvPr>
          <p:cNvCxnSpPr>
            <a:cxnSpLocks/>
            <a:stCxn id="4" idx="0"/>
            <a:endCxn id="5" idx="0"/>
          </p:cNvCxnSpPr>
          <p:nvPr/>
        </p:nvCxnSpPr>
        <p:spPr>
          <a:xfrm flipH="1">
            <a:off x="6165907" y="1228732"/>
            <a:ext cx="8390" cy="189394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BECE00B9-FE9D-4214-963C-B80D5CCB54A3}"/>
              </a:ext>
            </a:extLst>
          </p:cNvPr>
          <p:cNvCxnSpPr>
            <a:cxnSpLocks/>
          </p:cNvCxnSpPr>
          <p:nvPr/>
        </p:nvCxnSpPr>
        <p:spPr>
          <a:xfrm flipH="1">
            <a:off x="6158916" y="4490080"/>
            <a:ext cx="8390" cy="189394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5D651F54-3089-4813-AE52-291509FAF297}"/>
              </a:ext>
            </a:extLst>
          </p:cNvPr>
          <p:cNvCxnSpPr>
            <a:cxnSpLocks/>
          </p:cNvCxnSpPr>
          <p:nvPr/>
        </p:nvCxnSpPr>
        <p:spPr>
          <a:xfrm>
            <a:off x="2323750" y="4490079"/>
            <a:ext cx="1090569" cy="0"/>
          </a:xfrm>
          <a:prstGeom prst="line">
            <a:avLst/>
          </a:prstGeom>
          <a:ln w="3810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C615B7A9-DB79-4DB7-8073-0BE3AB4BDCB7}"/>
              </a:ext>
            </a:extLst>
          </p:cNvPr>
          <p:cNvCxnSpPr>
            <a:cxnSpLocks/>
          </p:cNvCxnSpPr>
          <p:nvPr/>
        </p:nvCxnSpPr>
        <p:spPr>
          <a:xfrm>
            <a:off x="1677797" y="3122673"/>
            <a:ext cx="0" cy="1367406"/>
          </a:xfrm>
          <a:prstGeom prst="line">
            <a:avLst/>
          </a:prstGeom>
          <a:ln w="3810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2B65CB50-C4CF-4920-9DAD-327640D23D0E}"/>
              </a:ext>
            </a:extLst>
          </p:cNvPr>
          <p:cNvCxnSpPr>
            <a:cxnSpLocks/>
          </p:cNvCxnSpPr>
          <p:nvPr/>
        </p:nvCxnSpPr>
        <p:spPr>
          <a:xfrm>
            <a:off x="10662406" y="3122673"/>
            <a:ext cx="16779" cy="1367406"/>
          </a:xfrm>
          <a:prstGeom prst="line">
            <a:avLst/>
          </a:prstGeom>
          <a:ln w="571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614EE5E5-3FB1-4327-AAAA-5A9BC7408BA7}"/>
              </a:ext>
            </a:extLst>
          </p:cNvPr>
          <p:cNvCxnSpPr>
            <a:cxnSpLocks/>
          </p:cNvCxnSpPr>
          <p:nvPr/>
        </p:nvCxnSpPr>
        <p:spPr>
          <a:xfrm>
            <a:off x="2323749" y="3122673"/>
            <a:ext cx="1090569" cy="0"/>
          </a:xfrm>
          <a:prstGeom prst="line">
            <a:avLst/>
          </a:prstGeom>
          <a:ln w="3810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348998C9-675B-4CCD-B937-8CF7092A2B32}"/>
              </a:ext>
            </a:extLst>
          </p:cNvPr>
          <p:cNvCxnSpPr>
            <a:cxnSpLocks/>
          </p:cNvCxnSpPr>
          <p:nvPr/>
        </p:nvCxnSpPr>
        <p:spPr>
          <a:xfrm>
            <a:off x="8180663" y="3122673"/>
            <a:ext cx="1090569" cy="0"/>
          </a:xfrm>
          <a:prstGeom prst="line">
            <a:avLst/>
          </a:prstGeom>
          <a:ln w="3810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753EFA08-44D8-4885-9A93-599E191BC0B7}"/>
              </a:ext>
            </a:extLst>
          </p:cNvPr>
          <p:cNvCxnSpPr>
            <a:cxnSpLocks/>
          </p:cNvCxnSpPr>
          <p:nvPr/>
        </p:nvCxnSpPr>
        <p:spPr>
          <a:xfrm>
            <a:off x="8239386" y="4490079"/>
            <a:ext cx="1090569" cy="0"/>
          </a:xfrm>
          <a:prstGeom prst="line">
            <a:avLst/>
          </a:prstGeom>
          <a:ln w="3810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prodcut-image">
            <a:extLst>
              <a:ext uri="{FF2B5EF4-FFF2-40B4-BE49-F238E27FC236}">
                <a16:creationId xmlns:a16="http://schemas.microsoft.com/office/drawing/2014/main" id="{9963B647-D01D-4192-BBCE-70D0BF2E19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438" b="90000" l="10000" r="90000">
                        <a14:foregroundMark x1="15469" y1="8438" x2="15469" y2="8438"/>
                        <a14:backgroundMark x1="12500" y1="7656" x2="12500" y2="7656"/>
                        <a14:backgroundMark x1="12344" y1="9219" x2="12344" y2="9219"/>
                        <a14:backgroundMark x1="16406" y1="6250" x2="16406" y2="6250"/>
                        <a14:backgroundMark x1="17969" y1="7031" x2="17969" y2="7031"/>
                        <a14:backgroundMark x1="15781" y1="7500" x2="15781" y2="7500"/>
                        <a14:backgroundMark x1="17500" y1="9375" x2="17500" y2="9375"/>
                        <a14:backgroundMark x1="16875" y1="8906" x2="16875" y2="8906"/>
                        <a14:backgroundMark x1="15781" y1="8438" x2="15781" y2="8438"/>
                        <a14:backgroundMark x1="15156" y1="8438" x2="15156" y2="8438"/>
                        <a14:backgroundMark x1="15625" y1="8906" x2="15625" y2="8906"/>
                        <a14:backgroundMark x1="15469" y1="8906" x2="15469" y2="8906"/>
                        <a14:backgroundMark x1="15625" y1="8594" x2="15625" y2="859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868" y="3611224"/>
            <a:ext cx="563231" cy="563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2" descr="prodcut-image">
            <a:extLst>
              <a:ext uri="{FF2B5EF4-FFF2-40B4-BE49-F238E27FC236}">
                <a16:creationId xmlns:a16="http://schemas.microsoft.com/office/drawing/2014/main" id="{8D59C37A-EE24-44EA-BE16-49A7275780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438" b="90000" l="10000" r="90000">
                        <a14:foregroundMark x1="15469" y1="8438" x2="15469" y2="8438"/>
                        <a14:backgroundMark x1="12500" y1="7656" x2="12500" y2="7656"/>
                        <a14:backgroundMark x1="12344" y1="9219" x2="12344" y2="9219"/>
                        <a14:backgroundMark x1="16406" y1="6250" x2="16406" y2="6250"/>
                        <a14:backgroundMark x1="17969" y1="7031" x2="17969" y2="7031"/>
                        <a14:backgroundMark x1="15781" y1="7500" x2="15781" y2="7500"/>
                        <a14:backgroundMark x1="17500" y1="9375" x2="17500" y2="9375"/>
                        <a14:backgroundMark x1="16875" y1="8906" x2="16875" y2="8906"/>
                        <a14:backgroundMark x1="15781" y1="8438" x2="15781" y2="8438"/>
                        <a14:backgroundMark x1="15156" y1="8438" x2="15156" y2="8438"/>
                        <a14:backgroundMark x1="15625" y1="8906" x2="15625" y2="8906"/>
                        <a14:backgroundMark x1="15469" y1="8906" x2="15469" y2="8906"/>
                        <a14:backgroundMark x1="15625" y1="8594" x2="15625" y2="859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03" y="3438063"/>
            <a:ext cx="563231" cy="563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" descr="prodcut-image">
            <a:extLst>
              <a:ext uri="{FF2B5EF4-FFF2-40B4-BE49-F238E27FC236}">
                <a16:creationId xmlns:a16="http://schemas.microsoft.com/office/drawing/2014/main" id="{1B5733FE-ED95-454C-97F5-D4248929BB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438" b="90000" l="10000" r="90000">
                        <a14:foregroundMark x1="15469" y1="8438" x2="15469" y2="8438"/>
                        <a14:backgroundMark x1="12500" y1="7656" x2="12500" y2="7656"/>
                        <a14:backgroundMark x1="12344" y1="9219" x2="12344" y2="9219"/>
                        <a14:backgroundMark x1="16406" y1="6250" x2="16406" y2="6250"/>
                        <a14:backgroundMark x1="17969" y1="7031" x2="17969" y2="7031"/>
                        <a14:backgroundMark x1="15781" y1="7500" x2="15781" y2="7500"/>
                        <a14:backgroundMark x1="17500" y1="9375" x2="17500" y2="9375"/>
                        <a14:backgroundMark x1="16875" y1="8906" x2="16875" y2="8906"/>
                        <a14:backgroundMark x1="15781" y1="8438" x2="15781" y2="8438"/>
                        <a14:backgroundMark x1="15156" y1="8438" x2="15156" y2="8438"/>
                        <a14:backgroundMark x1="15625" y1="8906" x2="15625" y2="8906"/>
                        <a14:backgroundMark x1="15469" y1="8906" x2="15469" y2="8906"/>
                        <a14:backgroundMark x1="15625" y1="8594" x2="15625" y2="859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0145" y="1849843"/>
            <a:ext cx="563231" cy="563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" descr="prodcut-image">
            <a:extLst>
              <a:ext uri="{FF2B5EF4-FFF2-40B4-BE49-F238E27FC236}">
                <a16:creationId xmlns:a16="http://schemas.microsoft.com/office/drawing/2014/main" id="{701080C9-8A4B-4E05-A876-EB47C39B7E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438" b="90000" l="10000" r="90000">
                        <a14:foregroundMark x1="15469" y1="8438" x2="15469" y2="8438"/>
                        <a14:backgroundMark x1="12500" y1="7656" x2="12500" y2="7656"/>
                        <a14:backgroundMark x1="12344" y1="9219" x2="12344" y2="9219"/>
                        <a14:backgroundMark x1="16406" y1="6250" x2="16406" y2="6250"/>
                        <a14:backgroundMark x1="17969" y1="7031" x2="17969" y2="7031"/>
                        <a14:backgroundMark x1="15781" y1="7500" x2="15781" y2="7500"/>
                        <a14:backgroundMark x1="17500" y1="9375" x2="17500" y2="9375"/>
                        <a14:backgroundMark x1="16875" y1="8906" x2="16875" y2="8906"/>
                        <a14:backgroundMark x1="15781" y1="8438" x2="15781" y2="8438"/>
                        <a14:backgroundMark x1="15156" y1="8438" x2="15156" y2="8438"/>
                        <a14:backgroundMark x1="15625" y1="8906" x2="15625" y2="8906"/>
                        <a14:backgroundMark x1="15469" y1="8906" x2="15469" y2="8906"/>
                        <a14:backgroundMark x1="15625" y1="8594" x2="15625" y2="859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447" y="5155434"/>
            <a:ext cx="563231" cy="563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橢圓 5">
            <a:extLst>
              <a:ext uri="{FF2B5EF4-FFF2-40B4-BE49-F238E27FC236}">
                <a16:creationId xmlns:a16="http://schemas.microsoft.com/office/drawing/2014/main" id="{53615BF4-69C1-4A6C-98DA-C3C186FF6F16}"/>
              </a:ext>
            </a:extLst>
          </p:cNvPr>
          <p:cNvSpPr/>
          <p:nvPr/>
        </p:nvSpPr>
        <p:spPr>
          <a:xfrm>
            <a:off x="10161626" y="3270694"/>
            <a:ext cx="1340828" cy="1110324"/>
          </a:xfrm>
          <a:prstGeom prst="ellipse">
            <a:avLst/>
          </a:prstGeom>
          <a:solidFill>
            <a:schemeClr val="accent4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5" name="Picture 2" descr="prodcut-image">
            <a:extLst>
              <a:ext uri="{FF2B5EF4-FFF2-40B4-BE49-F238E27FC236}">
                <a16:creationId xmlns:a16="http://schemas.microsoft.com/office/drawing/2014/main" id="{FD939DF0-7049-49E6-8F0C-7EA49E9C16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438" b="90000" l="10000" r="90000">
                        <a14:foregroundMark x1="15469" y1="8438" x2="15469" y2="8438"/>
                        <a14:backgroundMark x1="12500" y1="7656" x2="12500" y2="7656"/>
                        <a14:backgroundMark x1="12344" y1="9219" x2="12344" y2="9219"/>
                        <a14:backgroundMark x1="16406" y1="6250" x2="16406" y2="6250"/>
                        <a14:backgroundMark x1="17969" y1="7031" x2="17969" y2="7031"/>
                        <a14:backgroundMark x1="15781" y1="7500" x2="15781" y2="7500"/>
                        <a14:backgroundMark x1="17500" y1="9375" x2="17500" y2="9375"/>
                        <a14:backgroundMark x1="16875" y1="8906" x2="16875" y2="8906"/>
                        <a14:backgroundMark x1="15781" y1="8438" x2="15781" y2="8438"/>
                        <a14:backgroundMark x1="15156" y1="8438" x2="15156" y2="8438"/>
                        <a14:backgroundMark x1="15625" y1="8906" x2="15625" y2="8906"/>
                        <a14:backgroundMark x1="15469" y1="8906" x2="15469" y2="8906"/>
                        <a14:backgroundMark x1="15625" y1="8594" x2="15625" y2="859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4182" y="5064593"/>
            <a:ext cx="563231" cy="563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" descr="prodcut-image">
            <a:extLst>
              <a:ext uri="{FF2B5EF4-FFF2-40B4-BE49-F238E27FC236}">
                <a16:creationId xmlns:a16="http://schemas.microsoft.com/office/drawing/2014/main" id="{F99316B3-6CDC-4D1C-8DE0-6727B7D698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438" b="90000" l="10000" r="90000">
                        <a14:foregroundMark x1="15469" y1="8438" x2="15469" y2="8438"/>
                        <a14:backgroundMark x1="12500" y1="7656" x2="12500" y2="7656"/>
                        <a14:backgroundMark x1="12344" y1="9219" x2="12344" y2="9219"/>
                        <a14:backgroundMark x1="16406" y1="6250" x2="16406" y2="6250"/>
                        <a14:backgroundMark x1="17969" y1="7031" x2="17969" y2="7031"/>
                        <a14:backgroundMark x1="15781" y1="7500" x2="15781" y2="7500"/>
                        <a14:backgroundMark x1="17500" y1="9375" x2="17500" y2="9375"/>
                        <a14:backgroundMark x1="16875" y1="8906" x2="16875" y2="8906"/>
                        <a14:backgroundMark x1="15781" y1="8438" x2="15781" y2="8438"/>
                        <a14:backgroundMark x1="15156" y1="8438" x2="15156" y2="8438"/>
                        <a14:backgroundMark x1="15625" y1="8906" x2="15625" y2="8906"/>
                        <a14:backgroundMark x1="15469" y1="8906" x2="15469" y2="8906"/>
                        <a14:backgroundMark x1="15625" y1="8594" x2="15625" y2="859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0237" y="1970898"/>
            <a:ext cx="563231" cy="563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矩形 28">
            <a:extLst>
              <a:ext uri="{FF2B5EF4-FFF2-40B4-BE49-F238E27FC236}">
                <a16:creationId xmlns:a16="http://schemas.microsoft.com/office/drawing/2014/main" id="{B63CBD1F-9643-4C51-83B8-D37FB6A88C46}"/>
              </a:ext>
            </a:extLst>
          </p:cNvPr>
          <p:cNvSpPr/>
          <p:nvPr/>
        </p:nvSpPr>
        <p:spPr>
          <a:xfrm>
            <a:off x="6194943" y="4498280"/>
            <a:ext cx="7922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/>
              <a:t>病房</a:t>
            </a:r>
            <a:r>
              <a:rPr lang="en-US" altLang="zh-TW" b="1" dirty="0"/>
              <a:t>D</a:t>
            </a:r>
            <a:endParaRPr lang="zh-TW" altLang="en-US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47EFB1B-FD94-4512-9D41-E517260481A7}"/>
              </a:ext>
            </a:extLst>
          </p:cNvPr>
          <p:cNvSpPr/>
          <p:nvPr/>
        </p:nvSpPr>
        <p:spPr>
          <a:xfrm>
            <a:off x="1786289" y="1285858"/>
            <a:ext cx="7922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/>
              <a:t>病房</a:t>
            </a:r>
            <a:r>
              <a:rPr lang="en-US" altLang="zh-TW" b="1" dirty="0"/>
              <a:t>A</a:t>
            </a:r>
            <a:endParaRPr lang="zh-TW" altLang="en-US" dirty="0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48711009-445B-460B-A7A8-189A3429784C}"/>
              </a:ext>
            </a:extLst>
          </p:cNvPr>
          <p:cNvSpPr/>
          <p:nvPr/>
        </p:nvSpPr>
        <p:spPr>
          <a:xfrm>
            <a:off x="6288873" y="1305810"/>
            <a:ext cx="7922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/>
              <a:t>病房</a:t>
            </a:r>
            <a:r>
              <a:rPr lang="en-US" altLang="zh-TW" b="1" dirty="0"/>
              <a:t>B</a:t>
            </a:r>
            <a:endParaRPr lang="zh-TW" altLang="en-US" dirty="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2A42AB9-47B5-4B73-B621-BC374EBF042E}"/>
              </a:ext>
            </a:extLst>
          </p:cNvPr>
          <p:cNvSpPr/>
          <p:nvPr/>
        </p:nvSpPr>
        <p:spPr>
          <a:xfrm>
            <a:off x="1730349" y="4598020"/>
            <a:ext cx="7922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/>
              <a:t>病房</a:t>
            </a:r>
            <a:r>
              <a:rPr lang="en-US" altLang="zh-TW" b="1" dirty="0"/>
              <a:t>C</a:t>
            </a:r>
            <a:endParaRPr lang="zh-TW" altLang="en-US" dirty="0"/>
          </a:p>
        </p:txBody>
      </p:sp>
      <p:pic>
        <p:nvPicPr>
          <p:cNvPr id="33" name="Picture 2" descr="「推車」的圖片搜尋結果">
            <a:extLst>
              <a:ext uri="{FF2B5EF4-FFF2-40B4-BE49-F238E27FC236}">
                <a16:creationId xmlns:a16="http://schemas.microsoft.com/office/drawing/2014/main" id="{170280B0-78ED-4990-8D81-E1DFD3AB4B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6560" y="3372155"/>
            <a:ext cx="831784" cy="907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75504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96828AF-90BD-4971-8BC3-65769C8E3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F15EF8-483A-4ED1-90F5-B97BB23AAD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23A3125-64B7-4CE7-BE47-80FA15EF97C6}"/>
              </a:ext>
            </a:extLst>
          </p:cNvPr>
          <p:cNvSpPr/>
          <p:nvPr/>
        </p:nvSpPr>
        <p:spPr>
          <a:xfrm>
            <a:off x="1677797" y="1228732"/>
            <a:ext cx="8992999" cy="5155289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4CE0505-6C4D-4115-84B1-A1EA96C6128A}"/>
              </a:ext>
            </a:extLst>
          </p:cNvPr>
          <p:cNvSpPr/>
          <p:nvPr/>
        </p:nvSpPr>
        <p:spPr>
          <a:xfrm>
            <a:off x="1677797" y="3122673"/>
            <a:ext cx="8976220" cy="1367406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B2B6CF74-15E1-43CF-8908-DEC290A5B1F3}"/>
              </a:ext>
            </a:extLst>
          </p:cNvPr>
          <p:cNvCxnSpPr>
            <a:cxnSpLocks/>
            <a:stCxn id="4" idx="0"/>
            <a:endCxn id="5" idx="0"/>
          </p:cNvCxnSpPr>
          <p:nvPr/>
        </p:nvCxnSpPr>
        <p:spPr>
          <a:xfrm flipH="1">
            <a:off x="6165907" y="1228732"/>
            <a:ext cx="8390" cy="189394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BECE00B9-FE9D-4214-963C-B80D5CCB54A3}"/>
              </a:ext>
            </a:extLst>
          </p:cNvPr>
          <p:cNvCxnSpPr>
            <a:cxnSpLocks/>
          </p:cNvCxnSpPr>
          <p:nvPr/>
        </p:nvCxnSpPr>
        <p:spPr>
          <a:xfrm flipH="1">
            <a:off x="6158916" y="4490080"/>
            <a:ext cx="8390" cy="189394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5D651F54-3089-4813-AE52-291509FAF297}"/>
              </a:ext>
            </a:extLst>
          </p:cNvPr>
          <p:cNvCxnSpPr>
            <a:cxnSpLocks/>
          </p:cNvCxnSpPr>
          <p:nvPr/>
        </p:nvCxnSpPr>
        <p:spPr>
          <a:xfrm>
            <a:off x="2323750" y="4490079"/>
            <a:ext cx="1090569" cy="0"/>
          </a:xfrm>
          <a:prstGeom prst="line">
            <a:avLst/>
          </a:prstGeom>
          <a:ln w="3810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C615B7A9-DB79-4DB7-8073-0BE3AB4BDCB7}"/>
              </a:ext>
            </a:extLst>
          </p:cNvPr>
          <p:cNvCxnSpPr>
            <a:cxnSpLocks/>
          </p:cNvCxnSpPr>
          <p:nvPr/>
        </p:nvCxnSpPr>
        <p:spPr>
          <a:xfrm>
            <a:off x="1677797" y="3122673"/>
            <a:ext cx="0" cy="1367406"/>
          </a:xfrm>
          <a:prstGeom prst="line">
            <a:avLst/>
          </a:prstGeom>
          <a:ln w="3810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2B65CB50-C4CF-4920-9DAD-327640D23D0E}"/>
              </a:ext>
            </a:extLst>
          </p:cNvPr>
          <p:cNvCxnSpPr>
            <a:cxnSpLocks/>
          </p:cNvCxnSpPr>
          <p:nvPr/>
        </p:nvCxnSpPr>
        <p:spPr>
          <a:xfrm>
            <a:off x="10662406" y="3122673"/>
            <a:ext cx="16779" cy="1367406"/>
          </a:xfrm>
          <a:prstGeom prst="line">
            <a:avLst/>
          </a:prstGeom>
          <a:ln w="571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614EE5E5-3FB1-4327-AAAA-5A9BC7408BA7}"/>
              </a:ext>
            </a:extLst>
          </p:cNvPr>
          <p:cNvCxnSpPr>
            <a:cxnSpLocks/>
          </p:cNvCxnSpPr>
          <p:nvPr/>
        </p:nvCxnSpPr>
        <p:spPr>
          <a:xfrm>
            <a:off x="2323749" y="3122673"/>
            <a:ext cx="1090569" cy="0"/>
          </a:xfrm>
          <a:prstGeom prst="line">
            <a:avLst/>
          </a:prstGeom>
          <a:ln w="3810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348998C9-675B-4CCD-B937-8CF7092A2B32}"/>
              </a:ext>
            </a:extLst>
          </p:cNvPr>
          <p:cNvCxnSpPr>
            <a:cxnSpLocks/>
          </p:cNvCxnSpPr>
          <p:nvPr/>
        </p:nvCxnSpPr>
        <p:spPr>
          <a:xfrm>
            <a:off x="8180663" y="3122673"/>
            <a:ext cx="1090569" cy="0"/>
          </a:xfrm>
          <a:prstGeom prst="line">
            <a:avLst/>
          </a:prstGeom>
          <a:ln w="3810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753EFA08-44D8-4885-9A93-599E191BC0B7}"/>
              </a:ext>
            </a:extLst>
          </p:cNvPr>
          <p:cNvCxnSpPr>
            <a:cxnSpLocks/>
          </p:cNvCxnSpPr>
          <p:nvPr/>
        </p:nvCxnSpPr>
        <p:spPr>
          <a:xfrm>
            <a:off x="8239386" y="4490079"/>
            <a:ext cx="1090569" cy="0"/>
          </a:xfrm>
          <a:prstGeom prst="line">
            <a:avLst/>
          </a:prstGeom>
          <a:ln w="3810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prodcut-image">
            <a:extLst>
              <a:ext uri="{FF2B5EF4-FFF2-40B4-BE49-F238E27FC236}">
                <a16:creationId xmlns:a16="http://schemas.microsoft.com/office/drawing/2014/main" id="{9963B647-D01D-4192-BBCE-70D0BF2E19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438" b="90000" l="10000" r="90000">
                        <a14:foregroundMark x1="15469" y1="8438" x2="15469" y2="8438"/>
                        <a14:backgroundMark x1="12500" y1="7656" x2="12500" y2="7656"/>
                        <a14:backgroundMark x1="12344" y1="9219" x2="12344" y2="9219"/>
                        <a14:backgroundMark x1="16406" y1="6250" x2="16406" y2="6250"/>
                        <a14:backgroundMark x1="17969" y1="7031" x2="17969" y2="7031"/>
                        <a14:backgroundMark x1="15781" y1="7500" x2="15781" y2="7500"/>
                        <a14:backgroundMark x1="17500" y1="9375" x2="17500" y2="9375"/>
                        <a14:backgroundMark x1="16875" y1="8906" x2="16875" y2="8906"/>
                        <a14:backgroundMark x1="15781" y1="8438" x2="15781" y2="8438"/>
                        <a14:backgroundMark x1="15156" y1="8438" x2="15156" y2="8438"/>
                        <a14:backgroundMark x1="15625" y1="8906" x2="15625" y2="8906"/>
                        <a14:backgroundMark x1="15469" y1="8906" x2="15469" y2="8906"/>
                        <a14:backgroundMark x1="15625" y1="8594" x2="15625" y2="859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868" y="3611224"/>
            <a:ext cx="563231" cy="563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2" descr="prodcut-image">
            <a:extLst>
              <a:ext uri="{FF2B5EF4-FFF2-40B4-BE49-F238E27FC236}">
                <a16:creationId xmlns:a16="http://schemas.microsoft.com/office/drawing/2014/main" id="{8D59C37A-EE24-44EA-BE16-49A7275780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438" b="90000" l="10000" r="90000">
                        <a14:foregroundMark x1="15469" y1="8438" x2="15469" y2="8438"/>
                        <a14:backgroundMark x1="12500" y1="7656" x2="12500" y2="7656"/>
                        <a14:backgroundMark x1="12344" y1="9219" x2="12344" y2="9219"/>
                        <a14:backgroundMark x1="16406" y1="6250" x2="16406" y2="6250"/>
                        <a14:backgroundMark x1="17969" y1="7031" x2="17969" y2="7031"/>
                        <a14:backgroundMark x1="15781" y1="7500" x2="15781" y2="7500"/>
                        <a14:backgroundMark x1="17500" y1="9375" x2="17500" y2="9375"/>
                        <a14:backgroundMark x1="16875" y1="8906" x2="16875" y2="8906"/>
                        <a14:backgroundMark x1="15781" y1="8438" x2="15781" y2="8438"/>
                        <a14:backgroundMark x1="15156" y1="8438" x2="15156" y2="8438"/>
                        <a14:backgroundMark x1="15625" y1="8906" x2="15625" y2="8906"/>
                        <a14:backgroundMark x1="15469" y1="8906" x2="15469" y2="8906"/>
                        <a14:backgroundMark x1="15625" y1="8594" x2="15625" y2="859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47162" y="3535331"/>
            <a:ext cx="563231" cy="563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215E16B9-112E-48D2-9DE4-2DF0CB531A64}"/>
              </a:ext>
            </a:extLst>
          </p:cNvPr>
          <p:cNvSpPr/>
          <p:nvPr/>
        </p:nvSpPr>
        <p:spPr>
          <a:xfrm>
            <a:off x="1656203" y="3155884"/>
            <a:ext cx="8971397" cy="13221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 </a:t>
            </a:r>
            <a:endParaRPr lang="zh-TW" altLang="en-US" dirty="0"/>
          </a:p>
        </p:txBody>
      </p:sp>
      <p:pic>
        <p:nvPicPr>
          <p:cNvPr id="27" name="Picture 2" descr="prodcut-image">
            <a:extLst>
              <a:ext uri="{FF2B5EF4-FFF2-40B4-BE49-F238E27FC236}">
                <a16:creationId xmlns:a16="http://schemas.microsoft.com/office/drawing/2014/main" id="{1B5733FE-ED95-454C-97F5-D4248929BB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438" b="90000" l="10000" r="90000">
                        <a14:foregroundMark x1="15469" y1="8438" x2="15469" y2="8438"/>
                        <a14:backgroundMark x1="12500" y1="7656" x2="12500" y2="7656"/>
                        <a14:backgroundMark x1="12344" y1="9219" x2="12344" y2="9219"/>
                        <a14:backgroundMark x1="16406" y1="6250" x2="16406" y2="6250"/>
                        <a14:backgroundMark x1="17969" y1="7031" x2="17969" y2="7031"/>
                        <a14:backgroundMark x1="15781" y1="7500" x2="15781" y2="7500"/>
                        <a14:backgroundMark x1="17500" y1="9375" x2="17500" y2="9375"/>
                        <a14:backgroundMark x1="16875" y1="8906" x2="16875" y2="8906"/>
                        <a14:backgroundMark x1="15781" y1="8438" x2="15781" y2="8438"/>
                        <a14:backgroundMark x1="15156" y1="8438" x2="15156" y2="8438"/>
                        <a14:backgroundMark x1="15625" y1="8906" x2="15625" y2="8906"/>
                        <a14:backgroundMark x1="15469" y1="8906" x2="15469" y2="8906"/>
                        <a14:backgroundMark x1="15625" y1="8594" x2="15625" y2="859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0145" y="1849843"/>
            <a:ext cx="563231" cy="563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" descr="prodcut-image">
            <a:extLst>
              <a:ext uri="{FF2B5EF4-FFF2-40B4-BE49-F238E27FC236}">
                <a16:creationId xmlns:a16="http://schemas.microsoft.com/office/drawing/2014/main" id="{701080C9-8A4B-4E05-A876-EB47C39B7E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438" b="90000" l="10000" r="90000">
                        <a14:foregroundMark x1="15469" y1="8438" x2="15469" y2="8438"/>
                        <a14:backgroundMark x1="12500" y1="7656" x2="12500" y2="7656"/>
                        <a14:backgroundMark x1="12344" y1="9219" x2="12344" y2="9219"/>
                        <a14:backgroundMark x1="16406" y1="6250" x2="16406" y2="6250"/>
                        <a14:backgroundMark x1="17969" y1="7031" x2="17969" y2="7031"/>
                        <a14:backgroundMark x1="15781" y1="7500" x2="15781" y2="7500"/>
                        <a14:backgroundMark x1="17500" y1="9375" x2="17500" y2="9375"/>
                        <a14:backgroundMark x1="16875" y1="8906" x2="16875" y2="8906"/>
                        <a14:backgroundMark x1="15781" y1="8438" x2="15781" y2="8438"/>
                        <a14:backgroundMark x1="15156" y1="8438" x2="15156" y2="8438"/>
                        <a14:backgroundMark x1="15625" y1="8906" x2="15625" y2="8906"/>
                        <a14:backgroundMark x1="15469" y1="8906" x2="15469" y2="8906"/>
                        <a14:backgroundMark x1="15625" y1="8594" x2="15625" y2="859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447" y="5155434"/>
            <a:ext cx="563231" cy="563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橢圓 5">
            <a:extLst>
              <a:ext uri="{FF2B5EF4-FFF2-40B4-BE49-F238E27FC236}">
                <a16:creationId xmlns:a16="http://schemas.microsoft.com/office/drawing/2014/main" id="{53615BF4-69C1-4A6C-98DA-C3C186FF6F16}"/>
              </a:ext>
            </a:extLst>
          </p:cNvPr>
          <p:cNvSpPr/>
          <p:nvPr/>
        </p:nvSpPr>
        <p:spPr>
          <a:xfrm>
            <a:off x="10569395" y="3270694"/>
            <a:ext cx="1340828" cy="1110324"/>
          </a:xfrm>
          <a:prstGeom prst="ellipse">
            <a:avLst/>
          </a:prstGeom>
          <a:solidFill>
            <a:schemeClr val="accent4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5" name="Picture 2" descr="prodcut-image">
            <a:extLst>
              <a:ext uri="{FF2B5EF4-FFF2-40B4-BE49-F238E27FC236}">
                <a16:creationId xmlns:a16="http://schemas.microsoft.com/office/drawing/2014/main" id="{FD939DF0-7049-49E6-8F0C-7EA49E9C16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438" b="90000" l="10000" r="90000">
                        <a14:foregroundMark x1="15469" y1="8438" x2="15469" y2="8438"/>
                        <a14:backgroundMark x1="12500" y1="7656" x2="12500" y2="7656"/>
                        <a14:backgroundMark x1="12344" y1="9219" x2="12344" y2="9219"/>
                        <a14:backgroundMark x1="16406" y1="6250" x2="16406" y2="6250"/>
                        <a14:backgroundMark x1="17969" y1="7031" x2="17969" y2="7031"/>
                        <a14:backgroundMark x1="15781" y1="7500" x2="15781" y2="7500"/>
                        <a14:backgroundMark x1="17500" y1="9375" x2="17500" y2="9375"/>
                        <a14:backgroundMark x1="16875" y1="8906" x2="16875" y2="8906"/>
                        <a14:backgroundMark x1="15781" y1="8438" x2="15781" y2="8438"/>
                        <a14:backgroundMark x1="15156" y1="8438" x2="15156" y2="8438"/>
                        <a14:backgroundMark x1="15625" y1="8906" x2="15625" y2="8906"/>
                        <a14:backgroundMark x1="15469" y1="8906" x2="15469" y2="8906"/>
                        <a14:backgroundMark x1="15625" y1="8594" x2="15625" y2="859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4182" y="5064593"/>
            <a:ext cx="563231" cy="563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" descr="prodcut-image">
            <a:extLst>
              <a:ext uri="{FF2B5EF4-FFF2-40B4-BE49-F238E27FC236}">
                <a16:creationId xmlns:a16="http://schemas.microsoft.com/office/drawing/2014/main" id="{F99316B3-6CDC-4D1C-8DE0-6727B7D698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438" b="90000" l="10000" r="90000">
                        <a14:foregroundMark x1="15469" y1="8438" x2="15469" y2="8438"/>
                        <a14:backgroundMark x1="12500" y1="7656" x2="12500" y2="7656"/>
                        <a14:backgroundMark x1="12344" y1="9219" x2="12344" y2="9219"/>
                        <a14:backgroundMark x1="16406" y1="6250" x2="16406" y2="6250"/>
                        <a14:backgroundMark x1="17969" y1="7031" x2="17969" y2="7031"/>
                        <a14:backgroundMark x1="15781" y1="7500" x2="15781" y2="7500"/>
                        <a14:backgroundMark x1="17500" y1="9375" x2="17500" y2="9375"/>
                        <a14:backgroundMark x1="16875" y1="8906" x2="16875" y2="8906"/>
                        <a14:backgroundMark x1="15781" y1="8438" x2="15781" y2="8438"/>
                        <a14:backgroundMark x1="15156" y1="8438" x2="15156" y2="8438"/>
                        <a14:backgroundMark x1="15625" y1="8906" x2="15625" y2="8906"/>
                        <a14:backgroundMark x1="15469" y1="8906" x2="15469" y2="8906"/>
                        <a14:backgroundMark x1="15625" y1="8594" x2="15625" y2="859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0237" y="1970898"/>
            <a:ext cx="563231" cy="563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F50D573B-B93E-4DCC-92A4-EDC76E11A1E0}"/>
              </a:ext>
            </a:extLst>
          </p:cNvPr>
          <p:cNvSpPr txBox="1"/>
          <p:nvPr/>
        </p:nvSpPr>
        <p:spPr>
          <a:xfrm>
            <a:off x="5216341" y="473979"/>
            <a:ext cx="21082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/>
              <a:t>位置判斷</a:t>
            </a:r>
            <a:r>
              <a:rPr lang="en-US" altLang="zh-TW" sz="2000" b="1" dirty="0"/>
              <a:t>:</a:t>
            </a:r>
            <a:r>
              <a:rPr lang="zh-TW" altLang="en-US" sz="2000" b="1" dirty="0"/>
              <a:t> 走廊上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63CBD1F-9643-4C51-83B8-D37FB6A88C46}"/>
              </a:ext>
            </a:extLst>
          </p:cNvPr>
          <p:cNvSpPr/>
          <p:nvPr/>
        </p:nvSpPr>
        <p:spPr>
          <a:xfrm>
            <a:off x="6194943" y="4498280"/>
            <a:ext cx="7922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/>
              <a:t>病房</a:t>
            </a:r>
            <a:r>
              <a:rPr lang="en-US" altLang="zh-TW" b="1" dirty="0"/>
              <a:t>D</a:t>
            </a:r>
            <a:endParaRPr lang="zh-TW" altLang="en-US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47EFB1B-FD94-4512-9D41-E517260481A7}"/>
              </a:ext>
            </a:extLst>
          </p:cNvPr>
          <p:cNvSpPr/>
          <p:nvPr/>
        </p:nvSpPr>
        <p:spPr>
          <a:xfrm>
            <a:off x="1786289" y="1285858"/>
            <a:ext cx="7922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/>
              <a:t>病房</a:t>
            </a:r>
            <a:r>
              <a:rPr lang="en-US" altLang="zh-TW" b="1" dirty="0"/>
              <a:t>A</a:t>
            </a:r>
            <a:endParaRPr lang="zh-TW" altLang="en-US" dirty="0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48711009-445B-460B-A7A8-189A3429784C}"/>
              </a:ext>
            </a:extLst>
          </p:cNvPr>
          <p:cNvSpPr/>
          <p:nvPr/>
        </p:nvSpPr>
        <p:spPr>
          <a:xfrm>
            <a:off x="6288873" y="1305810"/>
            <a:ext cx="7922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/>
              <a:t>病房</a:t>
            </a:r>
            <a:r>
              <a:rPr lang="en-US" altLang="zh-TW" b="1" dirty="0"/>
              <a:t>B</a:t>
            </a:r>
            <a:endParaRPr lang="zh-TW" altLang="en-US" dirty="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2A42AB9-47B5-4B73-B621-BC374EBF042E}"/>
              </a:ext>
            </a:extLst>
          </p:cNvPr>
          <p:cNvSpPr/>
          <p:nvPr/>
        </p:nvSpPr>
        <p:spPr>
          <a:xfrm>
            <a:off x="1730349" y="4598020"/>
            <a:ext cx="7922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/>
              <a:t>病房</a:t>
            </a:r>
            <a:r>
              <a:rPr lang="en-US" altLang="zh-TW" b="1" dirty="0"/>
              <a:t>C</a:t>
            </a:r>
            <a:endParaRPr lang="zh-TW" altLang="en-US" dirty="0"/>
          </a:p>
        </p:txBody>
      </p:sp>
      <p:pic>
        <p:nvPicPr>
          <p:cNvPr id="33" name="Picture 2" descr="「推車」的圖片搜尋結果">
            <a:extLst>
              <a:ext uri="{FF2B5EF4-FFF2-40B4-BE49-F238E27FC236}">
                <a16:creationId xmlns:a16="http://schemas.microsoft.com/office/drawing/2014/main" id="{06A2A774-C016-4D84-9F2C-8C7D368E64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0330" y="3416235"/>
            <a:ext cx="831784" cy="907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95722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96828AF-90BD-4971-8BC3-65769C8E3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F15EF8-483A-4ED1-90F5-B97BB23AAD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23A3125-64B7-4CE7-BE47-80FA15EF97C6}"/>
              </a:ext>
            </a:extLst>
          </p:cNvPr>
          <p:cNvSpPr/>
          <p:nvPr/>
        </p:nvSpPr>
        <p:spPr>
          <a:xfrm>
            <a:off x="1677797" y="1228732"/>
            <a:ext cx="8992999" cy="5155289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4CE0505-6C4D-4115-84B1-A1EA96C6128A}"/>
              </a:ext>
            </a:extLst>
          </p:cNvPr>
          <p:cNvSpPr/>
          <p:nvPr/>
        </p:nvSpPr>
        <p:spPr>
          <a:xfrm>
            <a:off x="1677797" y="3122673"/>
            <a:ext cx="8976220" cy="1367406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B2B6CF74-15E1-43CF-8908-DEC290A5B1F3}"/>
              </a:ext>
            </a:extLst>
          </p:cNvPr>
          <p:cNvCxnSpPr>
            <a:cxnSpLocks/>
            <a:stCxn id="4" idx="0"/>
            <a:endCxn id="5" idx="0"/>
          </p:cNvCxnSpPr>
          <p:nvPr/>
        </p:nvCxnSpPr>
        <p:spPr>
          <a:xfrm flipH="1">
            <a:off x="6165907" y="1228732"/>
            <a:ext cx="8390" cy="189394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BECE00B9-FE9D-4214-963C-B80D5CCB54A3}"/>
              </a:ext>
            </a:extLst>
          </p:cNvPr>
          <p:cNvCxnSpPr>
            <a:cxnSpLocks/>
          </p:cNvCxnSpPr>
          <p:nvPr/>
        </p:nvCxnSpPr>
        <p:spPr>
          <a:xfrm flipH="1">
            <a:off x="6158916" y="4490080"/>
            <a:ext cx="8390" cy="189394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5D651F54-3089-4813-AE52-291509FAF297}"/>
              </a:ext>
            </a:extLst>
          </p:cNvPr>
          <p:cNvCxnSpPr>
            <a:cxnSpLocks/>
          </p:cNvCxnSpPr>
          <p:nvPr/>
        </p:nvCxnSpPr>
        <p:spPr>
          <a:xfrm>
            <a:off x="2323750" y="4490079"/>
            <a:ext cx="1090569" cy="0"/>
          </a:xfrm>
          <a:prstGeom prst="line">
            <a:avLst/>
          </a:prstGeom>
          <a:ln w="3810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C615B7A9-DB79-4DB7-8073-0BE3AB4BDCB7}"/>
              </a:ext>
            </a:extLst>
          </p:cNvPr>
          <p:cNvCxnSpPr>
            <a:cxnSpLocks/>
          </p:cNvCxnSpPr>
          <p:nvPr/>
        </p:nvCxnSpPr>
        <p:spPr>
          <a:xfrm>
            <a:off x="1677797" y="3122673"/>
            <a:ext cx="0" cy="1367406"/>
          </a:xfrm>
          <a:prstGeom prst="line">
            <a:avLst/>
          </a:prstGeom>
          <a:ln w="3810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2B65CB50-C4CF-4920-9DAD-327640D23D0E}"/>
              </a:ext>
            </a:extLst>
          </p:cNvPr>
          <p:cNvCxnSpPr>
            <a:cxnSpLocks/>
          </p:cNvCxnSpPr>
          <p:nvPr/>
        </p:nvCxnSpPr>
        <p:spPr>
          <a:xfrm>
            <a:off x="10662406" y="3122673"/>
            <a:ext cx="16779" cy="1367406"/>
          </a:xfrm>
          <a:prstGeom prst="line">
            <a:avLst/>
          </a:prstGeom>
          <a:ln w="571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614EE5E5-3FB1-4327-AAAA-5A9BC7408BA7}"/>
              </a:ext>
            </a:extLst>
          </p:cNvPr>
          <p:cNvCxnSpPr>
            <a:cxnSpLocks/>
          </p:cNvCxnSpPr>
          <p:nvPr/>
        </p:nvCxnSpPr>
        <p:spPr>
          <a:xfrm>
            <a:off x="2323749" y="3122673"/>
            <a:ext cx="1090569" cy="0"/>
          </a:xfrm>
          <a:prstGeom prst="line">
            <a:avLst/>
          </a:prstGeom>
          <a:ln w="3810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348998C9-675B-4CCD-B937-8CF7092A2B32}"/>
              </a:ext>
            </a:extLst>
          </p:cNvPr>
          <p:cNvCxnSpPr>
            <a:cxnSpLocks/>
          </p:cNvCxnSpPr>
          <p:nvPr/>
        </p:nvCxnSpPr>
        <p:spPr>
          <a:xfrm>
            <a:off x="8180663" y="3122673"/>
            <a:ext cx="1090569" cy="0"/>
          </a:xfrm>
          <a:prstGeom prst="line">
            <a:avLst/>
          </a:prstGeom>
          <a:ln w="3810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753EFA08-44D8-4885-9A93-599E191BC0B7}"/>
              </a:ext>
            </a:extLst>
          </p:cNvPr>
          <p:cNvCxnSpPr>
            <a:cxnSpLocks/>
          </p:cNvCxnSpPr>
          <p:nvPr/>
        </p:nvCxnSpPr>
        <p:spPr>
          <a:xfrm>
            <a:off x="8239386" y="4490079"/>
            <a:ext cx="1090569" cy="0"/>
          </a:xfrm>
          <a:prstGeom prst="line">
            <a:avLst/>
          </a:prstGeom>
          <a:ln w="3810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prodcut-image">
            <a:extLst>
              <a:ext uri="{FF2B5EF4-FFF2-40B4-BE49-F238E27FC236}">
                <a16:creationId xmlns:a16="http://schemas.microsoft.com/office/drawing/2014/main" id="{9963B647-D01D-4192-BBCE-70D0BF2E19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438" b="90000" l="10000" r="90000">
                        <a14:foregroundMark x1="15469" y1="8438" x2="15469" y2="8438"/>
                        <a14:backgroundMark x1="12500" y1="7656" x2="12500" y2="7656"/>
                        <a14:backgroundMark x1="12344" y1="9219" x2="12344" y2="9219"/>
                        <a14:backgroundMark x1="16406" y1="6250" x2="16406" y2="6250"/>
                        <a14:backgroundMark x1="17969" y1="7031" x2="17969" y2="7031"/>
                        <a14:backgroundMark x1="15781" y1="7500" x2="15781" y2="7500"/>
                        <a14:backgroundMark x1="17500" y1="9375" x2="17500" y2="9375"/>
                        <a14:backgroundMark x1="16875" y1="8906" x2="16875" y2="8906"/>
                        <a14:backgroundMark x1="15781" y1="8438" x2="15781" y2="8438"/>
                        <a14:backgroundMark x1="15156" y1="8438" x2="15156" y2="8438"/>
                        <a14:backgroundMark x1="15625" y1="8906" x2="15625" y2="8906"/>
                        <a14:backgroundMark x1="15469" y1="8906" x2="15469" y2="8906"/>
                        <a14:backgroundMark x1="15625" y1="8594" x2="15625" y2="859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398" y="3535331"/>
            <a:ext cx="563231" cy="563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2" descr="prodcut-image">
            <a:extLst>
              <a:ext uri="{FF2B5EF4-FFF2-40B4-BE49-F238E27FC236}">
                <a16:creationId xmlns:a16="http://schemas.microsoft.com/office/drawing/2014/main" id="{8D59C37A-EE24-44EA-BE16-49A7275780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438" b="90000" l="10000" r="90000">
                        <a14:foregroundMark x1="15469" y1="8438" x2="15469" y2="8438"/>
                        <a14:backgroundMark x1="12500" y1="7656" x2="12500" y2="7656"/>
                        <a14:backgroundMark x1="12344" y1="9219" x2="12344" y2="9219"/>
                        <a14:backgroundMark x1="16406" y1="6250" x2="16406" y2="6250"/>
                        <a14:backgroundMark x1="17969" y1="7031" x2="17969" y2="7031"/>
                        <a14:backgroundMark x1="15781" y1="7500" x2="15781" y2="7500"/>
                        <a14:backgroundMark x1="17500" y1="9375" x2="17500" y2="9375"/>
                        <a14:backgroundMark x1="16875" y1="8906" x2="16875" y2="8906"/>
                        <a14:backgroundMark x1="15781" y1="8438" x2="15781" y2="8438"/>
                        <a14:backgroundMark x1="15156" y1="8438" x2="15156" y2="8438"/>
                        <a14:backgroundMark x1="15625" y1="8906" x2="15625" y2="8906"/>
                        <a14:backgroundMark x1="15469" y1="8906" x2="15469" y2="8906"/>
                        <a14:backgroundMark x1="15625" y1="8594" x2="15625" y2="859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3329" y="3428482"/>
            <a:ext cx="563231" cy="563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215E16B9-112E-48D2-9DE4-2DF0CB531A64}"/>
              </a:ext>
            </a:extLst>
          </p:cNvPr>
          <p:cNvSpPr/>
          <p:nvPr/>
        </p:nvSpPr>
        <p:spPr>
          <a:xfrm>
            <a:off x="1656203" y="3155884"/>
            <a:ext cx="8971397" cy="13221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 </a:t>
            </a:r>
            <a:endParaRPr lang="zh-TW" altLang="en-US" dirty="0"/>
          </a:p>
        </p:txBody>
      </p:sp>
      <p:pic>
        <p:nvPicPr>
          <p:cNvPr id="27" name="Picture 2" descr="prodcut-image">
            <a:extLst>
              <a:ext uri="{FF2B5EF4-FFF2-40B4-BE49-F238E27FC236}">
                <a16:creationId xmlns:a16="http://schemas.microsoft.com/office/drawing/2014/main" id="{1B5733FE-ED95-454C-97F5-D4248929BB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438" b="90000" l="10000" r="90000">
                        <a14:foregroundMark x1="15469" y1="8438" x2="15469" y2="8438"/>
                        <a14:backgroundMark x1="12500" y1="7656" x2="12500" y2="7656"/>
                        <a14:backgroundMark x1="12344" y1="9219" x2="12344" y2="9219"/>
                        <a14:backgroundMark x1="16406" y1="6250" x2="16406" y2="6250"/>
                        <a14:backgroundMark x1="17969" y1="7031" x2="17969" y2="7031"/>
                        <a14:backgroundMark x1="15781" y1="7500" x2="15781" y2="7500"/>
                        <a14:backgroundMark x1="17500" y1="9375" x2="17500" y2="9375"/>
                        <a14:backgroundMark x1="16875" y1="8906" x2="16875" y2="8906"/>
                        <a14:backgroundMark x1="15781" y1="8438" x2="15781" y2="8438"/>
                        <a14:backgroundMark x1="15156" y1="8438" x2="15156" y2="8438"/>
                        <a14:backgroundMark x1="15625" y1="8906" x2="15625" y2="8906"/>
                        <a14:backgroundMark x1="15469" y1="8906" x2="15469" y2="8906"/>
                        <a14:backgroundMark x1="15625" y1="8594" x2="15625" y2="859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2655" y="1763715"/>
            <a:ext cx="563231" cy="563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" descr="prodcut-image">
            <a:extLst>
              <a:ext uri="{FF2B5EF4-FFF2-40B4-BE49-F238E27FC236}">
                <a16:creationId xmlns:a16="http://schemas.microsoft.com/office/drawing/2014/main" id="{701080C9-8A4B-4E05-A876-EB47C39B7E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438" b="90000" l="10000" r="90000">
                        <a14:foregroundMark x1="15469" y1="8438" x2="15469" y2="8438"/>
                        <a14:backgroundMark x1="12500" y1="7656" x2="12500" y2="7656"/>
                        <a14:backgroundMark x1="12344" y1="9219" x2="12344" y2="9219"/>
                        <a14:backgroundMark x1="16406" y1="6250" x2="16406" y2="6250"/>
                        <a14:backgroundMark x1="17969" y1="7031" x2="17969" y2="7031"/>
                        <a14:backgroundMark x1="15781" y1="7500" x2="15781" y2="7500"/>
                        <a14:backgroundMark x1="17500" y1="9375" x2="17500" y2="9375"/>
                        <a14:backgroundMark x1="16875" y1="8906" x2="16875" y2="8906"/>
                        <a14:backgroundMark x1="15781" y1="8438" x2="15781" y2="8438"/>
                        <a14:backgroundMark x1="15156" y1="8438" x2="15156" y2="8438"/>
                        <a14:backgroundMark x1="15625" y1="8906" x2="15625" y2="8906"/>
                        <a14:backgroundMark x1="15469" y1="8906" x2="15469" y2="8906"/>
                        <a14:backgroundMark x1="15625" y1="8594" x2="15625" y2="859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2741" y="5155434"/>
            <a:ext cx="563231" cy="563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橢圓 5">
            <a:extLst>
              <a:ext uri="{FF2B5EF4-FFF2-40B4-BE49-F238E27FC236}">
                <a16:creationId xmlns:a16="http://schemas.microsoft.com/office/drawing/2014/main" id="{53615BF4-69C1-4A6C-98DA-C3C186FF6F16}"/>
              </a:ext>
            </a:extLst>
          </p:cNvPr>
          <p:cNvSpPr/>
          <p:nvPr/>
        </p:nvSpPr>
        <p:spPr>
          <a:xfrm>
            <a:off x="9959140" y="2548159"/>
            <a:ext cx="1340828" cy="1110324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5" name="Picture 2" descr="prodcut-image">
            <a:extLst>
              <a:ext uri="{FF2B5EF4-FFF2-40B4-BE49-F238E27FC236}">
                <a16:creationId xmlns:a16="http://schemas.microsoft.com/office/drawing/2014/main" id="{FD939DF0-7049-49E6-8F0C-7EA49E9C16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438" b="90000" l="10000" r="90000">
                        <a14:foregroundMark x1="15469" y1="8438" x2="15469" y2="8438"/>
                        <a14:backgroundMark x1="12500" y1="7656" x2="12500" y2="7656"/>
                        <a14:backgroundMark x1="12344" y1="9219" x2="12344" y2="9219"/>
                        <a14:backgroundMark x1="16406" y1="6250" x2="16406" y2="6250"/>
                        <a14:backgroundMark x1="17969" y1="7031" x2="17969" y2="7031"/>
                        <a14:backgroundMark x1="15781" y1="7500" x2="15781" y2="7500"/>
                        <a14:backgroundMark x1="17500" y1="9375" x2="17500" y2="9375"/>
                        <a14:backgroundMark x1="16875" y1="8906" x2="16875" y2="8906"/>
                        <a14:backgroundMark x1="15781" y1="8438" x2="15781" y2="8438"/>
                        <a14:backgroundMark x1="15156" y1="8438" x2="15156" y2="8438"/>
                        <a14:backgroundMark x1="15625" y1="8906" x2="15625" y2="8906"/>
                        <a14:backgroundMark x1="15469" y1="8906" x2="15469" y2="8906"/>
                        <a14:backgroundMark x1="15625" y1="8594" x2="15625" y2="859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3017" y="5157490"/>
            <a:ext cx="563231" cy="563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" descr="prodcut-image">
            <a:extLst>
              <a:ext uri="{FF2B5EF4-FFF2-40B4-BE49-F238E27FC236}">
                <a16:creationId xmlns:a16="http://schemas.microsoft.com/office/drawing/2014/main" id="{F99316B3-6CDC-4D1C-8DE0-6727B7D698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438" b="90000" l="10000" r="90000">
                        <a14:foregroundMark x1="15469" y1="8438" x2="15469" y2="8438"/>
                        <a14:backgroundMark x1="12500" y1="7656" x2="12500" y2="7656"/>
                        <a14:backgroundMark x1="12344" y1="9219" x2="12344" y2="9219"/>
                        <a14:backgroundMark x1="16406" y1="6250" x2="16406" y2="6250"/>
                        <a14:backgroundMark x1="17969" y1="7031" x2="17969" y2="7031"/>
                        <a14:backgroundMark x1="15781" y1="7500" x2="15781" y2="7500"/>
                        <a14:backgroundMark x1="17500" y1="9375" x2="17500" y2="9375"/>
                        <a14:backgroundMark x1="16875" y1="8906" x2="16875" y2="8906"/>
                        <a14:backgroundMark x1="15781" y1="8438" x2="15781" y2="8438"/>
                        <a14:backgroundMark x1="15156" y1="8438" x2="15156" y2="8438"/>
                        <a14:backgroundMark x1="15625" y1="8906" x2="15625" y2="8906"/>
                        <a14:backgroundMark x1="15469" y1="8906" x2="15469" y2="8906"/>
                        <a14:backgroundMark x1="15625" y1="8594" x2="15625" y2="859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5828" y="1894086"/>
            <a:ext cx="563231" cy="563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F50D573B-B93E-4DCC-92A4-EDC76E11A1E0}"/>
              </a:ext>
            </a:extLst>
          </p:cNvPr>
          <p:cNvSpPr txBox="1"/>
          <p:nvPr/>
        </p:nvSpPr>
        <p:spPr>
          <a:xfrm>
            <a:off x="5216341" y="473979"/>
            <a:ext cx="21082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/>
              <a:t>位置判斷</a:t>
            </a:r>
            <a:r>
              <a:rPr lang="en-US" altLang="zh-TW" sz="2000" b="1" dirty="0"/>
              <a:t>:</a:t>
            </a:r>
            <a:r>
              <a:rPr lang="zh-TW" altLang="en-US" sz="2000" b="1" dirty="0"/>
              <a:t> 走廊上</a:t>
            </a:r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AA02646E-D81E-4E97-96FD-F9A8D06E9AB1}"/>
              </a:ext>
            </a:extLst>
          </p:cNvPr>
          <p:cNvSpPr/>
          <p:nvPr/>
        </p:nvSpPr>
        <p:spPr>
          <a:xfrm>
            <a:off x="7895438" y="4912769"/>
            <a:ext cx="1337839" cy="1024395"/>
          </a:xfrm>
          <a:prstGeom prst="ellipse">
            <a:avLst/>
          </a:prstGeom>
          <a:solidFill>
            <a:schemeClr val="accent4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B853289-D383-46DD-BAAC-74C63BB682C6}"/>
              </a:ext>
            </a:extLst>
          </p:cNvPr>
          <p:cNvSpPr/>
          <p:nvPr/>
        </p:nvSpPr>
        <p:spPr>
          <a:xfrm>
            <a:off x="6194943" y="4498280"/>
            <a:ext cx="7922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/>
              <a:t>病房</a:t>
            </a:r>
            <a:r>
              <a:rPr lang="en-US" altLang="zh-TW" b="1" dirty="0"/>
              <a:t>D</a:t>
            </a:r>
            <a:endParaRPr lang="zh-TW" altLang="en-US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3B0DCF6-26A4-4697-B5FC-45D6EC434511}"/>
              </a:ext>
            </a:extLst>
          </p:cNvPr>
          <p:cNvSpPr/>
          <p:nvPr/>
        </p:nvSpPr>
        <p:spPr>
          <a:xfrm>
            <a:off x="1786289" y="1285858"/>
            <a:ext cx="7922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/>
              <a:t>病房</a:t>
            </a:r>
            <a:r>
              <a:rPr lang="en-US" altLang="zh-TW" b="1" dirty="0"/>
              <a:t>A</a:t>
            </a:r>
            <a:endParaRPr lang="zh-TW" altLang="en-US" dirty="0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322A50A2-B7F4-4805-8246-93B777185EE1}"/>
              </a:ext>
            </a:extLst>
          </p:cNvPr>
          <p:cNvSpPr/>
          <p:nvPr/>
        </p:nvSpPr>
        <p:spPr>
          <a:xfrm>
            <a:off x="6288873" y="1305810"/>
            <a:ext cx="7922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/>
              <a:t>病房</a:t>
            </a:r>
            <a:r>
              <a:rPr lang="en-US" altLang="zh-TW" b="1" dirty="0"/>
              <a:t>B</a:t>
            </a:r>
            <a:endParaRPr lang="zh-TW" altLang="en-US" dirty="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0EB00D3-1F75-4B0C-9811-7B458A7BA594}"/>
              </a:ext>
            </a:extLst>
          </p:cNvPr>
          <p:cNvSpPr/>
          <p:nvPr/>
        </p:nvSpPr>
        <p:spPr>
          <a:xfrm>
            <a:off x="1730349" y="4598020"/>
            <a:ext cx="7922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/>
              <a:t>病房</a:t>
            </a:r>
            <a:r>
              <a:rPr lang="en-US" altLang="zh-TW" b="1" dirty="0"/>
              <a:t>C</a:t>
            </a:r>
            <a:endParaRPr lang="zh-TW" altLang="en-US" dirty="0"/>
          </a:p>
        </p:txBody>
      </p:sp>
      <p:pic>
        <p:nvPicPr>
          <p:cNvPr id="6146" name="Picture 2" descr="「推車」的圖片搜尋結果">
            <a:extLst>
              <a:ext uri="{FF2B5EF4-FFF2-40B4-BE49-F238E27FC236}">
                <a16:creationId xmlns:a16="http://schemas.microsoft.com/office/drawing/2014/main" id="{1E97694F-E583-4107-9512-6E6B777795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8720" y="4385894"/>
            <a:ext cx="831784" cy="907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37564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96828AF-90BD-4971-8BC3-65769C8E3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F15EF8-483A-4ED1-90F5-B97BB23AAD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23A3125-64B7-4CE7-BE47-80FA15EF97C6}"/>
              </a:ext>
            </a:extLst>
          </p:cNvPr>
          <p:cNvSpPr/>
          <p:nvPr/>
        </p:nvSpPr>
        <p:spPr>
          <a:xfrm>
            <a:off x="1677797" y="1228732"/>
            <a:ext cx="8992999" cy="5155289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4CE0505-6C4D-4115-84B1-A1EA96C6128A}"/>
              </a:ext>
            </a:extLst>
          </p:cNvPr>
          <p:cNvSpPr/>
          <p:nvPr/>
        </p:nvSpPr>
        <p:spPr>
          <a:xfrm>
            <a:off x="1677797" y="3122673"/>
            <a:ext cx="8976220" cy="1367406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B2B6CF74-15E1-43CF-8908-DEC290A5B1F3}"/>
              </a:ext>
            </a:extLst>
          </p:cNvPr>
          <p:cNvCxnSpPr>
            <a:cxnSpLocks/>
            <a:stCxn id="4" idx="0"/>
            <a:endCxn id="5" idx="0"/>
          </p:cNvCxnSpPr>
          <p:nvPr/>
        </p:nvCxnSpPr>
        <p:spPr>
          <a:xfrm flipH="1">
            <a:off x="6165907" y="1228732"/>
            <a:ext cx="8390" cy="189394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BECE00B9-FE9D-4214-963C-B80D5CCB54A3}"/>
              </a:ext>
            </a:extLst>
          </p:cNvPr>
          <p:cNvCxnSpPr>
            <a:cxnSpLocks/>
          </p:cNvCxnSpPr>
          <p:nvPr/>
        </p:nvCxnSpPr>
        <p:spPr>
          <a:xfrm flipH="1">
            <a:off x="6158916" y="4490080"/>
            <a:ext cx="8390" cy="189394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5D651F54-3089-4813-AE52-291509FAF297}"/>
              </a:ext>
            </a:extLst>
          </p:cNvPr>
          <p:cNvCxnSpPr>
            <a:cxnSpLocks/>
          </p:cNvCxnSpPr>
          <p:nvPr/>
        </p:nvCxnSpPr>
        <p:spPr>
          <a:xfrm>
            <a:off x="2323750" y="4490079"/>
            <a:ext cx="1090569" cy="0"/>
          </a:xfrm>
          <a:prstGeom prst="line">
            <a:avLst/>
          </a:prstGeom>
          <a:ln w="3810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C615B7A9-DB79-4DB7-8073-0BE3AB4BDCB7}"/>
              </a:ext>
            </a:extLst>
          </p:cNvPr>
          <p:cNvCxnSpPr>
            <a:cxnSpLocks/>
          </p:cNvCxnSpPr>
          <p:nvPr/>
        </p:nvCxnSpPr>
        <p:spPr>
          <a:xfrm>
            <a:off x="1677797" y="3122673"/>
            <a:ext cx="0" cy="1367406"/>
          </a:xfrm>
          <a:prstGeom prst="line">
            <a:avLst/>
          </a:prstGeom>
          <a:ln w="3810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2B65CB50-C4CF-4920-9DAD-327640D23D0E}"/>
              </a:ext>
            </a:extLst>
          </p:cNvPr>
          <p:cNvCxnSpPr>
            <a:cxnSpLocks/>
          </p:cNvCxnSpPr>
          <p:nvPr/>
        </p:nvCxnSpPr>
        <p:spPr>
          <a:xfrm>
            <a:off x="10662406" y="3122673"/>
            <a:ext cx="16779" cy="1367406"/>
          </a:xfrm>
          <a:prstGeom prst="line">
            <a:avLst/>
          </a:prstGeom>
          <a:ln w="571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614EE5E5-3FB1-4327-AAAA-5A9BC7408BA7}"/>
              </a:ext>
            </a:extLst>
          </p:cNvPr>
          <p:cNvCxnSpPr>
            <a:cxnSpLocks/>
          </p:cNvCxnSpPr>
          <p:nvPr/>
        </p:nvCxnSpPr>
        <p:spPr>
          <a:xfrm>
            <a:off x="2323749" y="3122673"/>
            <a:ext cx="1090569" cy="0"/>
          </a:xfrm>
          <a:prstGeom prst="line">
            <a:avLst/>
          </a:prstGeom>
          <a:ln w="3810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348998C9-675B-4CCD-B937-8CF7092A2B32}"/>
              </a:ext>
            </a:extLst>
          </p:cNvPr>
          <p:cNvCxnSpPr>
            <a:cxnSpLocks/>
          </p:cNvCxnSpPr>
          <p:nvPr/>
        </p:nvCxnSpPr>
        <p:spPr>
          <a:xfrm>
            <a:off x="8180663" y="3122673"/>
            <a:ext cx="1090569" cy="0"/>
          </a:xfrm>
          <a:prstGeom prst="line">
            <a:avLst/>
          </a:prstGeom>
          <a:ln w="3810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753EFA08-44D8-4885-9A93-599E191BC0B7}"/>
              </a:ext>
            </a:extLst>
          </p:cNvPr>
          <p:cNvCxnSpPr>
            <a:cxnSpLocks/>
          </p:cNvCxnSpPr>
          <p:nvPr/>
        </p:nvCxnSpPr>
        <p:spPr>
          <a:xfrm>
            <a:off x="8239386" y="4490079"/>
            <a:ext cx="1090569" cy="0"/>
          </a:xfrm>
          <a:prstGeom prst="line">
            <a:avLst/>
          </a:prstGeom>
          <a:ln w="3810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prodcut-image">
            <a:extLst>
              <a:ext uri="{FF2B5EF4-FFF2-40B4-BE49-F238E27FC236}">
                <a16:creationId xmlns:a16="http://schemas.microsoft.com/office/drawing/2014/main" id="{9963B647-D01D-4192-BBCE-70D0BF2E19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438" b="90000" l="10000" r="90000">
                        <a14:foregroundMark x1="15469" y1="8438" x2="15469" y2="8438"/>
                        <a14:backgroundMark x1="12500" y1="7656" x2="12500" y2="7656"/>
                        <a14:backgroundMark x1="12344" y1="9219" x2="12344" y2="9219"/>
                        <a14:backgroundMark x1="16406" y1="6250" x2="16406" y2="6250"/>
                        <a14:backgroundMark x1="17969" y1="7031" x2="17969" y2="7031"/>
                        <a14:backgroundMark x1="15781" y1="7500" x2="15781" y2="7500"/>
                        <a14:backgroundMark x1="17500" y1="9375" x2="17500" y2="9375"/>
                        <a14:backgroundMark x1="16875" y1="8906" x2="16875" y2="8906"/>
                        <a14:backgroundMark x1="15781" y1="8438" x2="15781" y2="8438"/>
                        <a14:backgroundMark x1="15156" y1="8438" x2="15156" y2="8438"/>
                        <a14:backgroundMark x1="15625" y1="8906" x2="15625" y2="8906"/>
                        <a14:backgroundMark x1="15469" y1="8906" x2="15469" y2="8906"/>
                        <a14:backgroundMark x1="15625" y1="8594" x2="15625" y2="859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845" y="3535331"/>
            <a:ext cx="563231" cy="563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215E16B9-112E-48D2-9DE4-2DF0CB531A64}"/>
              </a:ext>
            </a:extLst>
          </p:cNvPr>
          <p:cNvSpPr/>
          <p:nvPr/>
        </p:nvSpPr>
        <p:spPr>
          <a:xfrm>
            <a:off x="1716177" y="3155884"/>
            <a:ext cx="8971397" cy="1322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 </a:t>
            </a:r>
            <a:endParaRPr lang="zh-TW" altLang="en-US" dirty="0"/>
          </a:p>
        </p:txBody>
      </p:sp>
      <p:pic>
        <p:nvPicPr>
          <p:cNvPr id="27" name="Picture 2" descr="prodcut-image">
            <a:extLst>
              <a:ext uri="{FF2B5EF4-FFF2-40B4-BE49-F238E27FC236}">
                <a16:creationId xmlns:a16="http://schemas.microsoft.com/office/drawing/2014/main" id="{1B5733FE-ED95-454C-97F5-D4248929BB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438" b="90000" l="10000" r="90000">
                        <a14:foregroundMark x1="15469" y1="8438" x2="15469" y2="8438"/>
                        <a14:backgroundMark x1="12500" y1="7656" x2="12500" y2="7656"/>
                        <a14:backgroundMark x1="12344" y1="9219" x2="12344" y2="9219"/>
                        <a14:backgroundMark x1="16406" y1="6250" x2="16406" y2="6250"/>
                        <a14:backgroundMark x1="17969" y1="7031" x2="17969" y2="7031"/>
                        <a14:backgroundMark x1="15781" y1="7500" x2="15781" y2="7500"/>
                        <a14:backgroundMark x1="17500" y1="9375" x2="17500" y2="9375"/>
                        <a14:backgroundMark x1="16875" y1="8906" x2="16875" y2="8906"/>
                        <a14:backgroundMark x1="15781" y1="8438" x2="15781" y2="8438"/>
                        <a14:backgroundMark x1="15156" y1="8438" x2="15156" y2="8438"/>
                        <a14:backgroundMark x1="15625" y1="8906" x2="15625" y2="8906"/>
                        <a14:backgroundMark x1="15469" y1="8906" x2="15469" y2="8906"/>
                        <a14:backgroundMark x1="15625" y1="8594" x2="15625" y2="859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1392" y="1794613"/>
            <a:ext cx="563231" cy="563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橢圓 5">
            <a:extLst>
              <a:ext uri="{FF2B5EF4-FFF2-40B4-BE49-F238E27FC236}">
                <a16:creationId xmlns:a16="http://schemas.microsoft.com/office/drawing/2014/main" id="{53615BF4-69C1-4A6C-98DA-C3C186FF6F16}"/>
              </a:ext>
            </a:extLst>
          </p:cNvPr>
          <p:cNvSpPr/>
          <p:nvPr/>
        </p:nvSpPr>
        <p:spPr>
          <a:xfrm>
            <a:off x="9959140" y="2548159"/>
            <a:ext cx="1340828" cy="1110324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5842FF0-6BC2-44D6-B8E0-8136E3DCF0DC}"/>
              </a:ext>
            </a:extLst>
          </p:cNvPr>
          <p:cNvSpPr/>
          <p:nvPr/>
        </p:nvSpPr>
        <p:spPr>
          <a:xfrm>
            <a:off x="6192399" y="4511220"/>
            <a:ext cx="4453303" cy="18149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 </a:t>
            </a:r>
            <a:endParaRPr lang="zh-TW" altLang="en-US" dirty="0"/>
          </a:p>
        </p:txBody>
      </p:sp>
      <p:pic>
        <p:nvPicPr>
          <p:cNvPr id="25" name="Picture 2" descr="prodcut-image">
            <a:extLst>
              <a:ext uri="{FF2B5EF4-FFF2-40B4-BE49-F238E27FC236}">
                <a16:creationId xmlns:a16="http://schemas.microsoft.com/office/drawing/2014/main" id="{FD939DF0-7049-49E6-8F0C-7EA49E9C16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438" b="90000" l="10000" r="90000">
                        <a14:foregroundMark x1="15469" y1="8438" x2="15469" y2="8438"/>
                        <a14:backgroundMark x1="12500" y1="7656" x2="12500" y2="7656"/>
                        <a14:backgroundMark x1="12344" y1="9219" x2="12344" y2="9219"/>
                        <a14:backgroundMark x1="16406" y1="6250" x2="16406" y2="6250"/>
                        <a14:backgroundMark x1="17969" y1="7031" x2="17969" y2="7031"/>
                        <a14:backgroundMark x1="15781" y1="7500" x2="15781" y2="7500"/>
                        <a14:backgroundMark x1="17500" y1="9375" x2="17500" y2="9375"/>
                        <a14:backgroundMark x1="16875" y1="8906" x2="16875" y2="8906"/>
                        <a14:backgroundMark x1="15781" y1="8438" x2="15781" y2="8438"/>
                        <a14:backgroundMark x1="15156" y1="8438" x2="15156" y2="8438"/>
                        <a14:backgroundMark x1="15625" y1="8906" x2="15625" y2="8906"/>
                        <a14:backgroundMark x1="15469" y1="8906" x2="15469" y2="8906"/>
                        <a14:backgroundMark x1="15625" y1="8594" x2="15625" y2="859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5125" y="5289612"/>
            <a:ext cx="563231" cy="563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" descr="prodcut-image">
            <a:extLst>
              <a:ext uri="{FF2B5EF4-FFF2-40B4-BE49-F238E27FC236}">
                <a16:creationId xmlns:a16="http://schemas.microsoft.com/office/drawing/2014/main" id="{F99316B3-6CDC-4D1C-8DE0-6727B7D698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438" b="90000" l="10000" r="90000">
                        <a14:foregroundMark x1="15469" y1="8438" x2="15469" y2="8438"/>
                        <a14:backgroundMark x1="12500" y1="7656" x2="12500" y2="7656"/>
                        <a14:backgroundMark x1="12344" y1="9219" x2="12344" y2="9219"/>
                        <a14:backgroundMark x1="16406" y1="6250" x2="16406" y2="6250"/>
                        <a14:backgroundMark x1="17969" y1="7031" x2="17969" y2="7031"/>
                        <a14:backgroundMark x1="15781" y1="7500" x2="15781" y2="7500"/>
                        <a14:backgroundMark x1="17500" y1="9375" x2="17500" y2="9375"/>
                        <a14:backgroundMark x1="16875" y1="8906" x2="16875" y2="8906"/>
                        <a14:backgroundMark x1="15781" y1="8438" x2="15781" y2="8438"/>
                        <a14:backgroundMark x1="15156" y1="8438" x2="15156" y2="8438"/>
                        <a14:backgroundMark x1="15625" y1="8906" x2="15625" y2="8906"/>
                        <a14:backgroundMark x1="15469" y1="8906" x2="15469" y2="8906"/>
                        <a14:backgroundMark x1="15625" y1="8594" x2="15625" y2="859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5581" y="1776048"/>
            <a:ext cx="563231" cy="563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F50D573B-B93E-4DCC-92A4-EDC76E11A1E0}"/>
              </a:ext>
            </a:extLst>
          </p:cNvPr>
          <p:cNvSpPr txBox="1"/>
          <p:nvPr/>
        </p:nvSpPr>
        <p:spPr>
          <a:xfrm>
            <a:off x="5216341" y="473979"/>
            <a:ext cx="20136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/>
              <a:t>位置判斷</a:t>
            </a:r>
            <a:r>
              <a:rPr lang="en-US" altLang="zh-TW" sz="2000" b="1" dirty="0"/>
              <a:t>:</a:t>
            </a:r>
            <a:r>
              <a:rPr lang="zh-TW" altLang="en-US" sz="2000" b="1" dirty="0"/>
              <a:t> 病房</a:t>
            </a:r>
            <a:r>
              <a:rPr lang="en-US" altLang="zh-TW" sz="2000" b="1" dirty="0"/>
              <a:t>D</a:t>
            </a:r>
            <a:endParaRPr lang="zh-TW" altLang="en-US" sz="2000" b="1" dirty="0"/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AA02646E-D81E-4E97-96FD-F9A8D06E9AB1}"/>
              </a:ext>
            </a:extLst>
          </p:cNvPr>
          <p:cNvSpPr/>
          <p:nvPr/>
        </p:nvSpPr>
        <p:spPr>
          <a:xfrm>
            <a:off x="7156580" y="5064593"/>
            <a:ext cx="1469777" cy="1024395"/>
          </a:xfrm>
          <a:prstGeom prst="ellipse">
            <a:avLst/>
          </a:prstGeom>
          <a:solidFill>
            <a:schemeClr val="accent4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8" name="Picture 2" descr="prodcut-image">
            <a:extLst>
              <a:ext uri="{FF2B5EF4-FFF2-40B4-BE49-F238E27FC236}">
                <a16:creationId xmlns:a16="http://schemas.microsoft.com/office/drawing/2014/main" id="{701080C9-8A4B-4E05-A876-EB47C39B7E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438" b="90000" l="10000" r="90000">
                        <a14:foregroundMark x1="15469" y1="8438" x2="15469" y2="8438"/>
                        <a14:backgroundMark x1="12500" y1="7656" x2="12500" y2="7656"/>
                        <a14:backgroundMark x1="12344" y1="9219" x2="12344" y2="9219"/>
                        <a14:backgroundMark x1="16406" y1="6250" x2="16406" y2="6250"/>
                        <a14:backgroundMark x1="17969" y1="7031" x2="17969" y2="7031"/>
                        <a14:backgroundMark x1="15781" y1="7500" x2="15781" y2="7500"/>
                        <a14:backgroundMark x1="17500" y1="9375" x2="17500" y2="9375"/>
                        <a14:backgroundMark x1="16875" y1="8906" x2="16875" y2="8906"/>
                        <a14:backgroundMark x1="15781" y1="8438" x2="15781" y2="8438"/>
                        <a14:backgroundMark x1="15156" y1="8438" x2="15156" y2="8438"/>
                        <a14:backgroundMark x1="15625" y1="8906" x2="15625" y2="8906"/>
                        <a14:backgroundMark x1="15469" y1="8906" x2="15469" y2="8906"/>
                        <a14:backgroundMark x1="15625" y1="8594" x2="15625" y2="859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9852" y="5273087"/>
            <a:ext cx="563231" cy="563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9F2EC187-A1C6-40D8-A403-7FDE83676CF9}"/>
              </a:ext>
            </a:extLst>
          </p:cNvPr>
          <p:cNvSpPr/>
          <p:nvPr/>
        </p:nvSpPr>
        <p:spPr>
          <a:xfrm>
            <a:off x="6194943" y="4498280"/>
            <a:ext cx="7922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/>
              <a:t>病房</a:t>
            </a:r>
            <a:r>
              <a:rPr lang="en-US" altLang="zh-TW" b="1" dirty="0"/>
              <a:t>D</a:t>
            </a:r>
            <a:endParaRPr lang="zh-TW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26691DC-68F2-4627-993F-BE08CC314723}"/>
              </a:ext>
            </a:extLst>
          </p:cNvPr>
          <p:cNvSpPr/>
          <p:nvPr/>
        </p:nvSpPr>
        <p:spPr>
          <a:xfrm>
            <a:off x="1786289" y="1285858"/>
            <a:ext cx="7922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/>
              <a:t>病房</a:t>
            </a:r>
            <a:r>
              <a:rPr lang="en-US" altLang="zh-TW" b="1" dirty="0"/>
              <a:t>A</a:t>
            </a:r>
            <a:endParaRPr lang="zh-TW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FBD3F75-EECE-4E5A-AE1A-A3588BE79AD9}"/>
              </a:ext>
            </a:extLst>
          </p:cNvPr>
          <p:cNvSpPr/>
          <p:nvPr/>
        </p:nvSpPr>
        <p:spPr>
          <a:xfrm>
            <a:off x="6288873" y="1305810"/>
            <a:ext cx="7922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/>
              <a:t>病房</a:t>
            </a:r>
            <a:r>
              <a:rPr lang="en-US" altLang="zh-TW" b="1" dirty="0"/>
              <a:t>B</a:t>
            </a:r>
            <a:endParaRPr lang="zh-TW" altLang="en-US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72E6DEF-7C32-4736-BDF9-B1517103AF8E}"/>
              </a:ext>
            </a:extLst>
          </p:cNvPr>
          <p:cNvSpPr/>
          <p:nvPr/>
        </p:nvSpPr>
        <p:spPr>
          <a:xfrm>
            <a:off x="1730349" y="4598020"/>
            <a:ext cx="7922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/>
              <a:t>病房</a:t>
            </a:r>
            <a:r>
              <a:rPr lang="en-US" altLang="zh-TW" b="1" dirty="0"/>
              <a:t>C</a:t>
            </a:r>
            <a:endParaRPr lang="zh-TW" altLang="en-US" dirty="0"/>
          </a:p>
        </p:txBody>
      </p:sp>
      <p:pic>
        <p:nvPicPr>
          <p:cNvPr id="26" name="Picture 2" descr="prodcut-image">
            <a:extLst>
              <a:ext uri="{FF2B5EF4-FFF2-40B4-BE49-F238E27FC236}">
                <a16:creationId xmlns:a16="http://schemas.microsoft.com/office/drawing/2014/main" id="{8D59C37A-EE24-44EA-BE16-49A7275780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438" b="90000" l="10000" r="90000">
                        <a14:foregroundMark x1="15469" y1="8438" x2="15469" y2="8438"/>
                        <a14:backgroundMark x1="12500" y1="7656" x2="12500" y2="7656"/>
                        <a14:backgroundMark x1="12344" y1="9219" x2="12344" y2="9219"/>
                        <a14:backgroundMark x1="16406" y1="6250" x2="16406" y2="6250"/>
                        <a14:backgroundMark x1="17969" y1="7031" x2="17969" y2="7031"/>
                        <a14:backgroundMark x1="15781" y1="7500" x2="15781" y2="7500"/>
                        <a14:backgroundMark x1="17500" y1="9375" x2="17500" y2="9375"/>
                        <a14:backgroundMark x1="16875" y1="8906" x2="16875" y2="8906"/>
                        <a14:backgroundMark x1="15781" y1="8438" x2="15781" y2="8438"/>
                        <a14:backgroundMark x1="15156" y1="8438" x2="15156" y2="8438"/>
                        <a14:backgroundMark x1="15625" y1="8906" x2="15625" y2="8906"/>
                        <a14:backgroundMark x1="15469" y1="8906" x2="15469" y2="8906"/>
                        <a14:backgroundMark x1="15625" y1="8594" x2="15625" y2="859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2038" y="3444226"/>
            <a:ext cx="563231" cy="563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2" descr="「推車」的圖片搜尋結果">
            <a:extLst>
              <a:ext uri="{FF2B5EF4-FFF2-40B4-BE49-F238E27FC236}">
                <a16:creationId xmlns:a16="http://schemas.microsoft.com/office/drawing/2014/main" id="{CAE44882-06DA-44AA-83F3-39028B5C4B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9448" y="4665963"/>
            <a:ext cx="831784" cy="907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26641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96828AF-90BD-4971-8BC3-65769C8E3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F15EF8-483A-4ED1-90F5-B97BB23AAD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23A3125-64B7-4CE7-BE47-80FA15EF97C6}"/>
              </a:ext>
            </a:extLst>
          </p:cNvPr>
          <p:cNvSpPr/>
          <p:nvPr/>
        </p:nvSpPr>
        <p:spPr>
          <a:xfrm>
            <a:off x="1677797" y="1228732"/>
            <a:ext cx="8992999" cy="5155289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4CE0505-6C4D-4115-84B1-A1EA96C6128A}"/>
              </a:ext>
            </a:extLst>
          </p:cNvPr>
          <p:cNvSpPr/>
          <p:nvPr/>
        </p:nvSpPr>
        <p:spPr>
          <a:xfrm>
            <a:off x="1677797" y="3122673"/>
            <a:ext cx="8976220" cy="1367406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B2B6CF74-15E1-43CF-8908-DEC290A5B1F3}"/>
              </a:ext>
            </a:extLst>
          </p:cNvPr>
          <p:cNvCxnSpPr>
            <a:cxnSpLocks/>
            <a:stCxn id="4" idx="0"/>
            <a:endCxn id="5" idx="0"/>
          </p:cNvCxnSpPr>
          <p:nvPr/>
        </p:nvCxnSpPr>
        <p:spPr>
          <a:xfrm flipH="1">
            <a:off x="6165907" y="1228732"/>
            <a:ext cx="8390" cy="189394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BECE00B9-FE9D-4214-963C-B80D5CCB54A3}"/>
              </a:ext>
            </a:extLst>
          </p:cNvPr>
          <p:cNvCxnSpPr>
            <a:cxnSpLocks/>
          </p:cNvCxnSpPr>
          <p:nvPr/>
        </p:nvCxnSpPr>
        <p:spPr>
          <a:xfrm flipH="1">
            <a:off x="6158916" y="4490080"/>
            <a:ext cx="8390" cy="189394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5D651F54-3089-4813-AE52-291509FAF297}"/>
              </a:ext>
            </a:extLst>
          </p:cNvPr>
          <p:cNvCxnSpPr>
            <a:cxnSpLocks/>
          </p:cNvCxnSpPr>
          <p:nvPr/>
        </p:nvCxnSpPr>
        <p:spPr>
          <a:xfrm>
            <a:off x="2323750" y="4490079"/>
            <a:ext cx="1090569" cy="0"/>
          </a:xfrm>
          <a:prstGeom prst="line">
            <a:avLst/>
          </a:prstGeom>
          <a:ln w="3810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C615B7A9-DB79-4DB7-8073-0BE3AB4BDCB7}"/>
              </a:ext>
            </a:extLst>
          </p:cNvPr>
          <p:cNvCxnSpPr>
            <a:cxnSpLocks/>
          </p:cNvCxnSpPr>
          <p:nvPr/>
        </p:nvCxnSpPr>
        <p:spPr>
          <a:xfrm>
            <a:off x="1677797" y="3122673"/>
            <a:ext cx="0" cy="1367406"/>
          </a:xfrm>
          <a:prstGeom prst="line">
            <a:avLst/>
          </a:prstGeom>
          <a:ln w="3810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2B65CB50-C4CF-4920-9DAD-327640D23D0E}"/>
              </a:ext>
            </a:extLst>
          </p:cNvPr>
          <p:cNvCxnSpPr>
            <a:cxnSpLocks/>
          </p:cNvCxnSpPr>
          <p:nvPr/>
        </p:nvCxnSpPr>
        <p:spPr>
          <a:xfrm>
            <a:off x="10662406" y="3122673"/>
            <a:ext cx="16779" cy="1367406"/>
          </a:xfrm>
          <a:prstGeom prst="line">
            <a:avLst/>
          </a:prstGeom>
          <a:ln w="571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614EE5E5-3FB1-4327-AAAA-5A9BC7408BA7}"/>
              </a:ext>
            </a:extLst>
          </p:cNvPr>
          <p:cNvCxnSpPr>
            <a:cxnSpLocks/>
          </p:cNvCxnSpPr>
          <p:nvPr/>
        </p:nvCxnSpPr>
        <p:spPr>
          <a:xfrm>
            <a:off x="2323749" y="3122673"/>
            <a:ext cx="1090569" cy="0"/>
          </a:xfrm>
          <a:prstGeom prst="line">
            <a:avLst/>
          </a:prstGeom>
          <a:ln w="3810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348998C9-675B-4CCD-B937-8CF7092A2B32}"/>
              </a:ext>
            </a:extLst>
          </p:cNvPr>
          <p:cNvCxnSpPr>
            <a:cxnSpLocks/>
          </p:cNvCxnSpPr>
          <p:nvPr/>
        </p:nvCxnSpPr>
        <p:spPr>
          <a:xfrm>
            <a:off x="8180663" y="3122673"/>
            <a:ext cx="1090569" cy="0"/>
          </a:xfrm>
          <a:prstGeom prst="line">
            <a:avLst/>
          </a:prstGeom>
          <a:ln w="3810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753EFA08-44D8-4885-9A93-599E191BC0B7}"/>
              </a:ext>
            </a:extLst>
          </p:cNvPr>
          <p:cNvCxnSpPr>
            <a:cxnSpLocks/>
          </p:cNvCxnSpPr>
          <p:nvPr/>
        </p:nvCxnSpPr>
        <p:spPr>
          <a:xfrm>
            <a:off x="8239386" y="4490079"/>
            <a:ext cx="1090569" cy="0"/>
          </a:xfrm>
          <a:prstGeom prst="line">
            <a:avLst/>
          </a:prstGeom>
          <a:ln w="3810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prodcut-image">
            <a:extLst>
              <a:ext uri="{FF2B5EF4-FFF2-40B4-BE49-F238E27FC236}">
                <a16:creationId xmlns:a16="http://schemas.microsoft.com/office/drawing/2014/main" id="{9963B647-D01D-4192-BBCE-70D0BF2E19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438" b="90000" l="10000" r="90000">
                        <a14:foregroundMark x1="15469" y1="8438" x2="15469" y2="8438"/>
                        <a14:backgroundMark x1="12500" y1="7656" x2="12500" y2="7656"/>
                        <a14:backgroundMark x1="12344" y1="9219" x2="12344" y2="9219"/>
                        <a14:backgroundMark x1="16406" y1="6250" x2="16406" y2="6250"/>
                        <a14:backgroundMark x1="17969" y1="7031" x2="17969" y2="7031"/>
                        <a14:backgroundMark x1="15781" y1="7500" x2="15781" y2="7500"/>
                        <a14:backgroundMark x1="17500" y1="9375" x2="17500" y2="9375"/>
                        <a14:backgroundMark x1="16875" y1="8906" x2="16875" y2="8906"/>
                        <a14:backgroundMark x1="15781" y1="8438" x2="15781" y2="8438"/>
                        <a14:backgroundMark x1="15156" y1="8438" x2="15156" y2="8438"/>
                        <a14:backgroundMark x1="15625" y1="8906" x2="15625" y2="8906"/>
                        <a14:backgroundMark x1="15469" y1="8906" x2="15469" y2="8906"/>
                        <a14:backgroundMark x1="15625" y1="8594" x2="15625" y2="859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348" y="3524760"/>
            <a:ext cx="563231" cy="563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215E16B9-112E-48D2-9DE4-2DF0CB531A64}"/>
              </a:ext>
            </a:extLst>
          </p:cNvPr>
          <p:cNvSpPr/>
          <p:nvPr/>
        </p:nvSpPr>
        <p:spPr>
          <a:xfrm>
            <a:off x="1656203" y="3155884"/>
            <a:ext cx="8971397" cy="13221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 </a:t>
            </a:r>
            <a:endParaRPr lang="zh-TW" altLang="en-US" dirty="0"/>
          </a:p>
        </p:txBody>
      </p:sp>
      <p:pic>
        <p:nvPicPr>
          <p:cNvPr id="27" name="Picture 2" descr="prodcut-image">
            <a:extLst>
              <a:ext uri="{FF2B5EF4-FFF2-40B4-BE49-F238E27FC236}">
                <a16:creationId xmlns:a16="http://schemas.microsoft.com/office/drawing/2014/main" id="{1B5733FE-ED95-454C-97F5-D4248929BB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438" b="90000" l="10000" r="90000">
                        <a14:foregroundMark x1="15469" y1="8438" x2="15469" y2="8438"/>
                        <a14:backgroundMark x1="12500" y1="7656" x2="12500" y2="7656"/>
                        <a14:backgroundMark x1="12344" y1="9219" x2="12344" y2="9219"/>
                        <a14:backgroundMark x1="16406" y1="6250" x2="16406" y2="6250"/>
                        <a14:backgroundMark x1="17969" y1="7031" x2="17969" y2="7031"/>
                        <a14:backgroundMark x1="15781" y1="7500" x2="15781" y2="7500"/>
                        <a14:backgroundMark x1="17500" y1="9375" x2="17500" y2="9375"/>
                        <a14:backgroundMark x1="16875" y1="8906" x2="16875" y2="8906"/>
                        <a14:backgroundMark x1="15781" y1="8438" x2="15781" y2="8438"/>
                        <a14:backgroundMark x1="15156" y1="8438" x2="15156" y2="8438"/>
                        <a14:backgroundMark x1="15625" y1="8906" x2="15625" y2="8906"/>
                        <a14:backgroundMark x1="15469" y1="8906" x2="15469" y2="8906"/>
                        <a14:backgroundMark x1="15625" y1="8594" x2="15625" y2="859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9386" y="1894086"/>
            <a:ext cx="563231" cy="563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矩形 28">
            <a:extLst>
              <a:ext uri="{FF2B5EF4-FFF2-40B4-BE49-F238E27FC236}">
                <a16:creationId xmlns:a16="http://schemas.microsoft.com/office/drawing/2014/main" id="{05842FF0-6BC2-44D6-B8E0-8136E3DCF0DC}"/>
              </a:ext>
            </a:extLst>
          </p:cNvPr>
          <p:cNvSpPr/>
          <p:nvPr/>
        </p:nvSpPr>
        <p:spPr>
          <a:xfrm>
            <a:off x="6192399" y="4511220"/>
            <a:ext cx="4453303" cy="18149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 </a:t>
            </a:r>
            <a:endParaRPr lang="zh-TW" altLang="en-US" dirty="0"/>
          </a:p>
        </p:txBody>
      </p:sp>
      <p:pic>
        <p:nvPicPr>
          <p:cNvPr id="25" name="Picture 2" descr="prodcut-image">
            <a:extLst>
              <a:ext uri="{FF2B5EF4-FFF2-40B4-BE49-F238E27FC236}">
                <a16:creationId xmlns:a16="http://schemas.microsoft.com/office/drawing/2014/main" id="{FD939DF0-7049-49E6-8F0C-7EA49E9C16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438" b="90000" l="10000" r="90000">
                        <a14:foregroundMark x1="15469" y1="8438" x2="15469" y2="8438"/>
                        <a14:backgroundMark x1="12500" y1="7656" x2="12500" y2="7656"/>
                        <a14:backgroundMark x1="12344" y1="9219" x2="12344" y2="9219"/>
                        <a14:backgroundMark x1="16406" y1="6250" x2="16406" y2="6250"/>
                        <a14:backgroundMark x1="17969" y1="7031" x2="17969" y2="7031"/>
                        <a14:backgroundMark x1="15781" y1="7500" x2="15781" y2="7500"/>
                        <a14:backgroundMark x1="17500" y1="9375" x2="17500" y2="9375"/>
                        <a14:backgroundMark x1="16875" y1="8906" x2="16875" y2="8906"/>
                        <a14:backgroundMark x1="15781" y1="8438" x2="15781" y2="8438"/>
                        <a14:backgroundMark x1="15156" y1="8438" x2="15156" y2="8438"/>
                        <a14:backgroundMark x1="15625" y1="8906" x2="15625" y2="8906"/>
                        <a14:backgroundMark x1="15469" y1="8906" x2="15469" y2="8906"/>
                        <a14:backgroundMark x1="15625" y1="8594" x2="15625" y2="859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3017" y="5078623"/>
            <a:ext cx="563231" cy="563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" descr="prodcut-image">
            <a:extLst>
              <a:ext uri="{FF2B5EF4-FFF2-40B4-BE49-F238E27FC236}">
                <a16:creationId xmlns:a16="http://schemas.microsoft.com/office/drawing/2014/main" id="{F99316B3-6CDC-4D1C-8DE0-6727B7D698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438" b="90000" l="10000" r="90000">
                        <a14:foregroundMark x1="15469" y1="8438" x2="15469" y2="8438"/>
                        <a14:backgroundMark x1="12500" y1="7656" x2="12500" y2="7656"/>
                        <a14:backgroundMark x1="12344" y1="9219" x2="12344" y2="9219"/>
                        <a14:backgroundMark x1="16406" y1="6250" x2="16406" y2="6250"/>
                        <a14:backgroundMark x1="17969" y1="7031" x2="17969" y2="7031"/>
                        <a14:backgroundMark x1="15781" y1="7500" x2="15781" y2="7500"/>
                        <a14:backgroundMark x1="17500" y1="9375" x2="17500" y2="9375"/>
                        <a14:backgroundMark x1="16875" y1="8906" x2="16875" y2="8906"/>
                        <a14:backgroundMark x1="15781" y1="8438" x2="15781" y2="8438"/>
                        <a14:backgroundMark x1="15156" y1="8438" x2="15156" y2="8438"/>
                        <a14:backgroundMark x1="15625" y1="8906" x2="15625" y2="8906"/>
                        <a14:backgroundMark x1="15469" y1="8906" x2="15469" y2="8906"/>
                        <a14:backgroundMark x1="15625" y1="8594" x2="15625" y2="859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3151" y="1970898"/>
            <a:ext cx="563231" cy="563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F50D573B-B93E-4DCC-92A4-EDC76E11A1E0}"/>
              </a:ext>
            </a:extLst>
          </p:cNvPr>
          <p:cNvSpPr txBox="1"/>
          <p:nvPr/>
        </p:nvSpPr>
        <p:spPr>
          <a:xfrm>
            <a:off x="5216341" y="473979"/>
            <a:ext cx="18517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/>
              <a:t>位置判斷</a:t>
            </a:r>
            <a:r>
              <a:rPr lang="en-US" altLang="zh-TW" sz="2000" b="1" dirty="0"/>
              <a:t>:</a:t>
            </a:r>
            <a:r>
              <a:rPr lang="zh-TW" altLang="en-US" sz="2000" b="1" dirty="0"/>
              <a:t> 走廊</a:t>
            </a:r>
          </a:p>
        </p:txBody>
      </p:sp>
      <p:pic>
        <p:nvPicPr>
          <p:cNvPr id="28" name="Picture 2" descr="prodcut-image">
            <a:extLst>
              <a:ext uri="{FF2B5EF4-FFF2-40B4-BE49-F238E27FC236}">
                <a16:creationId xmlns:a16="http://schemas.microsoft.com/office/drawing/2014/main" id="{701080C9-8A4B-4E05-A876-EB47C39B7E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438" b="90000" l="10000" r="90000">
                        <a14:foregroundMark x1="15469" y1="8438" x2="15469" y2="8438"/>
                        <a14:backgroundMark x1="12500" y1="7656" x2="12500" y2="7656"/>
                        <a14:backgroundMark x1="12344" y1="9219" x2="12344" y2="9219"/>
                        <a14:backgroundMark x1="16406" y1="6250" x2="16406" y2="6250"/>
                        <a14:backgroundMark x1="17969" y1="7031" x2="17969" y2="7031"/>
                        <a14:backgroundMark x1="15781" y1="7500" x2="15781" y2="7500"/>
                        <a14:backgroundMark x1="17500" y1="9375" x2="17500" y2="9375"/>
                        <a14:backgroundMark x1="16875" y1="8906" x2="16875" y2="8906"/>
                        <a14:backgroundMark x1="15781" y1="8438" x2="15781" y2="8438"/>
                        <a14:backgroundMark x1="15156" y1="8438" x2="15156" y2="8438"/>
                        <a14:backgroundMark x1="15625" y1="8906" x2="15625" y2="8906"/>
                        <a14:backgroundMark x1="15469" y1="8906" x2="15469" y2="8906"/>
                        <a14:backgroundMark x1="15625" y1="8594" x2="15625" y2="859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4631" y="5245038"/>
            <a:ext cx="563231" cy="563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9F2EC187-A1C6-40D8-A403-7FDE83676CF9}"/>
              </a:ext>
            </a:extLst>
          </p:cNvPr>
          <p:cNvSpPr/>
          <p:nvPr/>
        </p:nvSpPr>
        <p:spPr>
          <a:xfrm>
            <a:off x="6194943" y="4498280"/>
            <a:ext cx="7922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/>
              <a:t>病房</a:t>
            </a:r>
            <a:r>
              <a:rPr lang="en-US" altLang="zh-TW" b="1" dirty="0"/>
              <a:t>D</a:t>
            </a:r>
            <a:endParaRPr lang="zh-TW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26691DC-68F2-4627-993F-BE08CC314723}"/>
              </a:ext>
            </a:extLst>
          </p:cNvPr>
          <p:cNvSpPr/>
          <p:nvPr/>
        </p:nvSpPr>
        <p:spPr>
          <a:xfrm>
            <a:off x="1786289" y="1285858"/>
            <a:ext cx="7922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/>
              <a:t>病房</a:t>
            </a:r>
            <a:r>
              <a:rPr lang="en-US" altLang="zh-TW" b="1" dirty="0"/>
              <a:t>A</a:t>
            </a:r>
            <a:endParaRPr lang="zh-TW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FBD3F75-EECE-4E5A-AE1A-A3588BE79AD9}"/>
              </a:ext>
            </a:extLst>
          </p:cNvPr>
          <p:cNvSpPr/>
          <p:nvPr/>
        </p:nvSpPr>
        <p:spPr>
          <a:xfrm>
            <a:off x="6288873" y="1305810"/>
            <a:ext cx="7922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/>
              <a:t>病房</a:t>
            </a:r>
            <a:r>
              <a:rPr lang="en-US" altLang="zh-TW" b="1" dirty="0"/>
              <a:t>B</a:t>
            </a:r>
            <a:endParaRPr lang="zh-TW" altLang="en-US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72E6DEF-7C32-4736-BDF9-B1517103AF8E}"/>
              </a:ext>
            </a:extLst>
          </p:cNvPr>
          <p:cNvSpPr/>
          <p:nvPr/>
        </p:nvSpPr>
        <p:spPr>
          <a:xfrm>
            <a:off x="1730349" y="4598020"/>
            <a:ext cx="7922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/>
              <a:t>病房</a:t>
            </a:r>
            <a:r>
              <a:rPr lang="en-US" altLang="zh-TW" b="1" dirty="0"/>
              <a:t>C</a:t>
            </a:r>
            <a:endParaRPr lang="zh-TW" altLang="en-US" dirty="0"/>
          </a:p>
        </p:txBody>
      </p:sp>
      <p:pic>
        <p:nvPicPr>
          <p:cNvPr id="26" name="Picture 2" descr="prodcut-image">
            <a:extLst>
              <a:ext uri="{FF2B5EF4-FFF2-40B4-BE49-F238E27FC236}">
                <a16:creationId xmlns:a16="http://schemas.microsoft.com/office/drawing/2014/main" id="{8D59C37A-EE24-44EA-BE16-49A7275780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438" b="90000" l="10000" r="90000">
                        <a14:foregroundMark x1="15469" y1="8438" x2="15469" y2="8438"/>
                        <a14:backgroundMark x1="12500" y1="7656" x2="12500" y2="7656"/>
                        <a14:backgroundMark x1="12344" y1="9219" x2="12344" y2="9219"/>
                        <a14:backgroundMark x1="16406" y1="6250" x2="16406" y2="6250"/>
                        <a14:backgroundMark x1="17969" y1="7031" x2="17969" y2="7031"/>
                        <a14:backgroundMark x1="15781" y1="7500" x2="15781" y2="7500"/>
                        <a14:backgroundMark x1="17500" y1="9375" x2="17500" y2="9375"/>
                        <a14:backgroundMark x1="16875" y1="8906" x2="16875" y2="8906"/>
                        <a14:backgroundMark x1="15781" y1="8438" x2="15781" y2="8438"/>
                        <a14:backgroundMark x1="15156" y1="8438" x2="15156" y2="8438"/>
                        <a14:backgroundMark x1="15625" y1="8906" x2="15625" y2="8906"/>
                        <a14:backgroundMark x1="15469" y1="8906" x2="15469" y2="8906"/>
                        <a14:backgroundMark x1="15625" y1="8594" x2="15625" y2="859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72059" y="3516185"/>
            <a:ext cx="563231" cy="563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2" descr="「推車」的圖片搜尋結果">
            <a:extLst>
              <a:ext uri="{FF2B5EF4-FFF2-40B4-BE49-F238E27FC236}">
                <a16:creationId xmlns:a16="http://schemas.microsoft.com/office/drawing/2014/main" id="{FF9B7BAD-96C7-4E35-A0DD-5C05B933D9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0055" y="3423250"/>
            <a:ext cx="831784" cy="907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22424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19F16B4-4373-41F1-A374-B6EF5C434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RFID </a:t>
            </a:r>
            <a:r>
              <a:rPr lang="zh-TW" altLang="en-US" dirty="0"/>
              <a:t>標準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67AF995-D02A-4BA0-AEED-64805A309F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國際標準化組織</a:t>
            </a:r>
            <a:r>
              <a:rPr lang="en-US" altLang="zh-TW" dirty="0"/>
              <a:t>ISO/IEC</a:t>
            </a:r>
          </a:p>
          <a:p>
            <a:r>
              <a:rPr lang="en-US" altLang="zh-TW" dirty="0"/>
              <a:t>EPC Global</a:t>
            </a:r>
          </a:p>
          <a:p>
            <a:r>
              <a:rPr lang="zh-TW" altLang="en-US" dirty="0"/>
              <a:t>日本</a:t>
            </a:r>
            <a:r>
              <a:rPr lang="en-US" altLang="zh-TW" dirty="0"/>
              <a:t>Ubiquitous ID</a:t>
            </a:r>
          </a:p>
          <a:p>
            <a:endParaRPr lang="en-US" altLang="zh-TW" dirty="0"/>
          </a:p>
          <a:p>
            <a:r>
              <a:rPr lang="zh-TW" altLang="en-US" dirty="0"/>
              <a:t>這三個標準相互之間並不兼容，主要差別在通訊方式、防衝突協議和數據格式</a:t>
            </a:r>
            <a:br>
              <a:rPr lang="zh-TW" altLang="en-US" dirty="0"/>
            </a:br>
            <a:br>
              <a:rPr lang="zh-TW" altLang="en-US" dirty="0"/>
            </a:b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520915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60F1F17-2C0C-49AA-A296-93CE55781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應用</a:t>
            </a:r>
            <a:r>
              <a:rPr lang="en-US" altLang="zh-TW" dirty="0"/>
              <a:t>:</a:t>
            </a:r>
            <a:r>
              <a:rPr lang="zh-TW" altLang="en-US" dirty="0"/>
              <a:t>監獄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1047CF5-DA80-4A85-8102-1702A7A652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TW" altLang="en-US" dirty="0"/>
              <a:t>監獄為了加強對犯人的管理，尤其是實時監控犯人所在的位置，可使用</a:t>
            </a:r>
            <a:r>
              <a:rPr lang="en-US" altLang="zh-TW" dirty="0"/>
              <a:t>RFID</a:t>
            </a:r>
            <a:r>
              <a:rPr lang="zh-TW" altLang="en-US" dirty="0"/>
              <a:t>手環。該手環套在犯人的手上，一旦取下來就會自動報警。通過</a:t>
            </a:r>
            <a:r>
              <a:rPr lang="en-US" altLang="zh-TW" dirty="0"/>
              <a:t>RFID</a:t>
            </a:r>
            <a:r>
              <a:rPr lang="zh-TW" altLang="en-US" dirty="0"/>
              <a:t>定位，監獄管理人員可以在一個視頻</a:t>
            </a:r>
            <a:r>
              <a:rPr lang="en-US" altLang="zh-TW" dirty="0"/>
              <a:t>(</a:t>
            </a:r>
            <a:r>
              <a:rPr lang="zh-TW" altLang="en-US" dirty="0"/>
              <a:t>監獄</a:t>
            </a:r>
            <a:r>
              <a:rPr lang="en-US" altLang="zh-TW" dirty="0"/>
              <a:t>GIS)</a:t>
            </a:r>
            <a:r>
              <a:rPr lang="zh-TW" altLang="en-US" dirty="0"/>
              <a:t>內觀看所有犯人的分布情況，而傳統的視頻監視器無法做到讓所有犯人集中在一個畫面。一旦攜帶</a:t>
            </a:r>
            <a:r>
              <a:rPr lang="en-US" altLang="zh-TW" dirty="0"/>
              <a:t>RFID</a:t>
            </a:r>
            <a:r>
              <a:rPr lang="zh-TW" altLang="en-US" dirty="0"/>
              <a:t>手環的犯人接近監獄邊緣，系統就會自動報警，獄警可根據</a:t>
            </a:r>
            <a:r>
              <a:rPr lang="en-US" altLang="zh-TW" dirty="0"/>
              <a:t>RFID</a:t>
            </a:r>
            <a:r>
              <a:rPr lang="zh-TW" altLang="en-US" dirty="0"/>
              <a:t>定位系統，快速找到犯人，防止其越獄</a:t>
            </a:r>
            <a:r>
              <a:rPr lang="en-US" altLang="zh-TW" dirty="0"/>
              <a:t>;</a:t>
            </a:r>
            <a:r>
              <a:rPr lang="zh-TW" altLang="en-US" dirty="0"/>
              <a:t>此外，如果犯人長時間處於非移動狀態，系統會提示獄方，查看該犯人是生病異常，還是強制開啟手環準備越獄。當犯人試圖化妝、隱蔽、強行通過監獄門口時，讀寫器讀取到非法進入該區域的腕式標籤信號，向後台中央控制室發出報警提示，同時攝像機主動拍攝現場情況。中央控制室通過對講器對該區域實時喊話。</a:t>
            </a:r>
          </a:p>
        </p:txBody>
      </p:sp>
    </p:spTree>
    <p:extLst>
      <p:ext uri="{BB962C8B-B14F-4D97-AF65-F5344CB8AC3E}">
        <p14:creationId xmlns:p14="http://schemas.microsoft.com/office/powerpoint/2010/main" val="37015294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30001C8-3FC2-4B40-95DE-E8C5CFA46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應用</a:t>
            </a:r>
            <a:r>
              <a:rPr lang="en-US" altLang="zh-TW" dirty="0"/>
              <a:t>2</a:t>
            </a:r>
            <a:r>
              <a:rPr lang="zh-TW" altLang="en-US" dirty="0"/>
              <a:t> </a:t>
            </a:r>
            <a:r>
              <a:rPr lang="en-US" altLang="zh-TW" dirty="0"/>
              <a:t>:</a:t>
            </a:r>
            <a:r>
              <a:rPr lang="zh-TW" altLang="en-US" dirty="0"/>
              <a:t>台灣國道電子收費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E74BA59-56D3-48F8-9B27-E7CDA7EF4A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zh-TW" altLang="en-US" dirty="0"/>
              <a:t>台灣國道電子計程收費所採用的電子標籤 </a:t>
            </a:r>
            <a:r>
              <a:rPr lang="en-US" altLang="zh-TW" dirty="0" err="1"/>
              <a:t>eTag</a:t>
            </a:r>
            <a:r>
              <a:rPr lang="en-US" altLang="zh-TW" dirty="0"/>
              <a:t> </a:t>
            </a:r>
            <a:r>
              <a:rPr lang="zh-TW" altLang="en-US" dirty="0"/>
              <a:t>是屬於</a:t>
            </a:r>
            <a:r>
              <a:rPr lang="en-US" altLang="zh-TW" dirty="0"/>
              <a:t>860MHz</a:t>
            </a:r>
            <a:r>
              <a:rPr lang="zh-TW" altLang="en-US" dirty="0"/>
              <a:t>至</a:t>
            </a:r>
            <a:r>
              <a:rPr lang="en-US" altLang="zh-TW" dirty="0"/>
              <a:t>960MHz</a:t>
            </a:r>
            <a:r>
              <a:rPr lang="zh-TW" altLang="en-US" dirty="0"/>
              <a:t>頻段之被動式超高頻無線射頻辨識系統 </a:t>
            </a:r>
            <a:r>
              <a:rPr lang="en-US" altLang="zh-TW" dirty="0"/>
              <a:t>Passive UHF RFID System</a:t>
            </a:r>
            <a:r>
              <a:rPr lang="zh-TW" altLang="en-US" dirty="0"/>
              <a:t>，其遵循之國際標準為 </a:t>
            </a:r>
            <a:r>
              <a:rPr lang="en-US" altLang="zh-TW" dirty="0"/>
              <a:t>18000-6C (EPC Class 1 Gen 2)</a:t>
            </a:r>
            <a:r>
              <a:rPr lang="zh-TW" altLang="en-US" dirty="0"/>
              <a:t> 。</a:t>
            </a:r>
            <a:endParaRPr lang="en-US" altLang="zh-TW" dirty="0"/>
          </a:p>
          <a:p>
            <a:pPr fontAlgn="base"/>
            <a:r>
              <a:rPr lang="zh-TW" altLang="en-US" dirty="0"/>
              <a:t> 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494096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4E3112B-16E8-4111-B896-B9D8615AB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應用</a:t>
            </a:r>
            <a:r>
              <a:rPr lang="en-US" altLang="zh-TW" dirty="0"/>
              <a:t>3:</a:t>
            </a:r>
            <a:r>
              <a:rPr lang="zh-TW" altLang="en-US" dirty="0"/>
              <a:t> 物流業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51DB30A-C01D-41EE-9C7F-3F936D8B8C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利用</a:t>
            </a:r>
            <a:r>
              <a:rPr lang="en-US" altLang="zh-TW" dirty="0"/>
              <a:t>RFID</a:t>
            </a:r>
            <a:r>
              <a:rPr lang="zh-TW" altLang="en-US" dirty="0"/>
              <a:t>技術，進行倉儲物流管理，從進貨、理貨、入庫、生產、到出貨等，可以準確利用後端管理系統查詢與辨別物品狀態，達到自動化管理，類似遠距離感應式的條碼應用，可以增加整體流程的效率。若以倉儲為核心，可以對每個物品主體進行標籤識別，利用</a:t>
            </a:r>
            <a:r>
              <a:rPr lang="en-US" altLang="zh-TW" dirty="0"/>
              <a:t>RFID Reader</a:t>
            </a:r>
            <a:r>
              <a:rPr lang="zh-TW" altLang="en-US" dirty="0"/>
              <a:t>讀取每個</a:t>
            </a:r>
            <a:r>
              <a:rPr lang="en-US" altLang="zh-TW" dirty="0"/>
              <a:t>Tag ID</a:t>
            </a:r>
            <a:r>
              <a:rPr lang="zh-TW" altLang="en-US" dirty="0"/>
              <a:t>，進入後端管理系統，進行進、耗、存等管理，達到資訊即時透通。 另外，將</a:t>
            </a:r>
            <a:r>
              <a:rPr lang="en-US" altLang="zh-TW" dirty="0"/>
              <a:t>RFID</a:t>
            </a:r>
            <a:r>
              <a:rPr lang="zh-TW" altLang="en-US" dirty="0"/>
              <a:t>識別技術和電腦的資料庫管理查詢相互結合後，可自動識別貨物資訊，也可將該系統的應用效能提高，節省人力物力，提高效率和準確性</a:t>
            </a:r>
          </a:p>
        </p:txBody>
      </p:sp>
    </p:spTree>
    <p:extLst>
      <p:ext uri="{BB962C8B-B14F-4D97-AF65-F5344CB8AC3E}">
        <p14:creationId xmlns:p14="http://schemas.microsoft.com/office/powerpoint/2010/main" val="26731881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723</Words>
  <Application>Microsoft Office PowerPoint</Application>
  <PresentationFormat>寬螢幕</PresentationFormat>
  <Paragraphs>103</Paragraphs>
  <Slides>14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19" baseType="lpstr">
      <vt:lpstr>新細明體</vt:lpstr>
      <vt:lpstr>Arial</vt:lpstr>
      <vt:lpstr>Calibri</vt:lpstr>
      <vt:lpstr>Calibri Light</vt:lpstr>
      <vt:lpstr>Office 佈景主題</vt:lpstr>
      <vt:lpstr>RFID tag</vt:lpstr>
      <vt:lpstr>RFID 種類</vt:lpstr>
      <vt:lpstr>RFID頻段</vt:lpstr>
      <vt:lpstr>UHF RFID tag</vt:lpstr>
      <vt:lpstr>Long range RFID READER</vt:lpstr>
      <vt:lpstr>PowerPoint 簡報</vt:lpstr>
      <vt:lpstr>PowerPoint 簡報</vt:lpstr>
      <vt:lpstr>PowerPoint 簡報</vt:lpstr>
      <vt:lpstr>PowerPoint 簡報</vt:lpstr>
      <vt:lpstr>PowerPoint 簡報</vt:lpstr>
      <vt:lpstr>RFID 標準</vt:lpstr>
      <vt:lpstr>應用:監獄</vt:lpstr>
      <vt:lpstr>應用2 :台灣國道電子收費</vt:lpstr>
      <vt:lpstr>應用3: 物流業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Albert</dc:creator>
  <cp:lastModifiedBy>Albert</cp:lastModifiedBy>
  <cp:revision>29</cp:revision>
  <dcterms:created xsi:type="dcterms:W3CDTF">2020-02-19T09:11:48Z</dcterms:created>
  <dcterms:modified xsi:type="dcterms:W3CDTF">2020-02-19T11:41:28Z</dcterms:modified>
</cp:coreProperties>
</file>