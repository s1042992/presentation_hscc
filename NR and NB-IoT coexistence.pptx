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handoutMasterIdLst>
    <p:handoutMasterId r:id="rId19"/>
  </p:handoutMasterIdLst>
  <p:sldIdLst>
    <p:sldId id="256" r:id="rId2"/>
    <p:sldId id="267" r:id="rId3"/>
    <p:sldId id="287" r:id="rId4"/>
    <p:sldId id="268" r:id="rId5"/>
    <p:sldId id="273" r:id="rId6"/>
    <p:sldId id="274" r:id="rId7"/>
    <p:sldId id="283" r:id="rId8"/>
    <p:sldId id="276" r:id="rId9"/>
    <p:sldId id="277" r:id="rId10"/>
    <p:sldId id="278" r:id="rId11"/>
    <p:sldId id="279" r:id="rId12"/>
    <p:sldId id="280" r:id="rId13"/>
    <p:sldId id="281" r:id="rId14"/>
    <p:sldId id="285" r:id="rId15"/>
    <p:sldId id="286" r:id="rId16"/>
    <p:sldId id="264" r:id="rId17"/>
  </p:sldIdLst>
  <p:sldSz cx="12188825" cy="6858000"/>
  <p:notesSz cx="6858000" cy="9144000"/>
  <p:defaultTextStyle>
    <a:defPPr rtl="0">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5" pos="3839">
          <p15:clr>
            <a:srgbClr val="A4A3A4"/>
          </p15:clr>
        </p15:guide>
        <p15:guide id="6" pos="100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850" autoAdjust="0"/>
  </p:normalViewPr>
  <p:slideViewPr>
    <p:cSldViewPr showGuides="1">
      <p:cViewPr varScale="1">
        <p:scale>
          <a:sx n="93" d="100"/>
          <a:sy n="93" d="100"/>
        </p:scale>
        <p:origin x="1218" y="66"/>
      </p:cViewPr>
      <p:guideLst>
        <p:guide orient="horz" pos="2160"/>
        <p:guide pos="3839"/>
        <p:guide pos="1007"/>
      </p:guideLst>
    </p:cSldViewPr>
  </p:slideViewPr>
  <p:notesTextViewPr>
    <p:cViewPr>
      <p:scale>
        <a:sx n="3" d="2"/>
        <a:sy n="3" d="2"/>
      </p:scale>
      <p:origin x="0" y="0"/>
    </p:cViewPr>
  </p:notesTextViewPr>
  <p:notesViewPr>
    <p:cSldViewPr showGuides="1">
      <p:cViewPr varScale="1">
        <p:scale>
          <a:sx n="88" d="100"/>
          <a:sy n="88" d="100"/>
        </p:scale>
        <p:origin x="3126"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預留位置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rtl="0"/>
            <a:endParaRPr lang="zh-TW" altLang="en-US" dirty="0">
              <a:latin typeface="Microsoft JhengHei UI" panose="020B0604030504040204" pitchFamily="34" charset="-120"/>
              <a:ea typeface="Microsoft JhengHei UI" panose="020B0604030504040204" pitchFamily="34" charset="-120"/>
            </a:endParaRPr>
          </a:p>
        </p:txBody>
      </p:sp>
      <p:sp>
        <p:nvSpPr>
          <p:cNvPr id="3" name="日期預留位置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rtl="0"/>
            <a:fld id="{4F183C20-8548-40C8-9E88-EAF7A836FA13}" type="datetime2">
              <a:rPr lang="zh-TW" altLang="en-US" smtClean="0">
                <a:latin typeface="Microsoft JhengHei UI" panose="020B0604030504040204" pitchFamily="34" charset="-120"/>
                <a:ea typeface="Microsoft JhengHei UI" panose="020B0604030504040204" pitchFamily="34" charset="-120"/>
              </a:rPr>
              <a:t>2020年2月14日</a:t>
            </a:fld>
            <a:endParaRPr lang="zh-TW" altLang="en-US" dirty="0">
              <a:latin typeface="Microsoft JhengHei UI" panose="020B0604030504040204" pitchFamily="34" charset="-120"/>
              <a:ea typeface="Microsoft JhengHei UI" panose="020B0604030504040204" pitchFamily="34" charset="-120"/>
            </a:endParaRPr>
          </a:p>
        </p:txBody>
      </p:sp>
      <p:sp>
        <p:nvSpPr>
          <p:cNvPr id="4" name="頁尾預留位置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rtl="0"/>
            <a:endParaRPr lang="zh-TW" altLang="en-US" dirty="0">
              <a:latin typeface="Microsoft JhengHei UI" panose="020B0604030504040204" pitchFamily="34" charset="-120"/>
              <a:ea typeface="Microsoft JhengHei UI" panose="020B0604030504040204" pitchFamily="34" charset="-120"/>
            </a:endParaRPr>
          </a:p>
        </p:txBody>
      </p:sp>
      <p:sp>
        <p:nvSpPr>
          <p:cNvPr id="5" name="投影片編號預留位置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rtl="0"/>
            <a:fld id="{04360E59-1627-4404-ACC5-51C744AB0F27}" type="slidenum">
              <a:rPr lang="en-US" altLang="zh-TW" smtClean="0">
                <a:latin typeface="Microsoft JhengHei UI" panose="020B0604030504040204" pitchFamily="34" charset="-120"/>
                <a:ea typeface="Microsoft JhengHei UI" panose="020B0604030504040204" pitchFamily="34" charset="-120"/>
              </a:rPr>
              <a:t>‹#›</a:t>
            </a:fld>
            <a:endParaRPr lang="zh-TW" altLang="en-US" dirty="0">
              <a:latin typeface="Microsoft JhengHei UI" panose="020B0604030504040204" pitchFamily="34" charset="-120"/>
              <a:ea typeface="Microsoft JhengHei UI" panose="020B0604030504040204" pitchFamily="34" charset="-120"/>
            </a:endParaRPr>
          </a:p>
        </p:txBody>
      </p:sp>
    </p:spTree>
    <p:extLst>
      <p:ext uri="{BB962C8B-B14F-4D97-AF65-F5344CB8AC3E}">
        <p14:creationId xmlns:p14="http://schemas.microsoft.com/office/powerpoint/2010/main" val="5162254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預留位置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1"/>
                </a:solidFill>
                <a:latin typeface="Microsoft JhengHei UI" panose="020B0604030504040204" pitchFamily="34" charset="-120"/>
                <a:ea typeface="Microsoft JhengHei UI" panose="020B0604030504040204" pitchFamily="34" charset="-120"/>
              </a:defRPr>
            </a:lvl1pPr>
          </a:lstStyle>
          <a:p>
            <a:endParaRPr lang="zh-TW" altLang="en-US" dirty="0"/>
          </a:p>
        </p:txBody>
      </p:sp>
      <p:sp>
        <p:nvSpPr>
          <p:cNvPr id="3" name="日期預留位置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1"/>
                </a:solidFill>
                <a:latin typeface="Microsoft JhengHei UI" panose="020B0604030504040204" pitchFamily="34" charset="-120"/>
                <a:ea typeface="Microsoft JhengHei UI" panose="020B0604030504040204" pitchFamily="34" charset="-120"/>
              </a:defRPr>
            </a:lvl1pPr>
          </a:lstStyle>
          <a:p>
            <a:fld id="{E2755C7B-5432-4A5D-9B03-7BFF1EA11593}" type="datetime2">
              <a:rPr lang="zh-TW" altLang="en-US" smtClean="0"/>
              <a:pPr/>
              <a:t>2020年2月14日</a:t>
            </a:fld>
            <a:endParaRPr lang="zh-TW" altLang="en-US" dirty="0"/>
          </a:p>
        </p:txBody>
      </p:sp>
      <p:sp>
        <p:nvSpPr>
          <p:cNvPr id="4" name="投影片影像預留位置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endParaRPr lang="zh-TW" altLang="en-US" dirty="0"/>
          </a:p>
        </p:txBody>
      </p:sp>
      <p:sp>
        <p:nvSpPr>
          <p:cNvPr id="5" name="備忘稿預留位置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zh-TW" altLang="en-US" dirty="0"/>
              <a:t>按一下以編輯母片文字樣式</a:t>
            </a:r>
          </a:p>
          <a:p>
            <a:pPr lvl="1" rtl="0"/>
            <a:r>
              <a:rPr lang="zh-TW" altLang="en-US" dirty="0"/>
              <a:t>第二層</a:t>
            </a:r>
          </a:p>
          <a:p>
            <a:pPr lvl="2" rtl="0"/>
            <a:r>
              <a:rPr lang="zh-TW" altLang="en-US" dirty="0"/>
              <a:t>第三層</a:t>
            </a:r>
          </a:p>
          <a:p>
            <a:pPr lvl="3" rtl="0"/>
            <a:r>
              <a:rPr lang="zh-TW" altLang="en-US" dirty="0"/>
              <a:t>第四層</a:t>
            </a:r>
          </a:p>
          <a:p>
            <a:pPr lvl="4" rtl="0"/>
            <a:r>
              <a:rPr lang="zh-TW" altLang="en-US" dirty="0"/>
              <a:t>第五層</a:t>
            </a:r>
          </a:p>
        </p:txBody>
      </p:sp>
      <p:sp>
        <p:nvSpPr>
          <p:cNvPr id="6" name="頁尾預留位置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1"/>
                </a:solidFill>
                <a:latin typeface="Microsoft JhengHei UI" panose="020B0604030504040204" pitchFamily="34" charset="-120"/>
                <a:ea typeface="Microsoft JhengHei UI" panose="020B0604030504040204" pitchFamily="34" charset="-120"/>
              </a:defRPr>
            </a:lvl1pPr>
          </a:lstStyle>
          <a:p>
            <a:endParaRPr lang="zh-TW" altLang="en-US" dirty="0"/>
          </a:p>
        </p:txBody>
      </p:sp>
      <p:sp>
        <p:nvSpPr>
          <p:cNvPr id="7" name="投影片編號預留位置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1"/>
                </a:solidFill>
                <a:latin typeface="Microsoft JhengHei UI" panose="020B0604030504040204" pitchFamily="34" charset="-120"/>
                <a:ea typeface="Microsoft JhengHei UI" panose="020B0604030504040204" pitchFamily="34" charset="-120"/>
              </a:defRPr>
            </a:lvl1pPr>
          </a:lstStyle>
          <a:p>
            <a:fld id="{841221E5-7225-48EB-A4EE-420E7BFCF705}" type="slidenum">
              <a:rPr lang="en-US" altLang="zh-TW" smtClean="0"/>
              <a:pPr/>
              <a:t>‹#›</a:t>
            </a:fld>
            <a:endParaRPr lang="zh-TW" altLang="en-US" dirty="0"/>
          </a:p>
        </p:txBody>
      </p:sp>
    </p:spTree>
    <p:extLst>
      <p:ext uri="{BB962C8B-B14F-4D97-AF65-F5344CB8AC3E}">
        <p14:creationId xmlns:p14="http://schemas.microsoft.com/office/powerpoint/2010/main" val="155666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2"/>
        </a:solidFill>
        <a:latin typeface="Microsoft JhengHei UI" panose="020B0604030504040204" pitchFamily="34" charset="-120"/>
        <a:ea typeface="Microsoft JhengHei UI" panose="020B0604030504040204" pitchFamily="34" charset="-120"/>
        <a:cs typeface="+mn-cs"/>
      </a:defRPr>
    </a:lvl1pPr>
    <a:lvl2pPr marL="457200" algn="l" defTabSz="914400" rtl="0" eaLnBrk="1" latinLnBrk="0" hangingPunct="1">
      <a:defRPr sz="1200" kern="1200">
        <a:solidFill>
          <a:schemeClr val="tx2"/>
        </a:solidFill>
        <a:latin typeface="Microsoft JhengHei UI" panose="020B0604030504040204" pitchFamily="34" charset="-120"/>
        <a:ea typeface="Microsoft JhengHei UI" panose="020B0604030504040204" pitchFamily="34" charset="-120"/>
        <a:cs typeface="+mn-cs"/>
      </a:defRPr>
    </a:lvl2pPr>
    <a:lvl3pPr marL="914400" algn="l" defTabSz="914400" rtl="0" eaLnBrk="1" latinLnBrk="0" hangingPunct="1">
      <a:defRPr sz="1200" kern="1200">
        <a:solidFill>
          <a:schemeClr val="tx2"/>
        </a:solidFill>
        <a:latin typeface="Microsoft JhengHei UI" panose="020B0604030504040204" pitchFamily="34" charset="-120"/>
        <a:ea typeface="Microsoft JhengHei UI" panose="020B0604030504040204" pitchFamily="34" charset="-120"/>
        <a:cs typeface="+mn-cs"/>
      </a:defRPr>
    </a:lvl3pPr>
    <a:lvl4pPr marL="1371600" algn="l" defTabSz="914400" rtl="0" eaLnBrk="1" latinLnBrk="0" hangingPunct="1">
      <a:defRPr sz="1200" kern="1200">
        <a:solidFill>
          <a:schemeClr val="tx2"/>
        </a:solidFill>
        <a:latin typeface="Microsoft JhengHei UI" panose="020B0604030504040204" pitchFamily="34" charset="-120"/>
        <a:ea typeface="Microsoft JhengHei UI" panose="020B0604030504040204" pitchFamily="34" charset="-120"/>
        <a:cs typeface="+mn-cs"/>
      </a:defRPr>
    </a:lvl4pPr>
    <a:lvl5pPr marL="1828800" algn="l" defTabSz="914400" rtl="0" eaLnBrk="1" latinLnBrk="0" hangingPunct="1">
      <a:defRPr sz="1200" kern="1200">
        <a:solidFill>
          <a:schemeClr val="tx2"/>
        </a:solidFill>
        <a:latin typeface="Microsoft JhengHei UI" panose="020B0604030504040204" pitchFamily="34" charset="-120"/>
        <a:ea typeface="Microsoft JhengHei UI" panose="020B0604030504040204" pitchFamily="34"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這邊主要在討論</a:t>
            </a:r>
            <a:r>
              <a:rPr lang="en-US" altLang="zh-TW" dirty="0"/>
              <a:t>NR</a:t>
            </a:r>
            <a:r>
              <a:rPr lang="zh-TW" altLang="en-US" dirty="0"/>
              <a:t> 與</a:t>
            </a:r>
            <a:r>
              <a:rPr lang="en-US" altLang="zh-TW" dirty="0"/>
              <a:t>NB-IoT</a:t>
            </a:r>
            <a:r>
              <a:rPr lang="zh-TW" altLang="en-US" dirty="0"/>
              <a:t>的共存。</a:t>
            </a:r>
          </a:p>
        </p:txBody>
      </p:sp>
      <p:sp>
        <p:nvSpPr>
          <p:cNvPr id="4" name="投影片編號版面配置區 3"/>
          <p:cNvSpPr>
            <a:spLocks noGrp="1"/>
          </p:cNvSpPr>
          <p:nvPr>
            <p:ph type="sldNum" sz="quarter" idx="10"/>
          </p:nvPr>
        </p:nvSpPr>
        <p:spPr/>
        <p:txBody>
          <a:bodyPr/>
          <a:lstStyle/>
          <a:p>
            <a:fld id="{841221E5-7225-48EB-A4EE-420E7BFCF705}" type="slidenum">
              <a:rPr lang="en-US" altLang="zh-TW" smtClean="0"/>
              <a:pPr/>
              <a:t>1</a:t>
            </a:fld>
            <a:endParaRPr lang="zh-TW" altLang="en-US" dirty="0"/>
          </a:p>
        </p:txBody>
      </p:sp>
    </p:spTree>
    <p:extLst>
      <p:ext uri="{BB962C8B-B14F-4D97-AF65-F5344CB8AC3E}">
        <p14:creationId xmlns:p14="http://schemas.microsoft.com/office/powerpoint/2010/main" val="39870365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當</a:t>
            </a:r>
            <a:r>
              <a:rPr lang="en-US" altLang="zh-TW" dirty="0"/>
              <a:t>NB-IoT</a:t>
            </a:r>
            <a:r>
              <a:rPr lang="zh-TW" altLang="en-US" dirty="0"/>
              <a:t>與</a:t>
            </a:r>
            <a:r>
              <a:rPr lang="en-US" altLang="zh-TW" dirty="0"/>
              <a:t>NR</a:t>
            </a:r>
            <a:r>
              <a:rPr lang="zh-TW" altLang="en-US" dirty="0"/>
              <a:t>共存時，取決於</a:t>
            </a:r>
            <a:r>
              <a:rPr lang="en-US" altLang="zh-TW" dirty="0"/>
              <a:t>NB-IoT</a:t>
            </a:r>
            <a:r>
              <a:rPr lang="zh-TW" altLang="en-US" dirty="0"/>
              <a:t>操作使用的頻譜，應考慮</a:t>
            </a:r>
            <a:r>
              <a:rPr lang="en-US" altLang="zh-TW" dirty="0"/>
              <a:t>3</a:t>
            </a:r>
            <a:r>
              <a:rPr lang="zh-TW" altLang="en-US" dirty="0"/>
              <a:t>種系統方案</a:t>
            </a:r>
            <a:r>
              <a:rPr lang="en-US" altLang="zh-TW" dirty="0"/>
              <a:t>:</a:t>
            </a:r>
          </a:p>
          <a:p>
            <a:r>
              <a:rPr lang="en-US" altLang="zh-TW" dirty="0"/>
              <a:t>1. **NB-IoT operation in NR in-band:** </a:t>
            </a:r>
            <a:r>
              <a:rPr lang="zh-TW" altLang="en-US" dirty="0"/>
              <a:t>當</a:t>
            </a:r>
            <a:r>
              <a:rPr lang="en-US" altLang="zh-TW" dirty="0"/>
              <a:t>NB-IoT</a:t>
            </a:r>
            <a:r>
              <a:rPr lang="zh-TW" altLang="en-US" dirty="0"/>
              <a:t>位於</a:t>
            </a:r>
            <a:r>
              <a:rPr lang="en-US" altLang="zh-TW" dirty="0"/>
              <a:t>NR</a:t>
            </a:r>
            <a:r>
              <a:rPr lang="zh-TW" altLang="en-US" dirty="0"/>
              <a:t>傳輸頻寬，並在每個邊緣 </a:t>
            </a:r>
            <a:r>
              <a:rPr lang="en-US" altLang="zh-TW" dirty="0"/>
              <a:t>+15 kHz </a:t>
            </a:r>
            <a:r>
              <a:rPr lang="zh-TW" altLang="en-US" dirty="0"/>
              <a:t>內，並且不在</a:t>
            </a:r>
            <a:r>
              <a:rPr lang="en-US" altLang="zh-TW" dirty="0"/>
              <a:t>NR</a:t>
            </a:r>
            <a:r>
              <a:rPr lang="zh-TW" altLang="en-US" dirty="0"/>
              <a:t>的最小保護頻帶時，運作在</a:t>
            </a:r>
            <a:r>
              <a:rPr lang="en-US" altLang="zh-TW" dirty="0"/>
              <a:t>in-band</a:t>
            </a:r>
            <a:r>
              <a:rPr lang="zh-TW" altLang="en-US" dirty="0"/>
              <a:t>中。</a:t>
            </a:r>
          </a:p>
          <a:p>
            <a:r>
              <a:rPr lang="en-US" altLang="zh-TW" dirty="0"/>
              <a:t>2. **NB-IoT operation in NR guard band:** </a:t>
            </a:r>
            <a:r>
              <a:rPr lang="zh-TW" altLang="en-US" dirty="0"/>
              <a:t>當</a:t>
            </a:r>
            <a:r>
              <a:rPr lang="en-US" altLang="zh-TW" dirty="0"/>
              <a:t>NB-IoT</a:t>
            </a:r>
            <a:r>
              <a:rPr lang="zh-TW" altLang="en-US" dirty="0"/>
              <a:t>位於</a:t>
            </a:r>
            <a:r>
              <a:rPr lang="en-US" altLang="zh-TW" dirty="0"/>
              <a:t>NR </a:t>
            </a:r>
            <a:r>
              <a:rPr lang="en-US" altLang="zh-TW" dirty="0" err="1"/>
              <a:t>BaeStation</a:t>
            </a:r>
            <a:r>
              <a:rPr lang="zh-TW" altLang="en-US" dirty="0"/>
              <a:t>信道帶寬之內但不是</a:t>
            </a:r>
            <a:r>
              <a:rPr lang="en-US" altLang="zh-TW" dirty="0"/>
              <a:t>NB-IoT in-band</a:t>
            </a:r>
            <a:r>
              <a:rPr lang="zh-TW" altLang="en-US" dirty="0"/>
              <a:t>操作時，它將在保護頻帶中運行。</a:t>
            </a:r>
          </a:p>
          <a:p>
            <a:r>
              <a:rPr lang="en-US" altLang="zh-TW" dirty="0"/>
              <a:t>3. **NB-IoT standalone operation:** </a:t>
            </a:r>
            <a:r>
              <a:rPr lang="zh-TW" altLang="en-US" dirty="0"/>
              <a:t>當</a:t>
            </a:r>
            <a:r>
              <a:rPr lang="en-US" altLang="zh-TW" dirty="0"/>
              <a:t>NP-IoT</a:t>
            </a:r>
            <a:r>
              <a:rPr lang="zh-TW" altLang="en-US" dirty="0"/>
              <a:t>利用自己的頻譜時，兩者獨立運行。</a:t>
            </a:r>
            <a:r>
              <a:rPr lang="en-US" altLang="zh-TW" dirty="0"/>
              <a:t>(e.g. GERAN</a:t>
            </a:r>
            <a:r>
              <a:rPr lang="zh-TW" altLang="en-US" dirty="0"/>
              <a:t>系統當前用於替代一個或多個</a:t>
            </a:r>
            <a:r>
              <a:rPr lang="en-US" altLang="zh-TW" dirty="0"/>
              <a:t>GSM</a:t>
            </a:r>
            <a:r>
              <a:rPr lang="zh-TW" altLang="en-US" dirty="0"/>
              <a:t>載波的頻譜</a:t>
            </a:r>
            <a:r>
              <a:rPr lang="en-US" altLang="zh-TW" dirty="0"/>
              <a:t>)</a:t>
            </a:r>
          </a:p>
          <a:p>
            <a:r>
              <a:rPr lang="zh-TW" altLang="en-US" dirty="0"/>
              <a:t>那接下來講的部分都會是第一點 </a:t>
            </a:r>
            <a:r>
              <a:rPr lang="en-US" altLang="zh-TW" dirty="0"/>
              <a:t>in-band</a:t>
            </a:r>
            <a:endParaRPr lang="zh-TW" altLang="en-US" dirty="0"/>
          </a:p>
        </p:txBody>
      </p:sp>
      <p:sp>
        <p:nvSpPr>
          <p:cNvPr id="4" name="投影片編號版面配置區 3"/>
          <p:cNvSpPr>
            <a:spLocks noGrp="1"/>
          </p:cNvSpPr>
          <p:nvPr>
            <p:ph type="sldNum" sz="quarter" idx="10"/>
          </p:nvPr>
        </p:nvSpPr>
        <p:spPr/>
        <p:txBody>
          <a:bodyPr/>
          <a:lstStyle/>
          <a:p>
            <a:fld id="{841221E5-7225-48EB-A4EE-420E7BFCF705}" type="slidenum">
              <a:rPr lang="en-US" altLang="zh-TW" smtClean="0"/>
              <a:pPr/>
              <a:t>2</a:t>
            </a:fld>
            <a:endParaRPr lang="zh-TW" altLang="en-US" dirty="0"/>
          </a:p>
        </p:txBody>
      </p:sp>
    </p:spTree>
    <p:extLst>
      <p:ext uri="{BB962C8B-B14F-4D97-AF65-F5344CB8AC3E}">
        <p14:creationId xmlns:p14="http://schemas.microsoft.com/office/powerpoint/2010/main" val="3490804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NR channel</a:t>
            </a:r>
            <a:endParaRPr lang="zh-TW" altLang="en-US" dirty="0"/>
          </a:p>
        </p:txBody>
      </p:sp>
      <p:sp>
        <p:nvSpPr>
          <p:cNvPr id="4" name="投影片編號版面配置區 3"/>
          <p:cNvSpPr>
            <a:spLocks noGrp="1"/>
          </p:cNvSpPr>
          <p:nvPr>
            <p:ph type="sldNum" sz="quarter" idx="5"/>
          </p:nvPr>
        </p:nvSpPr>
        <p:spPr/>
        <p:txBody>
          <a:bodyPr/>
          <a:lstStyle/>
          <a:p>
            <a:fld id="{841221E5-7225-48EB-A4EE-420E7BFCF705}" type="slidenum">
              <a:rPr lang="en-US" altLang="zh-TW" smtClean="0"/>
              <a:pPr/>
              <a:t>3</a:t>
            </a:fld>
            <a:endParaRPr lang="zh-TW" altLang="en-US" dirty="0"/>
          </a:p>
        </p:txBody>
      </p:sp>
    </p:spTree>
    <p:extLst>
      <p:ext uri="{BB962C8B-B14F-4D97-AF65-F5344CB8AC3E}">
        <p14:creationId xmlns:p14="http://schemas.microsoft.com/office/powerpoint/2010/main" val="2532385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一個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PRB</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是由</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12</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個子載波組成 </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spec</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這邊叫它</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Tone </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或</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subcarrier</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，編號</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0~11</a:t>
            </a:r>
          </a:p>
          <a:p>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因此</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Tone#0 </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是當前</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RB</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裡的第一個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tone</a:t>
            </a:r>
          </a:p>
          <a:p>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若 </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NRB</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是某個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NR</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帶寬的</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RB</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數</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 </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RB#0</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決定了</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NR</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 </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RF</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的基準頻率</a:t>
            </a:r>
            <a:endPar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endParaRPr>
          </a:p>
          <a:p>
            <a:endPar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endParaRPr>
          </a:p>
          <a:p>
            <a:endPar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endParaRPr>
          </a:p>
          <a:p>
            <a:endPar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endParaRPr>
          </a:p>
          <a:p>
            <a:endParaRPr lang="zh-TW" altLang="en-US" dirty="0"/>
          </a:p>
        </p:txBody>
      </p:sp>
      <p:sp>
        <p:nvSpPr>
          <p:cNvPr id="4" name="投影片編號版面配置區 3"/>
          <p:cNvSpPr>
            <a:spLocks noGrp="1"/>
          </p:cNvSpPr>
          <p:nvPr>
            <p:ph type="sldNum" sz="quarter" idx="10"/>
          </p:nvPr>
        </p:nvSpPr>
        <p:spPr/>
        <p:txBody>
          <a:bodyPr/>
          <a:lstStyle/>
          <a:p>
            <a:fld id="{841221E5-7225-48EB-A4EE-420E7BFCF705}" type="slidenum">
              <a:rPr lang="en-US" altLang="zh-TW" smtClean="0"/>
              <a:pPr/>
              <a:t>4</a:t>
            </a:fld>
            <a:endParaRPr lang="zh-TW" altLang="en-US" dirty="0"/>
          </a:p>
        </p:txBody>
      </p:sp>
    </p:spTree>
    <p:extLst>
      <p:ext uri="{BB962C8B-B14F-4D97-AF65-F5344CB8AC3E}">
        <p14:creationId xmlns:p14="http://schemas.microsoft.com/office/powerpoint/2010/main" val="3498101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如圖</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5.2.1.3-1</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所示，若</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NRBNRB</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為偶數</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:RB#(−NRB/2−NRB/2)</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為</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NR RF</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的頻帶下緣</a:t>
            </a:r>
          </a:p>
          <a:p>
            <a:pPr lvl="1"/>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Subcarrier#(−NRB/2∗12−NRB/2∗12)</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是</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NR RF</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的頻帶下緣的第一個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subcarrier</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a:t>
            </a:r>
          </a:p>
          <a:p>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RB#(NRB/2NRB/2)</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為</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NR RF</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的頻帶上緣</a:t>
            </a:r>
          </a:p>
          <a:p>
            <a:pPr lvl="1"/>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Subcarrier#(NRB/2∗12−1NRB/2∗12−1)</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是</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NR RF</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的頻帶上緣的最後一個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subcarrier</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a:t>
            </a:r>
          </a:p>
          <a:p>
            <a:endParaRPr lang="zh-TW" altLang="en-US" dirty="0"/>
          </a:p>
        </p:txBody>
      </p:sp>
      <p:sp>
        <p:nvSpPr>
          <p:cNvPr id="4" name="投影片編號版面配置區 3"/>
          <p:cNvSpPr>
            <a:spLocks noGrp="1"/>
          </p:cNvSpPr>
          <p:nvPr>
            <p:ph type="sldNum" sz="quarter" idx="5"/>
          </p:nvPr>
        </p:nvSpPr>
        <p:spPr/>
        <p:txBody>
          <a:bodyPr/>
          <a:lstStyle/>
          <a:p>
            <a:fld id="{841221E5-7225-48EB-A4EE-420E7BFCF705}" type="slidenum">
              <a:rPr lang="en-US" altLang="zh-TW" smtClean="0"/>
              <a:pPr/>
              <a:t>5</a:t>
            </a:fld>
            <a:endParaRPr lang="zh-TW" altLang="en-US" dirty="0"/>
          </a:p>
        </p:txBody>
      </p:sp>
    </p:spTree>
    <p:extLst>
      <p:ext uri="{BB962C8B-B14F-4D97-AF65-F5344CB8AC3E}">
        <p14:creationId xmlns:p14="http://schemas.microsoft.com/office/powerpoint/2010/main" val="595743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如圖</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5.2.1.3-2</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所示，若</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NRBNRB</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為奇數</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:RB#(−(NRB−1)/2−(NRB−1)/2)</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為</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NR RF</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的頻帶下緣</a:t>
            </a:r>
          </a:p>
          <a:p>
            <a:pPr lvl="1"/>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Subcarrier#(−(NRB−1)/2∗12−(NRB−1)/2∗12)</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是</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NR RF</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的頻帶下緣的第一個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subcarrier</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a:t>
            </a:r>
          </a:p>
          <a:p>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RB#((NRB−1)/2(NRB−1)/2)</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為</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NR RF</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的頻帶上緣</a:t>
            </a:r>
          </a:p>
          <a:p>
            <a:pPr lvl="1"/>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Subcarrier#((NRB+1)/2∗12−1(NRB+1)/2∗12−1)</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是</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NR RF</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的頻帶上緣的最後一個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subcarrier</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a:t>
            </a:r>
          </a:p>
          <a:p>
            <a:endParaRPr lang="zh-TW" altLang="en-US" dirty="0"/>
          </a:p>
        </p:txBody>
      </p:sp>
      <p:sp>
        <p:nvSpPr>
          <p:cNvPr id="4" name="投影片編號版面配置區 3"/>
          <p:cNvSpPr>
            <a:spLocks noGrp="1"/>
          </p:cNvSpPr>
          <p:nvPr>
            <p:ph type="sldNum" sz="quarter" idx="5"/>
          </p:nvPr>
        </p:nvSpPr>
        <p:spPr/>
        <p:txBody>
          <a:bodyPr/>
          <a:lstStyle/>
          <a:p>
            <a:fld id="{841221E5-7225-48EB-A4EE-420E7BFCF705}" type="slidenum">
              <a:rPr lang="en-US" altLang="zh-TW" smtClean="0"/>
              <a:pPr/>
              <a:t>6</a:t>
            </a:fld>
            <a:endParaRPr lang="zh-TW" altLang="en-US" dirty="0"/>
          </a:p>
        </p:txBody>
      </p:sp>
    </p:spTree>
    <p:extLst>
      <p:ext uri="{BB962C8B-B14F-4D97-AF65-F5344CB8AC3E}">
        <p14:creationId xmlns:p14="http://schemas.microsoft.com/office/powerpoint/2010/main" val="486262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這邊舉一個例子當</a:t>
            </a:r>
            <a:r>
              <a:rPr lang="en-US" altLang="zh-TW" dirty="0"/>
              <a:t>NB</a:t>
            </a:r>
            <a:r>
              <a:rPr lang="zh-TW" altLang="en-US" dirty="0"/>
              <a:t>數量為</a:t>
            </a:r>
            <a:r>
              <a:rPr lang="en-US" altLang="zh-TW" dirty="0"/>
              <a:t>20</a:t>
            </a:r>
            <a:r>
              <a:rPr lang="zh-TW" altLang="en-US" dirty="0"/>
              <a:t>的時候  我們可以算出它的</a:t>
            </a:r>
            <a:r>
              <a:rPr lang="en-US" altLang="zh-TW" dirty="0"/>
              <a:t>lower edge </a:t>
            </a:r>
            <a:r>
              <a:rPr lang="zh-TW" altLang="en-US" dirty="0"/>
              <a:t>與</a:t>
            </a:r>
            <a:r>
              <a:rPr lang="en-US" altLang="zh-TW" dirty="0"/>
              <a:t>upper edge</a:t>
            </a:r>
            <a:r>
              <a:rPr lang="zh-TW" altLang="en-US" dirty="0"/>
              <a:t> 以及該</a:t>
            </a:r>
            <a:r>
              <a:rPr lang="en-US" altLang="zh-TW" dirty="0"/>
              <a:t>edge RB</a:t>
            </a:r>
            <a:r>
              <a:rPr lang="zh-TW" altLang="en-US" dirty="0"/>
              <a:t>的第一個</a:t>
            </a:r>
            <a:r>
              <a:rPr lang="en-US" altLang="zh-TW" dirty="0"/>
              <a:t>subcarrier</a:t>
            </a:r>
            <a:r>
              <a:rPr lang="zh-TW" altLang="en-US" dirty="0"/>
              <a:t>，與最後一個</a:t>
            </a:r>
            <a:r>
              <a:rPr lang="en-US" altLang="zh-TW" dirty="0"/>
              <a:t>subcarrier</a:t>
            </a:r>
            <a:r>
              <a:rPr lang="zh-TW" altLang="en-US" dirty="0"/>
              <a:t>。</a:t>
            </a:r>
          </a:p>
        </p:txBody>
      </p:sp>
      <p:sp>
        <p:nvSpPr>
          <p:cNvPr id="4" name="投影片編號版面配置區 3"/>
          <p:cNvSpPr>
            <a:spLocks noGrp="1"/>
          </p:cNvSpPr>
          <p:nvPr>
            <p:ph type="sldNum" sz="quarter" idx="5"/>
          </p:nvPr>
        </p:nvSpPr>
        <p:spPr/>
        <p:txBody>
          <a:bodyPr/>
          <a:lstStyle/>
          <a:p>
            <a:fld id="{841221E5-7225-48EB-A4EE-420E7BFCF705}" type="slidenum">
              <a:rPr lang="en-US" altLang="zh-TW" smtClean="0"/>
              <a:pPr/>
              <a:t>7</a:t>
            </a:fld>
            <a:endParaRPr lang="zh-TW" altLang="en-US" dirty="0"/>
          </a:p>
        </p:txBody>
      </p:sp>
    </p:spTree>
    <p:extLst>
      <p:ext uri="{BB962C8B-B14F-4D97-AF65-F5344CB8AC3E}">
        <p14:creationId xmlns:p14="http://schemas.microsoft.com/office/powerpoint/2010/main" val="33376212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NR </a:t>
            </a:r>
            <a:r>
              <a:rPr lang="zh-TW" altLang="en-US" dirty="0"/>
              <a:t>有兩種類型的</a:t>
            </a:r>
            <a:r>
              <a:rPr lang="en-US" altLang="zh-TW" dirty="0"/>
              <a:t>channel raster:</a:t>
            </a:r>
          </a:p>
          <a:p>
            <a:pPr marL="514350" indent="-514350">
              <a:buFont typeface="+mj-lt"/>
              <a:buAutoNum type="arabicPeriod"/>
            </a:pPr>
            <a:r>
              <a:rPr lang="zh-TW" altLang="en-US" dirty="0"/>
              <a:t>基於</a:t>
            </a:r>
            <a:r>
              <a:rPr lang="en-US" altLang="zh-TW" dirty="0"/>
              <a:t>100kHz</a:t>
            </a:r>
            <a:r>
              <a:rPr lang="zh-TW" altLang="en-US" dirty="0"/>
              <a:t>的</a:t>
            </a:r>
            <a:r>
              <a:rPr lang="en-US" altLang="zh-TW" dirty="0"/>
              <a:t>channel raster</a:t>
            </a:r>
            <a:r>
              <a:rPr lang="zh-TW" altLang="en-US" dirty="0"/>
              <a:t>，主要用在</a:t>
            </a:r>
            <a:r>
              <a:rPr lang="en-US" altLang="zh-TW" dirty="0"/>
              <a:t>LTE</a:t>
            </a:r>
            <a:r>
              <a:rPr lang="zh-TW" altLang="en-US" dirty="0"/>
              <a:t>重新劃分的</a:t>
            </a:r>
            <a:r>
              <a:rPr lang="en-US" altLang="zh-TW" dirty="0"/>
              <a:t>NR</a:t>
            </a:r>
            <a:r>
              <a:rPr lang="zh-TW" altLang="en-US" dirty="0"/>
              <a:t>頻段。</a:t>
            </a:r>
            <a:endParaRPr lang="en-US" altLang="zh-TW" dirty="0"/>
          </a:p>
          <a:p>
            <a:pPr marL="514350" indent="-514350">
              <a:buFont typeface="+mj-lt"/>
              <a:buAutoNum type="arabicPeriod"/>
            </a:pPr>
            <a:r>
              <a:rPr lang="zh-TW" altLang="en-US" dirty="0"/>
              <a:t>基於</a:t>
            </a:r>
            <a:r>
              <a:rPr lang="en-US" altLang="zh-TW" dirty="0"/>
              <a:t>SCS</a:t>
            </a:r>
            <a:r>
              <a:rPr lang="zh-TW" altLang="en-US" dirty="0"/>
              <a:t>的</a:t>
            </a:r>
            <a:r>
              <a:rPr lang="en-US" altLang="zh-TW" dirty="0"/>
              <a:t>channel raster</a:t>
            </a:r>
            <a:r>
              <a:rPr lang="zh-TW" altLang="en-US" dirty="0"/>
              <a:t>，在</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 frequency range 1</a:t>
            </a:r>
            <a:r>
              <a:rPr lang="zh-TW" altLang="en-US" dirty="0"/>
              <a:t>可為</a:t>
            </a:r>
            <a:r>
              <a:rPr lang="en-US" altLang="zh-TW" dirty="0"/>
              <a:t>15 or 30 kHz </a:t>
            </a:r>
            <a:endParaRPr lang="zh-TW" altLang="en-US" dirty="0"/>
          </a:p>
          <a:p>
            <a:endPar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endParaRPr>
          </a:p>
          <a:p>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FR1:  frequency range 1</a:t>
            </a:r>
            <a:endParaRPr lang="zh-TW" altLang="en-US" dirty="0"/>
          </a:p>
        </p:txBody>
      </p:sp>
      <p:sp>
        <p:nvSpPr>
          <p:cNvPr id="4" name="投影片編號版面配置區 3"/>
          <p:cNvSpPr>
            <a:spLocks noGrp="1"/>
          </p:cNvSpPr>
          <p:nvPr>
            <p:ph type="sldNum" sz="quarter" idx="5"/>
          </p:nvPr>
        </p:nvSpPr>
        <p:spPr/>
        <p:txBody>
          <a:bodyPr/>
          <a:lstStyle/>
          <a:p>
            <a:fld id="{841221E5-7225-48EB-A4EE-420E7BFCF705}" type="slidenum">
              <a:rPr lang="en-US" altLang="zh-TW" smtClean="0"/>
              <a:pPr/>
              <a:t>9</a:t>
            </a:fld>
            <a:endParaRPr lang="zh-TW" altLang="en-US" dirty="0"/>
          </a:p>
        </p:txBody>
      </p:sp>
    </p:spTree>
    <p:extLst>
      <p:ext uri="{BB962C8B-B14F-4D97-AF65-F5344CB8AC3E}">
        <p14:creationId xmlns:p14="http://schemas.microsoft.com/office/powerpoint/2010/main" val="20166834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根據指定</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RB</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NRB</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）的數量來標識</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RF</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頻道位置：</a:t>
            </a:r>
            <a:endPar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endParaRPr>
          </a:p>
          <a:p>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若為偶數</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 </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則</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RB #0 </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指向</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subcarrier #0 (</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也就是第一個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a:t>
            </a:r>
          </a:p>
          <a:p>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若為奇數</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 </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則</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RB #0 </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指向</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subcarrier #6</a:t>
            </a:r>
          </a:p>
          <a:p>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那就可以知道</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NR</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 </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RF</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的基準頻率到底看哪個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tone</a:t>
            </a:r>
            <a:endParaRPr lang="zh-TW" altLang="en-US" dirty="0"/>
          </a:p>
        </p:txBody>
      </p:sp>
      <p:sp>
        <p:nvSpPr>
          <p:cNvPr id="4" name="投影片編號版面配置區 3"/>
          <p:cNvSpPr>
            <a:spLocks noGrp="1"/>
          </p:cNvSpPr>
          <p:nvPr>
            <p:ph type="sldNum" sz="quarter" idx="5"/>
          </p:nvPr>
        </p:nvSpPr>
        <p:spPr/>
        <p:txBody>
          <a:bodyPr/>
          <a:lstStyle/>
          <a:p>
            <a:fld id="{841221E5-7225-48EB-A4EE-420E7BFCF705}" type="slidenum">
              <a:rPr lang="en-US" altLang="zh-TW" smtClean="0"/>
              <a:pPr/>
              <a:t>10</a:t>
            </a:fld>
            <a:endParaRPr lang="zh-TW" altLang="en-US" dirty="0"/>
          </a:p>
        </p:txBody>
      </p:sp>
    </p:spTree>
    <p:extLst>
      <p:ext uri="{BB962C8B-B14F-4D97-AF65-F5344CB8AC3E}">
        <p14:creationId xmlns:p14="http://schemas.microsoft.com/office/powerpoint/2010/main" val="35252839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新舊系統在同一頻帶提供服務時同步信號與控制信號間如何避免干擾是很重要的問題。</a:t>
            </a:r>
            <a:endPar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endParaRPr>
          </a:p>
          <a:p>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PSS </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與</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SSS</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是用來提供用戶端在搜尋基地台時能夠同時進行時序與頻率的同步依據，非常重要，因此</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NB-IoT</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不會重疊這些區塊。</a:t>
            </a:r>
          </a:p>
          <a:p>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下圖是新設計的同步信號與廣播通道的區塊 </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 SSB</a:t>
            </a:r>
          </a:p>
          <a:p>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一個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SSB</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包含時間上</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4</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OFDM symbols</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，頻率上</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20</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RBs</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，也就是</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240</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個子載波，其中</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PSS</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與</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SSS</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分別被定義在此區塊的第一個及第三個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OFDM symbol</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，而</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PBCH</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則傳送在第二、四個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OFDM symbols</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的完整</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240 RBs</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，以及第三個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OFDM symbol</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的兩端各</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48</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REs</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這樣的設計可以在時間域上不要佔據太長的時間，讓基地台在高頻運作時可以同時考量波束成型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(beamforming)</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以及波束掃動</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(beam sweep)</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時傳送此區塊的效率。而</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SSS</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配置於</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PBCH</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之間可藉由</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SSS</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信號得到相關資源的通道訊息，以進一步增加</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PBCH</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的偵測可靠度。而區塊中其餘未被定義的部分則假設未被配置任何信號。像是</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SSS</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兩側分別留下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8</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RB</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作為保護帶。</a:t>
            </a:r>
            <a:endParaRPr lang="zh-TW" altLang="en-US" dirty="0"/>
          </a:p>
        </p:txBody>
      </p:sp>
      <p:sp>
        <p:nvSpPr>
          <p:cNvPr id="4" name="投影片編號版面配置區 3"/>
          <p:cNvSpPr>
            <a:spLocks noGrp="1"/>
          </p:cNvSpPr>
          <p:nvPr>
            <p:ph type="sldNum" sz="quarter" idx="5"/>
          </p:nvPr>
        </p:nvSpPr>
        <p:spPr/>
        <p:txBody>
          <a:bodyPr/>
          <a:lstStyle/>
          <a:p>
            <a:fld id="{841221E5-7225-48EB-A4EE-420E7BFCF705}" type="slidenum">
              <a:rPr lang="en-US" altLang="zh-TW" smtClean="0"/>
              <a:pPr/>
              <a:t>13</a:t>
            </a:fld>
            <a:endParaRPr lang="zh-TW" altLang="en-US" dirty="0"/>
          </a:p>
        </p:txBody>
      </p:sp>
    </p:spTree>
    <p:extLst>
      <p:ext uri="{BB962C8B-B14F-4D97-AF65-F5344CB8AC3E}">
        <p14:creationId xmlns:p14="http://schemas.microsoft.com/office/powerpoint/2010/main" val="9448897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為了避免碰撞 這是它的示意圖</a:t>
            </a:r>
            <a:endParaRPr lang="en-US" altLang="zh-TW" dirty="0"/>
          </a:p>
          <a:p>
            <a:r>
              <a:rPr lang="en-US" altLang="zh-TW" dirty="0"/>
              <a:t>NB-IOT</a:t>
            </a:r>
            <a:r>
              <a:rPr lang="zh-TW" altLang="en-US" dirty="0"/>
              <a:t>的控制訊號必須在</a:t>
            </a:r>
            <a:r>
              <a:rPr lang="en-US" altLang="zh-TW" dirty="0"/>
              <a:t>SSB</a:t>
            </a:r>
            <a:r>
              <a:rPr lang="zh-TW" altLang="en-US" dirty="0"/>
              <a:t>的最小值與最大值之外 </a:t>
            </a:r>
            <a:endParaRPr lang="en-US" altLang="zh-TW" dirty="0"/>
          </a:p>
          <a:p>
            <a:r>
              <a:rPr lang="zh-TW" altLang="en-US" dirty="0"/>
              <a:t>最大值跟最小值可以靠上面公式算出來</a:t>
            </a:r>
            <a:endParaRPr lang="en-US" altLang="zh-TW" dirty="0"/>
          </a:p>
          <a:p>
            <a:br>
              <a:rPr lang="zh-TW" altLang="en-US" dirty="0"/>
            </a:br>
            <a:r>
              <a:rPr lang="zh-TW" altLang="en-US" dirty="0"/>
              <a:t>為了對準子載波，考慮到</a:t>
            </a:r>
            <a:r>
              <a:rPr lang="en-US" altLang="zh-TW" dirty="0"/>
              <a:t>NR 15 kHz SCS</a:t>
            </a:r>
            <a:r>
              <a:rPr lang="zh-TW" altLang="en-US" dirty="0"/>
              <a:t>，因此應在基準頻率之間考慮</a:t>
            </a:r>
            <a:r>
              <a:rPr lang="en-US" altLang="zh-TW" dirty="0"/>
              <a:t>7.5 kHz</a:t>
            </a:r>
            <a:r>
              <a:rPr lang="zh-TW" altLang="en-US" dirty="0"/>
              <a:t>偏移。</a:t>
            </a:r>
            <a:endParaRPr lang="en-US" altLang="zh-TW" dirty="0"/>
          </a:p>
          <a:p>
            <a:r>
              <a:rPr lang="en-US" altLang="zh-TW" dirty="0"/>
              <a:t>(</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NB-IoT</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載波應和</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LTE</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中的一個</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PRB</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對齊。經計算，不同帶寬下的</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PRB</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的中心頻點</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第</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6</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個子載波和第</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7</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個子載波的最中間的頻點</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和</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100kHz</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的整數倍的頻點均不重合，與最近的</a:t>
            </a:r>
            <a:r>
              <a:rPr lang="en-US" altLang="zh-TW"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100kHz</a:t>
            </a:r>
            <a:r>
              <a:rPr lang="zh-TW" altLang="en-US" sz="1200" b="0" i="0" kern="1200" dirty="0">
                <a:solidFill>
                  <a:schemeClr val="tx2"/>
                </a:solidFill>
                <a:effectLst/>
                <a:latin typeface="Microsoft JhengHei UI" panose="020B0604030504040204" pitchFamily="34" charset="-120"/>
                <a:ea typeface="Microsoft JhengHei UI" panose="020B0604030504040204" pitchFamily="34" charset="-120"/>
                <a:cs typeface="+mn-cs"/>
              </a:rPr>
              <a:t>的整數倍的頻點存在一定的頻率偏移。</a:t>
            </a:r>
            <a:r>
              <a:rPr lang="en-US" altLang="zh-TW" dirty="0"/>
              <a:t>)</a:t>
            </a:r>
          </a:p>
          <a:p>
            <a:r>
              <a:rPr lang="zh-TW" altLang="en-US" dirty="0"/>
              <a:t>對於下行鏈路和上行鏈路</a:t>
            </a:r>
            <a:r>
              <a:rPr lang="en-US" altLang="zh-TW" dirty="0"/>
              <a:t>NB-IoT</a:t>
            </a:r>
            <a:r>
              <a:rPr lang="zh-TW" altLang="en-US" dirty="0"/>
              <a:t>分別都需要</a:t>
            </a:r>
            <a:r>
              <a:rPr lang="en-US" altLang="zh-TW" dirty="0"/>
              <a:t>180 kHz</a:t>
            </a:r>
            <a:r>
              <a:rPr lang="zh-TW" altLang="en-US" dirty="0"/>
              <a:t>的最小系統帶寬 所以才會是</a:t>
            </a:r>
            <a:r>
              <a:rPr lang="en-US" altLang="zh-TW" dirty="0" err="1"/>
              <a:t>Fnb</a:t>
            </a:r>
            <a:r>
              <a:rPr lang="en-US" altLang="zh-TW" dirty="0"/>
              <a:t>+-90</a:t>
            </a:r>
            <a:r>
              <a:rPr lang="zh-TW" altLang="en-US" dirty="0"/>
              <a:t>。</a:t>
            </a:r>
          </a:p>
        </p:txBody>
      </p:sp>
      <p:sp>
        <p:nvSpPr>
          <p:cNvPr id="4" name="投影片編號版面配置區 3"/>
          <p:cNvSpPr>
            <a:spLocks noGrp="1"/>
          </p:cNvSpPr>
          <p:nvPr>
            <p:ph type="sldNum" sz="quarter" idx="5"/>
          </p:nvPr>
        </p:nvSpPr>
        <p:spPr/>
        <p:txBody>
          <a:bodyPr/>
          <a:lstStyle/>
          <a:p>
            <a:fld id="{841221E5-7225-48EB-A4EE-420E7BFCF705}" type="slidenum">
              <a:rPr lang="en-US" altLang="zh-TW" smtClean="0"/>
              <a:pPr/>
              <a:t>14</a:t>
            </a:fld>
            <a:endParaRPr lang="zh-TW" altLang="en-US" dirty="0"/>
          </a:p>
        </p:txBody>
      </p:sp>
    </p:spTree>
    <p:extLst>
      <p:ext uri="{BB962C8B-B14F-4D97-AF65-F5344CB8AC3E}">
        <p14:creationId xmlns:p14="http://schemas.microsoft.com/office/powerpoint/2010/main" val="10218737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如前所述，</a:t>
            </a:r>
            <a:r>
              <a:rPr lang="en-US" altLang="zh-TW" dirty="0"/>
              <a:t>NB-IoT</a:t>
            </a:r>
            <a:r>
              <a:rPr lang="zh-TW" altLang="en-US" dirty="0"/>
              <a:t>載波頻率和</a:t>
            </a:r>
            <a:r>
              <a:rPr lang="en-US" altLang="zh-TW" dirty="0"/>
              <a:t>NR RF</a:t>
            </a:r>
            <a:r>
              <a:rPr lang="zh-TW" altLang="en-US" dirty="0"/>
              <a:t>基準頻率指的是頻域中的不同位置：</a:t>
            </a:r>
            <a:endParaRPr lang="en-GB"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200" kern="1200" dirty="0">
              <a:solidFill>
                <a:schemeClr val="tx2"/>
              </a:solidFill>
              <a:effectLst/>
              <a:latin typeface="Microsoft JhengHei UI" panose="020B0604030504040204" pitchFamily="34" charset="-120"/>
              <a:ea typeface="Microsoft JhengHei UI" panose="020B0604030504040204" pitchFamily="34" charset="-120"/>
              <a:cs typeface="+mn-cs"/>
            </a:endParaRPr>
          </a:p>
          <a:p>
            <a:r>
              <a:rPr lang="zh-TW" altLang="en-US" dirty="0"/>
              <a:t>* </a:t>
            </a:r>
            <a:r>
              <a:rPr lang="en-US" altLang="zh-TW" dirty="0"/>
              <a:t>NB-IoT</a:t>
            </a:r>
            <a:r>
              <a:rPr lang="zh-TW" altLang="en-US" dirty="0"/>
              <a:t>載波頻率是指位於</a:t>
            </a:r>
            <a:r>
              <a:rPr lang="en-US" altLang="zh-TW" dirty="0"/>
              <a:t>2</a:t>
            </a:r>
            <a:r>
              <a:rPr lang="zh-TW" altLang="en-US" dirty="0"/>
              <a:t>個</a:t>
            </a:r>
            <a:r>
              <a:rPr lang="en-US" altLang="zh-TW" dirty="0"/>
              <a:t>NB-IoT tone</a:t>
            </a:r>
            <a:r>
              <a:rPr lang="zh-TW" altLang="en-US" dirty="0"/>
              <a:t>之間的頻率。</a:t>
            </a:r>
          </a:p>
          <a:p>
            <a:pPr marL="171450" indent="-171450">
              <a:buFont typeface="Arial" panose="020B0604020202020204" pitchFamily="34" charset="0"/>
              <a:buChar char="•"/>
            </a:pPr>
            <a:r>
              <a:rPr lang="en-US" altLang="zh-TW" dirty="0"/>
              <a:t>NR RF</a:t>
            </a:r>
            <a:r>
              <a:rPr lang="zh-TW" altLang="en-US" dirty="0"/>
              <a:t>基準頻率是指位於</a:t>
            </a:r>
            <a:r>
              <a:rPr lang="en-US" altLang="zh-TW" dirty="0"/>
              <a:t>tone</a:t>
            </a:r>
            <a:r>
              <a:rPr lang="zh-TW" altLang="en-US" dirty="0"/>
              <a:t>中間的頻率</a:t>
            </a:r>
            <a:endParaRPr lang="en-US" altLang="zh-TW" dirty="0"/>
          </a:p>
          <a:p>
            <a:pPr marL="171450" indent="-171450">
              <a:buFont typeface="Arial" panose="020B0604020202020204" pitchFamily="34" charset="0"/>
              <a:buChar char="•"/>
            </a:pPr>
            <a:endParaRPr lang="en-US" altLang="zh-TW" dirty="0"/>
          </a:p>
          <a:p>
            <a:pPr marL="171450" indent="-171450">
              <a:buFont typeface="Arial" panose="020B0604020202020204" pitchFamily="34" charset="0"/>
              <a:buChar char="•"/>
            </a:pPr>
            <a:r>
              <a:rPr lang="zh-TW" altLang="en-US" dirty="0"/>
              <a:t>為了對準子載波，考慮到</a:t>
            </a:r>
            <a:r>
              <a:rPr lang="en-US" altLang="zh-TW" dirty="0"/>
              <a:t>NR 15 kHz SCS</a:t>
            </a:r>
            <a:r>
              <a:rPr lang="zh-TW" altLang="en-US" dirty="0"/>
              <a:t>，因此應在參考頻率之間考慮</a:t>
            </a:r>
            <a:r>
              <a:rPr lang="en-US" altLang="zh-TW" dirty="0"/>
              <a:t>7.5 kHz</a:t>
            </a:r>
            <a:r>
              <a:rPr lang="zh-TW" altLang="en-US" dirty="0"/>
              <a:t>偏移。</a:t>
            </a:r>
          </a:p>
        </p:txBody>
      </p:sp>
      <p:sp>
        <p:nvSpPr>
          <p:cNvPr id="4" name="投影片編號版面配置區 3"/>
          <p:cNvSpPr>
            <a:spLocks noGrp="1"/>
          </p:cNvSpPr>
          <p:nvPr>
            <p:ph type="sldNum" sz="quarter" idx="5"/>
          </p:nvPr>
        </p:nvSpPr>
        <p:spPr/>
        <p:txBody>
          <a:bodyPr/>
          <a:lstStyle/>
          <a:p>
            <a:fld id="{841221E5-7225-48EB-A4EE-420E7BFCF705}" type="slidenum">
              <a:rPr lang="en-US" altLang="zh-TW" smtClean="0"/>
              <a:pPr/>
              <a:t>15</a:t>
            </a:fld>
            <a:endParaRPr lang="zh-TW" altLang="en-US" dirty="0"/>
          </a:p>
        </p:txBody>
      </p:sp>
    </p:spTree>
    <p:extLst>
      <p:ext uri="{BB962C8B-B14F-4D97-AF65-F5344CB8AC3E}">
        <p14:creationId xmlns:p14="http://schemas.microsoft.com/office/powerpoint/2010/main" val="16393353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841221E5-7225-48EB-A4EE-420E7BFCF705}" type="slidenum">
              <a:rPr lang="en-US" altLang="zh-TW" smtClean="0"/>
              <a:pPr/>
              <a:t>16</a:t>
            </a:fld>
            <a:endParaRPr lang="zh-TW" altLang="en-US" dirty="0"/>
          </a:p>
        </p:txBody>
      </p:sp>
    </p:spTree>
    <p:extLst>
      <p:ext uri="{BB962C8B-B14F-4D97-AF65-F5344CB8AC3E}">
        <p14:creationId xmlns:p14="http://schemas.microsoft.com/office/powerpoint/2010/main" val="12616741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8" name="矩形 7"/>
          <p:cNvSpPr/>
          <p:nvPr/>
        </p:nvSpPr>
        <p:spPr bwMode="ltGray">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sp>
        <p:nvSpPr>
          <p:cNvPr id="9" name="矩形 8"/>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sp>
        <p:nvSpPr>
          <p:cNvPr id="10" name="矩形 9"/>
          <p:cNvSpPr/>
          <p:nvPr/>
        </p:nvSpPr>
        <p:spPr bwMode="ltGray">
          <a:xfrm>
            <a:off x="121888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sp>
        <p:nvSpPr>
          <p:cNvPr id="11" name="矩形 10"/>
          <p:cNvSpPr/>
          <p:nvPr/>
        </p:nvSpPr>
        <p:spPr bwMode="gray">
          <a:xfrm>
            <a:off x="0" y="0"/>
            <a:ext cx="1218883"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sp>
        <p:nvSpPr>
          <p:cNvPr id="12" name="矩形 11"/>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cxnSp>
        <p:nvCxnSpPr>
          <p:cNvPr id="13" name="直線接點​​ 12"/>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矩形 13"/>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cxnSp>
        <p:nvCxnSpPr>
          <p:cNvPr id="15" name="直線接點​​ 14"/>
          <p:cNvCxnSpPr/>
          <p:nvPr/>
        </p:nvCxnSpPr>
        <p:spPr bwMode="white">
          <a:xfrm>
            <a:off x="1218884"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線接點 15"/>
          <p:cNvCxnSpPr/>
          <p:nvPr/>
        </p:nvCxnSpPr>
        <p:spPr bwMode="white">
          <a:xfrm>
            <a:off x="0" y="5631204"/>
            <a:ext cx="1828325"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a:extLst/>
        </p:spPr>
        <p:txBody>
          <a:bodyPr vert="horz" wrap="square" lIns="121899" tIns="60949" rIns="121899" bIns="60949" numCol="1" rtlCol="0" anchor="t" anchorCtr="0" compatLnSpc="1">
            <a:prstTxWarp prst="textNoShape">
              <a:avLst/>
            </a:prstTxWarp>
          </a:bodyPr>
          <a:lstStyle/>
          <a:p>
            <a:pPr rtl="0"/>
            <a:endParaRPr lang="zh-TW" altLang="en-US" dirty="0">
              <a:latin typeface="Microsoft JhengHei UI" panose="020B0604030504040204" pitchFamily="34" charset="-120"/>
              <a:ea typeface="Microsoft JhengHei UI" panose="020B0604030504040204" pitchFamily="34" charset="-120"/>
            </a:endParaRPr>
          </a:p>
        </p:txBody>
      </p:sp>
      <p:sp>
        <p:nvSpPr>
          <p:cNvPr id="2" name="標題 1"/>
          <p:cNvSpPr>
            <a:spLocks noGrp="1"/>
          </p:cNvSpPr>
          <p:nvPr>
            <p:ph type="ctrTitle"/>
          </p:nvPr>
        </p:nvSpPr>
        <p:spPr>
          <a:xfrm>
            <a:off x="2428669" y="1600200"/>
            <a:ext cx="8466343" cy="2680127"/>
          </a:xfrm>
        </p:spPr>
        <p:txBody>
          <a:bodyPr rtlCol="0">
            <a:noAutofit/>
          </a:bodyPr>
          <a:lstStyle>
            <a:lvl1pPr>
              <a:defRPr sz="5400">
                <a:latin typeface="Microsoft JhengHei UI" panose="020B0604030504040204" pitchFamily="34" charset="-120"/>
                <a:ea typeface="Microsoft JhengHei UI" panose="020B0604030504040204" pitchFamily="34" charset="-120"/>
              </a:defRPr>
            </a:lvl1pPr>
          </a:lstStyle>
          <a:p>
            <a:pPr rtl="0"/>
            <a:r>
              <a:rPr lang="zh-TW" altLang="en-US"/>
              <a:t>按一下以編輯母片標題樣式</a:t>
            </a:r>
            <a:endParaRPr lang="zh-TW" altLang="en-US" dirty="0"/>
          </a:p>
        </p:txBody>
      </p:sp>
      <p:sp>
        <p:nvSpPr>
          <p:cNvPr id="3" name="副標題 2"/>
          <p:cNvSpPr>
            <a:spLocks noGrp="1"/>
          </p:cNvSpPr>
          <p:nvPr>
            <p:ph type="subTitle" idx="1"/>
          </p:nvPr>
        </p:nvSpPr>
        <p:spPr>
          <a:xfrm>
            <a:off x="2428669" y="4344915"/>
            <a:ext cx="7516442" cy="1116085"/>
          </a:xfrm>
        </p:spPr>
        <p:txBody>
          <a:bodyPr rtlCol="0">
            <a:normAutofit/>
          </a:bodyPr>
          <a:lstStyle>
            <a:lvl1pPr marL="0" indent="0" algn="l">
              <a:spcBef>
                <a:spcPts val="0"/>
              </a:spcBef>
              <a:buNone/>
              <a:defRPr sz="3200">
                <a:solidFill>
                  <a:schemeClr val="tx1"/>
                </a:solidFill>
                <a:latin typeface="Microsoft JhengHei UI" panose="020B0604030504040204" pitchFamily="34" charset="-120"/>
                <a:ea typeface="Microsoft JhengHei UI" panose="020B0604030504040204" pitchFamily="34" charset="-12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zh-TW" altLang="en-US"/>
              <a:t>按一下以編輯母片子標題樣式</a:t>
            </a:r>
            <a:endParaRPr lang="zh-TW" altLang="en-US" dirty="0"/>
          </a:p>
        </p:txBody>
      </p:sp>
      <p:sp>
        <p:nvSpPr>
          <p:cNvPr id="4" name="日期預留位置 3"/>
          <p:cNvSpPr>
            <a:spLocks noGrp="1"/>
          </p:cNvSpPr>
          <p:nvPr>
            <p:ph type="dt" sz="half" idx="10"/>
          </p:nvPr>
        </p:nvSpPr>
        <p:spPr/>
        <p:txBody>
          <a:bodyPr rtlCol="0"/>
          <a:lstStyle>
            <a:lvl1pPr>
              <a:defRPr baseline="0">
                <a:solidFill>
                  <a:schemeClr val="tx2"/>
                </a:solidFill>
                <a:latin typeface="Microsoft JhengHei UI" panose="020B0604030504040204" pitchFamily="34" charset="-120"/>
                <a:ea typeface="Microsoft JhengHei UI" panose="020B0604030504040204" pitchFamily="34" charset="-120"/>
              </a:defRPr>
            </a:lvl1pPr>
          </a:lstStyle>
          <a:p>
            <a:fld id="{EBEE1D24-97AF-452C-9908-FCD24AA8B9C4}" type="datetime2">
              <a:rPr lang="zh-TW" altLang="en-US" smtClean="0"/>
              <a:pPr/>
              <a:t>2020年2月14日</a:t>
            </a:fld>
            <a:endParaRPr lang="zh-TW" altLang="en-US" dirty="0"/>
          </a:p>
        </p:txBody>
      </p:sp>
      <p:sp>
        <p:nvSpPr>
          <p:cNvPr id="5" name="頁尾預留位置 4"/>
          <p:cNvSpPr>
            <a:spLocks noGrp="1"/>
          </p:cNvSpPr>
          <p:nvPr>
            <p:ph type="ftr" sz="quarter" idx="11"/>
          </p:nvPr>
        </p:nvSpPr>
        <p:spPr/>
        <p:txBody>
          <a:bodyPr rtlCol="0"/>
          <a:lstStyle>
            <a:lvl1pPr>
              <a:defRPr baseline="0">
                <a:solidFill>
                  <a:schemeClr val="tx2"/>
                </a:solidFill>
                <a:latin typeface="Microsoft JhengHei UI" panose="020B0604030504040204" pitchFamily="34" charset="-120"/>
                <a:ea typeface="Microsoft JhengHei UI" panose="020B0604030504040204" pitchFamily="34" charset="-120"/>
              </a:defRPr>
            </a:lvl1pPr>
          </a:lstStyle>
          <a:p>
            <a:r>
              <a:rPr lang="zh-TW" altLang="en-US"/>
              <a:t>新增頁尾</a:t>
            </a:r>
            <a:endParaRPr lang="zh-TW" altLang="en-US" dirty="0"/>
          </a:p>
        </p:txBody>
      </p:sp>
      <p:sp>
        <p:nvSpPr>
          <p:cNvPr id="6" name="投影片編號預留位置 5"/>
          <p:cNvSpPr>
            <a:spLocks noGrp="1"/>
          </p:cNvSpPr>
          <p:nvPr>
            <p:ph type="sldNum" sz="quarter" idx="12"/>
          </p:nvPr>
        </p:nvSpPr>
        <p:spPr>
          <a:xfrm>
            <a:off x="10666412" y="6356351"/>
            <a:ext cx="609441" cy="365125"/>
          </a:xfrm>
        </p:spPr>
        <p:txBody>
          <a:bodyPr rtlCol="0"/>
          <a:lstStyle>
            <a:lvl1pPr>
              <a:defRPr baseline="0">
                <a:solidFill>
                  <a:schemeClr val="tx2"/>
                </a:solidFill>
                <a:latin typeface="Microsoft JhengHei UI" panose="020B0604030504040204" pitchFamily="34" charset="-120"/>
                <a:ea typeface="Microsoft JhengHei UI" panose="020B0604030504040204" pitchFamily="34" charset="-120"/>
              </a:defRPr>
            </a:lvl1pPr>
          </a:lstStyle>
          <a:p>
            <a:fld id="{7DC1BBB0-96F0-4077-A278-0F3FB5C104D3}" type="slidenum">
              <a:rPr lang="en-US" altLang="zh-TW" smtClean="0"/>
              <a:pPr/>
              <a:t>‹#›</a:t>
            </a:fld>
            <a:endParaRPr lang="zh-TW" altLang="en-US" dirty="0"/>
          </a:p>
        </p:txBody>
      </p:sp>
    </p:spTree>
    <p:extLst>
      <p:ext uri="{BB962C8B-B14F-4D97-AF65-F5344CB8AC3E}">
        <p14:creationId xmlns:p14="http://schemas.microsoft.com/office/powerpoint/2010/main" val="381795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lstStyle/>
          <a:p>
            <a:pPr rtl="0"/>
            <a:r>
              <a:rPr lang="zh-TW" altLang="en-US"/>
              <a:t>按一下以編輯母片標題樣式</a:t>
            </a:r>
            <a:endParaRPr lang="zh-TW" altLang="en-US" dirty="0"/>
          </a:p>
        </p:txBody>
      </p:sp>
      <p:sp>
        <p:nvSpPr>
          <p:cNvPr id="3" name="內容預留位置 2"/>
          <p:cNvSpPr>
            <a:spLocks noGrp="1"/>
          </p:cNvSpPr>
          <p:nvPr>
            <p:ph idx="1"/>
          </p:nvPr>
        </p:nvSpPr>
        <p:spPr/>
        <p:txBody>
          <a:bodyPr rtlCol="0"/>
          <a:lstStyle>
            <a:lvl5pPr>
              <a:defRPr/>
            </a:lvl5pPr>
            <a:lvl6pPr>
              <a:defRPr/>
            </a:lvl6pPr>
            <a:lvl7pPr>
              <a:defRPr/>
            </a:lvl7pPr>
            <a:lvl8pPr>
              <a:defRPr/>
            </a:lvl8pPr>
            <a:lvl9pPr>
              <a:defRPr/>
            </a:lvl9pPr>
          </a:lstStyle>
          <a:p>
            <a:pPr lvl="0" rtl="0"/>
            <a:r>
              <a:rPr lang="zh-TW" altLang="en-US"/>
              <a:t>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zh-TW" altLang="en-US" dirty="0"/>
          </a:p>
        </p:txBody>
      </p:sp>
      <p:sp>
        <p:nvSpPr>
          <p:cNvPr id="4" name="日期預留位置 3"/>
          <p:cNvSpPr>
            <a:spLocks noGrp="1"/>
          </p:cNvSpPr>
          <p:nvPr>
            <p:ph type="dt" sz="half" idx="10"/>
          </p:nvPr>
        </p:nvSpPr>
        <p:spPr/>
        <p:txBody>
          <a:bodyPr rtlCol="0"/>
          <a:lstStyle>
            <a:lvl1pPr>
              <a:defRPr/>
            </a:lvl1pPr>
          </a:lstStyle>
          <a:p>
            <a:fld id="{29E91F04-D044-41B7-860D-08EA8B1AA432}" type="datetime2">
              <a:rPr lang="zh-TW" altLang="en-US" smtClean="0"/>
              <a:pPr/>
              <a:t>2020年2月14日</a:t>
            </a:fld>
            <a:endParaRPr lang="zh-TW" altLang="en-US" dirty="0"/>
          </a:p>
        </p:txBody>
      </p:sp>
      <p:sp>
        <p:nvSpPr>
          <p:cNvPr id="5" name="頁尾預留位置 4"/>
          <p:cNvSpPr>
            <a:spLocks noGrp="1"/>
          </p:cNvSpPr>
          <p:nvPr>
            <p:ph type="ftr" sz="quarter" idx="11"/>
          </p:nvPr>
        </p:nvSpPr>
        <p:spPr/>
        <p:txBody>
          <a:bodyPr rtlCol="0"/>
          <a:lstStyle/>
          <a:p>
            <a:pPr rtl="0"/>
            <a:r>
              <a:rPr lang="zh-TW" altLang="en-US" dirty="0"/>
              <a:t>新增頁尾</a:t>
            </a:r>
          </a:p>
        </p:txBody>
      </p:sp>
      <p:sp>
        <p:nvSpPr>
          <p:cNvPr id="6" name="投影片編號預留位置 5"/>
          <p:cNvSpPr>
            <a:spLocks noGrp="1"/>
          </p:cNvSpPr>
          <p:nvPr>
            <p:ph type="sldNum" sz="quarter" idx="12"/>
          </p:nvPr>
        </p:nvSpPr>
        <p:spPr/>
        <p:txBody>
          <a:bodyPr rtlCol="0"/>
          <a:lstStyle/>
          <a:p>
            <a:pPr rtl="0"/>
            <a:fld id="{7DC1BBB0-96F0-4077-A278-0F3FB5C104D3}" type="slidenum">
              <a:rPr lang="en-US" altLang="zh-TW" smtClean="0"/>
              <a:t>‹#›</a:t>
            </a:fld>
            <a:endParaRPr lang="en-US" altLang="zh-TW" dirty="0"/>
          </a:p>
        </p:txBody>
      </p:sp>
    </p:spTree>
    <p:extLst>
      <p:ext uri="{BB962C8B-B14F-4D97-AF65-F5344CB8AC3E}">
        <p14:creationId xmlns:p14="http://schemas.microsoft.com/office/powerpoint/2010/main" val="2185532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spTree>
      <p:nvGrpSpPr>
        <p:cNvPr id="1" name=""/>
        <p:cNvGrpSpPr/>
        <p:nvPr/>
      </p:nvGrpSpPr>
      <p:grpSpPr>
        <a:xfrm>
          <a:off x="0" y="0"/>
          <a:ext cx="0" cy="0"/>
          <a:chOff x="0" y="0"/>
          <a:chExt cx="0" cy="0"/>
        </a:xfrm>
      </p:grpSpPr>
      <p:sp>
        <p:nvSpPr>
          <p:cNvPr id="19" name="矩形 18"/>
          <p:cNvSpPr/>
          <p:nvPr/>
        </p:nvSpPr>
        <p:spPr bwMode="black">
          <a:xfrm>
            <a:off x="11579384"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sp>
        <p:nvSpPr>
          <p:cNvPr id="20" name="矩形 19"/>
          <p:cNvSpPr/>
          <p:nvPr/>
        </p:nvSpPr>
        <p:spPr bwMode="gray">
          <a:xfrm>
            <a:off x="11274663" y="5638800"/>
            <a:ext cx="304721" cy="12192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sp>
        <p:nvSpPr>
          <p:cNvPr id="24" name="矩形 23"/>
          <p:cNvSpPr/>
          <p:nvPr/>
        </p:nvSpPr>
        <p:spPr bwMode="gray">
          <a:xfrm>
            <a:off x="1216152" y="5638800"/>
            <a:ext cx="609441" cy="1219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sp>
        <p:nvSpPr>
          <p:cNvPr id="21" name="矩形 20"/>
          <p:cNvSpPr/>
          <p:nvPr/>
        </p:nvSpPr>
        <p:spPr bwMode="ltGray">
          <a:xfrm>
            <a:off x="0" y="5638800"/>
            <a:ext cx="12188825" cy="12192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cxnSp>
        <p:nvCxnSpPr>
          <p:cNvPr id="22" name="直線接點 21"/>
          <p:cNvCxnSpPr/>
          <p:nvPr/>
        </p:nvCxnSpPr>
        <p:spPr bwMode="white">
          <a:xfrm>
            <a:off x="11573293"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矩形 15"/>
          <p:cNvSpPr/>
          <p:nvPr/>
        </p:nvSpPr>
        <p:spPr bwMode="black">
          <a:xfrm>
            <a:off x="0" y="5643132"/>
            <a:ext cx="1216152" cy="1214868"/>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sp>
        <p:nvSpPr>
          <p:cNvPr id="18" name="Pi"/>
          <p:cNvSpPr>
            <a:spLocks/>
          </p:cNvSpPr>
          <p:nvPr/>
        </p:nvSpPr>
        <p:spPr bwMode="white">
          <a:xfrm>
            <a:off x="276462" y="6032500"/>
            <a:ext cx="593189" cy="519176"/>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solidFill>
              <a:schemeClr val="bg1"/>
            </a:solidFill>
          </a:ln>
          <a:extLst/>
        </p:spPr>
        <p:txBody>
          <a:bodyPr vert="horz" wrap="square" lIns="121899" tIns="60949" rIns="121899" bIns="60949" numCol="1" rtlCol="0" anchor="t" anchorCtr="0" compatLnSpc="1">
            <a:prstTxWarp prst="textNoShape">
              <a:avLst/>
            </a:prstTxWarp>
          </a:bodyPr>
          <a:lstStyle/>
          <a:p>
            <a:pPr rtl="0"/>
            <a:endParaRPr lang="zh-TW" altLang="en-US" dirty="0">
              <a:latin typeface="Microsoft JhengHei UI" panose="020B0604030504040204" pitchFamily="34" charset="-120"/>
              <a:ea typeface="Microsoft JhengHei UI" panose="020B0604030504040204" pitchFamily="34" charset="-120"/>
            </a:endParaRPr>
          </a:p>
        </p:txBody>
      </p:sp>
      <p:cxnSp>
        <p:nvCxnSpPr>
          <p:cNvPr id="23" name="直線接點​​ 22"/>
          <p:cNvCxnSpPr/>
          <p:nvPr/>
        </p:nvCxnSpPr>
        <p:spPr bwMode="white">
          <a:xfrm>
            <a:off x="1216152" y="5638800"/>
            <a:ext cx="0" cy="12192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矩形 25"/>
          <p:cNvSpPr/>
          <p:nvPr/>
        </p:nvSpPr>
        <p:spPr bwMode="black">
          <a:xfrm>
            <a:off x="11579384"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sp>
        <p:nvSpPr>
          <p:cNvPr id="27" name="矩形 26"/>
          <p:cNvSpPr/>
          <p:nvPr/>
        </p:nvSpPr>
        <p:spPr bwMode="gray">
          <a:xfrm>
            <a:off x="11274663" y="0"/>
            <a:ext cx="304721"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sp>
        <p:nvSpPr>
          <p:cNvPr id="28" name="矩形 27"/>
          <p:cNvSpPr/>
          <p:nvPr/>
        </p:nvSpPr>
        <p:spPr bwMode="gray">
          <a:xfrm>
            <a:off x="1218883" y="0"/>
            <a:ext cx="609441" cy="609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sp>
        <p:nvSpPr>
          <p:cNvPr id="29" name="矩形 28"/>
          <p:cNvSpPr/>
          <p:nvPr/>
        </p:nvSpPr>
        <p:spPr>
          <a:xfrm>
            <a:off x="-2" y="0"/>
            <a:ext cx="1218883"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sp>
        <p:nvSpPr>
          <p:cNvPr id="30" name="矩形 29"/>
          <p:cNvSpPr/>
          <p:nvPr/>
        </p:nvSpPr>
        <p:spPr bwMode="ltGray">
          <a:xfrm>
            <a:off x="0" y="0"/>
            <a:ext cx="12188825" cy="609600"/>
          </a:xfrm>
          <a:prstGeom prst="rect">
            <a:avLst/>
          </a:prstGeom>
          <a:solidFill>
            <a:schemeClr val="accent1">
              <a:lumMod val="75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cxnSp>
        <p:nvCxnSpPr>
          <p:cNvPr id="31" name="直線接點 30"/>
          <p:cNvCxnSpPr/>
          <p:nvPr/>
        </p:nvCxnSpPr>
        <p:spPr bwMode="white">
          <a:xfrm>
            <a:off x="11573293"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矩形 31"/>
          <p:cNvSpPr/>
          <p:nvPr/>
        </p:nvSpPr>
        <p:spPr bwMode="black">
          <a:xfrm>
            <a:off x="0" y="0"/>
            <a:ext cx="1216152"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cxnSp>
        <p:nvCxnSpPr>
          <p:cNvPr id="33" name="直線接點 32"/>
          <p:cNvCxnSpPr/>
          <p:nvPr/>
        </p:nvCxnSpPr>
        <p:spPr bwMode="white">
          <a:xfrm>
            <a:off x="1218884" y="0"/>
            <a:ext cx="0" cy="6096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標題 1"/>
          <p:cNvSpPr>
            <a:spLocks noGrp="1"/>
          </p:cNvSpPr>
          <p:nvPr>
            <p:ph type="title"/>
          </p:nvPr>
        </p:nvSpPr>
        <p:spPr>
          <a:xfrm>
            <a:off x="1598612" y="1600201"/>
            <a:ext cx="8458199" cy="2654064"/>
          </a:xfrm>
        </p:spPr>
        <p:txBody>
          <a:bodyPr rtlCol="0" anchor="b">
            <a:normAutofit/>
          </a:bodyPr>
          <a:lstStyle>
            <a:lvl1pPr algn="l">
              <a:defRPr sz="5400" b="0" cap="none" baseline="0">
                <a:latin typeface="Microsoft JhengHei UI" panose="020B0604030504040204" pitchFamily="34" charset="-120"/>
                <a:ea typeface="Microsoft JhengHei UI" panose="020B0604030504040204" pitchFamily="34" charset="-120"/>
              </a:defRPr>
            </a:lvl1pPr>
          </a:lstStyle>
          <a:p>
            <a:pPr rtl="0"/>
            <a:r>
              <a:rPr lang="zh-TW" altLang="en-US"/>
              <a:t>按一下以編輯母片標題樣式</a:t>
            </a:r>
            <a:endParaRPr lang="zh-TW" altLang="en-US" dirty="0"/>
          </a:p>
        </p:txBody>
      </p:sp>
      <p:sp>
        <p:nvSpPr>
          <p:cNvPr id="3" name="文字預留位置 2"/>
          <p:cNvSpPr>
            <a:spLocks noGrp="1"/>
          </p:cNvSpPr>
          <p:nvPr>
            <p:ph type="body" idx="1"/>
          </p:nvPr>
        </p:nvSpPr>
        <p:spPr>
          <a:xfrm>
            <a:off x="1598613" y="4259996"/>
            <a:ext cx="7264623" cy="1150203"/>
          </a:xfrm>
        </p:spPr>
        <p:txBody>
          <a:bodyPr rtlCol="0" anchor="t">
            <a:normAutofit/>
          </a:bodyPr>
          <a:lstStyle>
            <a:lvl1pPr marL="0" indent="0">
              <a:spcBef>
                <a:spcPts val="0"/>
              </a:spcBef>
              <a:buNone/>
              <a:defRPr sz="3200">
                <a:solidFill>
                  <a:schemeClr val="tx1"/>
                </a:solidFill>
                <a:latin typeface="Microsoft JhengHei UI" panose="020B0604030504040204" pitchFamily="34" charset="-120"/>
                <a:ea typeface="Microsoft JhengHei UI" panose="020B0604030504040204" pitchFamily="34" charset="-12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TW" altLang="en-US"/>
              <a:t>編輯母片文字樣式</a:t>
            </a:r>
          </a:p>
        </p:txBody>
      </p:sp>
      <p:sp>
        <p:nvSpPr>
          <p:cNvPr id="4" name="日期預留位置 3"/>
          <p:cNvSpPr>
            <a:spLocks noGrp="1"/>
          </p:cNvSpPr>
          <p:nvPr>
            <p:ph type="dt" sz="half" idx="10"/>
          </p:nvPr>
        </p:nvSpPr>
        <p:spPr/>
        <p:txBody>
          <a:bodyPr rtlCol="0"/>
          <a:lstStyle>
            <a:lvl1pPr>
              <a:defRPr baseline="0">
                <a:solidFill>
                  <a:schemeClr val="tx2"/>
                </a:solidFill>
                <a:latin typeface="Microsoft JhengHei UI" panose="020B0604030504040204" pitchFamily="34" charset="-120"/>
                <a:ea typeface="Microsoft JhengHei UI" panose="020B0604030504040204" pitchFamily="34" charset="-120"/>
              </a:defRPr>
            </a:lvl1pPr>
          </a:lstStyle>
          <a:p>
            <a:fld id="{DC88BC1A-1ADD-4516-A6FA-9CA48C444AA6}" type="datetime2">
              <a:rPr lang="zh-TW" altLang="en-US" smtClean="0"/>
              <a:pPr/>
              <a:t>2020年2月14日</a:t>
            </a:fld>
            <a:endParaRPr lang="zh-TW" altLang="en-US" dirty="0"/>
          </a:p>
        </p:txBody>
      </p:sp>
      <p:sp>
        <p:nvSpPr>
          <p:cNvPr id="5" name="頁尾預留位置 4"/>
          <p:cNvSpPr>
            <a:spLocks noGrp="1"/>
          </p:cNvSpPr>
          <p:nvPr>
            <p:ph type="ftr" sz="quarter" idx="11"/>
          </p:nvPr>
        </p:nvSpPr>
        <p:spPr/>
        <p:txBody>
          <a:bodyPr rtlCol="0"/>
          <a:lstStyle>
            <a:lvl1pPr>
              <a:defRPr baseline="0">
                <a:solidFill>
                  <a:schemeClr val="tx2"/>
                </a:solidFill>
                <a:latin typeface="Microsoft JhengHei UI" panose="020B0604030504040204" pitchFamily="34" charset="-120"/>
                <a:ea typeface="Microsoft JhengHei UI" panose="020B0604030504040204" pitchFamily="34" charset="-120"/>
              </a:defRPr>
            </a:lvl1pPr>
          </a:lstStyle>
          <a:p>
            <a:r>
              <a:rPr lang="zh-TW" altLang="en-US"/>
              <a:t>新增頁尾</a:t>
            </a:r>
            <a:endParaRPr lang="zh-TW" altLang="en-US" dirty="0"/>
          </a:p>
        </p:txBody>
      </p:sp>
      <p:sp>
        <p:nvSpPr>
          <p:cNvPr id="6" name="投影片編號預留位置 5"/>
          <p:cNvSpPr>
            <a:spLocks noGrp="1"/>
          </p:cNvSpPr>
          <p:nvPr>
            <p:ph type="sldNum" sz="quarter" idx="12"/>
          </p:nvPr>
        </p:nvSpPr>
        <p:spPr>
          <a:xfrm>
            <a:off x="10666571" y="6356351"/>
            <a:ext cx="609441" cy="365125"/>
          </a:xfrm>
        </p:spPr>
        <p:txBody>
          <a:bodyPr rtlCol="0"/>
          <a:lstStyle>
            <a:lvl1pPr>
              <a:defRPr baseline="0">
                <a:solidFill>
                  <a:schemeClr val="tx2"/>
                </a:solidFill>
                <a:latin typeface="Microsoft JhengHei UI" panose="020B0604030504040204" pitchFamily="34" charset="-120"/>
                <a:ea typeface="Microsoft JhengHei UI" panose="020B0604030504040204" pitchFamily="34" charset="-120"/>
              </a:defRPr>
            </a:lvl1pPr>
          </a:lstStyle>
          <a:p>
            <a:fld id="{7DC1BBB0-96F0-4077-A278-0F3FB5C104D3}" type="slidenum">
              <a:rPr lang="en-US" altLang="zh-TW" smtClean="0"/>
              <a:pPr/>
              <a:t>‹#›</a:t>
            </a:fld>
            <a:endParaRPr lang="zh-TW" altLang="en-US" dirty="0"/>
          </a:p>
        </p:txBody>
      </p:sp>
    </p:spTree>
    <p:extLst>
      <p:ext uri="{BB962C8B-B14F-4D97-AF65-F5344CB8AC3E}">
        <p14:creationId xmlns:p14="http://schemas.microsoft.com/office/powerpoint/2010/main" val="3234467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lstStyle/>
          <a:p>
            <a:pPr rtl="0"/>
            <a:r>
              <a:rPr lang="zh-TW" altLang="en-US"/>
              <a:t>按一下以編輯母片標題樣式</a:t>
            </a:r>
            <a:endParaRPr lang="zh-TW" altLang="en-US" dirty="0"/>
          </a:p>
        </p:txBody>
      </p:sp>
      <p:sp>
        <p:nvSpPr>
          <p:cNvPr id="3" name="內容預留位置 2"/>
          <p:cNvSpPr>
            <a:spLocks noGrp="1"/>
          </p:cNvSpPr>
          <p:nvPr>
            <p:ph sz="half" idx="1"/>
          </p:nvPr>
        </p:nvSpPr>
        <p:spPr>
          <a:xfrm>
            <a:off x="1593436" y="1600200"/>
            <a:ext cx="4814586" cy="4572000"/>
          </a:xfrm>
        </p:spPr>
        <p:txBody>
          <a:bodyPr rtlCol="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rtl="0"/>
            <a:r>
              <a:rPr lang="zh-TW" altLang="en-US"/>
              <a:t>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zh-TW" altLang="en-US" dirty="0"/>
          </a:p>
        </p:txBody>
      </p:sp>
      <p:sp>
        <p:nvSpPr>
          <p:cNvPr id="4" name="內容預留位置 3"/>
          <p:cNvSpPr>
            <a:spLocks noGrp="1"/>
          </p:cNvSpPr>
          <p:nvPr>
            <p:ph sz="half" idx="2"/>
          </p:nvPr>
        </p:nvSpPr>
        <p:spPr>
          <a:xfrm>
            <a:off x="6561651" y="1600200"/>
            <a:ext cx="4814586" cy="4572000"/>
          </a:xfrm>
        </p:spPr>
        <p:txBody>
          <a:bodyPr rtlCol="0"/>
          <a:lstStyle>
            <a:lvl1pPr>
              <a:defRPr sz="2800"/>
            </a:lvl1pPr>
            <a:lvl2pPr>
              <a:defRPr sz="2400"/>
            </a:lvl2pPr>
            <a:lvl3pPr>
              <a:defRPr sz="2000"/>
            </a:lvl3pPr>
            <a:lvl4pPr>
              <a:defRPr sz="1800"/>
            </a:lvl4pPr>
            <a:lvl5pPr>
              <a:defRPr sz="1800"/>
            </a:lvl5pPr>
            <a:lvl6pPr>
              <a:defRPr sz="1800" baseline="0"/>
            </a:lvl6pPr>
            <a:lvl7pPr>
              <a:defRPr sz="1800" baseline="0"/>
            </a:lvl7pPr>
            <a:lvl8pPr>
              <a:defRPr sz="1800" baseline="0"/>
            </a:lvl8pPr>
            <a:lvl9pPr>
              <a:defRPr sz="1800" baseline="0"/>
            </a:lvl9pPr>
          </a:lstStyle>
          <a:p>
            <a:pPr lvl="0" rtl="0"/>
            <a:r>
              <a:rPr lang="zh-TW" altLang="en-US"/>
              <a:t>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zh-TW" altLang="en-US" dirty="0"/>
          </a:p>
        </p:txBody>
      </p:sp>
      <p:sp>
        <p:nvSpPr>
          <p:cNvPr id="5" name="日期預留位置 4"/>
          <p:cNvSpPr>
            <a:spLocks noGrp="1"/>
          </p:cNvSpPr>
          <p:nvPr>
            <p:ph type="dt" sz="half" idx="10"/>
          </p:nvPr>
        </p:nvSpPr>
        <p:spPr/>
        <p:txBody>
          <a:bodyPr rtlCol="0"/>
          <a:lstStyle>
            <a:lvl1pPr>
              <a:defRPr/>
            </a:lvl1pPr>
          </a:lstStyle>
          <a:p>
            <a:fld id="{232EFAA0-412B-4CDA-BF7E-4CD81AF93DCF}" type="datetime2">
              <a:rPr lang="zh-TW" altLang="en-US" smtClean="0"/>
              <a:pPr/>
              <a:t>2020年2月14日</a:t>
            </a:fld>
            <a:endParaRPr lang="zh-TW" altLang="en-US" dirty="0"/>
          </a:p>
        </p:txBody>
      </p:sp>
      <p:sp>
        <p:nvSpPr>
          <p:cNvPr id="6" name="頁尾預留位置 5"/>
          <p:cNvSpPr>
            <a:spLocks noGrp="1"/>
          </p:cNvSpPr>
          <p:nvPr>
            <p:ph type="ftr" sz="quarter" idx="11"/>
          </p:nvPr>
        </p:nvSpPr>
        <p:spPr/>
        <p:txBody>
          <a:bodyPr rtlCol="0"/>
          <a:lstStyle/>
          <a:p>
            <a:pPr rtl="0"/>
            <a:r>
              <a:rPr lang="zh-TW" altLang="en-US" dirty="0"/>
              <a:t>新增頁尾</a:t>
            </a:r>
          </a:p>
        </p:txBody>
      </p:sp>
      <p:sp>
        <p:nvSpPr>
          <p:cNvPr id="7" name="投影片編號預留位置 6"/>
          <p:cNvSpPr>
            <a:spLocks noGrp="1"/>
          </p:cNvSpPr>
          <p:nvPr>
            <p:ph type="sldNum" sz="quarter" idx="12"/>
          </p:nvPr>
        </p:nvSpPr>
        <p:spPr/>
        <p:txBody>
          <a:bodyPr rtlCol="0"/>
          <a:lstStyle/>
          <a:p>
            <a:pPr rtl="0"/>
            <a:fld id="{7DC1BBB0-96F0-4077-A278-0F3FB5C104D3}" type="slidenum">
              <a:rPr lang="en-US" altLang="zh-TW" smtClean="0"/>
              <a:t>‹#›</a:t>
            </a:fld>
            <a:endParaRPr lang="en-US" altLang="zh-TW" dirty="0"/>
          </a:p>
        </p:txBody>
      </p:sp>
    </p:spTree>
    <p:extLst>
      <p:ext uri="{BB962C8B-B14F-4D97-AF65-F5344CB8AC3E}">
        <p14:creationId xmlns:p14="http://schemas.microsoft.com/office/powerpoint/2010/main" val="1239113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lstStyle>
            <a:lvl1pPr>
              <a:defRPr/>
            </a:lvl1pPr>
          </a:lstStyle>
          <a:p>
            <a:pPr rtl="0"/>
            <a:r>
              <a:rPr lang="zh-TW" altLang="en-US"/>
              <a:t>按一下以編輯母片標題樣式</a:t>
            </a:r>
            <a:endParaRPr lang="zh-TW" altLang="en-US" dirty="0"/>
          </a:p>
        </p:txBody>
      </p:sp>
      <p:sp>
        <p:nvSpPr>
          <p:cNvPr id="3" name="文字預留位置 2"/>
          <p:cNvSpPr>
            <a:spLocks noGrp="1"/>
          </p:cNvSpPr>
          <p:nvPr>
            <p:ph type="body" idx="1"/>
          </p:nvPr>
        </p:nvSpPr>
        <p:spPr>
          <a:xfrm>
            <a:off x="1593436" y="1499616"/>
            <a:ext cx="4818888" cy="938784"/>
          </a:xfrm>
        </p:spPr>
        <p:txBody>
          <a:bodyPr rtlCol="0"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TW" altLang="en-US"/>
              <a:t>編輯母片文字樣式</a:t>
            </a:r>
          </a:p>
        </p:txBody>
      </p:sp>
      <p:sp>
        <p:nvSpPr>
          <p:cNvPr id="4" name="內容預留位置 3"/>
          <p:cNvSpPr>
            <a:spLocks noGrp="1"/>
          </p:cNvSpPr>
          <p:nvPr>
            <p:ph sz="half" idx="2"/>
          </p:nvPr>
        </p:nvSpPr>
        <p:spPr>
          <a:xfrm>
            <a:off x="1593436" y="2514706"/>
            <a:ext cx="4814586" cy="3657493"/>
          </a:xfrm>
        </p:spPr>
        <p:txBody>
          <a:bodyPr rtlCol="0">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baseline="0"/>
            </a:lvl8pPr>
            <a:lvl9pPr>
              <a:defRPr sz="1600" baseline="0"/>
            </a:lvl9pPr>
          </a:lstStyle>
          <a:p>
            <a:pPr lvl="0" rtl="0"/>
            <a:r>
              <a:rPr lang="zh-TW" altLang="en-US"/>
              <a:t>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zh-TW" altLang="en-US" dirty="0"/>
          </a:p>
        </p:txBody>
      </p:sp>
      <p:sp>
        <p:nvSpPr>
          <p:cNvPr id="5" name="文字預留位置 4"/>
          <p:cNvSpPr>
            <a:spLocks noGrp="1"/>
          </p:cNvSpPr>
          <p:nvPr>
            <p:ph type="body" sz="quarter" idx="3"/>
          </p:nvPr>
        </p:nvSpPr>
        <p:spPr>
          <a:xfrm>
            <a:off x="6557349" y="1499616"/>
            <a:ext cx="4818888" cy="938784"/>
          </a:xfrm>
        </p:spPr>
        <p:txBody>
          <a:bodyPr rtlCol="0" anchor="b">
            <a:noAutofit/>
          </a:bodyPr>
          <a:lstStyle>
            <a:lvl1pPr marL="0" indent="0">
              <a:spcBef>
                <a:spcPts val="0"/>
              </a:spcBef>
              <a:buNone/>
              <a:defRPr sz="2400" b="0"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TW" altLang="en-US"/>
              <a:t>編輯母片文字樣式</a:t>
            </a:r>
          </a:p>
        </p:txBody>
      </p:sp>
      <p:sp>
        <p:nvSpPr>
          <p:cNvPr id="6" name="內容預留位置 5"/>
          <p:cNvSpPr>
            <a:spLocks noGrp="1"/>
          </p:cNvSpPr>
          <p:nvPr>
            <p:ph sz="quarter" idx="4"/>
          </p:nvPr>
        </p:nvSpPr>
        <p:spPr>
          <a:xfrm>
            <a:off x="6557349" y="2514600"/>
            <a:ext cx="4818888" cy="3655568"/>
          </a:xfrm>
        </p:spPr>
        <p:txBody>
          <a:bodyPr rtlCol="0">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rtl="0"/>
            <a:r>
              <a:rPr lang="zh-TW" altLang="en-US"/>
              <a:t>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zh-TW" altLang="en-US" dirty="0"/>
          </a:p>
        </p:txBody>
      </p:sp>
      <p:sp>
        <p:nvSpPr>
          <p:cNvPr id="7" name="日期預留位置 6"/>
          <p:cNvSpPr>
            <a:spLocks noGrp="1"/>
          </p:cNvSpPr>
          <p:nvPr>
            <p:ph type="dt" sz="half" idx="10"/>
          </p:nvPr>
        </p:nvSpPr>
        <p:spPr/>
        <p:txBody>
          <a:bodyPr rtlCol="0"/>
          <a:lstStyle>
            <a:lvl1pPr>
              <a:defRPr/>
            </a:lvl1pPr>
          </a:lstStyle>
          <a:p>
            <a:fld id="{4F20B265-170A-4695-B0E3-638953AF3093}" type="datetime2">
              <a:rPr lang="zh-TW" altLang="en-US" smtClean="0"/>
              <a:pPr/>
              <a:t>2020年2月14日</a:t>
            </a:fld>
            <a:endParaRPr lang="zh-TW" altLang="en-US" dirty="0"/>
          </a:p>
        </p:txBody>
      </p:sp>
      <p:sp>
        <p:nvSpPr>
          <p:cNvPr id="8" name="頁尾預留位置 7"/>
          <p:cNvSpPr>
            <a:spLocks noGrp="1"/>
          </p:cNvSpPr>
          <p:nvPr>
            <p:ph type="ftr" sz="quarter" idx="11"/>
          </p:nvPr>
        </p:nvSpPr>
        <p:spPr/>
        <p:txBody>
          <a:bodyPr rtlCol="0"/>
          <a:lstStyle/>
          <a:p>
            <a:pPr rtl="0"/>
            <a:r>
              <a:rPr lang="zh-TW" altLang="en-US" dirty="0"/>
              <a:t>新增頁尾</a:t>
            </a:r>
          </a:p>
        </p:txBody>
      </p:sp>
      <p:sp>
        <p:nvSpPr>
          <p:cNvPr id="9" name="投影片編號預留位置 8"/>
          <p:cNvSpPr>
            <a:spLocks noGrp="1"/>
          </p:cNvSpPr>
          <p:nvPr>
            <p:ph type="sldNum" sz="quarter" idx="12"/>
          </p:nvPr>
        </p:nvSpPr>
        <p:spPr/>
        <p:txBody>
          <a:bodyPr rtlCol="0"/>
          <a:lstStyle/>
          <a:p>
            <a:pPr rtl="0"/>
            <a:fld id="{7DC1BBB0-96F0-4077-A278-0F3FB5C104D3}" type="slidenum">
              <a:rPr lang="en-US" altLang="zh-TW" smtClean="0"/>
              <a:t>‹#›</a:t>
            </a:fld>
            <a:endParaRPr lang="en-US" altLang="zh-TW" dirty="0"/>
          </a:p>
        </p:txBody>
      </p:sp>
    </p:spTree>
    <p:extLst>
      <p:ext uri="{BB962C8B-B14F-4D97-AF65-F5344CB8AC3E}">
        <p14:creationId xmlns:p14="http://schemas.microsoft.com/office/powerpoint/2010/main" val="2138358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lstStyle/>
          <a:p>
            <a:pPr rtl="0"/>
            <a:r>
              <a:rPr lang="zh-TW" altLang="en-US"/>
              <a:t>按一下以編輯母片標題樣式</a:t>
            </a:r>
            <a:endParaRPr lang="zh-TW" altLang="en-US" dirty="0"/>
          </a:p>
        </p:txBody>
      </p:sp>
      <p:sp>
        <p:nvSpPr>
          <p:cNvPr id="3" name="日期預留位置 2"/>
          <p:cNvSpPr>
            <a:spLocks noGrp="1"/>
          </p:cNvSpPr>
          <p:nvPr>
            <p:ph type="dt" sz="half" idx="10"/>
          </p:nvPr>
        </p:nvSpPr>
        <p:spPr/>
        <p:txBody>
          <a:bodyPr rtlCol="0"/>
          <a:lstStyle>
            <a:lvl1pPr>
              <a:defRPr/>
            </a:lvl1pPr>
          </a:lstStyle>
          <a:p>
            <a:fld id="{E65686EB-6CAB-4728-BC07-6A243664D983}" type="datetime2">
              <a:rPr lang="zh-TW" altLang="en-US" smtClean="0"/>
              <a:pPr/>
              <a:t>2020年2月14日</a:t>
            </a:fld>
            <a:endParaRPr lang="zh-TW" altLang="en-US" dirty="0"/>
          </a:p>
        </p:txBody>
      </p:sp>
      <p:sp>
        <p:nvSpPr>
          <p:cNvPr id="4" name="頁尾預留位置 3"/>
          <p:cNvSpPr>
            <a:spLocks noGrp="1"/>
          </p:cNvSpPr>
          <p:nvPr>
            <p:ph type="ftr" sz="quarter" idx="11"/>
          </p:nvPr>
        </p:nvSpPr>
        <p:spPr/>
        <p:txBody>
          <a:bodyPr rtlCol="0"/>
          <a:lstStyle/>
          <a:p>
            <a:pPr rtl="0"/>
            <a:r>
              <a:rPr lang="zh-TW" altLang="en-US" dirty="0"/>
              <a:t>新增頁尾</a:t>
            </a:r>
          </a:p>
        </p:txBody>
      </p:sp>
      <p:sp>
        <p:nvSpPr>
          <p:cNvPr id="5" name="投影片編號預留位置 4"/>
          <p:cNvSpPr>
            <a:spLocks noGrp="1"/>
          </p:cNvSpPr>
          <p:nvPr>
            <p:ph type="sldNum" sz="quarter" idx="12"/>
          </p:nvPr>
        </p:nvSpPr>
        <p:spPr/>
        <p:txBody>
          <a:bodyPr rtlCol="0"/>
          <a:lstStyle/>
          <a:p>
            <a:pPr rtl="0"/>
            <a:fld id="{7DC1BBB0-96F0-4077-A278-0F3FB5C104D3}" type="slidenum">
              <a:rPr lang="en-US" altLang="zh-TW" smtClean="0"/>
              <a:t>‹#›</a:t>
            </a:fld>
            <a:endParaRPr lang="en-US" altLang="zh-TW" dirty="0"/>
          </a:p>
        </p:txBody>
      </p:sp>
    </p:spTree>
    <p:extLst>
      <p:ext uri="{BB962C8B-B14F-4D97-AF65-F5344CB8AC3E}">
        <p14:creationId xmlns:p14="http://schemas.microsoft.com/office/powerpoint/2010/main" val="3163578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矩形 4"/>
          <p:cNvSpPr/>
          <p:nvPr/>
        </p:nvSpPr>
        <p:spPr bwMode="ltGray">
          <a:xfrm>
            <a:off x="626239" y="0"/>
            <a:ext cx="30472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zh-TW" altLang="en-US" dirty="0">
              <a:latin typeface="Microsoft JhengHei UI" panose="020B0604030504040204" pitchFamily="34" charset="-120"/>
              <a:ea typeface="Microsoft JhengHei UI" panose="020B0604030504040204" pitchFamily="34" charset="-120"/>
            </a:endParaRPr>
          </a:p>
        </p:txBody>
      </p:sp>
      <p:sp>
        <p:nvSpPr>
          <p:cNvPr id="6" name="矩形 5"/>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zh-TW" altLang="en-US" dirty="0">
              <a:latin typeface="Microsoft JhengHei UI" panose="020B0604030504040204" pitchFamily="34" charset="-120"/>
              <a:ea typeface="Microsoft JhengHei UI" panose="020B0604030504040204" pitchFamily="34" charset="-120"/>
            </a:endParaRPr>
          </a:p>
        </p:txBody>
      </p:sp>
      <p:cxnSp>
        <p:nvCxnSpPr>
          <p:cNvPr id="7" name="直線接點​​ 6"/>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bwMode="gray">
          <a:xfrm>
            <a:off x="10969942" y="0"/>
            <a:ext cx="922621" cy="6858000"/>
          </a:xfrm>
          <a:prstGeom prst="rect">
            <a:avLst/>
          </a:prstGeom>
          <a:solidFill>
            <a:schemeClr val="accent1">
              <a:lumMod val="7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zh-TW" altLang="en-US" dirty="0">
              <a:latin typeface="Microsoft JhengHei UI" panose="020B0604030504040204" pitchFamily="34" charset="-120"/>
              <a:ea typeface="Microsoft JhengHei UI" panose="020B0604030504040204" pitchFamily="34" charset="-120"/>
            </a:endParaRPr>
          </a:p>
        </p:txBody>
      </p:sp>
      <p:sp>
        <p:nvSpPr>
          <p:cNvPr id="9" name="矩形 8"/>
          <p:cNvSpPr/>
          <p:nvPr/>
        </p:nvSpPr>
        <p:spPr bwMode="black">
          <a:xfrm>
            <a:off x="11892563"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zh-TW" altLang="en-US" dirty="0">
              <a:latin typeface="Microsoft JhengHei UI" panose="020B0604030504040204" pitchFamily="34" charset="-120"/>
              <a:ea typeface="Microsoft JhengHei UI" panose="020B0604030504040204" pitchFamily="34" charset="-120"/>
            </a:endParaRPr>
          </a:p>
        </p:txBody>
      </p:sp>
      <p:sp>
        <p:nvSpPr>
          <p:cNvPr id="2" name="日期預留位置 1"/>
          <p:cNvSpPr>
            <a:spLocks noGrp="1"/>
          </p:cNvSpPr>
          <p:nvPr>
            <p:ph type="dt" sz="half" idx="10"/>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DA67C8A8-5D14-46D7-9EA9-D217E30519F9}" type="datetime2">
              <a:rPr lang="zh-TW" altLang="en-US" smtClean="0"/>
              <a:pPr/>
              <a:t>2020年2月14日</a:t>
            </a:fld>
            <a:endParaRPr lang="zh-TW" altLang="en-US" dirty="0"/>
          </a:p>
        </p:txBody>
      </p:sp>
      <p:sp>
        <p:nvSpPr>
          <p:cNvPr id="3" name="頁尾預留位置 2"/>
          <p:cNvSpPr>
            <a:spLocks noGrp="1"/>
          </p:cNvSpPr>
          <p:nvPr>
            <p:ph type="ftr" sz="quarter" idx="11"/>
          </p:nvPr>
        </p:nvSpPr>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a:t>新增頁尾</a:t>
            </a:r>
            <a:endParaRPr lang="zh-TW" altLang="en-US" dirty="0"/>
          </a:p>
        </p:txBody>
      </p:sp>
      <p:sp>
        <p:nvSpPr>
          <p:cNvPr id="4" name="投影片編號預留位置 3"/>
          <p:cNvSpPr>
            <a:spLocks noGrp="1"/>
          </p:cNvSpPr>
          <p:nvPr>
            <p:ph type="sldNum" sz="quarter" idx="12"/>
          </p:nvPr>
        </p:nvSpPr>
        <p:spPr/>
        <p:txBody>
          <a:bodyPr rtlCol="0"/>
          <a:lstStyle>
            <a:lvl1pPr>
              <a:defRPr>
                <a:solidFill>
                  <a:schemeClr val="bg1"/>
                </a:solidFill>
                <a:latin typeface="Microsoft JhengHei UI" panose="020B0604030504040204" pitchFamily="34" charset="-120"/>
                <a:ea typeface="Microsoft JhengHei UI" panose="020B0604030504040204" pitchFamily="34" charset="-120"/>
              </a:defRPr>
            </a:lvl1pPr>
          </a:lstStyle>
          <a:p>
            <a:fld id="{7DC1BBB0-96F0-4077-A278-0F3FB5C104D3}" type="slidenum">
              <a:rPr lang="en-US" altLang="zh-TW" smtClean="0"/>
              <a:pPr/>
              <a:t>‹#›</a:t>
            </a:fld>
            <a:endParaRPr lang="en-US" altLang="zh-TW" dirty="0"/>
          </a:p>
        </p:txBody>
      </p:sp>
    </p:spTree>
    <p:extLst>
      <p:ext uri="{BB962C8B-B14F-4D97-AF65-F5344CB8AC3E}">
        <p14:creationId xmlns:p14="http://schemas.microsoft.com/office/powerpoint/2010/main" val="178381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8" name="矩形 7"/>
          <p:cNvSpPr/>
          <p:nvPr/>
        </p:nvSpPr>
        <p:spPr bwMode="gray">
          <a:xfrm>
            <a:off x="621792" y="0"/>
            <a:ext cx="4147717"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zh-TW" altLang="en-US" dirty="0">
              <a:latin typeface="Microsoft JhengHei UI" panose="020B0604030504040204" pitchFamily="34" charset="-120"/>
              <a:ea typeface="Microsoft JhengHei UI" panose="020B0604030504040204" pitchFamily="34" charset="-120"/>
            </a:endParaRPr>
          </a:p>
        </p:txBody>
      </p:sp>
      <p:sp>
        <p:nvSpPr>
          <p:cNvPr id="9" name="矩形 8"/>
          <p:cNvSpPr/>
          <p:nvPr/>
        </p:nvSpPr>
        <p:spPr bwMode="lt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zh-TW" altLang="en-US" dirty="0">
              <a:latin typeface="Microsoft JhengHei UI" panose="020B0604030504040204" pitchFamily="34" charset="-120"/>
              <a:ea typeface="Microsoft JhengHei UI" panose="020B0604030504040204" pitchFamily="34" charset="-120"/>
            </a:endParaRPr>
          </a:p>
        </p:txBody>
      </p:sp>
      <p:cxnSp>
        <p:nvCxnSpPr>
          <p:cNvPr id="10" name="直線接點 9"/>
          <p:cNvCxnSpPr/>
          <p:nvPr/>
        </p:nvCxnSpPr>
        <p:spPr bwMode="white">
          <a:xfrm>
            <a:off x="621792"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矩形 10"/>
          <p:cNvSpPr/>
          <p:nvPr/>
        </p:nvSpPr>
        <p:spPr bwMode="gray">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zh-TW" altLang="en-US" dirty="0">
              <a:latin typeface="Microsoft JhengHei UI" panose="020B0604030504040204" pitchFamily="34" charset="-120"/>
              <a:ea typeface="Microsoft JhengHei UI" panose="020B0604030504040204" pitchFamily="34" charset="-120"/>
            </a:endParaRPr>
          </a:p>
        </p:txBody>
      </p:sp>
      <p:sp>
        <p:nvSpPr>
          <p:cNvPr id="2" name="標題 1"/>
          <p:cNvSpPr>
            <a:spLocks noGrp="1"/>
          </p:cNvSpPr>
          <p:nvPr>
            <p:ph type="title"/>
          </p:nvPr>
        </p:nvSpPr>
        <p:spPr bwMode="white">
          <a:xfrm>
            <a:off x="1074240" y="381000"/>
            <a:ext cx="3293422" cy="1371600"/>
          </a:xfrm>
        </p:spPr>
        <p:txBody>
          <a:bodyPr rtlCol="0" anchor="b">
            <a:normAutofit/>
          </a:bodyPr>
          <a:lstStyle>
            <a:lvl1pPr algn="l">
              <a:defRPr sz="2800" b="0" cap="all" baseline="0">
                <a:solidFill>
                  <a:schemeClr val="bg1"/>
                </a:solidFill>
                <a:latin typeface="Microsoft JhengHei UI" panose="020B0604030504040204" pitchFamily="34" charset="-120"/>
                <a:ea typeface="Microsoft JhengHei UI" panose="020B0604030504040204" pitchFamily="34" charset="-120"/>
              </a:defRPr>
            </a:lvl1pPr>
          </a:lstStyle>
          <a:p>
            <a:pPr rtl="0"/>
            <a:r>
              <a:rPr lang="zh-TW" altLang="en-US"/>
              <a:t>按一下以編輯母片標題樣式</a:t>
            </a:r>
            <a:endParaRPr lang="zh-TW" altLang="en-US" dirty="0"/>
          </a:p>
        </p:txBody>
      </p:sp>
      <p:sp>
        <p:nvSpPr>
          <p:cNvPr id="3" name="內容預留位置 2"/>
          <p:cNvSpPr>
            <a:spLocks noGrp="1"/>
          </p:cNvSpPr>
          <p:nvPr>
            <p:ph idx="1"/>
          </p:nvPr>
        </p:nvSpPr>
        <p:spPr>
          <a:xfrm>
            <a:off x="5180251" y="482600"/>
            <a:ext cx="6195986" cy="5689600"/>
          </a:xfrm>
        </p:spPr>
        <p:txBody>
          <a:bodyPr rtlCol="0">
            <a:normAutofit/>
          </a:bodyPr>
          <a:lstStyle>
            <a:lvl1pPr>
              <a:defRPr sz="2800">
                <a:latin typeface="Microsoft JhengHei UI" panose="020B0604030504040204" pitchFamily="34" charset="-120"/>
                <a:ea typeface="Microsoft JhengHei UI" panose="020B0604030504040204" pitchFamily="34" charset="-120"/>
              </a:defRPr>
            </a:lvl1pPr>
            <a:lvl2pPr>
              <a:defRPr sz="2400">
                <a:latin typeface="Microsoft JhengHei UI" panose="020B0604030504040204" pitchFamily="34" charset="-120"/>
                <a:ea typeface="Microsoft JhengHei UI" panose="020B0604030504040204" pitchFamily="34" charset="-120"/>
              </a:defRPr>
            </a:lvl2pPr>
            <a:lvl3pPr>
              <a:defRPr sz="2000">
                <a:latin typeface="Microsoft JhengHei UI" panose="020B0604030504040204" pitchFamily="34" charset="-120"/>
                <a:ea typeface="Microsoft JhengHei UI" panose="020B0604030504040204" pitchFamily="34" charset="-120"/>
              </a:defRPr>
            </a:lvl3pPr>
            <a:lvl4pPr>
              <a:defRPr sz="1800">
                <a:latin typeface="Microsoft JhengHei UI" panose="020B0604030504040204" pitchFamily="34" charset="-120"/>
                <a:ea typeface="Microsoft JhengHei UI" panose="020B0604030504040204" pitchFamily="34" charset="-120"/>
              </a:defRPr>
            </a:lvl4pPr>
            <a:lvl5pPr>
              <a:defRPr sz="1800">
                <a:latin typeface="Microsoft JhengHei UI" panose="020B0604030504040204" pitchFamily="34" charset="-120"/>
                <a:ea typeface="Microsoft JhengHei UI" panose="020B0604030504040204" pitchFamily="34" charset="-120"/>
              </a:defRPr>
            </a:lvl5pPr>
            <a:lvl6pPr>
              <a:defRPr sz="1800"/>
            </a:lvl6pPr>
            <a:lvl7pPr>
              <a:defRPr sz="1800"/>
            </a:lvl7pPr>
            <a:lvl8pPr>
              <a:defRPr sz="1800" baseline="0"/>
            </a:lvl8pPr>
            <a:lvl9pPr>
              <a:defRPr sz="1800" baseline="0"/>
            </a:lvl9pPr>
          </a:lstStyle>
          <a:p>
            <a:pPr lvl="0" rtl="0"/>
            <a:r>
              <a:rPr lang="zh-TW" altLang="en-US"/>
              <a:t>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zh-TW" altLang="en-US" dirty="0"/>
          </a:p>
        </p:txBody>
      </p:sp>
      <p:sp>
        <p:nvSpPr>
          <p:cNvPr id="4" name="文字預留位置 3"/>
          <p:cNvSpPr>
            <a:spLocks noGrp="1"/>
          </p:cNvSpPr>
          <p:nvPr>
            <p:ph type="body" sz="half" idx="2"/>
          </p:nvPr>
        </p:nvSpPr>
        <p:spPr bwMode="white">
          <a:xfrm>
            <a:off x="1074240" y="1828800"/>
            <a:ext cx="3293422" cy="4343400"/>
          </a:xfrm>
        </p:spPr>
        <p:txBody>
          <a:bodyPr rtlCol="0">
            <a:normAutofit/>
          </a:bodyPr>
          <a:lstStyle>
            <a:lvl1pPr marL="0" indent="0">
              <a:buNone/>
              <a:defRPr sz="2000">
                <a:solidFill>
                  <a:schemeClr val="bg1"/>
                </a:solidFill>
                <a:latin typeface="Microsoft JhengHei UI" panose="020B0604030504040204" pitchFamily="34" charset="-120"/>
                <a:ea typeface="Microsoft JhengHei UI"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TW" altLang="en-US"/>
              <a:t>編輯母片文字樣式</a:t>
            </a:r>
          </a:p>
        </p:txBody>
      </p:sp>
      <p:sp>
        <p:nvSpPr>
          <p:cNvPr id="5" name="日期預留位置 4"/>
          <p:cNvSpPr>
            <a:spLocks noGrp="1"/>
          </p:cNvSpPr>
          <p:nvPr>
            <p:ph type="dt" sz="half" idx="10"/>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A58DCB90-D45B-4EEB-95EF-58798D5539DF}" type="datetime2">
              <a:rPr lang="zh-TW" altLang="en-US" smtClean="0"/>
              <a:pPr/>
              <a:t>2020年2月14日</a:t>
            </a:fld>
            <a:endParaRPr lang="zh-TW" altLang="en-US" dirty="0"/>
          </a:p>
        </p:txBody>
      </p:sp>
      <p:sp>
        <p:nvSpPr>
          <p:cNvPr id="6" name="頁尾預留位置 5"/>
          <p:cNvSpPr>
            <a:spLocks noGrp="1"/>
          </p:cNvSpPr>
          <p:nvPr>
            <p:ph type="ftr" sz="quarter" idx="11"/>
          </p:nvPr>
        </p:nvSpPr>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a:t>新增頁尾</a:t>
            </a:r>
            <a:endParaRPr lang="zh-TW" altLang="en-US" dirty="0"/>
          </a:p>
        </p:txBody>
      </p:sp>
      <p:sp>
        <p:nvSpPr>
          <p:cNvPr id="7" name="投影片編號預留位置 6"/>
          <p:cNvSpPr>
            <a:spLocks noGrp="1"/>
          </p:cNvSpPr>
          <p:nvPr>
            <p:ph type="sldNum" sz="quarter" idx="12"/>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7DC1BBB0-96F0-4077-A278-0F3FB5C104D3}" type="slidenum">
              <a:rPr lang="en-US" altLang="zh-TW" smtClean="0"/>
              <a:pPr/>
              <a:t>‹#›</a:t>
            </a:fld>
            <a:endParaRPr lang="en-US" altLang="zh-TW" dirty="0"/>
          </a:p>
        </p:txBody>
      </p:sp>
    </p:spTree>
    <p:extLst>
      <p:ext uri="{BB962C8B-B14F-4D97-AF65-F5344CB8AC3E}">
        <p14:creationId xmlns:p14="http://schemas.microsoft.com/office/powerpoint/2010/main" val="3518043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11" name="矩形 10"/>
          <p:cNvSpPr/>
          <p:nvPr/>
        </p:nvSpPr>
        <p:spPr bwMode="gray">
          <a:xfrm>
            <a:off x="0" y="0"/>
            <a:ext cx="609441" cy="6858000"/>
          </a:xfrm>
          <a:prstGeom prst="rect">
            <a:avLst/>
          </a:prstGeom>
          <a:solidFill>
            <a:schemeClr val="accent1">
              <a:lumMod val="7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zh-TW" altLang="en-US" dirty="0">
              <a:latin typeface="Microsoft JhengHei UI" panose="020B0604030504040204" pitchFamily="34" charset="-120"/>
              <a:ea typeface="Microsoft JhengHei UI" panose="020B0604030504040204" pitchFamily="34" charset="-120"/>
            </a:endParaRPr>
          </a:p>
        </p:txBody>
      </p:sp>
      <p:sp>
        <p:nvSpPr>
          <p:cNvPr id="8" name="矩形 7"/>
          <p:cNvSpPr/>
          <p:nvPr/>
        </p:nvSpPr>
        <p:spPr bwMode="black">
          <a:xfrm>
            <a:off x="11884104" y="0"/>
            <a:ext cx="304721"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zh-TW" altLang="en-US" dirty="0">
              <a:latin typeface="Microsoft JhengHei UI" panose="020B0604030504040204" pitchFamily="34" charset="-120"/>
              <a:ea typeface="Microsoft JhengHei UI" panose="020B0604030504040204" pitchFamily="34" charset="-120"/>
            </a:endParaRPr>
          </a:p>
        </p:txBody>
      </p:sp>
      <p:sp>
        <p:nvSpPr>
          <p:cNvPr id="9" name="矩形 8"/>
          <p:cNvSpPr/>
          <p:nvPr/>
        </p:nvSpPr>
        <p:spPr bwMode="ltGray">
          <a:xfrm>
            <a:off x="4875530" y="0"/>
            <a:ext cx="7017034" cy="68580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zh-TW" altLang="en-US" dirty="0">
              <a:latin typeface="Microsoft JhengHei UI" panose="020B0604030504040204" pitchFamily="34" charset="-120"/>
              <a:ea typeface="Microsoft JhengHei UI" panose="020B0604030504040204" pitchFamily="34" charset="-120"/>
            </a:endParaRPr>
          </a:p>
        </p:txBody>
      </p:sp>
      <p:sp>
        <p:nvSpPr>
          <p:cNvPr id="2" name="標題 1"/>
          <p:cNvSpPr>
            <a:spLocks noGrp="1"/>
          </p:cNvSpPr>
          <p:nvPr>
            <p:ph type="title"/>
          </p:nvPr>
        </p:nvSpPr>
        <p:spPr>
          <a:xfrm>
            <a:off x="1074240" y="381000"/>
            <a:ext cx="3293422" cy="1371600"/>
          </a:xfrm>
        </p:spPr>
        <p:txBody>
          <a:bodyPr rtlCol="0" anchor="b">
            <a:normAutofit/>
          </a:bodyPr>
          <a:lstStyle>
            <a:lvl1pPr algn="l">
              <a:defRPr sz="2800" b="0" cap="all" baseline="0">
                <a:solidFill>
                  <a:schemeClr val="tx1">
                    <a:lumMod val="75000"/>
                  </a:schemeClr>
                </a:solidFill>
                <a:latin typeface="Microsoft JhengHei UI" panose="020B0604030504040204" pitchFamily="34" charset="-120"/>
                <a:ea typeface="Microsoft JhengHei UI" panose="020B0604030504040204" pitchFamily="34" charset="-120"/>
              </a:defRPr>
            </a:lvl1pPr>
          </a:lstStyle>
          <a:p>
            <a:pPr rtl="0"/>
            <a:r>
              <a:rPr lang="zh-TW" altLang="en-US"/>
              <a:t>按一下以編輯母片標題樣式</a:t>
            </a:r>
            <a:endParaRPr lang="zh-TW" altLang="en-US" dirty="0"/>
          </a:p>
        </p:txBody>
      </p:sp>
      <p:sp>
        <p:nvSpPr>
          <p:cNvPr id="3" name="圖片預留位置 2" descr="要新增影像的空白預留位置。按一下預留位置，然後選取您要新增的影像"/>
          <p:cNvSpPr>
            <a:spLocks noGrp="1"/>
          </p:cNvSpPr>
          <p:nvPr>
            <p:ph type="pic" idx="1"/>
          </p:nvPr>
        </p:nvSpPr>
        <p:spPr bwMode="auto">
          <a:xfrm>
            <a:off x="5180251" y="482600"/>
            <a:ext cx="6195986" cy="5689600"/>
          </a:xfrm>
          <a:ln w="19050">
            <a:solidFill>
              <a:schemeClr val="bg1"/>
            </a:solidFill>
          </a:ln>
        </p:spPr>
        <p:txBody>
          <a:bodyPr rtlCol="0">
            <a:normAutofit/>
          </a:bodyPr>
          <a:lstStyle>
            <a:lvl1pPr marL="0" indent="0">
              <a:buNone/>
              <a:defRPr sz="2800" baseline="0">
                <a:solidFill>
                  <a:schemeClr val="tx2"/>
                </a:solidFill>
                <a:latin typeface="Microsoft JhengHei UI" panose="020B0604030504040204" pitchFamily="34" charset="-120"/>
                <a:ea typeface="Microsoft JhengHei UI" panose="020B0604030504040204" pitchFamily="34" charset="-12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zh-TW" altLang="en-US"/>
              <a:t>按一下圖示以新增圖片</a:t>
            </a:r>
            <a:endParaRPr lang="zh-TW" altLang="en-US" dirty="0"/>
          </a:p>
        </p:txBody>
      </p:sp>
      <p:sp>
        <p:nvSpPr>
          <p:cNvPr id="4" name="文字預留位置 3"/>
          <p:cNvSpPr>
            <a:spLocks noGrp="1"/>
          </p:cNvSpPr>
          <p:nvPr>
            <p:ph type="body" sz="half" idx="2"/>
          </p:nvPr>
        </p:nvSpPr>
        <p:spPr>
          <a:xfrm>
            <a:off x="1074240" y="1828800"/>
            <a:ext cx="3293422" cy="4343400"/>
          </a:xfrm>
        </p:spPr>
        <p:txBody>
          <a:bodyPr rtlCol="0">
            <a:normAutofit/>
          </a:bodyPr>
          <a:lstStyle>
            <a:lvl1pPr marL="0" indent="0">
              <a:buNone/>
              <a:defRPr sz="2000">
                <a:solidFill>
                  <a:schemeClr val="tx1"/>
                </a:solidFill>
                <a:latin typeface="Microsoft JhengHei UI" panose="020B0604030504040204" pitchFamily="34" charset="-120"/>
                <a:ea typeface="Microsoft JhengHei UI"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TW" altLang="en-US"/>
              <a:t>編輯母片文字樣式</a:t>
            </a:r>
          </a:p>
        </p:txBody>
      </p:sp>
      <p:sp>
        <p:nvSpPr>
          <p:cNvPr id="5" name="日期預留位置 4"/>
          <p:cNvSpPr>
            <a:spLocks noGrp="1"/>
          </p:cNvSpPr>
          <p:nvPr>
            <p:ph type="dt" sz="half" idx="10"/>
          </p:nvPr>
        </p:nvSpPr>
        <p:spPr/>
        <p:txBody>
          <a:bodyPr rtlCol="0"/>
          <a:lstStyle>
            <a:lvl1pPr>
              <a:defRPr baseline="0">
                <a:solidFill>
                  <a:schemeClr val="tx2"/>
                </a:solidFill>
                <a:latin typeface="Microsoft JhengHei UI" panose="020B0604030504040204" pitchFamily="34" charset="-120"/>
                <a:ea typeface="Microsoft JhengHei UI" panose="020B0604030504040204" pitchFamily="34" charset="-120"/>
              </a:defRPr>
            </a:lvl1pPr>
          </a:lstStyle>
          <a:p>
            <a:fld id="{9EA5BDA3-55C7-41F4-B5C7-3BDDDE43E98E}" type="datetime2">
              <a:rPr lang="zh-TW" altLang="en-US" smtClean="0"/>
              <a:pPr/>
              <a:t>2020年2月14日</a:t>
            </a:fld>
            <a:endParaRPr lang="zh-TW" altLang="en-US" dirty="0"/>
          </a:p>
        </p:txBody>
      </p:sp>
      <p:sp>
        <p:nvSpPr>
          <p:cNvPr id="6" name="頁尾預留位置 5"/>
          <p:cNvSpPr>
            <a:spLocks noGrp="1"/>
          </p:cNvSpPr>
          <p:nvPr>
            <p:ph type="ftr" sz="quarter" idx="11"/>
          </p:nvPr>
        </p:nvSpPr>
        <p:spPr/>
        <p:txBody>
          <a:bodyPr rtlCol="0"/>
          <a:lstStyle>
            <a:lvl1pPr>
              <a:defRPr baseline="0">
                <a:solidFill>
                  <a:schemeClr val="tx2"/>
                </a:solidFill>
                <a:latin typeface="Microsoft JhengHei UI" panose="020B0604030504040204" pitchFamily="34" charset="-120"/>
                <a:ea typeface="Microsoft JhengHei UI" panose="020B0604030504040204" pitchFamily="34" charset="-120"/>
              </a:defRPr>
            </a:lvl1pPr>
          </a:lstStyle>
          <a:p>
            <a:r>
              <a:rPr lang="zh-TW" altLang="en-US"/>
              <a:t>新增頁尾</a:t>
            </a:r>
            <a:endParaRPr lang="zh-TW" altLang="en-US" dirty="0"/>
          </a:p>
        </p:txBody>
      </p:sp>
      <p:sp>
        <p:nvSpPr>
          <p:cNvPr id="7" name="投影片編號預留位置 6"/>
          <p:cNvSpPr>
            <a:spLocks noGrp="1"/>
          </p:cNvSpPr>
          <p:nvPr>
            <p:ph type="sldNum" sz="quarter" idx="12"/>
          </p:nvPr>
        </p:nvSpPr>
        <p:spPr/>
        <p:txBody>
          <a:bodyPr rtlCol="0"/>
          <a:lstStyle>
            <a:lvl1pPr>
              <a:defRPr baseline="0">
                <a:solidFill>
                  <a:schemeClr val="tx2"/>
                </a:solidFill>
                <a:latin typeface="Microsoft JhengHei UI" panose="020B0604030504040204" pitchFamily="34" charset="-120"/>
                <a:ea typeface="Microsoft JhengHei UI" panose="020B0604030504040204" pitchFamily="34" charset="-120"/>
              </a:defRPr>
            </a:lvl1pPr>
          </a:lstStyle>
          <a:p>
            <a:fld id="{7DC1BBB0-96F0-4077-A278-0F3FB5C104D3}" type="slidenum">
              <a:rPr lang="en-US" altLang="zh-TW" smtClean="0"/>
              <a:pPr/>
              <a:t>‹#›</a:t>
            </a:fld>
            <a:endParaRPr lang="zh-TW" altLang="en-US" dirty="0"/>
          </a:p>
        </p:txBody>
      </p:sp>
      <p:cxnSp>
        <p:nvCxnSpPr>
          <p:cNvPr id="10" name="直線接點 9"/>
          <p:cNvCxnSpPr/>
          <p:nvPr/>
        </p:nvCxnSpPr>
        <p:spPr bwMode="white">
          <a:xfrm>
            <a:off x="11879867"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3900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lstStyle/>
          <a:p>
            <a:pPr rtl="0"/>
            <a:r>
              <a:rPr lang="zh-TW" altLang="en-US"/>
              <a:t>按一下以編輯母片標題樣式</a:t>
            </a:r>
            <a:endParaRPr lang="zh-TW" altLang="en-US" dirty="0"/>
          </a:p>
        </p:txBody>
      </p:sp>
      <p:sp>
        <p:nvSpPr>
          <p:cNvPr id="3" name="直排文字預留位置 2"/>
          <p:cNvSpPr>
            <a:spLocks noGrp="1"/>
          </p:cNvSpPr>
          <p:nvPr>
            <p:ph type="body" orient="vert" idx="1"/>
          </p:nvPr>
        </p:nvSpPr>
        <p:spPr/>
        <p:txBody>
          <a:bodyPr vert="eaVert" rtlCol="0"/>
          <a:lstStyle>
            <a:lvl5pPr>
              <a:defRPr/>
            </a:lvl5pPr>
            <a:lvl6pPr>
              <a:defRPr/>
            </a:lvl6pPr>
            <a:lvl7pPr>
              <a:defRPr/>
            </a:lvl7pPr>
            <a:lvl8pPr>
              <a:defRPr/>
            </a:lvl8pPr>
            <a:lvl9pPr>
              <a:defRPr/>
            </a:lvl9pPr>
          </a:lstStyle>
          <a:p>
            <a:pPr lvl="0" rtl="0"/>
            <a:r>
              <a:rPr lang="zh-TW" altLang="en-US"/>
              <a:t>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zh-TW" altLang="en-US" dirty="0"/>
          </a:p>
        </p:txBody>
      </p:sp>
      <p:sp>
        <p:nvSpPr>
          <p:cNvPr id="4" name="日期預留位置 3"/>
          <p:cNvSpPr>
            <a:spLocks noGrp="1"/>
          </p:cNvSpPr>
          <p:nvPr>
            <p:ph type="dt" sz="half" idx="10"/>
          </p:nvPr>
        </p:nvSpPr>
        <p:spPr/>
        <p:txBody>
          <a:bodyPr rtlCol="0"/>
          <a:lstStyle>
            <a:lvl1pPr>
              <a:defRPr/>
            </a:lvl1pPr>
          </a:lstStyle>
          <a:p>
            <a:fld id="{3DCE46B0-F473-449A-B31D-B97A729DF96A}" type="datetime2">
              <a:rPr lang="zh-TW" altLang="en-US" smtClean="0"/>
              <a:pPr/>
              <a:t>2020年2月14日</a:t>
            </a:fld>
            <a:endParaRPr lang="zh-TW" altLang="en-US" dirty="0"/>
          </a:p>
        </p:txBody>
      </p:sp>
      <p:sp>
        <p:nvSpPr>
          <p:cNvPr id="5" name="頁尾預留位置 4"/>
          <p:cNvSpPr>
            <a:spLocks noGrp="1"/>
          </p:cNvSpPr>
          <p:nvPr>
            <p:ph type="ftr" sz="quarter" idx="11"/>
          </p:nvPr>
        </p:nvSpPr>
        <p:spPr/>
        <p:txBody>
          <a:bodyPr rtlCol="0"/>
          <a:lstStyle/>
          <a:p>
            <a:pPr rtl="0"/>
            <a:r>
              <a:rPr lang="zh-TW" altLang="en-US" dirty="0"/>
              <a:t>新增頁尾</a:t>
            </a:r>
          </a:p>
        </p:txBody>
      </p:sp>
      <p:sp>
        <p:nvSpPr>
          <p:cNvPr id="6" name="投影片編號預留位置 5"/>
          <p:cNvSpPr>
            <a:spLocks noGrp="1"/>
          </p:cNvSpPr>
          <p:nvPr>
            <p:ph type="sldNum" sz="quarter" idx="12"/>
          </p:nvPr>
        </p:nvSpPr>
        <p:spPr/>
        <p:txBody>
          <a:bodyPr rtlCol="0"/>
          <a:lstStyle/>
          <a:p>
            <a:pPr rtl="0"/>
            <a:fld id="{7DC1BBB0-96F0-4077-A278-0F3FB5C104D3}" type="slidenum">
              <a:rPr lang="en-US" altLang="zh-TW" smtClean="0"/>
              <a:t>‹#›</a:t>
            </a:fld>
            <a:endParaRPr lang="en-US" altLang="zh-TW" dirty="0"/>
          </a:p>
        </p:txBody>
      </p:sp>
    </p:spTree>
    <p:extLst>
      <p:ext uri="{BB962C8B-B14F-4D97-AF65-F5344CB8AC3E}">
        <p14:creationId xmlns:p14="http://schemas.microsoft.com/office/powerpoint/2010/main" val="204088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矩形 6"/>
          <p:cNvSpPr/>
          <p:nvPr/>
        </p:nvSpPr>
        <p:spPr bwMode="black">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zh-TW" altLang="en-US" dirty="0">
              <a:latin typeface="Microsoft JhengHei UI" panose="020B0604030504040204" pitchFamily="34" charset="-120"/>
              <a:ea typeface="Microsoft JhengHei UI" panose="020B0604030504040204" pitchFamily="34" charset="-120"/>
            </a:endParaRPr>
          </a:p>
        </p:txBody>
      </p:sp>
      <p:sp>
        <p:nvSpPr>
          <p:cNvPr id="8" name="矩形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sp>
        <p:nvSpPr>
          <p:cNvPr id="9" name="矩形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sp>
        <p:nvSpPr>
          <p:cNvPr id="10" name="矩形 9"/>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cxnSp>
        <p:nvCxnSpPr>
          <p:cNvPr id="11" name="直線接點 10"/>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線接點​​ 11"/>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Pi"/>
          <p:cNvSpPr>
            <a:spLocks/>
          </p:cNvSpPr>
          <p:nvPr/>
        </p:nvSpPr>
        <p:spPr bwMode="white">
          <a:xfrm rot="5400000">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a:extLst/>
        </p:spPr>
        <p:txBody>
          <a:bodyPr vert="horz" wrap="square" lIns="91440" tIns="45720" rIns="91440" bIns="45720" numCol="1" rtlCol="0" anchor="t" anchorCtr="0" compatLnSpc="1">
            <a:prstTxWarp prst="textNoShape">
              <a:avLst/>
            </a:prstTxWarp>
          </a:bodyPr>
          <a:lstStyle/>
          <a:p>
            <a:pPr rtl="0"/>
            <a:endParaRPr lang="zh-TW" altLang="en-US" dirty="0">
              <a:latin typeface="Microsoft JhengHei UI" panose="020B0604030504040204" pitchFamily="34" charset="-120"/>
              <a:ea typeface="Microsoft JhengHei UI" panose="020B0604030504040204" pitchFamily="34" charset="-120"/>
            </a:endParaRPr>
          </a:p>
        </p:txBody>
      </p:sp>
      <p:cxnSp>
        <p:nvCxnSpPr>
          <p:cNvPr id="14" name="直線接點​ 13"/>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直排標題 1"/>
          <p:cNvSpPr>
            <a:spLocks noGrp="1"/>
          </p:cNvSpPr>
          <p:nvPr>
            <p:ph type="title" orient="vert" hasCustomPrompt="1"/>
          </p:nvPr>
        </p:nvSpPr>
        <p:spPr>
          <a:xfrm>
            <a:off x="9599612" y="685800"/>
            <a:ext cx="1787526" cy="5486400"/>
          </a:xfrm>
        </p:spPr>
        <p:txBody>
          <a:bodyPr vert="eaVert" rtlCol="0"/>
          <a:lstStyle>
            <a:lvl1pPr>
              <a:defRPr>
                <a:latin typeface="Microsoft JhengHei UI" panose="020B0604030504040204" pitchFamily="34" charset="-120"/>
                <a:ea typeface="Microsoft JhengHei UI" panose="020B0604030504040204" pitchFamily="34" charset="-120"/>
              </a:defRPr>
            </a:lvl1pPr>
          </a:lstStyle>
          <a:p>
            <a:pPr rtl="0"/>
            <a:r>
              <a:rPr lang="zh-TW" altLang="en-US" dirty="0"/>
              <a:t>按一下以編輯母片標題</a:t>
            </a:r>
            <a:br>
              <a:rPr lang="en-US" altLang="zh-TW" dirty="0"/>
            </a:br>
            <a:r>
              <a:rPr lang="zh-TW" altLang="en-US" dirty="0"/>
              <a:t>樣式</a:t>
            </a:r>
          </a:p>
        </p:txBody>
      </p:sp>
      <p:sp>
        <p:nvSpPr>
          <p:cNvPr id="3" name="直排文字預留位置 2"/>
          <p:cNvSpPr>
            <a:spLocks noGrp="1"/>
          </p:cNvSpPr>
          <p:nvPr>
            <p:ph type="body" orient="vert" idx="1"/>
          </p:nvPr>
        </p:nvSpPr>
        <p:spPr>
          <a:xfrm>
            <a:off x="1598613" y="685800"/>
            <a:ext cx="7848599" cy="5486400"/>
          </a:xfrm>
        </p:spPr>
        <p:txBody>
          <a:bodyPr vert="eaVert" rtlCol="0"/>
          <a:lstStyle>
            <a:lvl1pPr>
              <a:defRPr>
                <a:latin typeface="Microsoft JhengHei UI" panose="020B0604030504040204" pitchFamily="34" charset="-120"/>
                <a:ea typeface="Microsoft JhengHei UI" panose="020B0604030504040204" pitchFamily="34" charset="-120"/>
              </a:defRPr>
            </a:lvl1pPr>
            <a:lvl2pPr>
              <a:defRPr>
                <a:latin typeface="Microsoft JhengHei UI" panose="020B0604030504040204" pitchFamily="34" charset="-120"/>
                <a:ea typeface="Microsoft JhengHei UI" panose="020B0604030504040204" pitchFamily="34" charset="-120"/>
              </a:defRPr>
            </a:lvl2pPr>
            <a:lvl3pPr>
              <a:defRPr>
                <a:latin typeface="Microsoft JhengHei UI" panose="020B0604030504040204" pitchFamily="34" charset="-120"/>
                <a:ea typeface="Microsoft JhengHei UI" panose="020B0604030504040204" pitchFamily="34" charset="-120"/>
              </a:defRPr>
            </a:lvl3pPr>
            <a:lvl4pPr>
              <a:defRPr>
                <a:latin typeface="Microsoft JhengHei UI" panose="020B0604030504040204" pitchFamily="34" charset="-120"/>
                <a:ea typeface="Microsoft JhengHei UI" panose="020B0604030504040204" pitchFamily="34" charset="-120"/>
              </a:defRPr>
            </a:lvl4pPr>
            <a:lvl5pPr>
              <a:defRPr>
                <a:latin typeface="Microsoft JhengHei UI" panose="020B0604030504040204" pitchFamily="34" charset="-120"/>
                <a:ea typeface="Microsoft JhengHei UI" panose="020B0604030504040204" pitchFamily="34" charset="-120"/>
              </a:defRPr>
            </a:lvl5pPr>
          </a:lstStyle>
          <a:p>
            <a:pPr lvl="0" rtl="0"/>
            <a:r>
              <a:rPr lang="zh-TW" altLang="en-US"/>
              <a:t>編輯母片文字樣式</a:t>
            </a:r>
          </a:p>
          <a:p>
            <a:pPr lvl="1" rtl="0"/>
            <a:r>
              <a:rPr lang="zh-TW" altLang="en-US"/>
              <a:t>第二層</a:t>
            </a:r>
          </a:p>
          <a:p>
            <a:pPr lvl="2" rtl="0"/>
            <a:r>
              <a:rPr lang="zh-TW" altLang="en-US"/>
              <a:t>第三層</a:t>
            </a:r>
          </a:p>
          <a:p>
            <a:pPr lvl="3" rtl="0"/>
            <a:r>
              <a:rPr lang="zh-TW" altLang="en-US"/>
              <a:t>第四層</a:t>
            </a:r>
          </a:p>
          <a:p>
            <a:pPr lvl="4" rtl="0"/>
            <a:r>
              <a:rPr lang="zh-TW" altLang="en-US"/>
              <a:t>第五層</a:t>
            </a:r>
            <a:endParaRPr lang="zh-TW" altLang="en-US" dirty="0"/>
          </a:p>
        </p:txBody>
      </p:sp>
      <p:sp>
        <p:nvSpPr>
          <p:cNvPr id="4" name="日期預留位置 3"/>
          <p:cNvSpPr>
            <a:spLocks noGrp="1"/>
          </p:cNvSpPr>
          <p:nvPr>
            <p:ph type="dt" sz="half" idx="10"/>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2A4782A2-0879-41DC-8E75-FA3C9CCBBA68}" type="datetime2">
              <a:rPr lang="zh-TW" altLang="en-US" smtClean="0"/>
              <a:pPr/>
              <a:t>2020年2月14日</a:t>
            </a:fld>
            <a:endParaRPr lang="zh-TW" altLang="en-US" dirty="0"/>
          </a:p>
        </p:txBody>
      </p:sp>
      <p:sp>
        <p:nvSpPr>
          <p:cNvPr id="5" name="頁尾預留位置 4"/>
          <p:cNvSpPr>
            <a:spLocks noGrp="1"/>
          </p:cNvSpPr>
          <p:nvPr>
            <p:ph type="ftr" sz="quarter" idx="11"/>
          </p:nvPr>
        </p:nvSpPr>
        <p:spPr/>
        <p:txBody>
          <a:bodyPr rtlCol="0"/>
          <a:lstStyle>
            <a:lvl1pPr>
              <a:defRPr>
                <a:latin typeface="Microsoft JhengHei UI" panose="020B0604030504040204" pitchFamily="34" charset="-120"/>
                <a:ea typeface="Microsoft JhengHei UI" panose="020B0604030504040204" pitchFamily="34" charset="-120"/>
              </a:defRPr>
            </a:lvl1pPr>
          </a:lstStyle>
          <a:p>
            <a:r>
              <a:rPr lang="zh-TW" altLang="en-US"/>
              <a:t>新增頁尾</a:t>
            </a:r>
            <a:endParaRPr lang="zh-TW" altLang="en-US" dirty="0"/>
          </a:p>
        </p:txBody>
      </p:sp>
      <p:sp>
        <p:nvSpPr>
          <p:cNvPr id="6" name="投影片編號預留位置 5"/>
          <p:cNvSpPr>
            <a:spLocks noGrp="1"/>
          </p:cNvSpPr>
          <p:nvPr>
            <p:ph type="sldNum" sz="quarter" idx="12"/>
          </p:nvPr>
        </p:nvSpPr>
        <p:spPr/>
        <p:txBody>
          <a:bodyPr rtlCol="0"/>
          <a:lstStyle>
            <a:lvl1pPr>
              <a:defRPr>
                <a:latin typeface="Microsoft JhengHei UI" panose="020B0604030504040204" pitchFamily="34" charset="-120"/>
                <a:ea typeface="Microsoft JhengHei UI" panose="020B0604030504040204" pitchFamily="34" charset="-120"/>
              </a:defRPr>
            </a:lvl1pPr>
          </a:lstStyle>
          <a:p>
            <a:fld id="{7DC1BBB0-96F0-4077-A278-0F3FB5C104D3}" type="slidenum">
              <a:rPr lang="en-US" altLang="zh-TW" smtClean="0"/>
              <a:pPr/>
              <a:t>‹#›</a:t>
            </a:fld>
            <a:endParaRPr lang="en-US" altLang="zh-TW" dirty="0"/>
          </a:p>
        </p:txBody>
      </p:sp>
    </p:spTree>
    <p:extLst>
      <p:ext uri="{BB962C8B-B14F-4D97-AF65-F5344CB8AC3E}">
        <p14:creationId xmlns:p14="http://schemas.microsoft.com/office/powerpoint/2010/main" val="612817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矩形 6"/>
          <p:cNvSpPr/>
          <p:nvPr/>
        </p:nvSpPr>
        <p:spPr bwMode="gray">
          <a:xfrm>
            <a:off x="11884104" y="0"/>
            <a:ext cx="304721" cy="6858000"/>
          </a:xfrm>
          <a:prstGeom prst="rect">
            <a:avLst/>
          </a:pr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rtl="0"/>
            <a:endParaRPr lang="zh-TW" altLang="en-US" dirty="0">
              <a:latin typeface="Microsoft JhengHei UI" panose="020B0604030504040204" pitchFamily="34" charset="-120"/>
              <a:ea typeface="Microsoft JhengHei UI" panose="020B0604030504040204" pitchFamily="34" charset="-120"/>
            </a:endParaRPr>
          </a:p>
        </p:txBody>
      </p:sp>
      <p:sp>
        <p:nvSpPr>
          <p:cNvPr id="8" name="矩形 7"/>
          <p:cNvSpPr/>
          <p:nvPr/>
        </p:nvSpPr>
        <p:spPr bwMode="ltGray">
          <a:xfrm>
            <a:off x="617143" y="0"/>
            <a:ext cx="6094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sp>
        <p:nvSpPr>
          <p:cNvPr id="9" name="矩形 8"/>
          <p:cNvSpPr/>
          <p:nvPr/>
        </p:nvSpPr>
        <p:spPr bwMode="gray">
          <a:xfrm>
            <a:off x="0" y="0"/>
            <a:ext cx="609441" cy="6858000"/>
          </a:xfrm>
          <a:prstGeom prst="rect">
            <a:avLst/>
          </a:prstGeom>
          <a:solidFill>
            <a:schemeClr val="accent1">
              <a:lumMod val="75000"/>
              <a:alpha val="87843"/>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sp>
        <p:nvSpPr>
          <p:cNvPr id="13" name="矩形 12"/>
          <p:cNvSpPr/>
          <p:nvPr/>
        </p:nvSpPr>
        <p:spPr bwMode="black">
          <a:xfrm>
            <a:off x="617143" y="736219"/>
            <a:ext cx="609441" cy="609600"/>
          </a:xfrm>
          <a:prstGeom prst="rect">
            <a:avLst/>
          </a:prstGeom>
          <a:solidFill>
            <a:schemeClr val="accent1">
              <a:lumMod val="50000"/>
              <a:alpha val="74902"/>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TW" altLang="en-US" dirty="0">
              <a:latin typeface="Microsoft JhengHei UI" panose="020B0604030504040204" pitchFamily="34" charset="-120"/>
              <a:ea typeface="Microsoft JhengHei UI" panose="020B0604030504040204" pitchFamily="34" charset="-120"/>
            </a:endParaRPr>
          </a:p>
        </p:txBody>
      </p:sp>
      <p:cxnSp>
        <p:nvCxnSpPr>
          <p:cNvPr id="14" name="直線接點​ 13"/>
          <p:cNvCxnSpPr/>
          <p:nvPr/>
        </p:nvCxnSpPr>
        <p:spPr bwMode="white">
          <a:xfrm>
            <a:off x="617143" y="7362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線接點​​ 14"/>
          <p:cNvCxnSpPr/>
          <p:nvPr/>
        </p:nvCxnSpPr>
        <p:spPr bwMode="white">
          <a:xfrm>
            <a:off x="617143" y="1345819"/>
            <a:ext cx="60944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Pi"/>
          <p:cNvSpPr>
            <a:spLocks/>
          </p:cNvSpPr>
          <p:nvPr/>
        </p:nvSpPr>
        <p:spPr bwMode="white">
          <a:xfrm>
            <a:off x="756095" y="898102"/>
            <a:ext cx="336023" cy="294097"/>
          </a:xfrm>
          <a:custGeom>
            <a:avLst/>
            <a:gdLst>
              <a:gd name="T0" fmla="*/ 411 w 426"/>
              <a:gd name="T1" fmla="*/ 0 h 372"/>
              <a:gd name="T2" fmla="*/ 90 w 426"/>
              <a:gd name="T3" fmla="*/ 0 h 372"/>
              <a:gd name="T4" fmla="*/ 3 w 426"/>
              <a:gd name="T5" fmla="*/ 64 h 372"/>
              <a:gd name="T6" fmla="*/ 12 w 426"/>
              <a:gd name="T7" fmla="*/ 83 h 372"/>
              <a:gd name="T8" fmla="*/ 17 w 426"/>
              <a:gd name="T9" fmla="*/ 83 h 372"/>
              <a:gd name="T10" fmla="*/ 31 w 426"/>
              <a:gd name="T11" fmla="*/ 73 h 372"/>
              <a:gd name="T12" fmla="*/ 90 w 426"/>
              <a:gd name="T13" fmla="*/ 30 h 372"/>
              <a:gd name="T14" fmla="*/ 131 w 426"/>
              <a:gd name="T15" fmla="*/ 30 h 372"/>
              <a:gd name="T16" fmla="*/ 61 w 426"/>
              <a:gd name="T17" fmla="*/ 334 h 372"/>
              <a:gd name="T18" fmla="*/ 61 w 426"/>
              <a:gd name="T19" fmla="*/ 355 h 372"/>
              <a:gd name="T20" fmla="*/ 72 w 426"/>
              <a:gd name="T21" fmla="*/ 359 h 372"/>
              <a:gd name="T22" fmla="*/ 83 w 426"/>
              <a:gd name="T23" fmla="*/ 355 h 372"/>
              <a:gd name="T24" fmla="*/ 161 w 426"/>
              <a:gd name="T25" fmla="*/ 30 h 372"/>
              <a:gd name="T26" fmla="*/ 272 w 426"/>
              <a:gd name="T27" fmla="*/ 30 h 372"/>
              <a:gd name="T28" fmla="*/ 253 w 426"/>
              <a:gd name="T29" fmla="*/ 270 h 372"/>
              <a:gd name="T30" fmla="*/ 277 w 426"/>
              <a:gd name="T31" fmla="*/ 355 h 372"/>
              <a:gd name="T32" fmla="*/ 322 w 426"/>
              <a:gd name="T33" fmla="*/ 372 h 372"/>
              <a:gd name="T34" fmla="*/ 335 w 426"/>
              <a:gd name="T35" fmla="*/ 371 h 372"/>
              <a:gd name="T36" fmla="*/ 417 w 426"/>
              <a:gd name="T37" fmla="*/ 280 h 372"/>
              <a:gd name="T38" fmla="*/ 406 w 426"/>
              <a:gd name="T39" fmla="*/ 262 h 372"/>
              <a:gd name="T40" fmla="*/ 388 w 426"/>
              <a:gd name="T41" fmla="*/ 273 h 372"/>
              <a:gd name="T42" fmla="*/ 331 w 426"/>
              <a:gd name="T43" fmla="*/ 341 h 372"/>
              <a:gd name="T44" fmla="*/ 298 w 426"/>
              <a:gd name="T45" fmla="*/ 333 h 372"/>
              <a:gd name="T46" fmla="*/ 283 w 426"/>
              <a:gd name="T47" fmla="*/ 272 h 372"/>
              <a:gd name="T48" fmla="*/ 302 w 426"/>
              <a:gd name="T49" fmla="*/ 30 h 372"/>
              <a:gd name="T50" fmla="*/ 411 w 426"/>
              <a:gd name="T51" fmla="*/ 30 h 372"/>
              <a:gd name="T52" fmla="*/ 426 w 426"/>
              <a:gd name="T53" fmla="*/ 15 h 372"/>
              <a:gd name="T54" fmla="*/ 411 w 426"/>
              <a:gd name="T55" fmla="*/ 0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6" h="372">
                <a:moveTo>
                  <a:pt x="411" y="0"/>
                </a:moveTo>
                <a:cubicBezTo>
                  <a:pt x="90" y="0"/>
                  <a:pt x="90" y="0"/>
                  <a:pt x="90" y="0"/>
                </a:cubicBezTo>
                <a:cubicBezTo>
                  <a:pt x="25" y="0"/>
                  <a:pt x="4" y="61"/>
                  <a:pt x="3" y="64"/>
                </a:cubicBezTo>
                <a:cubicBezTo>
                  <a:pt x="0" y="71"/>
                  <a:pt x="4" y="80"/>
                  <a:pt x="12" y="83"/>
                </a:cubicBezTo>
                <a:cubicBezTo>
                  <a:pt x="14" y="83"/>
                  <a:pt x="15" y="83"/>
                  <a:pt x="17" y="83"/>
                </a:cubicBezTo>
                <a:cubicBezTo>
                  <a:pt x="23" y="83"/>
                  <a:pt x="29" y="80"/>
                  <a:pt x="31" y="73"/>
                </a:cubicBezTo>
                <a:cubicBezTo>
                  <a:pt x="31" y="73"/>
                  <a:pt x="46" y="30"/>
                  <a:pt x="90" y="30"/>
                </a:cubicBezTo>
                <a:cubicBezTo>
                  <a:pt x="131" y="30"/>
                  <a:pt x="131" y="30"/>
                  <a:pt x="131" y="30"/>
                </a:cubicBezTo>
                <a:cubicBezTo>
                  <a:pt x="129" y="83"/>
                  <a:pt x="118" y="274"/>
                  <a:pt x="61" y="334"/>
                </a:cubicBezTo>
                <a:cubicBezTo>
                  <a:pt x="55" y="340"/>
                  <a:pt x="55" y="350"/>
                  <a:pt x="61" y="355"/>
                </a:cubicBezTo>
                <a:cubicBezTo>
                  <a:pt x="64" y="358"/>
                  <a:pt x="68" y="359"/>
                  <a:pt x="72" y="359"/>
                </a:cubicBezTo>
                <a:cubicBezTo>
                  <a:pt x="76" y="359"/>
                  <a:pt x="80" y="358"/>
                  <a:pt x="83" y="355"/>
                </a:cubicBezTo>
                <a:cubicBezTo>
                  <a:pt x="148" y="286"/>
                  <a:pt x="159" y="84"/>
                  <a:pt x="161" y="30"/>
                </a:cubicBezTo>
                <a:cubicBezTo>
                  <a:pt x="272" y="30"/>
                  <a:pt x="272" y="30"/>
                  <a:pt x="272" y="30"/>
                </a:cubicBezTo>
                <a:cubicBezTo>
                  <a:pt x="253" y="270"/>
                  <a:pt x="253" y="270"/>
                  <a:pt x="253" y="270"/>
                </a:cubicBezTo>
                <a:cubicBezTo>
                  <a:pt x="253" y="272"/>
                  <a:pt x="248" y="327"/>
                  <a:pt x="277" y="355"/>
                </a:cubicBezTo>
                <a:cubicBezTo>
                  <a:pt x="289" y="366"/>
                  <a:pt x="304" y="372"/>
                  <a:pt x="322" y="372"/>
                </a:cubicBezTo>
                <a:cubicBezTo>
                  <a:pt x="326" y="372"/>
                  <a:pt x="330" y="372"/>
                  <a:pt x="335" y="371"/>
                </a:cubicBezTo>
                <a:cubicBezTo>
                  <a:pt x="398" y="362"/>
                  <a:pt x="416" y="283"/>
                  <a:pt x="417" y="280"/>
                </a:cubicBezTo>
                <a:cubicBezTo>
                  <a:pt x="419" y="271"/>
                  <a:pt x="414" y="264"/>
                  <a:pt x="406" y="262"/>
                </a:cubicBezTo>
                <a:cubicBezTo>
                  <a:pt x="398" y="260"/>
                  <a:pt x="390" y="265"/>
                  <a:pt x="388" y="273"/>
                </a:cubicBezTo>
                <a:cubicBezTo>
                  <a:pt x="388" y="274"/>
                  <a:pt x="373" y="335"/>
                  <a:pt x="331" y="341"/>
                </a:cubicBezTo>
                <a:cubicBezTo>
                  <a:pt x="316" y="343"/>
                  <a:pt x="306" y="341"/>
                  <a:pt x="298" y="333"/>
                </a:cubicBezTo>
                <a:cubicBezTo>
                  <a:pt x="282" y="318"/>
                  <a:pt x="282" y="284"/>
                  <a:pt x="283" y="272"/>
                </a:cubicBezTo>
                <a:cubicBezTo>
                  <a:pt x="302" y="30"/>
                  <a:pt x="302" y="30"/>
                  <a:pt x="302" y="30"/>
                </a:cubicBezTo>
                <a:cubicBezTo>
                  <a:pt x="411" y="30"/>
                  <a:pt x="411" y="30"/>
                  <a:pt x="411" y="30"/>
                </a:cubicBezTo>
                <a:cubicBezTo>
                  <a:pt x="419" y="30"/>
                  <a:pt x="426" y="24"/>
                  <a:pt x="426" y="15"/>
                </a:cubicBezTo>
                <a:cubicBezTo>
                  <a:pt x="426" y="7"/>
                  <a:pt x="419" y="0"/>
                  <a:pt x="411" y="0"/>
                </a:cubicBezTo>
                <a:close/>
              </a:path>
            </a:pathLst>
          </a:custGeom>
          <a:solidFill>
            <a:schemeClr val="bg1"/>
          </a:solidFill>
          <a:ln>
            <a:noFill/>
          </a:ln>
          <a:extLst/>
        </p:spPr>
        <p:txBody>
          <a:bodyPr vert="horz" wrap="square" lIns="91440" tIns="45720" rIns="91440" bIns="45720" numCol="1" rtlCol="0" anchor="t" anchorCtr="0" compatLnSpc="1">
            <a:prstTxWarp prst="textNoShape">
              <a:avLst/>
            </a:prstTxWarp>
          </a:bodyPr>
          <a:lstStyle/>
          <a:p>
            <a:pPr rtl="0"/>
            <a:endParaRPr lang="zh-TW" altLang="en-US" dirty="0">
              <a:latin typeface="Microsoft JhengHei UI" panose="020B0604030504040204" pitchFamily="34" charset="-120"/>
              <a:ea typeface="Microsoft JhengHei UI" panose="020B0604030504040204" pitchFamily="34" charset="-120"/>
            </a:endParaRPr>
          </a:p>
        </p:txBody>
      </p:sp>
      <p:cxnSp>
        <p:nvCxnSpPr>
          <p:cNvPr id="16" name="直線接點 15"/>
          <p:cNvCxnSpPr/>
          <p:nvPr/>
        </p:nvCxnSpPr>
        <p:spPr bwMode="white">
          <a:xfrm>
            <a:off x="617143" y="0"/>
            <a:ext cx="0" cy="685800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標題預留位置 1"/>
          <p:cNvSpPr>
            <a:spLocks noGrp="1"/>
          </p:cNvSpPr>
          <p:nvPr>
            <p:ph type="title"/>
          </p:nvPr>
        </p:nvSpPr>
        <p:spPr>
          <a:xfrm>
            <a:off x="1593436" y="177800"/>
            <a:ext cx="9782801" cy="1239837"/>
          </a:xfrm>
          <a:prstGeom prst="rect">
            <a:avLst/>
          </a:prstGeom>
        </p:spPr>
        <p:txBody>
          <a:bodyPr vert="horz" lIns="91440" tIns="45720" rIns="91440" bIns="45720" rtlCol="0" anchor="b">
            <a:normAutofit/>
          </a:bodyPr>
          <a:lstStyle/>
          <a:p>
            <a:pPr rtl="0"/>
            <a:r>
              <a:rPr lang="zh-TW" altLang="en-US" dirty="0"/>
              <a:t>按一下以編輯母片標題樣式</a:t>
            </a:r>
          </a:p>
        </p:txBody>
      </p:sp>
      <p:sp>
        <p:nvSpPr>
          <p:cNvPr id="3" name="文字預留位置 2"/>
          <p:cNvSpPr>
            <a:spLocks noGrp="1"/>
          </p:cNvSpPr>
          <p:nvPr>
            <p:ph type="body" idx="1"/>
          </p:nvPr>
        </p:nvSpPr>
        <p:spPr>
          <a:xfrm>
            <a:off x="1593436" y="1600200"/>
            <a:ext cx="9782801" cy="4572000"/>
          </a:xfrm>
          <a:prstGeom prst="rect">
            <a:avLst/>
          </a:prstGeom>
        </p:spPr>
        <p:txBody>
          <a:bodyPr vert="horz" lIns="91440" tIns="45720" rIns="91440" bIns="45720" rtlCol="0">
            <a:normAutofit/>
          </a:bodyPr>
          <a:lstStyle/>
          <a:p>
            <a:pPr lvl="0" rtl="0"/>
            <a:r>
              <a:rPr lang="zh-TW" altLang="en-US" dirty="0"/>
              <a:t>按一下以編輯母片文字樣式</a:t>
            </a:r>
          </a:p>
          <a:p>
            <a:pPr lvl="1" rtl="0"/>
            <a:r>
              <a:rPr lang="zh-TW" altLang="en-US" dirty="0"/>
              <a:t>第二層</a:t>
            </a:r>
          </a:p>
          <a:p>
            <a:pPr lvl="2" rtl="0"/>
            <a:r>
              <a:rPr lang="zh-TW" altLang="en-US" dirty="0"/>
              <a:t>第三層</a:t>
            </a:r>
          </a:p>
          <a:p>
            <a:pPr lvl="3" rtl="0"/>
            <a:r>
              <a:rPr lang="zh-TW" altLang="en-US" dirty="0"/>
              <a:t>第四層</a:t>
            </a:r>
          </a:p>
          <a:p>
            <a:pPr lvl="4" rtl="0"/>
            <a:r>
              <a:rPr lang="zh-TW" altLang="en-US" dirty="0"/>
              <a:t>第五層</a:t>
            </a:r>
          </a:p>
        </p:txBody>
      </p:sp>
      <p:sp>
        <p:nvSpPr>
          <p:cNvPr id="4" name="日期預留位置 3"/>
          <p:cNvSpPr>
            <a:spLocks noGrp="1"/>
          </p:cNvSpPr>
          <p:nvPr>
            <p:ph type="dt" sz="half" idx="2"/>
          </p:nvPr>
        </p:nvSpPr>
        <p:spPr>
          <a:xfrm>
            <a:off x="5027612" y="6356351"/>
            <a:ext cx="1371521" cy="365125"/>
          </a:xfrm>
          <a:prstGeom prst="rect">
            <a:avLst/>
          </a:prstGeom>
        </p:spPr>
        <p:txBody>
          <a:bodyPr vert="horz" lIns="91440" tIns="45720" rIns="91440" bIns="45720" rtlCol="0" anchor="ctr"/>
          <a:lstStyle>
            <a:lvl1pPr algn="l">
              <a:defRPr sz="1200" cap="all" baseline="0">
                <a:solidFill>
                  <a:schemeClr val="tx1"/>
                </a:solidFill>
                <a:latin typeface="Microsoft JhengHei UI" panose="020B0604030504040204" pitchFamily="34" charset="-120"/>
                <a:ea typeface="Microsoft JhengHei UI" panose="020B0604030504040204" pitchFamily="34" charset="-120"/>
              </a:defRPr>
            </a:lvl1pPr>
          </a:lstStyle>
          <a:p>
            <a:fld id="{A77832FB-C6E3-4E1D-A0D2-65305D9CB2C9}" type="datetime2">
              <a:rPr lang="zh-TW" altLang="en-US" smtClean="0"/>
              <a:pPr/>
              <a:t>2020年2月14日</a:t>
            </a:fld>
            <a:endParaRPr lang="zh-TW" altLang="en-US" dirty="0"/>
          </a:p>
        </p:txBody>
      </p:sp>
      <p:sp>
        <p:nvSpPr>
          <p:cNvPr id="5" name="頁尾預留位置 4"/>
          <p:cNvSpPr>
            <a:spLocks noGrp="1"/>
          </p:cNvSpPr>
          <p:nvPr>
            <p:ph type="ftr" sz="quarter" idx="3"/>
          </p:nvPr>
        </p:nvSpPr>
        <p:spPr>
          <a:xfrm>
            <a:off x="6595933" y="6356351"/>
            <a:ext cx="3974065" cy="365125"/>
          </a:xfrm>
          <a:prstGeom prst="rect">
            <a:avLst/>
          </a:prstGeom>
        </p:spPr>
        <p:txBody>
          <a:bodyPr vert="horz" lIns="91440" tIns="45720" rIns="91440" bIns="45720" rtlCol="0" anchor="ctr"/>
          <a:lstStyle>
            <a:lvl1pPr algn="ctr">
              <a:defRPr sz="1200" cap="all" baseline="0">
                <a:solidFill>
                  <a:schemeClr val="tx1"/>
                </a:solidFill>
                <a:latin typeface="Microsoft JhengHei UI" panose="020B0604030504040204" pitchFamily="34" charset="-120"/>
                <a:ea typeface="Microsoft JhengHei UI" panose="020B0604030504040204" pitchFamily="34" charset="-120"/>
              </a:defRPr>
            </a:lvl1pPr>
          </a:lstStyle>
          <a:p>
            <a:r>
              <a:rPr lang="zh-TW" altLang="en-US"/>
              <a:t>新增頁尾</a:t>
            </a:r>
            <a:endParaRPr lang="zh-TW" altLang="en-US" dirty="0"/>
          </a:p>
        </p:txBody>
      </p:sp>
      <p:sp>
        <p:nvSpPr>
          <p:cNvPr id="6" name="投影片編號預留位置 5"/>
          <p:cNvSpPr>
            <a:spLocks noGrp="1"/>
          </p:cNvSpPr>
          <p:nvPr>
            <p:ph type="sldNum" sz="quarter" idx="4"/>
          </p:nvPr>
        </p:nvSpPr>
        <p:spPr>
          <a:xfrm>
            <a:off x="10766796" y="6356351"/>
            <a:ext cx="609441" cy="365125"/>
          </a:xfrm>
          <a:prstGeom prst="rect">
            <a:avLst/>
          </a:prstGeom>
        </p:spPr>
        <p:txBody>
          <a:bodyPr vert="horz" lIns="91440" tIns="45720" rIns="91440" bIns="45720" rtlCol="0" anchor="ctr"/>
          <a:lstStyle>
            <a:lvl1pPr algn="r">
              <a:defRPr sz="1200" cap="all" baseline="0">
                <a:solidFill>
                  <a:schemeClr val="tx1"/>
                </a:solidFill>
                <a:latin typeface="Microsoft JhengHei UI" panose="020B0604030504040204" pitchFamily="34" charset="-120"/>
                <a:ea typeface="Microsoft JhengHei UI" panose="020B0604030504040204" pitchFamily="34" charset="-120"/>
              </a:defRPr>
            </a:lvl1pPr>
          </a:lstStyle>
          <a:p>
            <a:fld id="{7DC1BBB0-96F0-4077-A278-0F3FB5C104D3}" type="slidenum">
              <a:rPr lang="en-US" altLang="zh-TW" smtClean="0"/>
              <a:pPr/>
              <a:t>‹#›</a:t>
            </a:fld>
            <a:endParaRPr lang="zh-TW" altLang="en-US" dirty="0"/>
          </a:p>
        </p:txBody>
      </p:sp>
    </p:spTree>
    <p:extLst>
      <p:ext uri="{BB962C8B-B14F-4D97-AF65-F5344CB8AC3E}">
        <p14:creationId xmlns:p14="http://schemas.microsoft.com/office/powerpoint/2010/main" val="20543223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tx1">
              <a:lumMod val="75000"/>
            </a:schemeClr>
          </a:solidFill>
          <a:latin typeface="Microsoft JhengHei UI" panose="020B0604030504040204" pitchFamily="34" charset="-120"/>
          <a:ea typeface="Microsoft JhengHei UI" panose="020B0604030504040204" pitchFamily="34" charset="-120"/>
          <a:cs typeface="+mj-cs"/>
        </a:defRPr>
      </a:lvl1pPr>
    </p:titleStyle>
    <p:bodyStyle>
      <a:lvl1pPr marL="246888" indent="-246888" algn="l" defTabSz="914400" rtl="0" eaLnBrk="1" latinLnBrk="0" hangingPunct="1">
        <a:lnSpc>
          <a:spcPct val="90000"/>
        </a:lnSpc>
        <a:spcBef>
          <a:spcPts val="1400"/>
        </a:spcBef>
        <a:buFont typeface="Euphemia" pitchFamily="34" charset="0"/>
        <a:buChar char="›"/>
        <a:defRPr sz="2800" kern="1200">
          <a:solidFill>
            <a:schemeClr val="tx1"/>
          </a:solidFill>
          <a:latin typeface="Microsoft JhengHei UI" panose="020B0604030504040204" pitchFamily="34" charset="-120"/>
          <a:ea typeface="Microsoft JhengHei UI" panose="020B0604030504040204" pitchFamily="34" charset="-120"/>
          <a:cs typeface="+mn-cs"/>
        </a:defRPr>
      </a:lvl1pPr>
      <a:lvl2pPr marL="612648" indent="-246888" algn="l" defTabSz="914400" rtl="0" eaLnBrk="1" latinLnBrk="0" hangingPunct="1">
        <a:lnSpc>
          <a:spcPct val="90000"/>
        </a:lnSpc>
        <a:spcBef>
          <a:spcPts val="600"/>
        </a:spcBef>
        <a:buFont typeface="Euphemia" pitchFamily="34" charset="0"/>
        <a:buChar char="–"/>
        <a:defRPr sz="2400" kern="1200">
          <a:solidFill>
            <a:schemeClr val="tx1"/>
          </a:solidFill>
          <a:latin typeface="Microsoft JhengHei UI" panose="020B0604030504040204" pitchFamily="34" charset="-120"/>
          <a:ea typeface="Microsoft JhengHei UI" panose="020B0604030504040204" pitchFamily="34" charset="-120"/>
          <a:cs typeface="+mn-cs"/>
        </a:defRPr>
      </a:lvl2pPr>
      <a:lvl3pPr marL="978408" indent="-246888" algn="l" defTabSz="914400" rtl="0" eaLnBrk="1" latinLnBrk="0" hangingPunct="1">
        <a:lnSpc>
          <a:spcPct val="90000"/>
        </a:lnSpc>
        <a:spcBef>
          <a:spcPts val="600"/>
        </a:spcBef>
        <a:buFont typeface="Euphemia" pitchFamily="34" charset="0"/>
        <a:buChar char="›"/>
        <a:defRPr sz="2000" kern="1200">
          <a:solidFill>
            <a:schemeClr val="tx1"/>
          </a:solidFill>
          <a:latin typeface="Microsoft JhengHei UI" panose="020B0604030504040204" pitchFamily="34" charset="-120"/>
          <a:ea typeface="Microsoft JhengHei UI" panose="020B0604030504040204" pitchFamily="34" charset="-120"/>
          <a:cs typeface="+mn-cs"/>
        </a:defRPr>
      </a:lvl3pPr>
      <a:lvl4pPr marL="1344168" indent="-246888" algn="l" defTabSz="914400" rtl="0" eaLnBrk="1" latinLnBrk="0" hangingPunct="1">
        <a:lnSpc>
          <a:spcPct val="90000"/>
        </a:lnSpc>
        <a:spcBef>
          <a:spcPts val="600"/>
        </a:spcBef>
        <a:buFont typeface="Arial" pitchFamily="34" charset="0"/>
        <a:buChar char="–"/>
        <a:defRPr sz="1800" kern="1200">
          <a:solidFill>
            <a:schemeClr val="tx1"/>
          </a:solidFill>
          <a:latin typeface="Microsoft JhengHei UI" panose="020B0604030504040204" pitchFamily="34" charset="-120"/>
          <a:ea typeface="Microsoft JhengHei UI" panose="020B0604030504040204" pitchFamily="34" charset="-120"/>
          <a:cs typeface="+mn-cs"/>
        </a:defRPr>
      </a:lvl4pPr>
      <a:lvl5pPr marL="1709928" indent="-246888" algn="l" defTabSz="914400" rtl="0" eaLnBrk="1" latinLnBrk="0" hangingPunct="1">
        <a:lnSpc>
          <a:spcPct val="90000"/>
        </a:lnSpc>
        <a:spcBef>
          <a:spcPts val="600"/>
        </a:spcBef>
        <a:buFont typeface="Euphemia" pitchFamily="34" charset="0"/>
        <a:buChar char="›"/>
        <a:defRPr sz="1800" kern="1200">
          <a:solidFill>
            <a:schemeClr val="tx1"/>
          </a:solidFill>
          <a:latin typeface="Microsoft JhengHei UI" panose="020B0604030504040204" pitchFamily="34" charset="-120"/>
          <a:ea typeface="Microsoft JhengHei UI" panose="020B0604030504040204" pitchFamily="34" charset="-120"/>
          <a:cs typeface="+mn-cs"/>
        </a:defRPr>
      </a:lvl5pPr>
      <a:lvl6pPr marL="207568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6pPr>
      <a:lvl7pPr marL="2441448" indent="-246888" algn="l" defTabSz="914400" rtl="0" eaLnBrk="1" latinLnBrk="0" hangingPunct="1">
        <a:lnSpc>
          <a:spcPct val="90000"/>
        </a:lnSpc>
        <a:spcBef>
          <a:spcPts val="600"/>
        </a:spcBef>
        <a:buFont typeface="Euphemia" pitchFamily="34" charset="0"/>
        <a:buChar char="›"/>
        <a:defRPr sz="1800" kern="1200">
          <a:solidFill>
            <a:schemeClr val="tx1"/>
          </a:solidFill>
          <a:latin typeface="+mn-lt"/>
          <a:ea typeface="+mn-ea"/>
          <a:cs typeface="+mn-cs"/>
        </a:defRPr>
      </a:lvl7pPr>
      <a:lvl8pPr marL="280720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8pPr>
      <a:lvl9pPr marL="3172968" indent="-246888" algn="l" defTabSz="914400" rtl="0" eaLnBrk="1" latinLnBrk="0" hangingPunct="1">
        <a:lnSpc>
          <a:spcPct val="90000"/>
        </a:lnSpc>
        <a:spcBef>
          <a:spcPts val="600"/>
        </a:spcBef>
        <a:buFont typeface="Euphemia" pitchFamily="34" charset="0"/>
        <a:buChar char="›"/>
        <a:defRPr sz="18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rtlCol="0"/>
          <a:lstStyle/>
          <a:p>
            <a:r>
              <a:rPr lang="en-US" altLang="zh-TW" b="1" dirty="0"/>
              <a:t>NR and NB-IoT coexistence</a:t>
            </a:r>
          </a:p>
        </p:txBody>
      </p:sp>
      <p:sp>
        <p:nvSpPr>
          <p:cNvPr id="3" name="副標題 2"/>
          <p:cNvSpPr>
            <a:spLocks noGrp="1"/>
          </p:cNvSpPr>
          <p:nvPr>
            <p:ph type="subTitle" idx="1"/>
          </p:nvPr>
        </p:nvSpPr>
        <p:spPr/>
        <p:txBody>
          <a:bodyPr rtlCol="0"/>
          <a:lstStyle/>
          <a:p>
            <a:pPr rtl="0"/>
            <a:endParaRPr lang="zh-TW" altLang="en-US" dirty="0">
              <a:ea typeface="Microsoft JhengHei UI" panose="020B0604030504040204" pitchFamily="34" charset="-120"/>
            </a:endParaRPr>
          </a:p>
        </p:txBody>
      </p:sp>
    </p:spTree>
    <p:extLst>
      <p:ext uri="{BB962C8B-B14F-4D97-AF65-F5344CB8AC3E}">
        <p14:creationId xmlns:p14="http://schemas.microsoft.com/office/powerpoint/2010/main" val="50676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標題 12"/>
          <p:cNvSpPr>
            <a:spLocks noGrp="1"/>
          </p:cNvSpPr>
          <p:nvPr>
            <p:ph type="title"/>
          </p:nvPr>
        </p:nvSpPr>
        <p:spPr>
          <a:xfrm>
            <a:off x="1413892" y="194942"/>
            <a:ext cx="9782801" cy="2027064"/>
          </a:xfrm>
        </p:spPr>
        <p:txBody>
          <a:bodyPr rtlCol="0">
            <a:noAutofit/>
          </a:bodyPr>
          <a:lstStyle/>
          <a:p>
            <a:r>
              <a:rPr lang="en-GB" altLang="zh-TW" sz="2400" b="1" dirty="0"/>
              <a:t>When it comes to NB-IoT co-existence with NR, depend on the utilized spectrum for NB-IoT operations, 3 system scenarios should be considered:</a:t>
            </a:r>
            <a:endParaRPr lang="zh-TW" altLang="zh-TW" sz="2400" b="1" dirty="0"/>
          </a:p>
        </p:txBody>
      </p:sp>
      <p:sp>
        <p:nvSpPr>
          <p:cNvPr id="14" name="內容預留位置 13"/>
          <p:cNvSpPr>
            <a:spLocks noGrp="1"/>
          </p:cNvSpPr>
          <p:nvPr>
            <p:ph idx="1"/>
          </p:nvPr>
        </p:nvSpPr>
        <p:spPr>
          <a:xfrm>
            <a:off x="1413892" y="2780927"/>
            <a:ext cx="9782801" cy="3887323"/>
          </a:xfrm>
        </p:spPr>
        <p:txBody>
          <a:bodyPr rtlCol="0">
            <a:normAutofit lnSpcReduction="10000"/>
          </a:bodyPr>
          <a:lstStyle/>
          <a:p>
            <a:pPr lvl="0"/>
            <a:r>
              <a:rPr lang="en-US" altLang="zh-TW" sz="2000" b="1" dirty="0"/>
              <a:t>NB-IoT operation in NR in-band:</a:t>
            </a:r>
            <a:r>
              <a:rPr lang="en-US" altLang="zh-TW" sz="2000" dirty="0"/>
              <a:t> NB-IoT is operating in-band when it is located within a NR transmission bandwidth configuration plus 15 kHz at each edge but not within the NR minimum guard band </a:t>
            </a:r>
            <a:r>
              <a:rPr lang="en-US" altLang="zh-TW" sz="2000" dirty="0" err="1"/>
              <a:t>GB</a:t>
            </a:r>
            <a:r>
              <a:rPr lang="en-US" altLang="zh-TW" sz="2000" baseline="-25000" dirty="0" err="1"/>
              <a:t>Channel</a:t>
            </a:r>
            <a:r>
              <a:rPr lang="en-US" altLang="zh-TW" sz="2000" dirty="0"/>
              <a:t>.</a:t>
            </a:r>
          </a:p>
          <a:p>
            <a:pPr lvl="0"/>
            <a:endParaRPr lang="zh-TW" altLang="zh-TW" sz="2000" dirty="0"/>
          </a:p>
          <a:p>
            <a:pPr lvl="0"/>
            <a:r>
              <a:rPr lang="en-US" altLang="zh-TW" sz="2000" b="1" dirty="0"/>
              <a:t>NB-IoT operation in NR guard band:</a:t>
            </a:r>
            <a:r>
              <a:rPr lang="en-US" altLang="zh-TW" sz="2000" dirty="0"/>
              <a:t> NB-IoT is operating in guard band when it is located within a NR BS channel bandwidth but is not NB-IoT In-band operation.</a:t>
            </a:r>
          </a:p>
          <a:p>
            <a:pPr lvl="0"/>
            <a:endParaRPr lang="zh-TW" altLang="zh-TW" sz="2000" dirty="0"/>
          </a:p>
          <a:p>
            <a:pPr lvl="0"/>
            <a:r>
              <a:rPr lang="en-US" altLang="zh-TW" sz="2000" b="1" dirty="0"/>
              <a:t>NB-IoT standalone operation:</a:t>
            </a:r>
            <a:r>
              <a:rPr lang="en-US" altLang="zh-TW" sz="2000" dirty="0"/>
              <a:t> NB-IoT is operating standalone when it utilizes its own spectrum, for example the spectrum currently being used by GERAN systems as a replacement of one or more GSM carriers, as well as scattered spectrum for potential IoT deployment.</a:t>
            </a:r>
            <a:endParaRPr lang="zh-TW" altLang="zh-TW" sz="2000" dirty="0"/>
          </a:p>
          <a:p>
            <a:pPr rtl="0"/>
            <a:endParaRPr lang="zh-TW" altLang="en-US" dirty="0">
              <a:ea typeface="Microsoft JhengHei UI" panose="020B0604030504040204" pitchFamily="34" charset="-120"/>
            </a:endParaRPr>
          </a:p>
        </p:txBody>
      </p:sp>
    </p:spTree>
    <p:extLst>
      <p:ext uri="{BB962C8B-B14F-4D97-AF65-F5344CB8AC3E}">
        <p14:creationId xmlns:p14="http://schemas.microsoft.com/office/powerpoint/2010/main" val="1720426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CECAE0-1F11-4AD7-8EAC-271CAA9E0D03}"/>
              </a:ext>
            </a:extLst>
          </p:cNvPr>
          <p:cNvSpPr>
            <a:spLocks noGrp="1"/>
          </p:cNvSpPr>
          <p:nvPr>
            <p:ph type="title"/>
          </p:nvPr>
        </p:nvSpPr>
        <p:spPr/>
        <p:txBody>
          <a:bodyPr/>
          <a:lstStyle/>
          <a:p>
            <a:endParaRPr lang="zh-TW" altLang="en-US"/>
          </a:p>
        </p:txBody>
      </p:sp>
      <p:pic>
        <p:nvPicPr>
          <p:cNvPr id="4" name="內容版面配置區 3">
            <a:extLst>
              <a:ext uri="{FF2B5EF4-FFF2-40B4-BE49-F238E27FC236}">
                <a16:creationId xmlns:a16="http://schemas.microsoft.com/office/drawing/2014/main" id="{13E61053-18FE-40B6-AE37-83C68FF4802A}"/>
              </a:ext>
            </a:extLst>
          </p:cNvPr>
          <p:cNvPicPr>
            <a:picLocks noGrp="1" noChangeAspect="1"/>
          </p:cNvPicPr>
          <p:nvPr>
            <p:ph idx="1"/>
          </p:nvPr>
        </p:nvPicPr>
        <p:blipFill>
          <a:blip r:embed="rId3"/>
          <a:stretch>
            <a:fillRect/>
          </a:stretch>
        </p:blipFill>
        <p:spPr>
          <a:xfrm>
            <a:off x="2183800" y="1604644"/>
            <a:ext cx="8602275" cy="4563112"/>
          </a:xfrm>
          <a:prstGeom prst="rect">
            <a:avLst/>
          </a:prstGeom>
        </p:spPr>
      </p:pic>
    </p:spTree>
    <p:extLst>
      <p:ext uri="{BB962C8B-B14F-4D97-AF65-F5344CB8AC3E}">
        <p14:creationId xmlns:p14="http://schemas.microsoft.com/office/powerpoint/2010/main" val="2131732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0D3B60AB-3D92-43EA-989C-0770F29AD6B2}"/>
              </a:ext>
            </a:extLst>
          </p:cNvPr>
          <p:cNvSpPr>
            <a:spLocks noGrp="1"/>
          </p:cNvSpPr>
          <p:nvPr>
            <p:ph idx="1"/>
          </p:nvPr>
        </p:nvSpPr>
        <p:spPr/>
        <p:txBody>
          <a:bodyPr/>
          <a:lstStyle/>
          <a:p>
            <a:r>
              <a:rPr lang="en-GB" altLang="zh-TW" sz="2000" dirty="0"/>
              <a:t>Tone (or subcarrier) #0 of one RB is the first tone (or subcarrier) of that RB, as shown on Figure 5.2.1.2-1 with NB-IoT RB.</a:t>
            </a:r>
            <a:endParaRPr lang="zh-TW" altLang="zh-TW" sz="2000" dirty="0"/>
          </a:p>
          <a:p>
            <a:r>
              <a:rPr lang="en-GB" altLang="zh-TW" sz="2000" dirty="0"/>
              <a:t>If N</a:t>
            </a:r>
            <a:r>
              <a:rPr lang="en-GB" altLang="zh-TW" sz="2000" baseline="-25000" dirty="0"/>
              <a:t>RB</a:t>
            </a:r>
            <a:r>
              <a:rPr lang="en-GB" altLang="zh-TW" sz="2000" dirty="0"/>
              <a:t> is the number of RBs for a certain NR channel bandwidth:</a:t>
            </a:r>
            <a:endParaRPr lang="zh-TW" altLang="zh-TW" sz="2000" dirty="0"/>
          </a:p>
          <a:p>
            <a:pPr lvl="1"/>
            <a:r>
              <a:rPr lang="en-GB" altLang="zh-TW" sz="1600" dirty="0"/>
              <a:t>RB #0 is the RB hosting the NR RF reference frequency</a:t>
            </a:r>
            <a:endParaRPr lang="en-US" altLang="zh-TW" sz="1600" dirty="0"/>
          </a:p>
          <a:p>
            <a:pPr lvl="1"/>
            <a:r>
              <a:rPr lang="en-GB" altLang="zh-TW" sz="2000" dirty="0"/>
              <a:t>Subcarrier #0 is the first subcarrier of RB #0.</a:t>
            </a:r>
            <a:endParaRPr lang="zh-TW" altLang="zh-TW" sz="2000" dirty="0"/>
          </a:p>
          <a:p>
            <a:endParaRPr lang="zh-TW" altLang="en-US" dirty="0"/>
          </a:p>
        </p:txBody>
      </p:sp>
      <p:sp>
        <p:nvSpPr>
          <p:cNvPr id="5" name="標題 4">
            <a:extLst>
              <a:ext uri="{FF2B5EF4-FFF2-40B4-BE49-F238E27FC236}">
                <a16:creationId xmlns:a16="http://schemas.microsoft.com/office/drawing/2014/main" id="{E8ED3051-147D-4F48-B509-D8AA57F13802}"/>
              </a:ext>
            </a:extLst>
          </p:cNvPr>
          <p:cNvSpPr>
            <a:spLocks noGrp="1"/>
          </p:cNvSpPr>
          <p:nvPr>
            <p:ph type="title"/>
          </p:nvPr>
        </p:nvSpPr>
        <p:spPr/>
        <p:txBody>
          <a:bodyPr/>
          <a:lstStyle/>
          <a:p>
            <a:r>
              <a:rPr lang="en-US" altLang="zh-TW" b="1" dirty="0"/>
              <a:t>NB-IoT operating in NR in-band</a:t>
            </a:r>
            <a:endParaRPr lang="zh-TW" altLang="en-US" dirty="0"/>
          </a:p>
        </p:txBody>
      </p:sp>
      <p:pic>
        <p:nvPicPr>
          <p:cNvPr id="1026" name="Picture 2" descr="https://i.imgur.com/MYb5PHT.png">
            <a:extLst>
              <a:ext uri="{FF2B5EF4-FFF2-40B4-BE49-F238E27FC236}">
                <a16:creationId xmlns:a16="http://schemas.microsoft.com/office/drawing/2014/main" id="{A4E86A74-E482-47D4-B235-2AF3E01593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2928" y="3356992"/>
            <a:ext cx="5842967" cy="4298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1916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8F2F5B-3DBB-493A-A0F1-4CE3988BCF3F}"/>
              </a:ext>
            </a:extLst>
          </p:cNvPr>
          <p:cNvSpPr>
            <a:spLocks noGrp="1"/>
          </p:cNvSpPr>
          <p:nvPr>
            <p:ph type="title"/>
          </p:nvPr>
        </p:nvSpPr>
        <p:spPr/>
        <p:txBody>
          <a:bodyPr/>
          <a:lstStyle/>
          <a:p>
            <a:r>
              <a:rPr lang="en-GB" altLang="zh-TW" b="1" dirty="0"/>
              <a:t>As shown on Figure 5.2.1.3-1, if N</a:t>
            </a:r>
            <a:r>
              <a:rPr lang="en-GB" altLang="zh-TW" b="1" baseline="-25000" dirty="0"/>
              <a:t>RB</a:t>
            </a:r>
            <a:r>
              <a:rPr lang="en-GB" altLang="zh-TW" b="1" dirty="0"/>
              <a:t> is even:</a:t>
            </a:r>
            <a:endParaRPr lang="zh-TW" altLang="en-US" b="1" dirty="0"/>
          </a:p>
        </p:txBody>
      </p:sp>
      <p:sp>
        <p:nvSpPr>
          <p:cNvPr id="3" name="內容版面配置區 2">
            <a:extLst>
              <a:ext uri="{FF2B5EF4-FFF2-40B4-BE49-F238E27FC236}">
                <a16:creationId xmlns:a16="http://schemas.microsoft.com/office/drawing/2014/main" id="{476D1B94-A7DD-4073-986C-AC1CC200F164}"/>
              </a:ext>
            </a:extLst>
          </p:cNvPr>
          <p:cNvSpPr>
            <a:spLocks noGrp="1"/>
          </p:cNvSpPr>
          <p:nvPr>
            <p:ph idx="1"/>
          </p:nvPr>
        </p:nvSpPr>
        <p:spPr/>
        <p:txBody>
          <a:bodyPr/>
          <a:lstStyle/>
          <a:p>
            <a:pPr lvl="2" fontAlgn="base" hangingPunct="0"/>
            <a:r>
              <a:rPr lang="en-GB" altLang="zh-TW" dirty="0"/>
              <a:t>RB #(-N</a:t>
            </a:r>
            <a:r>
              <a:rPr lang="en-GB" altLang="zh-TW" baseline="-25000" dirty="0"/>
              <a:t>RB</a:t>
            </a:r>
            <a:r>
              <a:rPr lang="en-GB" altLang="zh-TW" dirty="0"/>
              <a:t>/2) is the RB on the lower edge of NR RF channel BW</a:t>
            </a:r>
            <a:endParaRPr lang="zh-TW" altLang="zh-TW" dirty="0"/>
          </a:p>
          <a:p>
            <a:pPr lvl="3" fontAlgn="base" hangingPunct="0"/>
            <a:r>
              <a:rPr lang="en-GB" altLang="zh-TW" dirty="0"/>
              <a:t>Subcarrier #(-N</a:t>
            </a:r>
            <a:r>
              <a:rPr lang="en-GB" altLang="zh-TW" baseline="-25000" dirty="0"/>
              <a:t>RB</a:t>
            </a:r>
            <a:r>
              <a:rPr lang="en-GB" altLang="zh-TW" dirty="0"/>
              <a:t>/2*12) is the first subcarrier at lower edge of NR RF channel BW.</a:t>
            </a:r>
          </a:p>
          <a:p>
            <a:pPr lvl="3" fontAlgn="base" hangingPunct="0"/>
            <a:endParaRPr lang="en-GB" altLang="zh-TW" dirty="0"/>
          </a:p>
          <a:p>
            <a:pPr lvl="3" fontAlgn="base" hangingPunct="0"/>
            <a:endParaRPr lang="zh-TW" altLang="zh-TW" dirty="0"/>
          </a:p>
          <a:p>
            <a:pPr lvl="2" fontAlgn="base" hangingPunct="0"/>
            <a:r>
              <a:rPr lang="en-GB" altLang="zh-TW" dirty="0"/>
              <a:t>RB #(N</a:t>
            </a:r>
            <a:r>
              <a:rPr lang="en-GB" altLang="zh-TW" baseline="-25000" dirty="0"/>
              <a:t>RB</a:t>
            </a:r>
            <a:r>
              <a:rPr lang="en-GB" altLang="zh-TW" dirty="0"/>
              <a:t>/2-1) is the RB on the upper edge of NR RF channel BW.</a:t>
            </a:r>
            <a:endParaRPr lang="zh-TW" altLang="zh-TW" dirty="0"/>
          </a:p>
          <a:p>
            <a:pPr lvl="3" fontAlgn="base" hangingPunct="0"/>
            <a:r>
              <a:rPr lang="en-GB" altLang="zh-TW" dirty="0"/>
              <a:t>Subcarrier #((N</a:t>
            </a:r>
            <a:r>
              <a:rPr lang="en-GB" altLang="zh-TW" baseline="-25000" dirty="0"/>
              <a:t>RB</a:t>
            </a:r>
            <a:r>
              <a:rPr lang="en-GB" altLang="zh-TW" dirty="0"/>
              <a:t>/2)*12-1) is the last subcarrier at upper edge of NR RF channel BW.</a:t>
            </a:r>
            <a:endParaRPr lang="zh-TW" altLang="zh-TW" dirty="0"/>
          </a:p>
          <a:p>
            <a:endParaRPr lang="zh-TW" altLang="en-US" dirty="0"/>
          </a:p>
        </p:txBody>
      </p:sp>
      <p:pic>
        <p:nvPicPr>
          <p:cNvPr id="4" name="圖片 3">
            <a:extLst>
              <a:ext uri="{FF2B5EF4-FFF2-40B4-BE49-F238E27FC236}">
                <a16:creationId xmlns:a16="http://schemas.microsoft.com/office/drawing/2014/main" id="{E4447D93-DBAE-4C7F-AF72-27DFB1C2C061}"/>
              </a:ext>
            </a:extLst>
          </p:cNvPr>
          <p:cNvPicPr>
            <a:picLocks noChangeAspect="1"/>
          </p:cNvPicPr>
          <p:nvPr/>
        </p:nvPicPr>
        <p:blipFill>
          <a:blip r:embed="rId3"/>
          <a:stretch>
            <a:fillRect/>
          </a:stretch>
        </p:blipFill>
        <p:spPr>
          <a:xfrm>
            <a:off x="1876324" y="4317565"/>
            <a:ext cx="9217024" cy="2362635"/>
          </a:xfrm>
          <a:prstGeom prst="rect">
            <a:avLst/>
          </a:prstGeom>
        </p:spPr>
      </p:pic>
    </p:spTree>
    <p:extLst>
      <p:ext uri="{BB962C8B-B14F-4D97-AF65-F5344CB8AC3E}">
        <p14:creationId xmlns:p14="http://schemas.microsoft.com/office/powerpoint/2010/main" val="9344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78178A-64FD-4171-BCE9-B5946784A7AD}"/>
              </a:ext>
            </a:extLst>
          </p:cNvPr>
          <p:cNvSpPr>
            <a:spLocks noGrp="1"/>
          </p:cNvSpPr>
          <p:nvPr>
            <p:ph type="title"/>
          </p:nvPr>
        </p:nvSpPr>
        <p:spPr/>
        <p:txBody>
          <a:bodyPr/>
          <a:lstStyle/>
          <a:p>
            <a:r>
              <a:rPr lang="en-GB" altLang="zh-TW" b="1" dirty="0"/>
              <a:t>As shown on Figure 5.2.1.3-2, if N</a:t>
            </a:r>
            <a:r>
              <a:rPr lang="en-GB" altLang="zh-TW" b="1" baseline="-25000" dirty="0"/>
              <a:t>RB</a:t>
            </a:r>
            <a:r>
              <a:rPr lang="en-GB" altLang="zh-TW" b="1" dirty="0"/>
              <a:t> is odd:</a:t>
            </a:r>
            <a:endParaRPr lang="zh-TW" altLang="en-US" b="1" dirty="0"/>
          </a:p>
        </p:txBody>
      </p:sp>
      <p:sp>
        <p:nvSpPr>
          <p:cNvPr id="3" name="內容版面配置區 2">
            <a:extLst>
              <a:ext uri="{FF2B5EF4-FFF2-40B4-BE49-F238E27FC236}">
                <a16:creationId xmlns:a16="http://schemas.microsoft.com/office/drawing/2014/main" id="{274436E2-78B9-4261-9ED6-D1FFB8E91999}"/>
              </a:ext>
            </a:extLst>
          </p:cNvPr>
          <p:cNvSpPr>
            <a:spLocks noGrp="1"/>
          </p:cNvSpPr>
          <p:nvPr>
            <p:ph idx="1"/>
          </p:nvPr>
        </p:nvSpPr>
        <p:spPr/>
        <p:txBody>
          <a:bodyPr/>
          <a:lstStyle/>
          <a:p>
            <a:pPr lvl="2" fontAlgn="base" hangingPunct="0"/>
            <a:r>
              <a:rPr lang="en-GB" altLang="zh-TW" dirty="0"/>
              <a:t>RB #(-(N</a:t>
            </a:r>
            <a:r>
              <a:rPr lang="en-GB" altLang="zh-TW" baseline="-25000" dirty="0"/>
              <a:t>RB</a:t>
            </a:r>
            <a:r>
              <a:rPr lang="en-GB" altLang="zh-TW" dirty="0"/>
              <a:t>-1)/2) is the RB on the lower edge of NR RF channel BW</a:t>
            </a:r>
            <a:endParaRPr lang="zh-TW" altLang="zh-TW" dirty="0"/>
          </a:p>
          <a:p>
            <a:pPr lvl="3" fontAlgn="base" hangingPunct="0"/>
            <a:r>
              <a:rPr lang="en-GB" altLang="zh-TW" dirty="0"/>
              <a:t>Subcarrier #(-(N</a:t>
            </a:r>
            <a:r>
              <a:rPr lang="en-GB" altLang="zh-TW" baseline="-25000" dirty="0"/>
              <a:t>RB</a:t>
            </a:r>
            <a:r>
              <a:rPr lang="en-GB" altLang="zh-TW" dirty="0"/>
              <a:t>-1)/2*12) is the first subcarrier at lower edge of NR RF channel BW.</a:t>
            </a:r>
          </a:p>
          <a:p>
            <a:pPr lvl="3" fontAlgn="base" hangingPunct="0"/>
            <a:endParaRPr lang="zh-TW" altLang="zh-TW" dirty="0"/>
          </a:p>
          <a:p>
            <a:pPr lvl="2" fontAlgn="base" hangingPunct="0"/>
            <a:r>
              <a:rPr lang="en-GB" altLang="zh-TW" dirty="0"/>
              <a:t>RB #((N</a:t>
            </a:r>
            <a:r>
              <a:rPr lang="en-GB" altLang="zh-TW" baseline="-25000" dirty="0"/>
              <a:t>RB</a:t>
            </a:r>
            <a:r>
              <a:rPr lang="en-GB" altLang="zh-TW" dirty="0"/>
              <a:t>-1)/2) is the RB on the upper edge of NR RF channel BW.</a:t>
            </a:r>
            <a:endParaRPr lang="zh-TW" altLang="zh-TW" dirty="0"/>
          </a:p>
          <a:p>
            <a:pPr lvl="3" fontAlgn="base" hangingPunct="0"/>
            <a:r>
              <a:rPr lang="en-GB" altLang="zh-TW" dirty="0"/>
              <a:t>Subcarrier #((N</a:t>
            </a:r>
            <a:r>
              <a:rPr lang="en-GB" altLang="zh-TW" baseline="-25000" dirty="0"/>
              <a:t>RB</a:t>
            </a:r>
            <a:r>
              <a:rPr lang="en-GB" altLang="zh-TW" dirty="0"/>
              <a:t>+1)/2*12-1) is the last subcarrier at upper edge of NR RF channel BW.</a:t>
            </a:r>
            <a:endParaRPr lang="zh-TW" altLang="zh-TW" dirty="0"/>
          </a:p>
          <a:p>
            <a:endParaRPr lang="zh-TW" altLang="en-US" dirty="0"/>
          </a:p>
        </p:txBody>
      </p:sp>
      <p:pic>
        <p:nvPicPr>
          <p:cNvPr id="4" name="圖片 3">
            <a:extLst>
              <a:ext uri="{FF2B5EF4-FFF2-40B4-BE49-F238E27FC236}">
                <a16:creationId xmlns:a16="http://schemas.microsoft.com/office/drawing/2014/main" id="{1398F33C-4DBA-4F8B-9859-028B2FD38100}"/>
              </a:ext>
            </a:extLst>
          </p:cNvPr>
          <p:cNvPicPr>
            <a:picLocks noChangeAspect="1"/>
          </p:cNvPicPr>
          <p:nvPr/>
        </p:nvPicPr>
        <p:blipFill>
          <a:blip r:embed="rId3"/>
          <a:stretch>
            <a:fillRect/>
          </a:stretch>
        </p:blipFill>
        <p:spPr>
          <a:xfrm>
            <a:off x="2127764" y="3936878"/>
            <a:ext cx="8467625" cy="2641844"/>
          </a:xfrm>
          <a:prstGeom prst="rect">
            <a:avLst/>
          </a:prstGeom>
        </p:spPr>
      </p:pic>
    </p:spTree>
    <p:extLst>
      <p:ext uri="{BB962C8B-B14F-4D97-AF65-F5344CB8AC3E}">
        <p14:creationId xmlns:p14="http://schemas.microsoft.com/office/powerpoint/2010/main" val="2124995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B436A08-5839-451B-8642-9DC707087812}"/>
              </a:ext>
            </a:extLst>
          </p:cNvPr>
          <p:cNvSpPr>
            <a:spLocks noGrp="1"/>
          </p:cNvSpPr>
          <p:nvPr>
            <p:ph type="title"/>
          </p:nvPr>
        </p:nvSpPr>
        <p:spPr/>
        <p:txBody>
          <a:bodyPr/>
          <a:lstStyle/>
          <a:p>
            <a:r>
              <a:rPr lang="en-US" altLang="zh-TW" dirty="0"/>
              <a:t>For example</a:t>
            </a:r>
            <a:endParaRPr lang="zh-TW" altLang="en-US" dirty="0"/>
          </a:p>
        </p:txBody>
      </p:sp>
      <p:sp>
        <p:nvSpPr>
          <p:cNvPr id="3" name="內容版面配置區 2">
            <a:extLst>
              <a:ext uri="{FF2B5EF4-FFF2-40B4-BE49-F238E27FC236}">
                <a16:creationId xmlns:a16="http://schemas.microsoft.com/office/drawing/2014/main" id="{0F9E76A2-601A-4CAC-8FB6-4FA009DA26BB}"/>
              </a:ext>
            </a:extLst>
          </p:cNvPr>
          <p:cNvSpPr>
            <a:spLocks noGrp="1"/>
          </p:cNvSpPr>
          <p:nvPr>
            <p:ph idx="1"/>
          </p:nvPr>
        </p:nvSpPr>
        <p:spPr/>
        <p:txBody>
          <a:bodyPr/>
          <a:lstStyle/>
          <a:p>
            <a:r>
              <a:rPr lang="en-US" altLang="zh-TW" dirty="0"/>
              <a:t>When </a:t>
            </a:r>
            <a:r>
              <a:rPr lang="en-GB" altLang="zh-TW" dirty="0"/>
              <a:t>N</a:t>
            </a:r>
            <a:r>
              <a:rPr lang="en-GB" altLang="zh-TW" baseline="-25000" dirty="0"/>
              <a:t>RB</a:t>
            </a:r>
            <a:r>
              <a:rPr lang="en-US" altLang="zh-TW" dirty="0"/>
              <a:t>= 20 :</a:t>
            </a:r>
          </a:p>
          <a:p>
            <a:r>
              <a:rPr lang="en-GB" altLang="zh-TW" dirty="0"/>
              <a:t>lower edge = (-N</a:t>
            </a:r>
            <a:r>
              <a:rPr lang="en-GB" altLang="zh-TW" baseline="-25000" dirty="0"/>
              <a:t>RB</a:t>
            </a:r>
            <a:r>
              <a:rPr lang="en-GB" altLang="zh-TW" dirty="0"/>
              <a:t>/2)  = (-20/2) = RB #-10 </a:t>
            </a:r>
          </a:p>
          <a:p>
            <a:pPr lvl="1"/>
            <a:r>
              <a:rPr lang="en-GB" altLang="zh-TW" dirty="0"/>
              <a:t>first subcarrier = #(-N</a:t>
            </a:r>
            <a:r>
              <a:rPr lang="en-GB" altLang="zh-TW" baseline="-25000" dirty="0"/>
              <a:t>RB</a:t>
            </a:r>
            <a:r>
              <a:rPr lang="en-GB" altLang="zh-TW" dirty="0"/>
              <a:t>/2*12)  = subcarrier #-120</a:t>
            </a:r>
          </a:p>
          <a:p>
            <a:pPr lvl="1"/>
            <a:endParaRPr lang="en-GB" altLang="zh-TW" dirty="0"/>
          </a:p>
          <a:p>
            <a:r>
              <a:rPr lang="en-GB" altLang="zh-TW" dirty="0"/>
              <a:t>Upper edge = (N</a:t>
            </a:r>
            <a:r>
              <a:rPr lang="en-GB" altLang="zh-TW" baseline="-25000" dirty="0"/>
              <a:t>RB</a:t>
            </a:r>
            <a:r>
              <a:rPr lang="en-GB" altLang="zh-TW" dirty="0"/>
              <a:t>/2-1) = (20/2-1) = RB #9</a:t>
            </a:r>
          </a:p>
          <a:p>
            <a:pPr lvl="1"/>
            <a:r>
              <a:rPr lang="en-GB" altLang="zh-TW" dirty="0"/>
              <a:t>Last subcarrier = #((N</a:t>
            </a:r>
            <a:r>
              <a:rPr lang="en-GB" altLang="zh-TW" baseline="-25000" dirty="0"/>
              <a:t>RB</a:t>
            </a:r>
            <a:r>
              <a:rPr lang="en-GB" altLang="zh-TW" dirty="0"/>
              <a:t>/2)*12-1)  = subcarrier #119</a:t>
            </a:r>
          </a:p>
          <a:p>
            <a:pPr lvl="1"/>
            <a:endParaRPr lang="en-US" altLang="zh-TW" dirty="0"/>
          </a:p>
          <a:p>
            <a:endParaRPr lang="zh-TW" altLang="en-US" dirty="0"/>
          </a:p>
        </p:txBody>
      </p:sp>
      <p:sp>
        <p:nvSpPr>
          <p:cNvPr id="4" name="矩形 3">
            <a:extLst>
              <a:ext uri="{FF2B5EF4-FFF2-40B4-BE49-F238E27FC236}">
                <a16:creationId xmlns:a16="http://schemas.microsoft.com/office/drawing/2014/main" id="{4C0BA9B0-DC1F-426E-BF64-2FA0423BE507}"/>
              </a:ext>
            </a:extLst>
          </p:cNvPr>
          <p:cNvSpPr/>
          <p:nvPr/>
        </p:nvSpPr>
        <p:spPr>
          <a:xfrm>
            <a:off x="5983348" y="4960729"/>
            <a:ext cx="852856" cy="1231575"/>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 0</a:t>
            </a:r>
            <a:endParaRPr lang="zh-TW" altLang="en-US" dirty="0"/>
          </a:p>
        </p:txBody>
      </p:sp>
      <p:sp>
        <p:nvSpPr>
          <p:cNvPr id="7" name="矩形 6">
            <a:extLst>
              <a:ext uri="{FF2B5EF4-FFF2-40B4-BE49-F238E27FC236}">
                <a16:creationId xmlns:a16="http://schemas.microsoft.com/office/drawing/2014/main" id="{695EA17A-A0D0-42F7-AED5-B4C0C4865076}"/>
              </a:ext>
            </a:extLst>
          </p:cNvPr>
          <p:cNvSpPr/>
          <p:nvPr/>
        </p:nvSpPr>
        <p:spPr>
          <a:xfrm>
            <a:off x="6828142" y="4960916"/>
            <a:ext cx="852856" cy="1231575"/>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5941E69A-1679-41DA-B187-D4D0B5D2E1E1}"/>
              </a:ext>
            </a:extLst>
          </p:cNvPr>
          <p:cNvSpPr/>
          <p:nvPr/>
        </p:nvSpPr>
        <p:spPr>
          <a:xfrm>
            <a:off x="10591930" y="4940624"/>
            <a:ext cx="852856" cy="1231575"/>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 9</a:t>
            </a:r>
            <a:endParaRPr lang="zh-TW" altLang="en-US" dirty="0"/>
          </a:p>
        </p:txBody>
      </p:sp>
      <p:sp>
        <p:nvSpPr>
          <p:cNvPr id="9" name="矩形 8">
            <a:extLst>
              <a:ext uri="{FF2B5EF4-FFF2-40B4-BE49-F238E27FC236}">
                <a16:creationId xmlns:a16="http://schemas.microsoft.com/office/drawing/2014/main" id="{345A73D8-6BF8-45A2-B4CC-B038E2A1D1E4}"/>
              </a:ext>
            </a:extLst>
          </p:cNvPr>
          <p:cNvSpPr/>
          <p:nvPr/>
        </p:nvSpPr>
        <p:spPr>
          <a:xfrm>
            <a:off x="5130492" y="4960729"/>
            <a:ext cx="852856" cy="1231575"/>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DCB0DCBC-7BCA-49D7-AB74-6F5BBCF24EEE}"/>
              </a:ext>
            </a:extLst>
          </p:cNvPr>
          <p:cNvSpPr/>
          <p:nvPr/>
        </p:nvSpPr>
        <p:spPr>
          <a:xfrm>
            <a:off x="1553050" y="4940624"/>
            <a:ext cx="852856" cy="1231575"/>
          </a:xfrm>
          <a:prstGeom prst="rect">
            <a:avLst/>
          </a:prstGeom>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t>#-10</a:t>
            </a:r>
            <a:endParaRPr lang="zh-TW" altLang="en-US" dirty="0"/>
          </a:p>
        </p:txBody>
      </p:sp>
      <p:cxnSp>
        <p:nvCxnSpPr>
          <p:cNvPr id="12" name="直線接點 11">
            <a:extLst>
              <a:ext uri="{FF2B5EF4-FFF2-40B4-BE49-F238E27FC236}">
                <a16:creationId xmlns:a16="http://schemas.microsoft.com/office/drawing/2014/main" id="{632C405E-56C6-4610-8834-85E4591FD3ED}"/>
              </a:ext>
            </a:extLst>
          </p:cNvPr>
          <p:cNvCxnSpPr>
            <a:cxnSpLocks/>
          </p:cNvCxnSpPr>
          <p:nvPr/>
        </p:nvCxnSpPr>
        <p:spPr>
          <a:xfrm>
            <a:off x="2998068" y="5609604"/>
            <a:ext cx="1683549"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cxnSp>
        <p:nvCxnSpPr>
          <p:cNvPr id="13" name="直線接點 12">
            <a:extLst>
              <a:ext uri="{FF2B5EF4-FFF2-40B4-BE49-F238E27FC236}">
                <a16:creationId xmlns:a16="http://schemas.microsoft.com/office/drawing/2014/main" id="{E18E5F66-B362-485B-BDD0-B9C995062208}"/>
              </a:ext>
            </a:extLst>
          </p:cNvPr>
          <p:cNvCxnSpPr>
            <a:cxnSpLocks/>
          </p:cNvCxnSpPr>
          <p:nvPr/>
        </p:nvCxnSpPr>
        <p:spPr>
          <a:xfrm>
            <a:off x="8398668" y="5661248"/>
            <a:ext cx="1708471"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20" name="左大括弧 19">
            <a:extLst>
              <a:ext uri="{FF2B5EF4-FFF2-40B4-BE49-F238E27FC236}">
                <a16:creationId xmlns:a16="http://schemas.microsoft.com/office/drawing/2014/main" id="{E52EC5C9-60E3-4369-9540-0FF838D987C6}"/>
              </a:ext>
            </a:extLst>
          </p:cNvPr>
          <p:cNvSpPr/>
          <p:nvPr/>
        </p:nvSpPr>
        <p:spPr>
          <a:xfrm rot="5400000">
            <a:off x="1842612" y="5886473"/>
            <a:ext cx="224644" cy="9365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1" name="左大括弧 20">
            <a:extLst>
              <a:ext uri="{FF2B5EF4-FFF2-40B4-BE49-F238E27FC236}">
                <a16:creationId xmlns:a16="http://schemas.microsoft.com/office/drawing/2014/main" id="{901D1F8B-F1C6-489B-A1A7-51A4FC5F2DEE}"/>
              </a:ext>
            </a:extLst>
          </p:cNvPr>
          <p:cNvSpPr/>
          <p:nvPr/>
        </p:nvSpPr>
        <p:spPr>
          <a:xfrm rot="5400000">
            <a:off x="10906036" y="5836336"/>
            <a:ext cx="224644" cy="9365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22" name="文字方塊 21">
            <a:extLst>
              <a:ext uri="{FF2B5EF4-FFF2-40B4-BE49-F238E27FC236}">
                <a16:creationId xmlns:a16="http://schemas.microsoft.com/office/drawing/2014/main" id="{EEEAF8CA-9120-4E62-8944-A2FEA28F97FA}"/>
              </a:ext>
            </a:extLst>
          </p:cNvPr>
          <p:cNvSpPr txBox="1"/>
          <p:nvPr/>
        </p:nvSpPr>
        <p:spPr>
          <a:xfrm>
            <a:off x="1053852" y="6467085"/>
            <a:ext cx="1584176" cy="261610"/>
          </a:xfrm>
          <a:prstGeom prst="rect">
            <a:avLst/>
          </a:prstGeom>
          <a:noFill/>
        </p:spPr>
        <p:txBody>
          <a:bodyPr wrap="square" rtlCol="0">
            <a:spAutoFit/>
          </a:bodyPr>
          <a:lstStyle/>
          <a:p>
            <a:r>
              <a:rPr lang="en-US" altLang="zh-TW" sz="1100" dirty="0"/>
              <a:t>#-120</a:t>
            </a:r>
            <a:r>
              <a:rPr lang="zh-TW" altLang="en-US" sz="1100" dirty="0"/>
              <a:t>、</a:t>
            </a:r>
            <a:r>
              <a:rPr lang="en-US" altLang="zh-TW" sz="1100" dirty="0"/>
              <a:t>…….</a:t>
            </a:r>
            <a:r>
              <a:rPr lang="zh-TW" altLang="en-US" sz="1100" dirty="0"/>
              <a:t>、</a:t>
            </a:r>
            <a:r>
              <a:rPr lang="en-US" altLang="zh-TW" sz="1100" dirty="0"/>
              <a:t>#-109</a:t>
            </a:r>
            <a:endParaRPr lang="zh-TW" altLang="en-US" sz="1100" dirty="0"/>
          </a:p>
        </p:txBody>
      </p:sp>
      <p:sp>
        <p:nvSpPr>
          <p:cNvPr id="23" name="文字方塊 22">
            <a:extLst>
              <a:ext uri="{FF2B5EF4-FFF2-40B4-BE49-F238E27FC236}">
                <a16:creationId xmlns:a16="http://schemas.microsoft.com/office/drawing/2014/main" id="{A20FB19A-D70D-4CD7-A411-CEBA3AD035DB}"/>
              </a:ext>
            </a:extLst>
          </p:cNvPr>
          <p:cNvSpPr txBox="1"/>
          <p:nvPr/>
        </p:nvSpPr>
        <p:spPr>
          <a:xfrm>
            <a:off x="10226270" y="6467085"/>
            <a:ext cx="1584176" cy="261610"/>
          </a:xfrm>
          <a:prstGeom prst="rect">
            <a:avLst/>
          </a:prstGeom>
          <a:noFill/>
        </p:spPr>
        <p:txBody>
          <a:bodyPr wrap="square" rtlCol="0">
            <a:spAutoFit/>
          </a:bodyPr>
          <a:lstStyle/>
          <a:p>
            <a:r>
              <a:rPr lang="en-US" altLang="zh-TW" sz="1100" dirty="0"/>
              <a:t>#108</a:t>
            </a:r>
            <a:r>
              <a:rPr lang="zh-TW" altLang="en-US" sz="1100" dirty="0"/>
              <a:t>、</a:t>
            </a:r>
            <a:r>
              <a:rPr lang="en-US" altLang="zh-TW" sz="1100" dirty="0"/>
              <a:t>…….</a:t>
            </a:r>
            <a:r>
              <a:rPr lang="zh-TW" altLang="en-US" sz="1100" dirty="0"/>
              <a:t>、</a:t>
            </a:r>
            <a:r>
              <a:rPr lang="en-US" altLang="zh-TW" sz="1100" dirty="0"/>
              <a:t>#119</a:t>
            </a:r>
            <a:endParaRPr lang="zh-TW" altLang="en-US" sz="1100" dirty="0"/>
          </a:p>
        </p:txBody>
      </p:sp>
    </p:spTree>
    <p:extLst>
      <p:ext uri="{BB962C8B-B14F-4D97-AF65-F5344CB8AC3E}">
        <p14:creationId xmlns:p14="http://schemas.microsoft.com/office/powerpoint/2010/main" val="1503449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7615E9-0F84-40AD-BBD1-3D8905AFE59C}"/>
              </a:ext>
            </a:extLst>
          </p:cNvPr>
          <p:cNvSpPr>
            <a:spLocks noGrp="1"/>
          </p:cNvSpPr>
          <p:nvPr>
            <p:ph type="title"/>
          </p:nvPr>
        </p:nvSpPr>
        <p:spPr/>
        <p:txBody>
          <a:bodyPr/>
          <a:lstStyle/>
          <a:p>
            <a:r>
              <a:rPr lang="en-GB" altLang="zh-TW" b="1" dirty="0"/>
              <a:t>NB-IoT channel raster</a:t>
            </a:r>
            <a:endParaRPr lang="zh-TW" altLang="en-US" b="1" dirty="0"/>
          </a:p>
        </p:txBody>
      </p:sp>
      <p:sp>
        <p:nvSpPr>
          <p:cNvPr id="3" name="內容版面配置區 2">
            <a:extLst>
              <a:ext uri="{FF2B5EF4-FFF2-40B4-BE49-F238E27FC236}">
                <a16:creationId xmlns:a16="http://schemas.microsoft.com/office/drawing/2014/main" id="{427D3967-F14F-47B2-846E-A029A5DC208B}"/>
              </a:ext>
            </a:extLst>
          </p:cNvPr>
          <p:cNvSpPr>
            <a:spLocks noGrp="1"/>
          </p:cNvSpPr>
          <p:nvPr>
            <p:ph idx="1"/>
          </p:nvPr>
        </p:nvSpPr>
        <p:spPr/>
        <p:txBody>
          <a:bodyPr/>
          <a:lstStyle/>
          <a:p>
            <a:r>
              <a:rPr lang="zh-TW" altLang="en-US" dirty="0"/>
              <a:t>所謂柵格（</a:t>
            </a:r>
            <a:r>
              <a:rPr lang="en-US" altLang="zh-TW" dirty="0"/>
              <a:t>raster</a:t>
            </a:r>
            <a:r>
              <a:rPr lang="zh-TW" altLang="en-US" dirty="0"/>
              <a:t>）也是用於調整載波頻率位置的最小單位，通道柵格的值是一個人為設計值，表示各個不同的頻點之間的間隔應該滿足的條件，若設定</a:t>
            </a:r>
            <a:r>
              <a:rPr lang="en-US" altLang="zh-TW" dirty="0"/>
              <a:t>channel raster </a:t>
            </a:r>
            <a:r>
              <a:rPr lang="zh-TW" altLang="en-US" dirty="0"/>
              <a:t>為</a:t>
            </a:r>
            <a:r>
              <a:rPr lang="en-US" altLang="zh-TW" dirty="0"/>
              <a:t>100kHz</a:t>
            </a:r>
            <a:r>
              <a:rPr lang="zh-TW" altLang="en-US" dirty="0"/>
              <a:t>，相當於一條高速路劃分為若干車道，兩個車道之間的中心距離為</a:t>
            </a:r>
            <a:r>
              <a:rPr lang="en-US" altLang="zh-TW" dirty="0"/>
              <a:t>100KHz</a:t>
            </a:r>
            <a:r>
              <a:rPr lang="zh-TW" altLang="en-US" dirty="0"/>
              <a:t>的整數倍。指定的載波頻率位於</a:t>
            </a:r>
            <a:r>
              <a:rPr lang="en-US" altLang="zh-TW" dirty="0"/>
              <a:t>NB-IoT RB</a:t>
            </a:r>
            <a:r>
              <a:rPr lang="zh-TW" altLang="en-US" dirty="0"/>
              <a:t>的中間。</a:t>
            </a:r>
            <a:endParaRPr lang="en-US" altLang="zh-TW" dirty="0"/>
          </a:p>
          <a:p>
            <a:endParaRPr lang="zh-TW" altLang="en-US" dirty="0"/>
          </a:p>
        </p:txBody>
      </p:sp>
    </p:spTree>
    <p:extLst>
      <p:ext uri="{BB962C8B-B14F-4D97-AF65-F5344CB8AC3E}">
        <p14:creationId xmlns:p14="http://schemas.microsoft.com/office/powerpoint/2010/main" val="861199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0BC7F5-A8AB-409D-BA59-57603891D5E4}"/>
              </a:ext>
            </a:extLst>
          </p:cNvPr>
          <p:cNvSpPr>
            <a:spLocks noGrp="1"/>
          </p:cNvSpPr>
          <p:nvPr>
            <p:ph type="title"/>
          </p:nvPr>
        </p:nvSpPr>
        <p:spPr>
          <a:xfrm>
            <a:off x="1593436" y="476672"/>
            <a:ext cx="9782801" cy="940965"/>
          </a:xfrm>
        </p:spPr>
        <p:txBody>
          <a:bodyPr/>
          <a:lstStyle/>
          <a:p>
            <a:r>
              <a:rPr lang="en-US" altLang="zh-TW" b="1" dirty="0"/>
              <a:t>NR channel raster</a:t>
            </a:r>
            <a:endParaRPr lang="zh-TW" altLang="en-US" dirty="0"/>
          </a:p>
        </p:txBody>
      </p:sp>
      <p:sp>
        <p:nvSpPr>
          <p:cNvPr id="3" name="內容版面配置區 2">
            <a:extLst>
              <a:ext uri="{FF2B5EF4-FFF2-40B4-BE49-F238E27FC236}">
                <a16:creationId xmlns:a16="http://schemas.microsoft.com/office/drawing/2014/main" id="{B05B0764-190A-4514-B85F-3F330365A188}"/>
              </a:ext>
            </a:extLst>
          </p:cNvPr>
          <p:cNvSpPr>
            <a:spLocks noGrp="1"/>
          </p:cNvSpPr>
          <p:nvPr>
            <p:ph idx="1"/>
          </p:nvPr>
        </p:nvSpPr>
        <p:spPr/>
        <p:txBody>
          <a:bodyPr/>
          <a:lstStyle/>
          <a:p>
            <a:r>
              <a:rPr lang="en-GB" altLang="zh-TW" dirty="0"/>
              <a:t>NR has considered 2 types of channel raster:</a:t>
            </a:r>
            <a:endParaRPr lang="zh-TW" altLang="zh-TW" dirty="0"/>
          </a:p>
          <a:p>
            <a:pPr lvl="0" fontAlgn="base" hangingPunct="0"/>
            <a:r>
              <a:rPr lang="en-GB" altLang="zh-TW" dirty="0"/>
              <a:t>100 kHz based channel raster, mainly used for NR bands re-farmed from LTE ones.</a:t>
            </a:r>
            <a:endParaRPr lang="zh-TW" altLang="zh-TW" dirty="0"/>
          </a:p>
          <a:p>
            <a:pPr lvl="0" fontAlgn="base" hangingPunct="0"/>
            <a:r>
              <a:rPr lang="en-GB" altLang="zh-TW" dirty="0"/>
              <a:t>SCS based channel raster, 15 or 30 kHz for FR1.</a:t>
            </a:r>
          </a:p>
          <a:p>
            <a:pPr lvl="0" fontAlgn="base" hangingPunct="0"/>
            <a:endParaRPr lang="zh-TW" altLang="zh-TW" dirty="0"/>
          </a:p>
        </p:txBody>
      </p:sp>
    </p:spTree>
    <p:extLst>
      <p:ext uri="{BB962C8B-B14F-4D97-AF65-F5344CB8AC3E}">
        <p14:creationId xmlns:p14="http://schemas.microsoft.com/office/powerpoint/2010/main" val="4113481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BF47C8FA-1B84-42C0-B328-EAC1E5E97EF8}"/>
              </a:ext>
            </a:extLst>
          </p:cNvPr>
          <p:cNvSpPr>
            <a:spLocks noGrp="1"/>
          </p:cNvSpPr>
          <p:nvPr>
            <p:ph idx="1"/>
          </p:nvPr>
        </p:nvSpPr>
        <p:spPr>
          <a:xfrm>
            <a:off x="1593436" y="548680"/>
            <a:ext cx="9782801" cy="5623520"/>
          </a:xfrm>
        </p:spPr>
        <p:txBody>
          <a:bodyPr/>
          <a:lstStyle/>
          <a:p>
            <a:r>
              <a:rPr lang="en-GB" altLang="zh-TW" dirty="0"/>
              <a:t>The RF reference frequency defined by this channel raster identifies the RF channel position depending on the number of specified RBs (N</a:t>
            </a:r>
            <a:r>
              <a:rPr lang="en-GB" altLang="zh-TW" baseline="-25000" dirty="0"/>
              <a:t>RB</a:t>
            </a:r>
            <a:r>
              <a:rPr lang="en-GB" altLang="zh-TW" dirty="0"/>
              <a:t>) by the spectrum utilization for a given SCS and channel bandwidth:</a:t>
            </a:r>
          </a:p>
          <a:p>
            <a:endParaRPr lang="zh-TW" altLang="zh-TW" dirty="0"/>
          </a:p>
          <a:p>
            <a:pPr lvl="1"/>
            <a:r>
              <a:rPr lang="en-US" altLang="zh-TW" dirty="0"/>
              <a:t>If this number is even, then it points to the subcarrier #0 (first one) of RB index #0</a:t>
            </a:r>
          </a:p>
          <a:p>
            <a:pPr lvl="1"/>
            <a:endParaRPr lang="en-US" altLang="zh-TW" dirty="0"/>
          </a:p>
          <a:p>
            <a:pPr lvl="1"/>
            <a:r>
              <a:rPr lang="en-GB" altLang="zh-TW" dirty="0"/>
              <a:t>If this number is odd, then it points to the subcarrier #6 of RB index #0</a:t>
            </a:r>
            <a:endParaRPr lang="zh-TW" altLang="en-US" dirty="0"/>
          </a:p>
        </p:txBody>
      </p:sp>
    </p:spTree>
    <p:extLst>
      <p:ext uri="{BB962C8B-B14F-4D97-AF65-F5344CB8AC3E}">
        <p14:creationId xmlns:p14="http://schemas.microsoft.com/office/powerpoint/2010/main" val="3965913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7B6AAAE-460E-4E67-9995-643EDE4AC0CC}"/>
              </a:ext>
            </a:extLst>
          </p:cNvPr>
          <p:cNvSpPr>
            <a:spLocks noGrp="1"/>
          </p:cNvSpPr>
          <p:nvPr>
            <p:ph type="title"/>
          </p:nvPr>
        </p:nvSpPr>
        <p:spPr/>
        <p:txBody>
          <a:bodyPr/>
          <a:lstStyle/>
          <a:p>
            <a:endParaRPr lang="zh-TW" altLang="en-US"/>
          </a:p>
        </p:txBody>
      </p:sp>
      <p:pic>
        <p:nvPicPr>
          <p:cNvPr id="4" name="圖片 3">
            <a:extLst>
              <a:ext uri="{FF2B5EF4-FFF2-40B4-BE49-F238E27FC236}">
                <a16:creationId xmlns:a16="http://schemas.microsoft.com/office/drawing/2014/main" id="{190B2619-FC26-4AAC-A4A0-B1B8CA73F782}"/>
              </a:ext>
            </a:extLst>
          </p:cNvPr>
          <p:cNvPicPr>
            <a:picLocks noChangeAspect="1"/>
          </p:cNvPicPr>
          <p:nvPr/>
        </p:nvPicPr>
        <p:blipFill rotWithShape="1">
          <a:blip r:embed="rId2"/>
          <a:srcRect l="31257" t="405" r="37041"/>
          <a:stretch/>
        </p:blipFill>
        <p:spPr>
          <a:xfrm>
            <a:off x="1341884" y="2924944"/>
            <a:ext cx="8712968" cy="7016303"/>
          </a:xfrm>
          <a:prstGeom prst="rect">
            <a:avLst/>
          </a:prstGeom>
        </p:spPr>
      </p:pic>
      <p:pic>
        <p:nvPicPr>
          <p:cNvPr id="5" name="Picture 2" descr="https://i.imgur.com/MYb5PHT.png">
            <a:extLst>
              <a:ext uri="{FF2B5EF4-FFF2-40B4-BE49-F238E27FC236}">
                <a16:creationId xmlns:a16="http://schemas.microsoft.com/office/drawing/2014/main" id="{F1EFEF69-4BE3-4B60-95DB-4E2FE090782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014292" y="1090354"/>
            <a:ext cx="2797084" cy="2057526"/>
          </a:xfrm>
          <a:prstGeom prst="rect">
            <a:avLst/>
          </a:prstGeom>
          <a:noFill/>
          <a:extLst>
            <a:ext uri="{909E8E84-426E-40DD-AFC4-6F175D3DCCD1}">
              <a14:hiddenFill xmlns:a14="http://schemas.microsoft.com/office/drawing/2010/main">
                <a:solidFill>
                  <a:srgbClr val="FFFFFF"/>
                </a:solidFill>
              </a14:hiddenFill>
            </a:ext>
          </a:extLst>
        </p:spPr>
      </p:pic>
      <p:sp>
        <p:nvSpPr>
          <p:cNvPr id="6" name="橢圓 5">
            <a:extLst>
              <a:ext uri="{FF2B5EF4-FFF2-40B4-BE49-F238E27FC236}">
                <a16:creationId xmlns:a16="http://schemas.microsoft.com/office/drawing/2014/main" id="{153FF582-9B13-41D1-82C2-2BD258E0946E}"/>
              </a:ext>
            </a:extLst>
          </p:cNvPr>
          <p:cNvSpPr/>
          <p:nvPr/>
        </p:nvSpPr>
        <p:spPr>
          <a:xfrm>
            <a:off x="5572354" y="1291594"/>
            <a:ext cx="252028" cy="117707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2C98F34B-723B-4E4D-B3C3-C57AF18A3ED0}"/>
                  </a:ext>
                </a:extLst>
              </p:cNvPr>
              <p:cNvSpPr/>
              <p:nvPr/>
            </p:nvSpPr>
            <p:spPr>
              <a:xfrm>
                <a:off x="1745985" y="1700711"/>
                <a:ext cx="1755994" cy="461665"/>
              </a:xfrm>
              <a:prstGeom prst="rect">
                <a:avLst/>
              </a:prstGeom>
            </p:spPr>
            <p:txBody>
              <a:bodyPr wrap="none">
                <a:spAutoFit/>
              </a:bodyPr>
              <a:lstStyle/>
              <a:p>
                <a14:m>
                  <m:oMath xmlns:m="http://schemas.openxmlformats.org/officeDocument/2006/math">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𝑁</m:t>
                        </m:r>
                      </m:e>
                      <m:sub>
                        <m:r>
                          <a:rPr lang="en-US" altLang="zh-TW" sz="2400" i="1">
                            <a:latin typeface="Cambria Math" panose="02040503050406030204" pitchFamily="18" charset="0"/>
                          </a:rPr>
                          <m:t>𝑅𝐵</m:t>
                        </m:r>
                      </m:sub>
                    </m:sSub>
                  </m:oMath>
                </a14:m>
                <a:r>
                  <a:rPr lang="en-US" altLang="zh-TW" sz="2400" dirty="0"/>
                  <a:t>is even:</a:t>
                </a:r>
                <a:endParaRPr lang="zh-TW" altLang="en-US" sz="2400" dirty="0"/>
              </a:p>
            </p:txBody>
          </p:sp>
        </mc:Choice>
        <mc:Fallback xmlns="">
          <p:sp>
            <p:nvSpPr>
              <p:cNvPr id="8" name="矩形 7">
                <a:extLst>
                  <a:ext uri="{FF2B5EF4-FFF2-40B4-BE49-F238E27FC236}">
                    <a16:creationId xmlns:a16="http://schemas.microsoft.com/office/drawing/2014/main" id="{2C98F34B-723B-4E4D-B3C3-C57AF18A3ED0}"/>
                  </a:ext>
                </a:extLst>
              </p:cNvPr>
              <p:cNvSpPr>
                <a:spLocks noRot="1" noChangeAspect="1" noMove="1" noResize="1" noEditPoints="1" noAdjustHandles="1" noChangeArrowheads="1" noChangeShapeType="1" noTextEdit="1"/>
              </p:cNvSpPr>
              <p:nvPr/>
            </p:nvSpPr>
            <p:spPr>
              <a:xfrm>
                <a:off x="1745985" y="1700711"/>
                <a:ext cx="1755994" cy="461665"/>
              </a:xfrm>
              <a:prstGeom prst="rect">
                <a:avLst/>
              </a:prstGeom>
              <a:blipFill>
                <a:blip r:embed="rId4"/>
                <a:stretch>
                  <a:fillRect l="-694" t="-11842" r="-4514" b="-27632"/>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4043855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089904-4635-4611-80C6-C853554A451A}"/>
              </a:ext>
            </a:extLst>
          </p:cNvPr>
          <p:cNvSpPr>
            <a:spLocks noGrp="1"/>
          </p:cNvSpPr>
          <p:nvPr>
            <p:ph type="title"/>
          </p:nvPr>
        </p:nvSpPr>
        <p:spPr/>
        <p:txBody>
          <a:bodyPr/>
          <a:lstStyle/>
          <a:p>
            <a:endParaRPr lang="zh-TW" altLang="en-US"/>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881763EC-568F-4B79-9462-EB506056E73F}"/>
                  </a:ext>
                </a:extLst>
              </p:cNvPr>
              <p:cNvSpPr>
                <a:spLocks noGrp="1"/>
              </p:cNvSpPr>
              <p:nvPr>
                <p:ph idx="1"/>
              </p:nvPr>
            </p:nvSpPr>
            <p:spPr/>
            <p:txBody>
              <a:bodyPr/>
              <a:lstStyle/>
              <a:p>
                <a14:m>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𝑁</m:t>
                        </m:r>
                      </m:e>
                      <m:sub>
                        <m:r>
                          <a:rPr lang="en-US" altLang="zh-TW" b="0" i="1" smtClean="0">
                            <a:latin typeface="Cambria Math" panose="02040503050406030204" pitchFamily="18" charset="0"/>
                          </a:rPr>
                          <m:t>𝑅𝐵</m:t>
                        </m:r>
                      </m:sub>
                    </m:sSub>
                  </m:oMath>
                </a14:m>
                <a:r>
                  <a:rPr lang="en-US" altLang="zh-TW" dirty="0"/>
                  <a:t>is odd:</a:t>
                </a:r>
                <a:endParaRPr lang="zh-TW" altLang="en-US" dirty="0"/>
              </a:p>
            </p:txBody>
          </p:sp>
        </mc:Choice>
        <mc:Fallback xmlns="">
          <p:sp>
            <p:nvSpPr>
              <p:cNvPr id="3" name="內容版面配置區 2">
                <a:extLst>
                  <a:ext uri="{FF2B5EF4-FFF2-40B4-BE49-F238E27FC236}">
                    <a16:creationId xmlns:a16="http://schemas.microsoft.com/office/drawing/2014/main" id="{881763EC-568F-4B79-9462-EB506056E73F}"/>
                  </a:ext>
                </a:extLst>
              </p:cNvPr>
              <p:cNvSpPr>
                <a:spLocks noGrp="1" noRot="1" noChangeAspect="1" noMove="1" noResize="1" noEditPoints="1" noAdjustHandles="1" noChangeArrowheads="1" noChangeShapeType="1" noTextEdit="1"/>
              </p:cNvSpPr>
              <p:nvPr>
                <p:ph idx="1"/>
              </p:nvPr>
            </p:nvSpPr>
            <p:spPr>
              <a:blipFill>
                <a:blip r:embed="rId2"/>
                <a:stretch>
                  <a:fillRect t="-2400"/>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7075C68D-2DE9-4729-A504-CE9FBBB98742}"/>
              </a:ext>
            </a:extLst>
          </p:cNvPr>
          <p:cNvPicPr>
            <a:picLocks noChangeAspect="1"/>
          </p:cNvPicPr>
          <p:nvPr/>
        </p:nvPicPr>
        <p:blipFill>
          <a:blip r:embed="rId3"/>
          <a:stretch>
            <a:fillRect/>
          </a:stretch>
        </p:blipFill>
        <p:spPr>
          <a:xfrm>
            <a:off x="3358108" y="3573016"/>
            <a:ext cx="6552728" cy="4998248"/>
          </a:xfrm>
          <a:prstGeom prst="rect">
            <a:avLst/>
          </a:prstGeom>
        </p:spPr>
      </p:pic>
      <p:pic>
        <p:nvPicPr>
          <p:cNvPr id="5" name="Picture 2" descr="https://i.imgur.com/MYb5PHT.png">
            <a:extLst>
              <a:ext uri="{FF2B5EF4-FFF2-40B4-BE49-F238E27FC236}">
                <a16:creationId xmlns:a16="http://schemas.microsoft.com/office/drawing/2014/main" id="{C9CD7362-83EC-45D7-AF22-C10D6C2312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0510" y="2348880"/>
            <a:ext cx="2147803" cy="1579917"/>
          </a:xfrm>
          <a:prstGeom prst="rect">
            <a:avLst/>
          </a:prstGeom>
          <a:noFill/>
          <a:extLst>
            <a:ext uri="{909E8E84-426E-40DD-AFC4-6F175D3DCCD1}">
              <a14:hiddenFill xmlns:a14="http://schemas.microsoft.com/office/drawing/2010/main">
                <a:solidFill>
                  <a:srgbClr val="FFFFFF"/>
                </a:solidFill>
              </a14:hiddenFill>
            </a:ext>
          </a:extLst>
        </p:spPr>
      </p:pic>
      <p:sp>
        <p:nvSpPr>
          <p:cNvPr id="6" name="橢圓 5">
            <a:extLst>
              <a:ext uri="{FF2B5EF4-FFF2-40B4-BE49-F238E27FC236}">
                <a16:creationId xmlns:a16="http://schemas.microsoft.com/office/drawing/2014/main" id="{17B4BFB5-1537-4661-9267-24BB20FB850C}"/>
              </a:ext>
            </a:extLst>
          </p:cNvPr>
          <p:cNvSpPr/>
          <p:nvPr/>
        </p:nvSpPr>
        <p:spPr>
          <a:xfrm>
            <a:off x="6094412" y="2304661"/>
            <a:ext cx="235676" cy="117707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905280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871D90-802F-474C-B9E3-2ECEFD4ADF10}"/>
              </a:ext>
            </a:extLst>
          </p:cNvPr>
          <p:cNvSpPr>
            <a:spLocks noGrp="1"/>
          </p:cNvSpPr>
          <p:nvPr>
            <p:ph type="title"/>
          </p:nvPr>
        </p:nvSpPr>
        <p:spPr/>
        <p:txBody>
          <a:bodyPr/>
          <a:lstStyle/>
          <a:p>
            <a:r>
              <a:rPr lang="en-US" altLang="zh-TW" dirty="0"/>
              <a:t>NR SS Blocks</a:t>
            </a:r>
            <a:endParaRPr lang="zh-TW" altLang="en-US" dirty="0"/>
          </a:p>
        </p:txBody>
      </p:sp>
      <p:sp>
        <p:nvSpPr>
          <p:cNvPr id="3" name="內容版面配置區 2">
            <a:extLst>
              <a:ext uri="{FF2B5EF4-FFF2-40B4-BE49-F238E27FC236}">
                <a16:creationId xmlns:a16="http://schemas.microsoft.com/office/drawing/2014/main" id="{E1467D3C-4F5B-4AB7-9678-0220AD660D08}"/>
              </a:ext>
            </a:extLst>
          </p:cNvPr>
          <p:cNvSpPr>
            <a:spLocks noGrp="1"/>
          </p:cNvSpPr>
          <p:nvPr>
            <p:ph idx="1"/>
          </p:nvPr>
        </p:nvSpPr>
        <p:spPr/>
        <p:txBody>
          <a:bodyPr/>
          <a:lstStyle/>
          <a:p>
            <a:r>
              <a:rPr lang="en-GB" altLang="zh-TW" sz="2000" dirty="0"/>
              <a:t>The presence of the NR Synchronization Signal (SS) blocks would restrict possible options when placing a NB . Those blocks contain synchronization signals (PSS and SSS) which are used for UE to synchronize and connect to the BS. It’s so key that NB-IoT is not overlapping those blocks to not impact NR UE synchronization performance.</a:t>
            </a:r>
            <a:endParaRPr lang="zh-TW" altLang="zh-TW" sz="2000" dirty="0"/>
          </a:p>
          <a:p>
            <a:endParaRPr lang="zh-TW" altLang="en-US" dirty="0"/>
          </a:p>
        </p:txBody>
      </p:sp>
      <p:pic>
        <p:nvPicPr>
          <p:cNvPr id="4" name="Picture 19">
            <a:extLst>
              <a:ext uri="{FF2B5EF4-FFF2-40B4-BE49-F238E27FC236}">
                <a16:creationId xmlns:a16="http://schemas.microsoft.com/office/drawing/2014/main" id="{2A13D5FB-E955-418B-A0BA-12D70077BEE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494012" y="3077892"/>
            <a:ext cx="7560840" cy="3663475"/>
          </a:xfrm>
          <a:prstGeom prst="rect">
            <a:avLst/>
          </a:prstGeom>
          <a:noFill/>
          <a:ln>
            <a:noFill/>
          </a:ln>
        </p:spPr>
      </p:pic>
    </p:spTree>
    <p:extLst>
      <p:ext uri="{BB962C8B-B14F-4D97-AF65-F5344CB8AC3E}">
        <p14:creationId xmlns:p14="http://schemas.microsoft.com/office/powerpoint/2010/main" val="124416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72E6B8-8A46-4FAA-8001-34F9BADD8E93}"/>
              </a:ext>
            </a:extLst>
          </p:cNvPr>
          <p:cNvSpPr>
            <a:spLocks noGrp="1"/>
          </p:cNvSpPr>
          <p:nvPr>
            <p:ph type="title"/>
          </p:nvPr>
        </p:nvSpPr>
        <p:spPr/>
        <p:txBody>
          <a:bodyPr/>
          <a:lstStyle/>
          <a:p>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1E7BC78B-1C26-4A83-A56A-379CA9736942}"/>
                  </a:ext>
                </a:extLst>
              </p:cNvPr>
              <p:cNvSpPr>
                <a:spLocks noGrp="1"/>
              </p:cNvSpPr>
              <p:nvPr>
                <p:ph idx="1"/>
              </p:nvPr>
            </p:nvSpPr>
            <p:spPr>
              <a:xfrm>
                <a:off x="1485900" y="1628800"/>
                <a:ext cx="9782801" cy="4572000"/>
              </a:xfrm>
            </p:spPr>
            <p:txBody>
              <a:bodyPr/>
              <a:lstStyle/>
              <a:p>
                <a14:m>
                  <m:oMath xmlns:m="http://schemas.openxmlformats.org/officeDocument/2006/math">
                    <m:sSub>
                      <m:sSubPr>
                        <m:ctrlPr>
                          <a:rPr lang="zh-TW" altLang="zh-TW" i="1">
                            <a:latin typeface="Cambria Math" panose="02040503050406030204" pitchFamily="18" charset="0"/>
                          </a:rPr>
                        </m:ctrlPr>
                      </m:sSubPr>
                      <m:e>
                        <m:r>
                          <a:rPr lang="en-GB" altLang="zh-TW" i="1">
                            <a:latin typeface="Cambria Math" panose="02040503050406030204" pitchFamily="18" charset="0"/>
                          </a:rPr>
                          <m:t>𝐹</m:t>
                        </m:r>
                      </m:e>
                      <m:sub>
                        <m:r>
                          <m:rPr>
                            <m:sty m:val="p"/>
                          </m:rPr>
                          <a:rPr lang="en-GB" altLang="zh-TW">
                            <a:latin typeface="Cambria Math" panose="02040503050406030204" pitchFamily="18" charset="0"/>
                          </a:rPr>
                          <m:t>SSB</m:t>
                        </m:r>
                        <m:r>
                          <a:rPr lang="en-GB" altLang="zh-TW">
                            <a:latin typeface="Cambria Math" panose="02040503050406030204" pitchFamily="18" charset="0"/>
                          </a:rPr>
                          <m:t>,</m:t>
                        </m:r>
                        <m:r>
                          <m:rPr>
                            <m:sty m:val="p"/>
                          </m:rPr>
                          <a:rPr lang="en-GB" altLang="zh-TW">
                            <a:latin typeface="Cambria Math" panose="02040503050406030204" pitchFamily="18" charset="0"/>
                          </a:rPr>
                          <m:t>min</m:t>
                        </m:r>
                      </m:sub>
                    </m:sSub>
                    <m:r>
                      <a:rPr lang="en-GB" altLang="zh-TW" i="1">
                        <a:latin typeface="Cambria Math" panose="02040503050406030204" pitchFamily="18" charset="0"/>
                      </a:rPr>
                      <m:t>=</m:t>
                    </m:r>
                    <m:r>
                      <m:rPr>
                        <m:sty m:val="p"/>
                      </m:rPr>
                      <a:rPr lang="en-GB" altLang="zh-TW">
                        <a:latin typeface="Cambria Math" panose="02040503050406030204" pitchFamily="18" charset="0"/>
                      </a:rPr>
                      <m:t>S</m:t>
                    </m:r>
                    <m:sSub>
                      <m:sSubPr>
                        <m:ctrlPr>
                          <a:rPr lang="zh-TW" altLang="zh-TW" i="1">
                            <a:latin typeface="Cambria Math" panose="02040503050406030204" pitchFamily="18" charset="0"/>
                          </a:rPr>
                        </m:ctrlPr>
                      </m:sSubPr>
                      <m:e>
                        <m:r>
                          <m:rPr>
                            <m:sty m:val="p"/>
                          </m:rPr>
                          <a:rPr lang="en-GB" altLang="zh-TW">
                            <a:latin typeface="Cambria Math" panose="02040503050406030204" pitchFamily="18" charset="0"/>
                          </a:rPr>
                          <m:t>S</m:t>
                        </m:r>
                      </m:e>
                      <m:sub>
                        <m:r>
                          <m:rPr>
                            <m:sty m:val="p"/>
                          </m:rPr>
                          <a:rPr lang="en-GB" altLang="zh-TW">
                            <a:latin typeface="Cambria Math" panose="02040503050406030204" pitchFamily="18" charset="0"/>
                          </a:rPr>
                          <m:t>REF</m:t>
                        </m:r>
                      </m:sub>
                    </m:sSub>
                    <m:r>
                      <a:rPr lang="en-GB" altLang="zh-TW" i="1">
                        <a:latin typeface="Cambria Math" panose="02040503050406030204" pitchFamily="18" charset="0"/>
                      </a:rPr>
                      <m:t>−</m:t>
                    </m:r>
                    <m:d>
                      <m:dPr>
                        <m:ctrlPr>
                          <a:rPr lang="zh-TW" altLang="zh-TW" i="1">
                            <a:latin typeface="Cambria Math" panose="02040503050406030204" pitchFamily="18" charset="0"/>
                          </a:rPr>
                        </m:ctrlPr>
                      </m:dPr>
                      <m:e>
                        <m:r>
                          <a:rPr lang="en-GB" altLang="zh-TW" i="1">
                            <a:latin typeface="Cambria Math" panose="02040503050406030204" pitchFamily="18" charset="0"/>
                          </a:rPr>
                          <m:t>10</m:t>
                        </m:r>
                        <m:r>
                          <a:rPr lang="en-GB" altLang="zh-TW">
                            <a:latin typeface="Cambria Math" panose="02040503050406030204" pitchFamily="18" charset="0"/>
                          </a:rPr>
                          <m:t>×</m:t>
                        </m:r>
                        <m:r>
                          <a:rPr lang="en-GB" altLang="zh-TW" i="1">
                            <a:latin typeface="Cambria Math" panose="02040503050406030204" pitchFamily="18" charset="0"/>
                          </a:rPr>
                          <m:t>180</m:t>
                        </m:r>
                      </m:e>
                    </m:d>
                    <m:r>
                      <a:rPr lang="en-GB" altLang="zh-TW" i="1">
                        <a:latin typeface="Cambria Math" panose="02040503050406030204" pitchFamily="18" charset="0"/>
                      </a:rPr>
                      <m:t>−7.5,  </m:t>
                    </m:r>
                    <m:d>
                      <m:dPr>
                        <m:begChr m:val="["/>
                        <m:endChr m:val="]"/>
                        <m:ctrlPr>
                          <a:rPr lang="zh-TW" altLang="zh-TW" i="1">
                            <a:latin typeface="Cambria Math" panose="02040503050406030204" pitchFamily="18" charset="0"/>
                          </a:rPr>
                        </m:ctrlPr>
                      </m:dPr>
                      <m:e>
                        <m:r>
                          <m:rPr>
                            <m:sty m:val="p"/>
                          </m:rPr>
                          <a:rPr lang="en-GB" altLang="zh-TW">
                            <a:latin typeface="Cambria Math" panose="02040503050406030204" pitchFamily="18" charset="0"/>
                          </a:rPr>
                          <m:t>kHz</m:t>
                        </m:r>
                      </m:e>
                    </m:d>
                  </m:oMath>
                </a14:m>
                <a:endParaRPr lang="en-US" altLang="zh-TW" dirty="0"/>
              </a:p>
              <a:p>
                <a14:m>
                  <m:oMath xmlns:m="http://schemas.openxmlformats.org/officeDocument/2006/math">
                    <m:sSub>
                      <m:sSubPr>
                        <m:ctrlPr>
                          <a:rPr lang="zh-TW" altLang="zh-TW" i="1">
                            <a:latin typeface="Cambria Math" panose="02040503050406030204" pitchFamily="18" charset="0"/>
                          </a:rPr>
                        </m:ctrlPr>
                      </m:sSubPr>
                      <m:e>
                        <m:r>
                          <a:rPr lang="en-GB" altLang="zh-TW" i="1">
                            <a:latin typeface="Cambria Math" panose="02040503050406030204" pitchFamily="18" charset="0"/>
                          </a:rPr>
                          <m:t>𝐹</m:t>
                        </m:r>
                      </m:e>
                      <m:sub>
                        <m:r>
                          <m:rPr>
                            <m:sty m:val="p"/>
                          </m:rPr>
                          <a:rPr lang="en-GB" altLang="zh-TW">
                            <a:latin typeface="Cambria Math" panose="02040503050406030204" pitchFamily="18" charset="0"/>
                          </a:rPr>
                          <m:t>SSB</m:t>
                        </m:r>
                        <m:r>
                          <a:rPr lang="en-GB" altLang="zh-TW">
                            <a:latin typeface="Cambria Math" panose="02040503050406030204" pitchFamily="18" charset="0"/>
                          </a:rPr>
                          <m:t>,</m:t>
                        </m:r>
                        <m:r>
                          <m:rPr>
                            <m:sty m:val="p"/>
                          </m:rPr>
                          <a:rPr lang="en-GB" altLang="zh-TW">
                            <a:latin typeface="Cambria Math" panose="02040503050406030204" pitchFamily="18" charset="0"/>
                          </a:rPr>
                          <m:t>max</m:t>
                        </m:r>
                      </m:sub>
                    </m:sSub>
                    <m:r>
                      <a:rPr lang="en-GB" altLang="zh-TW" i="1">
                        <a:latin typeface="Cambria Math" panose="02040503050406030204" pitchFamily="18" charset="0"/>
                      </a:rPr>
                      <m:t>=</m:t>
                    </m:r>
                    <m:sSub>
                      <m:sSubPr>
                        <m:ctrlPr>
                          <a:rPr lang="zh-TW" altLang="zh-TW" i="1">
                            <a:latin typeface="Cambria Math" panose="02040503050406030204" pitchFamily="18" charset="0"/>
                          </a:rPr>
                        </m:ctrlPr>
                      </m:sSubPr>
                      <m:e>
                        <m:r>
                          <a:rPr lang="en-GB" altLang="zh-TW" i="1">
                            <a:latin typeface="Cambria Math" panose="02040503050406030204" pitchFamily="18" charset="0"/>
                          </a:rPr>
                          <m:t>𝐹</m:t>
                        </m:r>
                      </m:e>
                      <m:sub>
                        <m:r>
                          <m:rPr>
                            <m:sty m:val="p"/>
                          </m:rPr>
                          <a:rPr lang="en-GB" altLang="zh-TW">
                            <a:latin typeface="Cambria Math" panose="02040503050406030204" pitchFamily="18" charset="0"/>
                          </a:rPr>
                          <m:t>SSB</m:t>
                        </m:r>
                        <m:r>
                          <a:rPr lang="en-GB" altLang="zh-TW">
                            <a:latin typeface="Cambria Math" panose="02040503050406030204" pitchFamily="18" charset="0"/>
                          </a:rPr>
                          <m:t>,</m:t>
                        </m:r>
                        <m:r>
                          <m:rPr>
                            <m:sty m:val="p"/>
                          </m:rPr>
                          <a:rPr lang="en-GB" altLang="zh-TW">
                            <a:latin typeface="Cambria Math" panose="02040503050406030204" pitchFamily="18" charset="0"/>
                          </a:rPr>
                          <m:t>min</m:t>
                        </m:r>
                      </m:sub>
                    </m:sSub>
                    <m:r>
                      <a:rPr lang="en-GB" altLang="zh-TW" i="1">
                        <a:latin typeface="Cambria Math" panose="02040503050406030204" pitchFamily="18" charset="0"/>
                      </a:rPr>
                      <m:t>+</m:t>
                    </m:r>
                    <m:d>
                      <m:dPr>
                        <m:ctrlPr>
                          <a:rPr lang="zh-TW" altLang="zh-TW" i="1">
                            <a:latin typeface="Cambria Math" panose="02040503050406030204" pitchFamily="18" charset="0"/>
                          </a:rPr>
                        </m:ctrlPr>
                      </m:dPr>
                      <m:e>
                        <m:r>
                          <a:rPr lang="en-GB" altLang="zh-TW" i="1">
                            <a:latin typeface="Cambria Math" panose="02040503050406030204" pitchFamily="18" charset="0"/>
                          </a:rPr>
                          <m:t>20</m:t>
                        </m:r>
                        <m:r>
                          <a:rPr lang="en-GB" altLang="zh-TW">
                            <a:latin typeface="Cambria Math" panose="02040503050406030204" pitchFamily="18" charset="0"/>
                          </a:rPr>
                          <m:t>×</m:t>
                        </m:r>
                        <m:r>
                          <a:rPr lang="en-GB" altLang="zh-TW" i="1">
                            <a:latin typeface="Cambria Math" panose="02040503050406030204" pitchFamily="18" charset="0"/>
                          </a:rPr>
                          <m:t>180</m:t>
                        </m:r>
                      </m:e>
                    </m:d>
                    <m:r>
                      <a:rPr lang="en-GB" altLang="zh-TW" i="1">
                        <a:latin typeface="Cambria Math" panose="02040503050406030204" pitchFamily="18" charset="0"/>
                      </a:rPr>
                      <m:t>,        </m:t>
                    </m:r>
                    <m:d>
                      <m:dPr>
                        <m:begChr m:val="["/>
                        <m:endChr m:val="]"/>
                        <m:ctrlPr>
                          <a:rPr lang="zh-TW" altLang="zh-TW" i="1">
                            <a:latin typeface="Cambria Math" panose="02040503050406030204" pitchFamily="18" charset="0"/>
                          </a:rPr>
                        </m:ctrlPr>
                      </m:dPr>
                      <m:e>
                        <m:r>
                          <m:rPr>
                            <m:sty m:val="p"/>
                          </m:rPr>
                          <a:rPr lang="en-GB" altLang="zh-TW">
                            <a:latin typeface="Cambria Math" panose="02040503050406030204" pitchFamily="18" charset="0"/>
                          </a:rPr>
                          <m:t>kHz</m:t>
                        </m:r>
                      </m:e>
                    </m:d>
                  </m:oMath>
                </a14:m>
                <a:endParaRPr lang="zh-TW" altLang="en-US" dirty="0"/>
              </a:p>
            </p:txBody>
          </p:sp>
        </mc:Choice>
        <mc:Fallback xmlns="">
          <p:sp>
            <p:nvSpPr>
              <p:cNvPr id="3" name="內容版面配置區 2">
                <a:extLst>
                  <a:ext uri="{FF2B5EF4-FFF2-40B4-BE49-F238E27FC236}">
                    <a16:creationId xmlns:a16="http://schemas.microsoft.com/office/drawing/2014/main" id="{1E7BC78B-1C26-4A83-A56A-379CA9736942}"/>
                  </a:ext>
                </a:extLst>
              </p:cNvPr>
              <p:cNvSpPr>
                <a:spLocks noGrp="1" noRot="1" noChangeAspect="1" noMove="1" noResize="1" noEditPoints="1" noAdjustHandles="1" noChangeArrowheads="1" noChangeShapeType="1" noTextEdit="1"/>
              </p:cNvSpPr>
              <p:nvPr>
                <p:ph idx="1"/>
              </p:nvPr>
            </p:nvSpPr>
            <p:spPr>
              <a:xfrm>
                <a:off x="1485900" y="1628800"/>
                <a:ext cx="9782801" cy="4572000"/>
              </a:xfrm>
              <a:blipFill>
                <a:blip r:embed="rId3"/>
                <a:stretch>
                  <a:fillRect/>
                </a:stretch>
              </a:blipFill>
            </p:spPr>
            <p:txBody>
              <a:bodyPr/>
              <a:lstStyle/>
              <a:p>
                <a:r>
                  <a:rPr lang="zh-TW" altLang="en-US">
                    <a:noFill/>
                  </a:rPr>
                  <a:t> </a:t>
                </a:r>
              </a:p>
            </p:txBody>
          </p:sp>
        </mc:Fallback>
      </mc:AlternateContent>
      <p:pic>
        <p:nvPicPr>
          <p:cNvPr id="4" name="Picture 17">
            <a:extLst>
              <a:ext uri="{FF2B5EF4-FFF2-40B4-BE49-F238E27FC236}">
                <a16:creationId xmlns:a16="http://schemas.microsoft.com/office/drawing/2014/main" id="{935E5BC6-8D66-4A1B-BA28-65A4E0930F7E}"/>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701924" y="3212976"/>
            <a:ext cx="8784976" cy="2609850"/>
          </a:xfrm>
          <a:prstGeom prst="rect">
            <a:avLst/>
          </a:prstGeom>
          <a:noFill/>
          <a:ln>
            <a:noFill/>
          </a:ln>
        </p:spPr>
      </p:pic>
    </p:spTree>
    <p:extLst>
      <p:ext uri="{BB962C8B-B14F-4D97-AF65-F5344CB8AC3E}">
        <p14:creationId xmlns:p14="http://schemas.microsoft.com/office/powerpoint/2010/main" val="2960602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5652A6-527D-42B9-A3EC-296CD897C984}"/>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DD6CE030-81F5-421F-ABB4-BBFA22A91805}"/>
              </a:ext>
            </a:extLst>
          </p:cNvPr>
          <p:cNvSpPr>
            <a:spLocks noGrp="1"/>
          </p:cNvSpPr>
          <p:nvPr>
            <p:ph idx="1"/>
          </p:nvPr>
        </p:nvSpPr>
        <p:spPr/>
        <p:txBody>
          <a:bodyPr/>
          <a:lstStyle/>
          <a:p>
            <a:r>
              <a:rPr lang="en-GB" altLang="zh-TW" dirty="0">
                <a:solidFill>
                  <a:schemeClr val="tx2"/>
                </a:solidFill>
              </a:rPr>
              <a:t>As mentioned before, NB-IoT carrier frequency and NR RF reference frequency refers to different locations in the frequency domain:</a:t>
            </a:r>
          </a:p>
          <a:p>
            <a:pPr marL="0" indent="0">
              <a:buNone/>
            </a:pPr>
            <a:endParaRPr lang="en-GB" altLang="zh-TW" dirty="0"/>
          </a:p>
          <a:p>
            <a:pPr lvl="0" fontAlgn="base" hangingPunct="0"/>
            <a:r>
              <a:rPr lang="en-GB" altLang="zh-TW" dirty="0"/>
              <a:t>NB-IoT carrier frequency is referring to a frequency located in between 2 NB-IoT tones.</a:t>
            </a:r>
          </a:p>
          <a:p>
            <a:pPr lvl="0" fontAlgn="base" hangingPunct="0"/>
            <a:endParaRPr lang="en-GB" altLang="zh-TW" dirty="0"/>
          </a:p>
          <a:p>
            <a:pPr fontAlgn="base" hangingPunct="0"/>
            <a:r>
              <a:rPr lang="en-GB" altLang="zh-TW" dirty="0"/>
              <a:t>NR RF reference frequency is referring to a frequency located in the middle of a tone.</a:t>
            </a:r>
            <a:endParaRPr lang="zh-TW" altLang="zh-TW" dirty="0"/>
          </a:p>
          <a:p>
            <a:pPr lvl="0" fontAlgn="base" hangingPunct="0"/>
            <a:endParaRPr lang="zh-TW" altLang="zh-TW" dirty="0"/>
          </a:p>
        </p:txBody>
      </p:sp>
    </p:spTree>
    <p:extLst>
      <p:ext uri="{BB962C8B-B14F-4D97-AF65-F5344CB8AC3E}">
        <p14:creationId xmlns:p14="http://schemas.microsoft.com/office/powerpoint/2010/main" val="2613197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圖片預留位置 8" descr="要新增影像的空白預留位置。按一下預留位置，然後選取您要新增的影像"/>
          <p:cNvSpPr>
            <a:spLocks noGrp="1"/>
          </p:cNvSpPr>
          <p:nvPr>
            <p:ph type="pic" idx="1"/>
          </p:nvPr>
        </p:nvSpPr>
        <p:spPr/>
      </p:sp>
      <p:sp>
        <p:nvSpPr>
          <p:cNvPr id="10" name="文字預留位置 9"/>
          <p:cNvSpPr>
            <a:spLocks noGrp="1"/>
          </p:cNvSpPr>
          <p:nvPr>
            <p:ph type="body" sz="half" idx="2"/>
          </p:nvPr>
        </p:nvSpPr>
        <p:spPr/>
        <p:txBody>
          <a:bodyPr rtlCol="0"/>
          <a:lstStyle/>
          <a:p>
            <a:pPr rtl="0"/>
            <a:r>
              <a:rPr lang="en-US" altLang="zh-TW" dirty="0"/>
              <a:t>THANK YOU!</a:t>
            </a:r>
            <a:endParaRPr lang="zh-TW" altLang="en-US" dirty="0">
              <a:ea typeface="Microsoft JhengHei UI" panose="020B0604030504040204" pitchFamily="34" charset="-120"/>
            </a:endParaRPr>
          </a:p>
        </p:txBody>
      </p:sp>
    </p:spTree>
    <p:extLst>
      <p:ext uri="{BB962C8B-B14F-4D97-AF65-F5344CB8AC3E}">
        <p14:creationId xmlns:p14="http://schemas.microsoft.com/office/powerpoint/2010/main" val="394128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數學 16x9">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9696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9060_TF02787947.potx" id="{CA6F56C2-3862-459D-931B-5489B8C74ABE}" vid="{493EA9E0-9B5A-4828-8580-9A0678705664}"/>
    </a:ext>
  </a:extLst>
</a:theme>
</file>

<file path=ppt/theme/theme2.xml><?xml version="1.0" encoding="utf-8"?>
<a:theme xmlns:a="http://schemas.openxmlformats.org/drawingml/2006/main" name="Office 佈景主題">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佈景主題">
  <a:themeElements>
    <a:clrScheme name="Math_16x9">
      <a:dk1>
        <a:srgbClr val="465562"/>
      </a:dk1>
      <a:lt1>
        <a:srgbClr val="FFFFFF"/>
      </a:lt1>
      <a:dk2>
        <a:srgbClr val="000000"/>
      </a:dk2>
      <a:lt2>
        <a:srgbClr val="F2ECE2"/>
      </a:lt2>
      <a:accent1>
        <a:srgbClr val="9BAAB7"/>
      </a:accent1>
      <a:accent2>
        <a:srgbClr val="B8D082"/>
      </a:accent2>
      <a:accent3>
        <a:srgbClr val="EFDB85"/>
      </a:accent3>
      <a:accent4>
        <a:srgbClr val="E8A565"/>
      </a:accent4>
      <a:accent5>
        <a:srgbClr val="BC9AAE"/>
      </a:accent5>
      <a:accent6>
        <a:srgbClr val="BABABA"/>
      </a:accent6>
      <a:hlink>
        <a:srgbClr val="8FC48C"/>
      </a:hlink>
      <a:folHlink>
        <a:srgbClr val="A97C96"/>
      </a:folHlink>
    </a:clrScheme>
    <a:fontScheme name="Euphemia">
      <a:majorFont>
        <a:latin typeface="Euphemia"/>
        <a:ea typeface=""/>
        <a:cs typeface=""/>
      </a:majorFont>
      <a:minorFont>
        <a:latin typeface="Euphemi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含有 Pi 的數學教育簡報 (寬螢幕)</Template>
  <TotalTime>450</TotalTime>
  <Words>1865</Words>
  <Application>Microsoft Office PowerPoint</Application>
  <PresentationFormat>自訂</PresentationFormat>
  <Paragraphs>119</Paragraphs>
  <Slides>16</Slides>
  <Notes>13</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Microsoft JhengHei UI</vt:lpstr>
      <vt:lpstr>Arial</vt:lpstr>
      <vt:lpstr>Cambria Math</vt:lpstr>
      <vt:lpstr>Euphemia</vt:lpstr>
      <vt:lpstr>數學 16x9</vt:lpstr>
      <vt:lpstr>NR and NB-IoT coexistence</vt:lpstr>
      <vt:lpstr>When it comes to NB-IoT co-existence with NR, depend on the utilized spectrum for NB-IoT operations, 3 system scenarios should be considered:</vt:lpstr>
      <vt:lpstr>PowerPoint 簡報</vt:lpstr>
      <vt:lpstr>NB-IoT operating in NR in-band</vt:lpstr>
      <vt:lpstr>As shown on Figure 5.2.1.3-1, if NRB is even:</vt:lpstr>
      <vt:lpstr>As shown on Figure 5.2.1.3-2, if NRB is odd:</vt:lpstr>
      <vt:lpstr>For example</vt:lpstr>
      <vt:lpstr>NB-IoT channel raster</vt:lpstr>
      <vt:lpstr>NR channel raster</vt:lpstr>
      <vt:lpstr>PowerPoint 簡報</vt:lpstr>
      <vt:lpstr>PowerPoint 簡報</vt:lpstr>
      <vt:lpstr>PowerPoint 簡報</vt:lpstr>
      <vt:lpstr>NR SS Blocks</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NR and NB-IoT coexistence</dc:title>
  <dc:creator>Albert</dc:creator>
  <cp:lastModifiedBy>Albert</cp:lastModifiedBy>
  <cp:revision>47</cp:revision>
  <dcterms:created xsi:type="dcterms:W3CDTF">2020-02-13T13:50:33Z</dcterms:created>
  <dcterms:modified xsi:type="dcterms:W3CDTF">2020-02-14T05:50:45Z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CampaignTags">
    <vt:lpwstr/>
  </property>
  <property fmtid="{D5CDD505-2E9C-101B-9397-08002B2CF9AE}" pid="7" name="ScenarioTags">
    <vt:lpwstr/>
  </property>
</Properties>
</file>