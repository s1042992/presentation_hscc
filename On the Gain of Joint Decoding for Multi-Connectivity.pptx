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53" r:id="rId3"/>
  </p:sldMasterIdLst>
  <p:notesMasterIdLst>
    <p:notesMasterId r:id="rId25"/>
  </p:notesMasterIdLst>
  <p:handoutMasterIdLst>
    <p:handoutMasterId r:id="rId26"/>
  </p:handoutMasterIdLst>
  <p:sldIdLst>
    <p:sldId id="256" r:id="rId4"/>
    <p:sldId id="261" r:id="rId5"/>
    <p:sldId id="307" r:id="rId6"/>
    <p:sldId id="306" r:id="rId7"/>
    <p:sldId id="273" r:id="rId8"/>
    <p:sldId id="308" r:id="rId9"/>
    <p:sldId id="309" r:id="rId10"/>
    <p:sldId id="310" r:id="rId11"/>
    <p:sldId id="311" r:id="rId12"/>
    <p:sldId id="312" r:id="rId13"/>
    <p:sldId id="313" r:id="rId14"/>
    <p:sldId id="314" r:id="rId15"/>
    <p:sldId id="315" r:id="rId16"/>
    <p:sldId id="316" r:id="rId17"/>
    <p:sldId id="317" r:id="rId18"/>
    <p:sldId id="318" r:id="rId19"/>
    <p:sldId id="319" r:id="rId20"/>
    <p:sldId id="320" r:id="rId21"/>
    <p:sldId id="321" r:id="rId22"/>
    <p:sldId id="322" r:id="rId23"/>
    <p:sldId id="272" r:id="rId24"/>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1">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D2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663" autoAdjust="0"/>
  </p:normalViewPr>
  <p:slideViewPr>
    <p:cSldViewPr>
      <p:cViewPr varScale="1">
        <p:scale>
          <a:sx n="108" d="100"/>
          <a:sy n="108" d="100"/>
        </p:scale>
        <p:origin x="1704" y="102"/>
      </p:cViewPr>
      <p:guideLst>
        <p:guide orient="horz" pos="1801"/>
        <p:guide pos="2880"/>
      </p:guideLst>
    </p:cSldViewPr>
  </p:slideViewPr>
  <p:notesTextViewPr>
    <p:cViewPr>
      <p:scale>
        <a:sx n="1" d="1"/>
        <a:sy n="1" d="1"/>
      </p:scale>
      <p:origin x="0" y="0"/>
    </p:cViewPr>
  </p:notesTextViewPr>
  <p:notesViewPr>
    <p:cSldViewPr showGuides="1">
      <p:cViewPr varScale="1">
        <p:scale>
          <a:sx n="83" d="100"/>
          <a:sy n="83" d="100"/>
        </p:scale>
        <p:origin x="4740"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8FEF09C3-5432-4DA0-9890-3050357C5E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9227E202-B8C5-4411-9AB9-001230F3662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6CC0FA2-A713-4856-8F75-7FAFAF357361}" type="datetimeFigureOut">
              <a:rPr lang="ko-KR" altLang="en-US" smtClean="0"/>
              <a:t>2020-04-09</a:t>
            </a:fld>
            <a:endParaRPr lang="ko-KR" altLang="en-US"/>
          </a:p>
        </p:txBody>
      </p:sp>
      <p:sp>
        <p:nvSpPr>
          <p:cNvPr id="4" name="바닥글 개체 틀 3">
            <a:extLst>
              <a:ext uri="{FF2B5EF4-FFF2-40B4-BE49-F238E27FC236}">
                <a16:creationId xmlns:a16="http://schemas.microsoft.com/office/drawing/2014/main" id="{A05FDCCD-9920-4087-A8EF-840D6BF9675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1B30773E-42C5-4B13-84D2-DE05FB0C34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A52E6A-8C14-4F5B-B0CB-3A4FCBC8D1E8}" type="slidenum">
              <a:rPr lang="ko-KR" altLang="en-US" smtClean="0"/>
              <a:t>‹#›</a:t>
            </a:fld>
            <a:endParaRPr lang="ko-KR" altLang="en-US"/>
          </a:p>
        </p:txBody>
      </p:sp>
    </p:spTree>
    <p:extLst>
      <p:ext uri="{BB962C8B-B14F-4D97-AF65-F5344CB8AC3E}">
        <p14:creationId xmlns:p14="http://schemas.microsoft.com/office/powerpoint/2010/main" val="1617795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88866FF-EA9A-44BA-8DB2-FB8E70490571}" type="datetimeFigureOut">
              <a:rPr lang="ko-KR" altLang="en-US" smtClean="0"/>
              <a:t>2020-04-09</a:t>
            </a:fld>
            <a:endParaRPr lang="ko-KR" alt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789A33-A361-4541-B6A7-456994CC0C02}" type="slidenum">
              <a:rPr lang="ko-KR" altLang="en-US" smtClean="0"/>
              <a:t>‹#›</a:t>
            </a:fld>
            <a:endParaRPr lang="ko-KR" altLang="en-US"/>
          </a:p>
        </p:txBody>
      </p:sp>
    </p:spTree>
    <p:extLst>
      <p:ext uri="{BB962C8B-B14F-4D97-AF65-F5344CB8AC3E}">
        <p14:creationId xmlns:p14="http://schemas.microsoft.com/office/powerpoint/2010/main" val="382456447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ko-KR" dirty="0">
                <a:ea typeface="맑은 고딕" pitchFamily="50" charset="-127"/>
              </a:rPr>
              <a:t>Multi-Connectivity</a:t>
            </a:r>
            <a:r>
              <a:rPr lang="zh-TW" altLang="en-US" sz="1200" kern="1200" dirty="0">
                <a:solidFill>
                  <a:schemeClr val="tx1"/>
                </a:solidFill>
                <a:latin typeface="+mn-lt"/>
                <a:ea typeface="+mn-ea"/>
                <a:cs typeface="+mn-cs"/>
              </a:rPr>
              <a:t>被認為是實現未來無線網絡中可靠傳輸的關鍵。 傳輸可靠性取決於所使用的合併算法，例如</a:t>
            </a:r>
            <a:r>
              <a:rPr lang="en-US" altLang="zh-TW" sz="1200" kern="1200" dirty="0">
                <a:solidFill>
                  <a:schemeClr val="tx1"/>
                </a:solidFill>
                <a:latin typeface="+mn-lt"/>
                <a:ea typeface="+mn-ea"/>
                <a:cs typeface="+mn-cs"/>
              </a:rPr>
              <a:t>Joint decoding</a:t>
            </a:r>
            <a:r>
              <a:rPr lang="zh-TW" altLang="en-US" sz="1200" kern="1200" dirty="0">
                <a:solidFill>
                  <a:schemeClr val="tx1"/>
                </a:solidFill>
                <a:latin typeface="+mn-lt"/>
                <a:ea typeface="+mn-ea"/>
                <a:cs typeface="+mn-cs"/>
              </a:rPr>
              <a:t>（</a:t>
            </a:r>
            <a:r>
              <a:rPr lang="en-US" altLang="zh-TW" sz="1200" kern="1200" dirty="0">
                <a:solidFill>
                  <a:schemeClr val="tx1"/>
                </a:solidFill>
                <a:latin typeface="+mn-lt"/>
                <a:ea typeface="+mn-ea"/>
                <a:cs typeface="+mn-cs"/>
              </a:rPr>
              <a:t>JD</a:t>
            </a:r>
            <a:r>
              <a:rPr lang="zh-TW" altLang="en-US" sz="1200" kern="1200" dirty="0">
                <a:solidFill>
                  <a:schemeClr val="tx1"/>
                </a:solidFill>
                <a:latin typeface="+mn-lt"/>
                <a:ea typeface="+mn-ea"/>
                <a:cs typeface="+mn-cs"/>
              </a:rPr>
              <a:t>），</a:t>
            </a:r>
            <a:r>
              <a:rPr lang="en-US" altLang="zh-TW" sz="1200" kern="1200" dirty="0">
                <a:solidFill>
                  <a:schemeClr val="tx1"/>
                </a:solidFill>
                <a:latin typeface="+mn-lt"/>
                <a:ea typeface="+mn-ea"/>
                <a:cs typeface="+mn-cs"/>
              </a:rPr>
              <a:t>maximum selection combining</a:t>
            </a:r>
            <a:r>
              <a:rPr lang="zh-TW" altLang="en-US" sz="1200" kern="1200" dirty="0">
                <a:solidFill>
                  <a:schemeClr val="tx1"/>
                </a:solidFill>
                <a:latin typeface="+mn-lt"/>
                <a:ea typeface="+mn-ea"/>
                <a:cs typeface="+mn-cs"/>
              </a:rPr>
              <a:t>（</a:t>
            </a:r>
            <a:r>
              <a:rPr lang="en-US" altLang="zh-TW" sz="1200" kern="1200" dirty="0">
                <a:solidFill>
                  <a:schemeClr val="tx1"/>
                </a:solidFill>
                <a:latin typeface="+mn-lt"/>
                <a:ea typeface="+mn-ea"/>
                <a:cs typeface="+mn-cs"/>
              </a:rPr>
              <a:t>MSC</a:t>
            </a:r>
            <a:r>
              <a:rPr lang="zh-TW" altLang="en-US" sz="1200" kern="1200" dirty="0">
                <a:solidFill>
                  <a:schemeClr val="tx1"/>
                </a:solidFill>
                <a:latin typeface="+mn-lt"/>
                <a:ea typeface="+mn-ea"/>
                <a:cs typeface="+mn-cs"/>
              </a:rPr>
              <a:t>）和</a:t>
            </a:r>
            <a:r>
              <a:rPr lang="en-US" altLang="zh-TW" sz="1200" kern="1200" dirty="0">
                <a:solidFill>
                  <a:schemeClr val="tx1"/>
                </a:solidFill>
                <a:latin typeface="+mn-lt"/>
                <a:ea typeface="+mn-ea"/>
                <a:cs typeface="+mn-cs"/>
              </a:rPr>
              <a:t>maximum ratio combining</a:t>
            </a:r>
            <a:r>
              <a:rPr lang="zh-TW" altLang="en-US" sz="1200" kern="1200" dirty="0">
                <a:solidFill>
                  <a:schemeClr val="tx1"/>
                </a:solidFill>
                <a:latin typeface="+mn-lt"/>
                <a:ea typeface="+mn-ea"/>
                <a:cs typeface="+mn-cs"/>
              </a:rPr>
              <a:t>（</a:t>
            </a:r>
            <a:r>
              <a:rPr lang="en-US" altLang="zh-TW" sz="1200" kern="1200" dirty="0">
                <a:solidFill>
                  <a:schemeClr val="tx1"/>
                </a:solidFill>
                <a:latin typeface="+mn-lt"/>
                <a:ea typeface="+mn-ea"/>
                <a:cs typeface="+mn-cs"/>
              </a:rPr>
              <a:t>MRC</a:t>
            </a:r>
            <a:r>
              <a:rPr lang="zh-TW" altLang="en-US" sz="1200" kern="1200" dirty="0">
                <a:solidFill>
                  <a:schemeClr val="tx1"/>
                </a:solidFill>
                <a:latin typeface="+mn-lt"/>
                <a:ea typeface="+mn-ea"/>
                <a:cs typeface="+mn-cs"/>
              </a:rPr>
              <a:t>）。</a:t>
            </a:r>
            <a:endParaRPr lang="en-US" altLang="zh-TW" sz="1200" kern="1200" dirty="0">
              <a:solidFill>
                <a:schemeClr val="tx1"/>
              </a:solidFill>
              <a:latin typeface="+mn-lt"/>
              <a:ea typeface="+mn-ea"/>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zh-TW" altLang="en-US" sz="1200" kern="1200" dirty="0">
                <a:solidFill>
                  <a:schemeClr val="tx1"/>
                </a:solidFill>
                <a:latin typeface="+mn-lt"/>
                <a:ea typeface="+mn-ea"/>
                <a:cs typeface="+mn-cs"/>
              </a:rPr>
              <a:t>這篇為了比較這三種組合演算法的性能，作者基於</a:t>
            </a:r>
            <a:r>
              <a:rPr lang="en-US" altLang="zh-TW" sz="1200" b="0" i="0" kern="1200" dirty="0">
                <a:solidFill>
                  <a:schemeClr val="tx1"/>
                </a:solidFill>
                <a:effectLst/>
                <a:latin typeface="+mn-lt"/>
                <a:ea typeface="+mn-ea"/>
                <a:cs typeface="+mn-cs"/>
              </a:rPr>
              <a:t>Distributed Source Coding</a:t>
            </a:r>
            <a:r>
              <a:rPr lang="zh-TW" altLang="en-US" sz="1200" b="0" i="0" kern="1200" dirty="0">
                <a:solidFill>
                  <a:schemeClr val="tx1"/>
                </a:solidFill>
                <a:effectLst/>
                <a:latin typeface="+mn-lt"/>
                <a:ea typeface="+mn-ea"/>
                <a:cs typeface="+mn-cs"/>
              </a:rPr>
              <a:t> 也就是</a:t>
            </a:r>
            <a:r>
              <a:rPr lang="en-US" altLang="zh-TW" sz="1200" b="0" i="0" kern="1200" dirty="0">
                <a:solidFill>
                  <a:schemeClr val="tx1"/>
                </a:solidFill>
                <a:effectLst/>
                <a:latin typeface="+mn-lt"/>
                <a:ea typeface="+mn-ea"/>
                <a:cs typeface="+mn-cs"/>
              </a:rPr>
              <a:t>”</a:t>
            </a:r>
            <a:r>
              <a:rPr lang="zh-TW" altLang="zh-TW" sz="1200" b="0" i="0" kern="1200" dirty="0">
                <a:solidFill>
                  <a:schemeClr val="tx1"/>
                </a:solidFill>
                <a:effectLst/>
                <a:latin typeface="+mn-lt"/>
                <a:ea typeface="+mn-ea"/>
                <a:cs typeface="+mn-cs"/>
              </a:rPr>
              <a:t>分布式信源編碼</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，來得出他們在</a:t>
            </a:r>
            <a:r>
              <a:rPr lang="en-US" altLang="ko-KR" dirty="0">
                <a:ea typeface="맑은 고딕" pitchFamily="50" charset="-127"/>
              </a:rPr>
              <a:t>Multi-Connectivity</a:t>
            </a:r>
            <a:r>
              <a:rPr lang="zh-TW" altLang="en-US" dirty="0">
                <a:ea typeface="맑은 고딕" pitchFamily="50" charset="-127"/>
              </a:rPr>
              <a:t>時</a:t>
            </a:r>
            <a:r>
              <a:rPr lang="zh-TW" altLang="en-US" sz="1200" b="0" i="0" kern="1200" dirty="0">
                <a:solidFill>
                  <a:schemeClr val="tx1"/>
                </a:solidFill>
                <a:effectLst/>
                <a:latin typeface="+mn-lt"/>
                <a:ea typeface="+mn-ea"/>
                <a:cs typeface="+mn-cs"/>
              </a:rPr>
              <a:t>的中斷概率</a:t>
            </a:r>
            <a:r>
              <a:rPr lang="en-US" altLang="zh-TW" sz="1200" b="0" i="0" kern="1200" dirty="0">
                <a:solidFill>
                  <a:schemeClr val="tx1"/>
                </a:solidFill>
                <a:effectLst/>
                <a:latin typeface="+mn-lt"/>
                <a:ea typeface="+mn-ea"/>
                <a:cs typeface="+mn-cs"/>
              </a:rPr>
              <a:t>(outage probability)</a:t>
            </a:r>
            <a:r>
              <a:rPr lang="zh-TW" altLang="en-US" sz="1200" b="0" i="0" kern="1200" dirty="0">
                <a:solidFill>
                  <a:schemeClr val="tx1"/>
                </a:solidFill>
                <a:effectLst/>
                <a:latin typeface="+mn-lt"/>
                <a:ea typeface="+mn-ea"/>
                <a:cs typeface="+mn-cs"/>
              </a:rPr>
              <a:t>。</a:t>
            </a:r>
            <a:endParaRPr lang="zh-TW"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1</a:t>
            </a:fld>
            <a:endParaRPr lang="ko-KR" altLang="en-US"/>
          </a:p>
        </p:txBody>
      </p:sp>
    </p:spTree>
    <p:extLst>
      <p:ext uri="{BB962C8B-B14F-4D97-AF65-F5344CB8AC3E}">
        <p14:creationId xmlns:p14="http://schemas.microsoft.com/office/powerpoint/2010/main" val="563726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zh-TW" altLang="en-US" sz="1200" kern="1200" dirty="0">
                <a:solidFill>
                  <a:schemeClr val="tx1"/>
                </a:solidFill>
                <a:latin typeface="+mn-lt"/>
                <a:ea typeface="+mn-ea"/>
                <a:cs typeface="+mn-cs"/>
              </a:rPr>
              <a:t>在超可靠的</a:t>
            </a:r>
            <a:r>
              <a:rPr lang="zh-TW" altLang="en-US" sz="1200" kern="1200">
                <a:solidFill>
                  <a:schemeClr val="tx1"/>
                </a:solidFill>
                <a:latin typeface="+mn-lt"/>
                <a:ea typeface="+mn-ea"/>
                <a:cs typeface="+mn-cs"/>
              </a:rPr>
              <a:t>低延遲傳輸（</a:t>
            </a:r>
            <a:r>
              <a:rPr lang="en-US" altLang="zh-TW" sz="1200" kern="1200" dirty="0">
                <a:solidFill>
                  <a:schemeClr val="tx1"/>
                </a:solidFill>
                <a:latin typeface="+mn-lt"/>
                <a:ea typeface="+mn-ea"/>
                <a:cs typeface="+mn-cs"/>
              </a:rPr>
              <a:t>URLLC</a:t>
            </a:r>
            <a:r>
              <a:rPr lang="zh-TW" altLang="en-US" sz="1200" kern="1200" dirty="0">
                <a:solidFill>
                  <a:schemeClr val="tx1"/>
                </a:solidFill>
                <a:latin typeface="+mn-lt"/>
                <a:ea typeface="+mn-ea"/>
                <a:cs typeface="+mn-cs"/>
              </a:rPr>
              <a:t>）的背景下，</a:t>
            </a:r>
            <a:r>
              <a:rPr lang="en-US" altLang="zh-TW" sz="1200" kern="1200" dirty="0">
                <a:solidFill>
                  <a:schemeClr val="tx1"/>
                </a:solidFill>
                <a:latin typeface="+mn-lt"/>
                <a:ea typeface="+mn-ea"/>
                <a:cs typeface="+mn-cs"/>
              </a:rPr>
              <a:t>5G</a:t>
            </a:r>
            <a:r>
              <a:rPr lang="zh-TW" altLang="en-US" sz="1200" kern="1200" dirty="0">
                <a:solidFill>
                  <a:schemeClr val="tx1"/>
                </a:solidFill>
                <a:latin typeface="+mn-lt"/>
                <a:ea typeface="+mn-ea"/>
                <a:cs typeface="+mn-cs"/>
              </a:rPr>
              <a:t>將面臨一些挑戰以應對新興的應用場景。 這些要求對物理層是巨大的挑戰。 在第四代移動網絡（</a:t>
            </a:r>
            <a:r>
              <a:rPr lang="en-US" altLang="zh-TW" sz="1200" kern="1200" dirty="0">
                <a:solidFill>
                  <a:schemeClr val="tx1"/>
                </a:solidFill>
                <a:latin typeface="+mn-lt"/>
                <a:ea typeface="+mn-ea"/>
                <a:cs typeface="+mn-cs"/>
              </a:rPr>
              <a:t>4G</a:t>
            </a:r>
            <a:r>
              <a:rPr lang="zh-TW" altLang="en-US" sz="1200" kern="1200" dirty="0">
                <a:solidFill>
                  <a:schemeClr val="tx1"/>
                </a:solidFill>
                <a:latin typeface="+mn-lt"/>
                <a:ea typeface="+mn-ea"/>
                <a:cs typeface="+mn-cs"/>
              </a:rPr>
              <a:t>）中，可靠性是通過混合自動重發請求過程獲得的，該過程會重發錯誤接收的封包。 但是，</a:t>
            </a:r>
            <a:r>
              <a:rPr lang="en-US" altLang="zh-TW" sz="1200" kern="1200" dirty="0">
                <a:solidFill>
                  <a:schemeClr val="tx1"/>
                </a:solidFill>
                <a:latin typeface="+mn-lt"/>
                <a:ea typeface="+mn-ea"/>
                <a:cs typeface="+mn-cs"/>
              </a:rPr>
              <a:t>URLLC</a:t>
            </a:r>
            <a:r>
              <a:rPr lang="zh-TW" altLang="en-US" sz="1200" kern="1200" dirty="0">
                <a:solidFill>
                  <a:schemeClr val="tx1"/>
                </a:solidFill>
                <a:latin typeface="+mn-lt"/>
                <a:ea typeface="+mn-ea"/>
                <a:cs typeface="+mn-cs"/>
              </a:rPr>
              <a:t>的嚴格時間限制不支持多次重傳。因此</a:t>
            </a:r>
            <a:r>
              <a:rPr lang="en-US" altLang="zh-TW" dirty="0"/>
              <a:t>Multi</a:t>
            </a:r>
            <a:r>
              <a:rPr lang="zh-TW" altLang="en-US" dirty="0"/>
              <a:t> </a:t>
            </a:r>
            <a:r>
              <a:rPr lang="en-US" altLang="zh-TW" dirty="0"/>
              <a:t>–</a:t>
            </a:r>
            <a:r>
              <a:rPr lang="zh-TW" altLang="en-US" dirty="0"/>
              <a:t> </a:t>
            </a:r>
            <a:r>
              <a:rPr lang="en-US" altLang="zh-TW" dirty="0"/>
              <a:t>connectivity</a:t>
            </a:r>
            <a:r>
              <a:rPr lang="zh-TW" altLang="en-US" sz="1200" kern="1200" dirty="0">
                <a:solidFill>
                  <a:schemeClr val="tx1"/>
                </a:solidFill>
                <a:latin typeface="+mn-lt"/>
                <a:ea typeface="+mn-ea"/>
                <a:cs typeface="+mn-cs"/>
              </a:rPr>
              <a:t>被視為在</a:t>
            </a:r>
            <a:r>
              <a:rPr lang="en-US" altLang="zh-TW" sz="1200" kern="1200" dirty="0">
                <a:solidFill>
                  <a:schemeClr val="tx1"/>
                </a:solidFill>
                <a:latin typeface="+mn-lt"/>
                <a:ea typeface="+mn-ea"/>
                <a:cs typeface="+mn-cs"/>
              </a:rPr>
              <a:t>5G</a:t>
            </a:r>
            <a:r>
              <a:rPr lang="zh-TW" altLang="en-US" sz="1200" kern="1200" dirty="0">
                <a:solidFill>
                  <a:schemeClr val="tx1"/>
                </a:solidFill>
                <a:latin typeface="+mn-lt"/>
                <a:ea typeface="+mn-ea"/>
                <a:cs typeface="+mn-cs"/>
              </a:rPr>
              <a:t>中對於</a:t>
            </a:r>
            <a:r>
              <a:rPr lang="en-US" altLang="zh-TW" sz="1200" kern="1200" dirty="0">
                <a:solidFill>
                  <a:schemeClr val="tx1"/>
                </a:solidFill>
                <a:latin typeface="+mn-lt"/>
                <a:ea typeface="+mn-ea"/>
                <a:cs typeface="+mn-cs"/>
              </a:rPr>
              <a:t>URLLC</a:t>
            </a:r>
            <a:r>
              <a:rPr lang="zh-TW" altLang="en-US" sz="1200" kern="1200" dirty="0">
                <a:solidFill>
                  <a:schemeClr val="tx1"/>
                </a:solidFill>
                <a:latin typeface="+mn-lt"/>
                <a:ea typeface="+mn-ea"/>
                <a:cs typeface="+mn-cs"/>
              </a:rPr>
              <a:t>有前途的概念，</a:t>
            </a:r>
            <a:r>
              <a:rPr lang="en-US" altLang="zh-TW" dirty="0"/>
              <a:t>Multi</a:t>
            </a:r>
            <a:r>
              <a:rPr lang="zh-TW" altLang="en-US" dirty="0"/>
              <a:t> </a:t>
            </a:r>
            <a:r>
              <a:rPr lang="en-US" altLang="zh-TW" dirty="0"/>
              <a:t>–</a:t>
            </a:r>
            <a:r>
              <a:rPr lang="zh-TW" altLang="en-US" dirty="0"/>
              <a:t> </a:t>
            </a:r>
            <a:r>
              <a:rPr lang="en-US" altLang="zh-TW" dirty="0"/>
              <a:t>connectivity </a:t>
            </a:r>
            <a:r>
              <a:rPr lang="zh-TW" altLang="en-US" dirty="0"/>
              <a:t>有兩種一種是</a:t>
            </a:r>
            <a:r>
              <a:rPr lang="en-US" altLang="zh-TW" sz="1200" kern="1200" dirty="0">
                <a:solidFill>
                  <a:schemeClr val="tx1"/>
                </a:solidFill>
                <a:latin typeface="+mn-lt"/>
                <a:ea typeface="+mn-ea"/>
                <a:cs typeface="+mn-cs"/>
              </a:rPr>
              <a:t>Intra-MC</a:t>
            </a:r>
            <a:r>
              <a:rPr lang="zh-TW" altLang="en-US" sz="1200" kern="1200" dirty="0">
                <a:solidFill>
                  <a:schemeClr val="tx1"/>
                </a:solidFill>
                <a:latin typeface="+mn-lt"/>
                <a:ea typeface="+mn-ea"/>
                <a:cs typeface="+mn-cs"/>
              </a:rPr>
              <a:t>，</a:t>
            </a:r>
            <a:r>
              <a:rPr lang="en-US" altLang="zh-TW" sz="1200" kern="1200" dirty="0">
                <a:solidFill>
                  <a:schemeClr val="tx1"/>
                </a:solidFill>
                <a:latin typeface="+mn-lt"/>
                <a:ea typeface="+mn-ea"/>
                <a:cs typeface="+mn-cs"/>
              </a:rPr>
              <a:t>Intra-MC</a:t>
            </a:r>
            <a:r>
              <a:rPr lang="zh-TW" altLang="en-US" sz="1200" kern="1200" dirty="0">
                <a:solidFill>
                  <a:schemeClr val="tx1"/>
                </a:solidFill>
                <a:latin typeface="+mn-lt"/>
                <a:ea typeface="+mn-ea"/>
                <a:cs typeface="+mn-cs"/>
              </a:rPr>
              <a:t>的實現原理是單頻網路和多點。相對的另一種</a:t>
            </a:r>
            <a:r>
              <a:rPr lang="en-US" altLang="zh-TW" sz="1200" kern="1200" dirty="0">
                <a:solidFill>
                  <a:schemeClr val="tx1"/>
                </a:solidFill>
                <a:latin typeface="+mn-lt"/>
                <a:ea typeface="+mn-ea"/>
                <a:cs typeface="+mn-cs"/>
              </a:rPr>
              <a:t>inter-MC</a:t>
            </a:r>
            <a:r>
              <a:rPr lang="zh-TW" altLang="en-US" sz="1200" kern="1200" dirty="0">
                <a:solidFill>
                  <a:schemeClr val="tx1"/>
                </a:solidFill>
                <a:latin typeface="+mn-lt"/>
                <a:ea typeface="+mn-ea"/>
                <a:cs typeface="+mn-cs"/>
              </a:rPr>
              <a:t>就是</a:t>
            </a:r>
            <a:r>
              <a:rPr lang="en-US" altLang="zh-TW" sz="1200" kern="1200" dirty="0">
                <a:solidFill>
                  <a:schemeClr val="tx1"/>
                </a:solidFill>
                <a:latin typeface="+mn-lt"/>
                <a:ea typeface="+mn-ea"/>
                <a:cs typeface="+mn-cs"/>
              </a:rPr>
              <a:t>base stations</a:t>
            </a:r>
            <a:r>
              <a:rPr lang="zh-TW" altLang="en-US" sz="1200" kern="1200" dirty="0">
                <a:solidFill>
                  <a:schemeClr val="tx1"/>
                </a:solidFill>
                <a:latin typeface="+mn-lt"/>
                <a:ea typeface="+mn-ea"/>
                <a:cs typeface="+mn-cs"/>
              </a:rPr>
              <a:t>在不同的載波頻率中同時向單個</a:t>
            </a:r>
            <a:r>
              <a:rPr lang="en-US" altLang="zh-TW" sz="1200" kern="1200" dirty="0">
                <a:solidFill>
                  <a:schemeClr val="tx1"/>
                </a:solidFill>
                <a:latin typeface="+mn-lt"/>
                <a:ea typeface="+mn-ea"/>
                <a:cs typeface="+mn-cs"/>
              </a:rPr>
              <a:t>user</a:t>
            </a:r>
            <a:r>
              <a:rPr lang="zh-TW" altLang="en-US" sz="1200" kern="1200" dirty="0">
                <a:solidFill>
                  <a:schemeClr val="tx1"/>
                </a:solidFill>
                <a:latin typeface="+mn-lt"/>
                <a:ea typeface="+mn-ea"/>
                <a:cs typeface="+mn-cs"/>
              </a:rPr>
              <a:t>傳送訊號。在無線通訊中，</a:t>
            </a:r>
            <a:r>
              <a:rPr lang="en-US" altLang="zh-TW" sz="1200" kern="1200" dirty="0">
                <a:solidFill>
                  <a:schemeClr val="tx1"/>
                </a:solidFill>
                <a:latin typeface="+mn-lt"/>
                <a:ea typeface="+mn-ea"/>
                <a:cs typeface="+mn-cs"/>
              </a:rPr>
              <a:t>MC</a:t>
            </a:r>
            <a:r>
              <a:rPr lang="zh-TW" altLang="en-US" sz="1200" kern="1200" dirty="0">
                <a:solidFill>
                  <a:schemeClr val="tx1"/>
                </a:solidFill>
                <a:latin typeface="+mn-lt"/>
                <a:ea typeface="+mn-ea"/>
                <a:cs typeface="+mn-cs"/>
              </a:rPr>
              <a:t>的概念應用在增加</a:t>
            </a:r>
            <a:r>
              <a:rPr lang="en-US" altLang="zh-TW" sz="1200" kern="1200" dirty="0">
                <a:solidFill>
                  <a:schemeClr val="tx1"/>
                </a:solidFill>
                <a:latin typeface="+mn-lt"/>
                <a:ea typeface="+mn-ea"/>
                <a:cs typeface="+mn-cs"/>
              </a:rPr>
              <a:t>data</a:t>
            </a:r>
            <a:r>
              <a:rPr lang="zh-TW" altLang="en-US" sz="1200" kern="1200" dirty="0">
                <a:solidFill>
                  <a:schemeClr val="tx1"/>
                </a:solidFill>
                <a:latin typeface="+mn-lt"/>
                <a:ea typeface="+mn-ea"/>
                <a:cs typeface="+mn-cs"/>
              </a:rPr>
              <a:t> </a:t>
            </a:r>
            <a:r>
              <a:rPr lang="en-US" altLang="zh-TW" sz="1200" kern="1200" dirty="0">
                <a:solidFill>
                  <a:schemeClr val="tx1"/>
                </a:solidFill>
                <a:latin typeface="+mn-lt"/>
                <a:ea typeface="+mn-ea"/>
                <a:cs typeface="+mn-cs"/>
              </a:rPr>
              <a:t>rate</a:t>
            </a:r>
            <a:r>
              <a:rPr lang="zh-TW" altLang="en-US" sz="1200" kern="1200" dirty="0">
                <a:solidFill>
                  <a:schemeClr val="tx1"/>
                </a:solidFill>
                <a:latin typeface="+mn-lt"/>
                <a:ea typeface="+mn-ea"/>
                <a:cs typeface="+mn-cs"/>
              </a:rPr>
              <a:t> 及</a:t>
            </a:r>
            <a:r>
              <a:rPr lang="en-US" altLang="zh-TW" sz="1200" kern="1200" dirty="0">
                <a:solidFill>
                  <a:schemeClr val="tx1"/>
                </a:solidFill>
                <a:latin typeface="+mn-lt"/>
                <a:ea typeface="+mn-ea"/>
                <a:cs typeface="+mn-cs"/>
              </a:rPr>
              <a:t>capacity</a:t>
            </a:r>
            <a:r>
              <a:rPr lang="zh-TW" altLang="en-US" sz="1200" kern="1200" dirty="0">
                <a:solidFill>
                  <a:schemeClr val="tx1"/>
                </a:solidFill>
                <a:latin typeface="+mn-lt"/>
                <a:ea typeface="+mn-ea"/>
                <a:cs typeface="+mn-cs"/>
              </a:rPr>
              <a:t> 因為他可以用不同</a:t>
            </a:r>
            <a:r>
              <a:rPr lang="en-US" altLang="zh-TW" sz="1200" kern="1200" dirty="0">
                <a:solidFill>
                  <a:schemeClr val="tx1"/>
                </a:solidFill>
                <a:latin typeface="+mn-lt"/>
                <a:ea typeface="+mn-ea"/>
                <a:cs typeface="+mn-cs"/>
              </a:rPr>
              <a:t>link</a:t>
            </a:r>
            <a:r>
              <a:rPr lang="zh-TW" altLang="en-US" sz="1200" kern="1200" dirty="0">
                <a:solidFill>
                  <a:schemeClr val="tx1"/>
                </a:solidFill>
                <a:latin typeface="+mn-lt"/>
                <a:ea typeface="+mn-ea"/>
                <a:cs typeface="+mn-cs"/>
              </a:rPr>
              <a:t>傳送不同的訊息，但其實</a:t>
            </a:r>
            <a:r>
              <a:rPr lang="en-US" altLang="zh-TW" sz="1200" kern="1200" dirty="0">
                <a:solidFill>
                  <a:schemeClr val="tx1"/>
                </a:solidFill>
                <a:latin typeface="+mn-lt"/>
                <a:ea typeface="+mn-ea"/>
                <a:cs typeface="+mn-cs"/>
              </a:rPr>
              <a:t>multiple connection</a:t>
            </a:r>
            <a:r>
              <a:rPr lang="zh-TW" altLang="en-US" sz="1200" kern="1200" dirty="0">
                <a:solidFill>
                  <a:schemeClr val="tx1"/>
                </a:solidFill>
                <a:latin typeface="+mn-lt"/>
                <a:ea typeface="+mn-ea"/>
                <a:cs typeface="+mn-cs"/>
              </a:rPr>
              <a:t>也可以用在強化可靠度上，就變成在不同的</a:t>
            </a:r>
            <a:r>
              <a:rPr lang="en-US" altLang="zh-TW" sz="1200" kern="1200" dirty="0">
                <a:solidFill>
                  <a:schemeClr val="tx1"/>
                </a:solidFill>
                <a:latin typeface="+mn-lt"/>
                <a:ea typeface="+mn-ea"/>
                <a:cs typeface="+mn-cs"/>
              </a:rPr>
              <a:t>link</a:t>
            </a:r>
            <a:r>
              <a:rPr lang="zh-TW" altLang="en-US" sz="1200" kern="1200" dirty="0">
                <a:solidFill>
                  <a:schemeClr val="tx1"/>
                </a:solidFill>
                <a:latin typeface="+mn-lt"/>
                <a:ea typeface="+mn-ea"/>
                <a:cs typeface="+mn-cs"/>
              </a:rPr>
              <a:t>傳送同一個資料。</a:t>
            </a:r>
          </a:p>
          <a:p>
            <a:pPr marL="0" marR="0" lvl="0" indent="0" algn="l" defTabSz="914400" rtl="0" eaLnBrk="1" fontAlgn="auto" latinLnBrk="1" hangingPunct="1">
              <a:lnSpc>
                <a:spcPct val="100000"/>
              </a:lnSpc>
              <a:spcBef>
                <a:spcPts val="0"/>
              </a:spcBef>
              <a:spcAft>
                <a:spcPts val="0"/>
              </a:spcAft>
              <a:buClrTx/>
              <a:buSzTx/>
              <a:buFontTx/>
              <a:buNone/>
              <a:tabLst/>
              <a:defRPr/>
            </a:pPr>
            <a:endParaRPr lang="zh-TW" altLang="en-US" sz="1200" kern="1200" dirty="0">
              <a:solidFill>
                <a:schemeClr val="tx1"/>
              </a:solidFill>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3</a:t>
            </a:fld>
            <a:endParaRPr lang="ko-KR" altLang="en-US"/>
          </a:p>
        </p:txBody>
      </p:sp>
    </p:spTree>
    <p:extLst>
      <p:ext uri="{BB962C8B-B14F-4D97-AF65-F5344CB8AC3E}">
        <p14:creationId xmlns:p14="http://schemas.microsoft.com/office/powerpoint/2010/main" val="3574274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dirty="0"/>
              <a:t>Distributed source coding(</a:t>
            </a:r>
            <a:r>
              <a:rPr lang="zh-TW" altLang="en-US" sz="1200" b="0" i="0" kern="1200" dirty="0">
                <a:solidFill>
                  <a:schemeClr val="tx1"/>
                </a:solidFill>
                <a:effectLst/>
                <a:latin typeface="+mn-lt"/>
                <a:ea typeface="+mn-ea"/>
                <a:cs typeface="+mn-cs"/>
              </a:rPr>
              <a:t>分布式信源編碼</a:t>
            </a:r>
            <a:r>
              <a:rPr lang="en-US" altLang="zh-TW" sz="1200" b="0" i="0" kern="1200" dirty="0">
                <a:solidFill>
                  <a:schemeClr val="tx1"/>
                </a:solidFill>
                <a:effectLst/>
                <a:latin typeface="+mn-lt"/>
                <a:ea typeface="+mn-ea"/>
                <a:cs typeface="+mn-cs"/>
              </a:rPr>
              <a:t>)</a:t>
            </a:r>
            <a:r>
              <a:rPr lang="zh-TW" altLang="en-US" dirty="0"/>
              <a:t>基於訊息熵</a:t>
            </a:r>
            <a:r>
              <a:rPr lang="en-US" altLang="zh-TW" dirty="0"/>
              <a:t>(entropy)</a:t>
            </a:r>
            <a:r>
              <a:rPr lang="zh-TW" altLang="en-US" dirty="0"/>
              <a:t>值提出兩相關訊號源的無失真壓縮理論</a:t>
            </a:r>
            <a:r>
              <a:rPr lang="en-US" altLang="zh-TW" dirty="0"/>
              <a:t>[12]</a:t>
            </a:r>
            <a:r>
              <a:rPr lang="zh-TW" altLang="en-US" dirty="0"/>
              <a:t>。</a:t>
            </a:r>
            <a:r>
              <a:rPr lang="zh-TW" altLang="en-US" sz="1200" b="0" i="0" kern="1200" dirty="0">
                <a:solidFill>
                  <a:schemeClr val="tx1"/>
                </a:solidFill>
                <a:effectLst/>
                <a:latin typeface="+mn-lt"/>
                <a:ea typeface="+mn-ea"/>
                <a:cs typeface="+mn-cs"/>
              </a:rPr>
              <a:t>是對信息互相關聯但不互相通信的信源的一種信息壓縮方式</a:t>
            </a:r>
            <a:r>
              <a:rPr lang="zh-TW" altLang="en-US" dirty="0"/>
              <a:t>。重要的是，即使在獨立編碼的情況下，仍然可以透過合併解碼的方式得到相同的理論熵值。</a:t>
            </a:r>
            <a:endParaRPr lang="en-US" altLang="zh-TW" dirty="0"/>
          </a:p>
          <a:p>
            <a:r>
              <a:rPr lang="en-US" altLang="zh-TW" sz="1200" dirty="0"/>
              <a:t>Distributed source coding</a:t>
            </a:r>
            <a:r>
              <a:rPr lang="zh-TW" altLang="en-US" dirty="0"/>
              <a:t>能夠將計算複雜度從編碼器端轉移到解碼器端，他的主要特性之一是將編碼器中的計算負擔轉移給聯合解碼器。</a:t>
            </a:r>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4</a:t>
            </a:fld>
            <a:endParaRPr lang="ko-KR" altLang="en-US"/>
          </a:p>
        </p:txBody>
      </p:sp>
    </p:spTree>
    <p:extLst>
      <p:ext uri="{BB962C8B-B14F-4D97-AF65-F5344CB8AC3E}">
        <p14:creationId xmlns:p14="http://schemas.microsoft.com/office/powerpoint/2010/main" val="3786817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u="none" strike="noStrike" kern="1200" baseline="0" dirty="0">
                <a:solidFill>
                  <a:schemeClr val="tx1"/>
                </a:solidFill>
                <a:latin typeface="+mn-lt"/>
                <a:ea typeface="+mn-ea"/>
                <a:cs typeface="+mn-cs"/>
              </a:rPr>
              <a:t>這是一個 </a:t>
            </a:r>
            <a:r>
              <a:rPr lang="en-US" altLang="zh-TW" sz="1200" b="0" i="0" u="none" strike="noStrike" kern="1200" baseline="0" dirty="0">
                <a:solidFill>
                  <a:schemeClr val="tx1"/>
                </a:solidFill>
                <a:latin typeface="+mn-lt"/>
                <a:ea typeface="+mn-ea"/>
                <a:cs typeface="+mn-cs"/>
              </a:rPr>
              <a:t>Multi-Connectivity cellular network</a:t>
            </a:r>
            <a:r>
              <a:rPr lang="zh-TW" altLang="en-US" sz="1200" b="0" i="0" u="none" strike="noStrike" kern="1200" baseline="0" dirty="0">
                <a:solidFill>
                  <a:schemeClr val="tx1"/>
                </a:solidFill>
                <a:latin typeface="+mn-lt"/>
                <a:ea typeface="+mn-ea"/>
                <a:cs typeface="+mn-cs"/>
              </a:rPr>
              <a:t>， 包含了一個</a:t>
            </a:r>
            <a:r>
              <a:rPr lang="en-US" altLang="zh-TW" sz="1200" b="0" i="0" u="none" strike="noStrike" kern="1200" baseline="0" dirty="0">
                <a:solidFill>
                  <a:schemeClr val="tx1"/>
                </a:solidFill>
                <a:latin typeface="+mn-lt"/>
                <a:ea typeface="+mn-ea"/>
                <a:cs typeface="+mn-cs"/>
              </a:rPr>
              <a:t>core network , N</a:t>
            </a:r>
            <a:r>
              <a:rPr lang="zh-TW" altLang="en-US" sz="1200" b="0" i="0" u="none" strike="noStrike" kern="1200" baseline="0" dirty="0">
                <a:solidFill>
                  <a:schemeClr val="tx1"/>
                </a:solidFill>
                <a:latin typeface="+mn-lt"/>
                <a:ea typeface="+mn-ea"/>
                <a:cs typeface="+mn-cs"/>
              </a:rPr>
              <a:t>個</a:t>
            </a:r>
            <a:r>
              <a:rPr lang="en-US" altLang="zh-TW" sz="1200" b="0" i="0" u="none" strike="noStrike" kern="1200" baseline="0" dirty="0">
                <a:solidFill>
                  <a:schemeClr val="tx1"/>
                </a:solidFill>
                <a:latin typeface="+mn-lt"/>
                <a:ea typeface="+mn-ea"/>
                <a:cs typeface="+mn-cs"/>
              </a:rPr>
              <a:t>base stations </a:t>
            </a:r>
            <a:r>
              <a:rPr lang="zh-TW" altLang="en-US" sz="1200" b="0" i="0" u="none" strike="noStrike" kern="1200" baseline="0" dirty="0">
                <a:solidFill>
                  <a:schemeClr val="tx1"/>
                </a:solidFill>
                <a:latin typeface="+mn-lt"/>
                <a:ea typeface="+mn-ea"/>
                <a:cs typeface="+mn-cs"/>
              </a:rPr>
              <a:t>，他們都與一個</a:t>
            </a:r>
            <a:r>
              <a:rPr lang="en-US" altLang="zh-TW" sz="1200" b="0" i="0" u="none" strike="noStrike" kern="1200" baseline="0" dirty="0">
                <a:solidFill>
                  <a:schemeClr val="tx1"/>
                </a:solidFill>
                <a:latin typeface="+mn-lt"/>
                <a:ea typeface="+mn-ea"/>
                <a:cs typeface="+mn-cs"/>
              </a:rPr>
              <a:t>user </a:t>
            </a:r>
            <a:r>
              <a:rPr lang="zh-TW" altLang="en-US" sz="1200" b="0" i="0" u="none" strike="noStrike" kern="1200" baseline="0" dirty="0">
                <a:solidFill>
                  <a:schemeClr val="tx1"/>
                </a:solidFill>
                <a:latin typeface="+mn-lt"/>
                <a:ea typeface="+mn-ea"/>
                <a:cs typeface="+mn-cs"/>
              </a:rPr>
              <a:t>做溝通。</a:t>
            </a:r>
            <a:r>
              <a:rPr lang="en-US" altLang="zh-TW" sz="1200" b="0" i="0" u="none" strike="noStrike" kern="1200" baseline="0" dirty="0">
                <a:solidFill>
                  <a:schemeClr val="tx1"/>
                </a:solidFill>
                <a:latin typeface="+mn-lt"/>
                <a:ea typeface="+mn-ea"/>
                <a:cs typeface="+mn-cs"/>
              </a:rPr>
              <a:t>core network</a:t>
            </a:r>
            <a:r>
              <a:rPr lang="zh-TW" altLang="en-US" sz="1200" b="0" i="0" u="none" strike="noStrike" kern="1200" baseline="0" dirty="0">
                <a:solidFill>
                  <a:schemeClr val="tx1"/>
                </a:solidFill>
                <a:latin typeface="+mn-lt"/>
                <a:ea typeface="+mn-ea"/>
                <a:cs typeface="+mn-cs"/>
              </a:rPr>
              <a:t>協調與</a:t>
            </a:r>
            <a:r>
              <a:rPr lang="en-US" altLang="zh-TW" sz="1200" b="0" i="0" u="none" strike="noStrike" kern="1200" baseline="0" dirty="0">
                <a:solidFill>
                  <a:schemeClr val="tx1"/>
                </a:solidFill>
                <a:latin typeface="+mn-lt"/>
                <a:ea typeface="+mn-ea"/>
                <a:cs typeface="+mn-cs"/>
              </a:rPr>
              <a:t>UE</a:t>
            </a:r>
            <a:r>
              <a:rPr lang="zh-TW" altLang="en-US" sz="1200" b="0" i="0" u="none" strike="noStrike" kern="1200" baseline="0" dirty="0">
                <a:solidFill>
                  <a:schemeClr val="tx1"/>
                </a:solidFill>
                <a:latin typeface="+mn-lt"/>
                <a:ea typeface="+mn-ea"/>
                <a:cs typeface="+mn-cs"/>
              </a:rPr>
              <a:t>的數據傳輸。</a:t>
            </a:r>
            <a:r>
              <a:rPr lang="en-US" altLang="zh-TW" sz="1200" b="0" i="0" u="none" strike="noStrike" kern="1200" baseline="0" dirty="0">
                <a:solidFill>
                  <a:schemeClr val="tx1"/>
                </a:solidFill>
                <a:latin typeface="+mn-lt"/>
                <a:ea typeface="+mn-ea"/>
                <a:cs typeface="+mn-cs"/>
              </a:rPr>
              <a:t>Core network </a:t>
            </a:r>
            <a:r>
              <a:rPr lang="zh-TW" altLang="en-US" sz="1200" b="0" i="0" u="none" strike="noStrike" kern="1200" baseline="0" dirty="0">
                <a:solidFill>
                  <a:schemeClr val="tx1"/>
                </a:solidFill>
                <a:latin typeface="+mn-lt"/>
                <a:ea typeface="+mn-ea"/>
                <a:cs typeface="+mn-cs"/>
              </a:rPr>
              <a:t>與各個</a:t>
            </a:r>
            <a:r>
              <a:rPr lang="en-US" altLang="zh-TW" sz="1200" b="0" i="0" u="none" strike="noStrike" kern="1200" baseline="0" dirty="0">
                <a:solidFill>
                  <a:schemeClr val="tx1"/>
                </a:solidFill>
                <a:latin typeface="+mn-lt"/>
                <a:ea typeface="+mn-ea"/>
                <a:cs typeface="+mn-cs"/>
              </a:rPr>
              <a:t>base stations </a:t>
            </a:r>
            <a:r>
              <a:rPr lang="zh-TW" altLang="en-US" sz="1200" b="0" i="0" u="none" strike="noStrike" kern="1200" baseline="0" dirty="0">
                <a:solidFill>
                  <a:schemeClr val="tx1"/>
                </a:solidFill>
                <a:latin typeface="+mn-lt"/>
                <a:ea typeface="+mn-ea"/>
                <a:cs typeface="+mn-cs"/>
              </a:rPr>
              <a:t>以</a:t>
            </a:r>
            <a:r>
              <a:rPr lang="en-US" altLang="zh-TW" sz="1200" b="0" i="0" u="none" strike="noStrike" kern="1200" baseline="0" dirty="0">
                <a:solidFill>
                  <a:schemeClr val="tx1"/>
                </a:solidFill>
                <a:latin typeface="+mn-lt"/>
                <a:ea typeface="+mn-ea"/>
                <a:cs typeface="+mn-cs"/>
              </a:rPr>
              <a:t>backhaul links</a:t>
            </a:r>
            <a:r>
              <a:rPr lang="zh-TW" altLang="en-US" sz="1200" b="0" i="0" u="none" strike="noStrike" kern="1200" baseline="0" dirty="0">
                <a:solidFill>
                  <a:schemeClr val="tx1"/>
                </a:solidFill>
                <a:latin typeface="+mn-lt"/>
                <a:ea typeface="+mn-ea"/>
                <a:cs typeface="+mn-cs"/>
              </a:rPr>
              <a:t>形式連接，</a:t>
            </a:r>
            <a:r>
              <a:rPr lang="en-US" altLang="zh-TW" sz="1200" b="0" i="0" u="none" strike="noStrike" kern="1200" baseline="0" dirty="0">
                <a:solidFill>
                  <a:schemeClr val="tx1"/>
                </a:solidFill>
                <a:latin typeface="+mn-lt"/>
                <a:ea typeface="+mn-ea"/>
                <a:cs typeface="+mn-cs"/>
              </a:rPr>
              <a:t>Base stations</a:t>
            </a:r>
            <a:r>
              <a:rPr lang="zh-TW" altLang="en-US" sz="1200" b="0" i="0" u="none" strike="noStrike" kern="1200" baseline="0" dirty="0">
                <a:solidFill>
                  <a:schemeClr val="tx1"/>
                </a:solidFill>
                <a:latin typeface="+mn-lt"/>
                <a:ea typeface="+mn-ea"/>
                <a:cs typeface="+mn-cs"/>
              </a:rPr>
              <a:t>與</a:t>
            </a:r>
            <a:r>
              <a:rPr lang="en-US" altLang="zh-TW" sz="1200" b="0" i="0" u="none" strike="noStrike" kern="1200" baseline="0" dirty="0">
                <a:solidFill>
                  <a:schemeClr val="tx1"/>
                </a:solidFill>
                <a:latin typeface="+mn-lt"/>
                <a:ea typeface="+mn-ea"/>
                <a:cs typeface="+mn-cs"/>
              </a:rPr>
              <a:t>UE</a:t>
            </a:r>
            <a:r>
              <a:rPr lang="zh-TW" altLang="en-US" sz="1200" b="0" i="0" u="none" strike="noStrike" kern="1200" baseline="0" dirty="0">
                <a:solidFill>
                  <a:schemeClr val="tx1"/>
                </a:solidFill>
                <a:latin typeface="+mn-lt"/>
                <a:ea typeface="+mn-ea"/>
                <a:cs typeface="+mn-cs"/>
              </a:rPr>
              <a:t>是以無線網路連接。 那每一個</a:t>
            </a:r>
            <a:r>
              <a:rPr lang="en-US" altLang="zh-TW" sz="1200" b="0" i="0" u="none" strike="noStrike" kern="1200" baseline="0" dirty="0">
                <a:solidFill>
                  <a:schemeClr val="tx1"/>
                </a:solidFill>
                <a:latin typeface="+mn-lt"/>
                <a:ea typeface="+mn-ea"/>
                <a:cs typeface="+mn-cs"/>
              </a:rPr>
              <a:t>wireless link</a:t>
            </a:r>
            <a:r>
              <a:rPr lang="zh-TW" altLang="en-US" sz="1200" b="0" i="0" u="none" strike="noStrike" kern="1200" baseline="0" dirty="0">
                <a:solidFill>
                  <a:schemeClr val="tx1"/>
                </a:solidFill>
                <a:latin typeface="+mn-lt"/>
                <a:ea typeface="+mn-ea"/>
                <a:cs typeface="+mn-cs"/>
              </a:rPr>
              <a:t>可達到的</a:t>
            </a:r>
            <a:r>
              <a:rPr lang="en-US" altLang="zh-TW" sz="1200" b="0" i="0" u="none" strike="noStrike" kern="1200" baseline="0" dirty="0">
                <a:solidFill>
                  <a:schemeClr val="tx1"/>
                </a:solidFill>
                <a:latin typeface="+mn-lt"/>
                <a:ea typeface="+mn-ea"/>
                <a:cs typeface="+mn-cs"/>
              </a:rPr>
              <a:t>transmission rate</a:t>
            </a:r>
            <a:r>
              <a:rPr lang="zh-TW" altLang="en-US" sz="1200" b="0" i="0" u="none" strike="noStrike" kern="1200" baseline="0" dirty="0">
                <a:solidFill>
                  <a:schemeClr val="tx1"/>
                </a:solidFill>
                <a:latin typeface="+mn-lt"/>
                <a:ea typeface="+mn-ea"/>
                <a:cs typeface="+mn-cs"/>
              </a:rPr>
              <a:t>取決於他的</a:t>
            </a:r>
            <a:r>
              <a:rPr lang="en-US" altLang="zh-TW" sz="1200" b="0" i="0" u="none" strike="noStrike" kern="1200" baseline="0" dirty="0">
                <a:solidFill>
                  <a:schemeClr val="tx1"/>
                </a:solidFill>
                <a:latin typeface="+mn-lt"/>
                <a:ea typeface="+mn-ea"/>
                <a:cs typeface="+mn-cs"/>
              </a:rPr>
              <a:t>capacity C </a:t>
            </a:r>
            <a:r>
              <a:rPr lang="en-US" altLang="zh-TW" sz="1200" b="0" i="0" u="none" strike="noStrike" kern="1200" baseline="0" dirty="0" err="1">
                <a:solidFill>
                  <a:schemeClr val="tx1"/>
                </a:solidFill>
                <a:latin typeface="+mn-lt"/>
                <a:ea typeface="+mn-ea"/>
                <a:cs typeface="+mn-cs"/>
              </a:rPr>
              <a:t>i</a:t>
            </a:r>
            <a:r>
              <a:rPr lang="en-US" altLang="zh-TW" sz="1200" b="0" i="0" u="none" strike="noStrike" kern="1200" baseline="0" dirty="0">
                <a:solidFill>
                  <a:schemeClr val="tx1"/>
                </a:solidFill>
                <a:latin typeface="+mn-lt"/>
                <a:ea typeface="+mn-ea"/>
                <a:cs typeface="+mn-cs"/>
              </a:rPr>
              <a:t>( </a:t>
            </a:r>
            <a:r>
              <a:rPr lang="el-GR" altLang="zh-TW" sz="1200" b="0" i="0" u="none" strike="noStrike" kern="1200" baseline="0" dirty="0">
                <a:solidFill>
                  <a:schemeClr val="tx1"/>
                </a:solidFill>
                <a:latin typeface="+mn-lt"/>
                <a:ea typeface="+mn-ea"/>
                <a:cs typeface="+mn-cs"/>
              </a:rPr>
              <a:t>Γ</a:t>
            </a:r>
            <a:r>
              <a:rPr lang="en-US" altLang="zh-TW" sz="1200" b="0" i="0" u="none" strike="noStrike" kern="1200" baseline="0" dirty="0">
                <a:solidFill>
                  <a:schemeClr val="tx1"/>
                </a:solidFill>
                <a:latin typeface="+mn-lt"/>
                <a:ea typeface="+mn-ea"/>
                <a:cs typeface="+mn-cs"/>
              </a:rPr>
              <a:t> </a:t>
            </a:r>
            <a:r>
              <a:rPr lang="en-US" altLang="zh-TW" sz="1200" b="0" i="0" u="none" strike="noStrike" kern="1200" baseline="0" dirty="0" err="1">
                <a:solidFill>
                  <a:schemeClr val="tx1"/>
                </a:solidFill>
                <a:latin typeface="+mn-lt"/>
                <a:ea typeface="+mn-ea"/>
                <a:cs typeface="+mn-cs"/>
              </a:rPr>
              <a:t>i</a:t>
            </a:r>
            <a:r>
              <a:rPr lang="en-US" altLang="zh-TW" sz="1200" b="0" i="0" u="none" strike="noStrike" kern="1200" baseline="0" dirty="0">
                <a:solidFill>
                  <a:schemeClr val="tx1"/>
                </a:solidFill>
                <a:latin typeface="+mn-lt"/>
                <a:ea typeface="+mn-ea"/>
                <a:cs typeface="+mn-cs"/>
              </a:rPr>
              <a:t> )</a:t>
            </a:r>
            <a:r>
              <a:rPr lang="zh-TW" altLang="en-US" sz="1200" b="0" i="0" u="none" strike="noStrike" kern="1200" baseline="0" dirty="0">
                <a:solidFill>
                  <a:schemeClr val="tx1"/>
                </a:solidFill>
                <a:latin typeface="+mn-lt"/>
                <a:ea typeface="+mn-ea"/>
                <a:cs typeface="+mn-cs"/>
              </a:rPr>
              <a:t>，也就可以等同於它的</a:t>
            </a:r>
            <a:r>
              <a:rPr lang="en-US" altLang="zh-TW" sz="1200" b="0" i="0" u="none" strike="noStrike" kern="1200" baseline="0" dirty="0">
                <a:solidFill>
                  <a:schemeClr val="tx1"/>
                </a:solidFill>
                <a:latin typeface="+mn-lt"/>
                <a:ea typeface="+mn-ea"/>
                <a:cs typeface="+mn-cs"/>
              </a:rPr>
              <a:t>SNR</a:t>
            </a:r>
            <a:r>
              <a:rPr lang="zh-TW" altLang="en-US" sz="1200" b="0" i="0" u="none" strike="noStrike" kern="1200" baseline="0" dirty="0">
                <a:solidFill>
                  <a:schemeClr val="tx1"/>
                </a:solidFill>
                <a:latin typeface="+mn-lt"/>
                <a:ea typeface="+mn-ea"/>
                <a:cs typeface="+mn-cs"/>
              </a:rPr>
              <a:t>。</a:t>
            </a:r>
            <a:endParaRPr lang="en-US" altLang="zh-TW" sz="1200" b="0" i="0" u="none" strike="noStrike" kern="1200" baseline="0" dirty="0">
              <a:solidFill>
                <a:schemeClr val="tx1"/>
              </a:solidFill>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5</a:t>
            </a:fld>
            <a:endParaRPr lang="ko-KR" altLang="en-US"/>
          </a:p>
        </p:txBody>
      </p:sp>
    </p:spTree>
    <p:extLst>
      <p:ext uri="{BB962C8B-B14F-4D97-AF65-F5344CB8AC3E}">
        <p14:creationId xmlns:p14="http://schemas.microsoft.com/office/powerpoint/2010/main" val="1027771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u="none" strike="noStrike" kern="1200" baseline="0" dirty="0">
                <a:solidFill>
                  <a:schemeClr val="tx1"/>
                </a:solidFill>
                <a:latin typeface="+mn-lt"/>
                <a:ea typeface="+mn-ea"/>
                <a:cs typeface="+mn-cs"/>
              </a:rPr>
              <a:t>Downlink </a:t>
            </a:r>
            <a:r>
              <a:rPr lang="zh-TW" altLang="en-US" sz="1200" b="0" i="0" u="none" strike="noStrike" kern="1200" baseline="0" dirty="0">
                <a:solidFill>
                  <a:schemeClr val="tx1"/>
                </a:solidFill>
                <a:latin typeface="+mn-lt"/>
                <a:ea typeface="+mn-ea"/>
                <a:cs typeface="+mn-cs"/>
              </a:rPr>
              <a:t>部分是</a:t>
            </a:r>
            <a:r>
              <a:rPr lang="en-US" altLang="zh-TW" sz="1200" b="0" i="0" u="none" strike="noStrike" kern="1200" baseline="0" dirty="0">
                <a:solidFill>
                  <a:schemeClr val="tx1"/>
                </a:solidFill>
                <a:latin typeface="+mn-lt"/>
                <a:ea typeface="+mn-ea"/>
                <a:cs typeface="+mn-cs"/>
              </a:rPr>
              <a:t>binary memoryless source(</a:t>
            </a:r>
            <a:r>
              <a:rPr lang="zh-TW" altLang="en-US" sz="1200" b="0" i="0" kern="1200" dirty="0">
                <a:solidFill>
                  <a:schemeClr val="tx1"/>
                </a:solidFill>
                <a:effectLst/>
                <a:latin typeface="+mn-lt"/>
                <a:ea typeface="+mn-ea"/>
                <a:cs typeface="+mn-cs"/>
              </a:rPr>
              <a:t>無記憶源</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是指當前符號獨立於所有先前輸出符號的源， </a:t>
            </a:r>
            <a:r>
              <a:rPr lang="en-US" altLang="zh-TW" sz="1200" b="0" i="0" kern="1200" dirty="0">
                <a:solidFill>
                  <a:schemeClr val="tx1"/>
                </a:solidFill>
                <a:effectLst/>
                <a:latin typeface="+mn-lt"/>
                <a:ea typeface="+mn-ea"/>
                <a:cs typeface="+mn-cs"/>
              </a:rPr>
              <a:t>k</a:t>
            </a:r>
            <a:r>
              <a:rPr lang="zh-TW" altLang="en-US" sz="1200" b="0" i="0" kern="1200" dirty="0">
                <a:solidFill>
                  <a:schemeClr val="tx1"/>
                </a:solidFill>
                <a:effectLst/>
                <a:latin typeface="+mn-lt"/>
                <a:ea typeface="+mn-ea"/>
                <a:cs typeface="+mn-cs"/>
              </a:rPr>
              <a:t>個</a:t>
            </a:r>
            <a:r>
              <a:rPr lang="en-US" altLang="zh-TW" sz="1200" b="0" i="0" kern="1200" dirty="0">
                <a:solidFill>
                  <a:schemeClr val="tx1"/>
                </a:solidFill>
                <a:effectLst/>
                <a:latin typeface="+mn-lt"/>
                <a:ea typeface="+mn-ea"/>
                <a:cs typeface="+mn-cs"/>
              </a:rPr>
              <a:t>sample sequence </a:t>
            </a:r>
            <a:r>
              <a:rPr lang="zh-TW" altLang="en-US" sz="1200" b="0" i="0" kern="1200" dirty="0">
                <a:solidFill>
                  <a:schemeClr val="tx1"/>
                </a:solidFill>
                <a:effectLst/>
                <a:latin typeface="+mn-lt"/>
                <a:ea typeface="+mn-ea"/>
                <a:cs typeface="+mn-cs"/>
              </a:rPr>
              <a:t>可以表示成下面的那個</a:t>
            </a:r>
            <a:r>
              <a:rPr lang="en-US" altLang="zh-TW" sz="1200" b="0" i="0" kern="1200" dirty="0">
                <a:solidFill>
                  <a:schemeClr val="tx1"/>
                </a:solidFill>
                <a:effectLst/>
                <a:latin typeface="+mn-lt"/>
                <a:ea typeface="+mn-ea"/>
                <a:cs typeface="+mn-cs"/>
              </a:rPr>
              <a:t>vector</a:t>
            </a:r>
            <a:r>
              <a:rPr lang="zh-TW" altLang="en-US" sz="1200" b="0" i="0" kern="1200" dirty="0">
                <a:solidFill>
                  <a:schemeClr val="tx1"/>
                </a:solidFill>
                <a:effectLst/>
                <a:latin typeface="+mn-lt"/>
                <a:ea typeface="+mn-ea"/>
                <a:cs typeface="+mn-cs"/>
              </a:rPr>
              <a:t>，每個</a:t>
            </a:r>
            <a:r>
              <a:rPr lang="en-US" altLang="zh-TW" sz="1200" b="0" i="0" kern="1200" dirty="0">
                <a:solidFill>
                  <a:schemeClr val="tx1"/>
                </a:solidFill>
                <a:effectLst/>
                <a:latin typeface="+mn-lt"/>
                <a:ea typeface="+mn-ea"/>
                <a:cs typeface="+mn-cs"/>
              </a:rPr>
              <a:t>S</a:t>
            </a:r>
            <a:r>
              <a:rPr lang="zh-TW" altLang="en-US" sz="1200" b="0" i="0" kern="1200" dirty="0">
                <a:solidFill>
                  <a:schemeClr val="tx1"/>
                </a:solidFill>
                <a:effectLst/>
                <a:latin typeface="+mn-lt"/>
                <a:ea typeface="+mn-ea"/>
                <a:cs typeface="+mn-cs"/>
              </a:rPr>
              <a:t> 帶</a:t>
            </a:r>
            <a:r>
              <a:rPr lang="en-US" altLang="zh-TW" sz="1200" b="0" i="0" kern="1200" dirty="0">
                <a:solidFill>
                  <a:schemeClr val="tx1"/>
                </a:solidFill>
                <a:effectLst/>
                <a:latin typeface="+mn-lt"/>
                <a:ea typeface="+mn-ea"/>
                <a:cs typeface="+mn-cs"/>
              </a:rPr>
              <a:t>0</a:t>
            </a:r>
            <a:r>
              <a:rPr lang="zh-TW" altLang="en-US" sz="1200" b="0" i="0" kern="1200" dirty="0">
                <a:solidFill>
                  <a:schemeClr val="tx1"/>
                </a:solidFill>
                <a:effectLst/>
                <a:latin typeface="+mn-lt"/>
                <a:ea typeface="+mn-ea"/>
                <a:cs typeface="+mn-cs"/>
              </a:rPr>
              <a:t> 或</a:t>
            </a:r>
            <a:r>
              <a:rPr lang="en-US" altLang="zh-TW" sz="1200" b="0" i="0" kern="1200" dirty="0">
                <a:solidFill>
                  <a:schemeClr val="tx1"/>
                </a:solidFill>
                <a:effectLst/>
                <a:latin typeface="+mn-lt"/>
                <a:ea typeface="+mn-ea"/>
                <a:cs typeface="+mn-cs"/>
              </a:rPr>
              <a:t>1</a:t>
            </a:r>
            <a:r>
              <a:rPr lang="zh-TW" altLang="en-US" sz="1200" b="0" i="0" kern="1200" dirty="0">
                <a:solidFill>
                  <a:schemeClr val="tx1"/>
                </a:solidFill>
                <a:effectLst/>
                <a:latin typeface="+mn-lt"/>
                <a:ea typeface="+mn-ea"/>
                <a:cs typeface="+mn-cs"/>
              </a:rPr>
              <a:t>的機率是一樣的，因此是機率是</a:t>
            </a:r>
            <a:r>
              <a:rPr lang="en-US" altLang="zh-TW" sz="1200" b="0" i="0" kern="1200" dirty="0">
                <a:solidFill>
                  <a:schemeClr val="tx1"/>
                </a:solidFill>
                <a:effectLst/>
                <a:latin typeface="+mn-lt"/>
                <a:ea typeface="+mn-ea"/>
                <a:cs typeface="+mn-cs"/>
              </a:rPr>
              <a:t>0.5</a:t>
            </a:r>
            <a:r>
              <a:rPr lang="zh-TW" altLang="en-US"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那它的熵值 可以用表示成這樣，</a:t>
            </a:r>
            <a:r>
              <a:rPr lang="en-US" altLang="zh-TW" sz="1200" b="0" i="0" u="none" strike="noStrike" kern="1200" baseline="0" dirty="0">
                <a:solidFill>
                  <a:schemeClr val="tx1"/>
                </a:solidFill>
                <a:latin typeface="+mn-lt"/>
                <a:ea typeface="+mn-ea"/>
                <a:cs typeface="+mn-cs"/>
              </a:rPr>
              <a:t>source sequence </a:t>
            </a:r>
            <a:r>
              <a:rPr lang="en-US" altLang="zh-TW" sz="1200" b="1" i="0" u="none" strike="noStrike" kern="1200" baseline="0" dirty="0">
                <a:solidFill>
                  <a:schemeClr val="tx1"/>
                </a:solidFill>
                <a:latin typeface="+mn-lt"/>
                <a:ea typeface="+mn-ea"/>
                <a:cs typeface="+mn-cs"/>
              </a:rPr>
              <a:t>S</a:t>
            </a:r>
            <a:r>
              <a:rPr lang="zh-TW" altLang="en-US" sz="1200" b="0" i="1" u="none" strike="noStrike" kern="1200" baseline="0" dirty="0">
                <a:solidFill>
                  <a:schemeClr val="tx1"/>
                </a:solidFill>
                <a:latin typeface="+mn-lt"/>
                <a:ea typeface="+mn-ea"/>
                <a:cs typeface="+mn-cs"/>
              </a:rPr>
              <a:t>𝑘 是從</a:t>
            </a:r>
            <a:r>
              <a:rPr lang="en-US" altLang="zh-TW" sz="1200" b="0" i="1" u="none" strike="noStrike" kern="1200" baseline="0" dirty="0">
                <a:solidFill>
                  <a:schemeClr val="tx1"/>
                </a:solidFill>
                <a:latin typeface="+mn-lt"/>
                <a:ea typeface="+mn-ea"/>
                <a:cs typeface="+mn-cs"/>
              </a:rPr>
              <a:t>core network </a:t>
            </a:r>
            <a:r>
              <a:rPr lang="zh-TW" altLang="en-US" sz="1200" b="0" i="1" u="none" strike="noStrike" kern="1200" baseline="0" dirty="0">
                <a:solidFill>
                  <a:schemeClr val="tx1"/>
                </a:solidFill>
                <a:latin typeface="+mn-lt"/>
                <a:ea typeface="+mn-ea"/>
                <a:cs typeface="+mn-cs"/>
              </a:rPr>
              <a:t>發出</a:t>
            </a:r>
            <a:r>
              <a:rPr lang="zh-TW" altLang="en-US" sz="1200" b="0" i="0" u="none" strike="noStrike" kern="1200" baseline="0" dirty="0">
                <a:solidFill>
                  <a:schemeClr val="tx1"/>
                </a:solidFill>
                <a:latin typeface="+mn-lt"/>
                <a:ea typeface="+mn-ea"/>
                <a:cs typeface="+mn-cs"/>
              </a:rPr>
              <a:t>並在</a:t>
            </a:r>
            <a:r>
              <a:rPr lang="en-US" altLang="zh-TW" sz="1200" b="0" i="0" u="none" strike="noStrike" kern="1200" baseline="0" dirty="0">
                <a:solidFill>
                  <a:schemeClr val="tx1"/>
                </a:solidFill>
                <a:latin typeface="+mn-lt"/>
                <a:ea typeface="+mn-ea"/>
                <a:cs typeface="+mn-cs"/>
              </a:rPr>
              <a:t>base stations</a:t>
            </a:r>
            <a:r>
              <a:rPr lang="zh-TW" altLang="en-US" sz="1200" b="0" i="0" u="none" strike="noStrike" kern="1200" baseline="0" dirty="0">
                <a:solidFill>
                  <a:schemeClr val="tx1"/>
                </a:solidFill>
                <a:latin typeface="+mn-lt"/>
                <a:ea typeface="+mn-ea"/>
                <a:cs typeface="+mn-cs"/>
              </a:rPr>
              <a:t>中</a:t>
            </a:r>
            <a:r>
              <a:rPr lang="en-US" altLang="zh-TW" sz="1200" b="0" i="0" u="none" strike="noStrike" kern="1200" baseline="0" dirty="0">
                <a:solidFill>
                  <a:schemeClr val="tx1"/>
                </a:solidFill>
                <a:latin typeface="+mn-lt"/>
                <a:ea typeface="+mn-ea"/>
                <a:cs typeface="+mn-cs"/>
              </a:rPr>
              <a:t>encode</a:t>
            </a:r>
            <a:r>
              <a:rPr lang="zh-TW" altLang="en-US" sz="1200" b="0" i="0" u="none" strike="noStrike" kern="1200" baseline="0" dirty="0">
                <a:solidFill>
                  <a:schemeClr val="tx1"/>
                </a:solidFill>
                <a:latin typeface="+mn-lt"/>
                <a:ea typeface="+mn-ea"/>
                <a:cs typeface="+mn-cs"/>
              </a:rPr>
              <a:t>的， 這邊將</a:t>
            </a:r>
            <a:r>
              <a:rPr lang="en-US" altLang="zh-TW" sz="1200" b="0" i="0" u="none" strike="noStrike" kern="1200" baseline="0" dirty="0">
                <a:solidFill>
                  <a:schemeClr val="tx1"/>
                </a:solidFill>
                <a:latin typeface="+mn-lt"/>
                <a:ea typeface="+mn-ea"/>
                <a:cs typeface="+mn-cs"/>
              </a:rPr>
              <a:t>encode</a:t>
            </a:r>
            <a:r>
              <a:rPr lang="zh-TW" altLang="en-US" sz="1200" b="0" i="0" u="none" strike="noStrike" kern="1200" baseline="0" dirty="0">
                <a:solidFill>
                  <a:schemeClr val="tx1"/>
                </a:solidFill>
                <a:latin typeface="+mn-lt"/>
                <a:ea typeface="+mn-ea"/>
                <a:cs typeface="+mn-cs"/>
              </a:rPr>
              <a:t>後的訊息表示成</a:t>
            </a:r>
            <a:r>
              <a:rPr lang="en-US" altLang="zh-TW" sz="1200" b="0" i="0" u="none" strike="noStrike" kern="1200" baseline="0" dirty="0" err="1">
                <a:solidFill>
                  <a:schemeClr val="tx1"/>
                </a:solidFill>
                <a:latin typeface="+mn-lt"/>
                <a:ea typeface="+mn-ea"/>
                <a:cs typeface="+mn-cs"/>
              </a:rPr>
              <a:t>Xn</a:t>
            </a:r>
            <a:r>
              <a:rPr lang="en-US" altLang="zh-TW" sz="1200" b="0" i="0" u="none" strike="noStrike" kern="1200" baseline="0" dirty="0">
                <a:solidFill>
                  <a:schemeClr val="tx1"/>
                </a:solidFill>
                <a:latin typeface="+mn-lt"/>
                <a:ea typeface="+mn-ea"/>
                <a:cs typeface="+mn-cs"/>
              </a:rPr>
              <a:t> I </a:t>
            </a:r>
            <a:r>
              <a:rPr lang="zh-TW" altLang="en-US" sz="1200" b="0" i="0" u="none" strike="noStrike" kern="1200" baseline="0" dirty="0">
                <a:solidFill>
                  <a:schemeClr val="tx1"/>
                </a:solidFill>
                <a:latin typeface="+mn-lt"/>
                <a:ea typeface="+mn-ea"/>
                <a:cs typeface="+mn-cs"/>
              </a:rPr>
              <a:t>然後</a:t>
            </a:r>
            <a:r>
              <a:rPr lang="en-US" altLang="zh-TW" sz="1200" b="0" i="0" u="none" strike="noStrike" kern="1200" baseline="0" dirty="0">
                <a:solidFill>
                  <a:schemeClr val="tx1"/>
                </a:solidFill>
                <a:latin typeface="+mn-lt"/>
                <a:ea typeface="+mn-ea"/>
                <a:cs typeface="+mn-cs"/>
              </a:rPr>
              <a:t>UE</a:t>
            </a:r>
            <a:r>
              <a:rPr lang="zh-TW" altLang="en-US" sz="1200" b="0" i="0" u="none" strike="noStrike" kern="1200" baseline="0" dirty="0">
                <a:solidFill>
                  <a:schemeClr val="tx1"/>
                </a:solidFill>
                <a:latin typeface="+mn-lt"/>
                <a:ea typeface="+mn-ea"/>
                <a:cs typeface="+mn-cs"/>
              </a:rPr>
              <a:t> 收到的訊息表示成 </a:t>
            </a:r>
            <a:r>
              <a:rPr lang="en-US" altLang="zh-TW" sz="1200" b="0" i="0" u="none" strike="noStrike" kern="1200" baseline="0" dirty="0" err="1">
                <a:solidFill>
                  <a:schemeClr val="tx1"/>
                </a:solidFill>
                <a:latin typeface="+mn-lt"/>
                <a:ea typeface="+mn-ea"/>
                <a:cs typeface="+mn-cs"/>
              </a:rPr>
              <a:t>Yn</a:t>
            </a:r>
            <a:r>
              <a:rPr lang="en-US" altLang="zh-TW" sz="1200" b="0" i="0" u="none" strike="noStrike" kern="1200" baseline="0" dirty="0">
                <a:solidFill>
                  <a:schemeClr val="tx1"/>
                </a:solidFill>
                <a:latin typeface="+mn-lt"/>
                <a:ea typeface="+mn-ea"/>
                <a:cs typeface="+mn-cs"/>
              </a:rPr>
              <a:t> I </a:t>
            </a:r>
            <a:r>
              <a:rPr lang="zh-TW" altLang="en-US" sz="1200" b="0" i="0" u="none" strike="noStrike" kern="1200" baseline="0" dirty="0">
                <a:solidFill>
                  <a:schemeClr val="tx1"/>
                </a:solidFill>
                <a:latin typeface="+mn-lt"/>
                <a:ea typeface="+mn-ea"/>
                <a:cs typeface="+mn-cs"/>
              </a:rPr>
              <a:t>並在這邊做</a:t>
            </a:r>
            <a:r>
              <a:rPr lang="en-US" altLang="zh-TW" sz="1200" b="0" i="0" u="none" strike="noStrike" kern="1200" baseline="0" dirty="0">
                <a:solidFill>
                  <a:schemeClr val="tx1"/>
                </a:solidFill>
                <a:latin typeface="+mn-lt"/>
                <a:ea typeface="+mn-ea"/>
                <a:cs typeface="+mn-cs"/>
              </a:rPr>
              <a:t>decode </a:t>
            </a:r>
            <a:r>
              <a:rPr lang="zh-TW" altLang="en-US" sz="1200" b="0" i="0" u="none" strike="noStrike" kern="1200" baseline="0" dirty="0">
                <a:solidFill>
                  <a:schemeClr val="tx1"/>
                </a:solidFill>
                <a:latin typeface="+mn-lt"/>
                <a:ea typeface="+mn-ea"/>
                <a:cs typeface="+mn-cs"/>
              </a:rPr>
              <a:t>，將訊號還原。</a:t>
            </a:r>
            <a:endParaRPr lang="en-US" altLang="zh-TW" sz="1200" b="0" i="1" u="none" strike="noStrike" kern="1200" baseline="0" dirty="0">
              <a:solidFill>
                <a:schemeClr val="tx1"/>
              </a:solidFill>
              <a:latin typeface="+mn-lt"/>
              <a:ea typeface="+mn-ea"/>
              <a:cs typeface="+mn-cs"/>
            </a:endParaRPr>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6</a:t>
            </a:fld>
            <a:endParaRPr lang="ko-KR" altLang="en-US"/>
          </a:p>
        </p:txBody>
      </p:sp>
    </p:spTree>
    <p:extLst>
      <p:ext uri="{BB962C8B-B14F-4D97-AF65-F5344CB8AC3E}">
        <p14:creationId xmlns:p14="http://schemas.microsoft.com/office/powerpoint/2010/main" val="2732252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Uplink</a:t>
            </a:r>
            <a:r>
              <a:rPr lang="zh-TW" altLang="en-US" dirty="0"/>
              <a:t>部分與</a:t>
            </a:r>
            <a:r>
              <a:rPr lang="en-US" altLang="zh-TW" dirty="0"/>
              <a:t>downlink</a:t>
            </a:r>
            <a:r>
              <a:rPr lang="zh-TW" altLang="en-US" dirty="0"/>
              <a:t>相似 ，但是在</a:t>
            </a:r>
            <a:r>
              <a:rPr lang="en-US" altLang="zh-TW" dirty="0"/>
              <a:t>core</a:t>
            </a:r>
            <a:r>
              <a:rPr lang="zh-TW" altLang="en-US" dirty="0"/>
              <a:t> </a:t>
            </a:r>
            <a:r>
              <a:rPr lang="en-US" altLang="zh-TW" dirty="0"/>
              <a:t>network</a:t>
            </a:r>
            <a:r>
              <a:rPr lang="zh-TW" altLang="en-US" dirty="0"/>
              <a:t> 來去</a:t>
            </a:r>
            <a:r>
              <a:rPr lang="en-US" altLang="zh-TW" dirty="0"/>
              <a:t>decode</a:t>
            </a:r>
            <a:r>
              <a:rPr lang="zh-TW" altLang="en-US" dirty="0"/>
              <a:t>的</a:t>
            </a:r>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7</a:t>
            </a:fld>
            <a:endParaRPr lang="ko-KR" altLang="en-US"/>
          </a:p>
        </p:txBody>
      </p:sp>
    </p:spTree>
    <p:extLst>
      <p:ext uri="{BB962C8B-B14F-4D97-AF65-F5344CB8AC3E}">
        <p14:creationId xmlns:p14="http://schemas.microsoft.com/office/powerpoint/2010/main" val="34362550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為了要</a:t>
            </a:r>
            <a:r>
              <a:rPr lang="en-US" altLang="zh-TW" dirty="0"/>
              <a:t>coding</a:t>
            </a:r>
            <a:r>
              <a:rPr lang="zh-TW" altLang="en-US" dirty="0"/>
              <a:t> </a:t>
            </a:r>
            <a:r>
              <a:rPr lang="en-US" altLang="zh-TW" dirty="0"/>
              <a:t>in</a:t>
            </a:r>
            <a:r>
              <a:rPr lang="zh-TW" altLang="en-US" dirty="0"/>
              <a:t> </a:t>
            </a:r>
            <a:r>
              <a:rPr lang="en-US" altLang="zh-TW" dirty="0"/>
              <a:t>time</a:t>
            </a:r>
            <a:r>
              <a:rPr lang="zh-TW" altLang="en-US" dirty="0"/>
              <a:t>，這邊使用多個</a:t>
            </a:r>
            <a:r>
              <a:rPr lang="en-US" altLang="zh-TW" dirty="0"/>
              <a:t>frequency channel </a:t>
            </a:r>
            <a:r>
              <a:rPr lang="zh-TW" altLang="en-US" dirty="0"/>
              <a:t>來傳送訊息，因此在最佳情況下，訊息可以在單個</a:t>
            </a:r>
            <a:r>
              <a:rPr lang="en-US" altLang="zh-TW" dirty="0"/>
              <a:t>time slot</a:t>
            </a:r>
            <a:r>
              <a:rPr lang="zh-TW" altLang="en-US" dirty="0"/>
              <a:t>中傳遞，這樣有助於滿足</a:t>
            </a:r>
            <a:r>
              <a:rPr lang="en-US" altLang="zh-TW" dirty="0"/>
              <a:t>URLLC</a:t>
            </a:r>
            <a:r>
              <a:rPr lang="zh-TW" altLang="en-US" dirty="0"/>
              <a:t>的需求</a:t>
            </a:r>
            <a:endParaRPr lang="en-US" altLang="zh-TW" dirty="0"/>
          </a:p>
          <a:p>
            <a:endParaRPr lang="en-US" altLang="zh-TW" dirty="0"/>
          </a:p>
          <a:p>
            <a:r>
              <a:rPr lang="zh-TW" altLang="en-US" dirty="0"/>
              <a:t>根據研究，如果兩個信號的頻率至少被一定的帶寬分開，則兩個信號的小規模衰落</a:t>
            </a:r>
            <a:r>
              <a:rPr lang="en-US" altLang="zh-TW" dirty="0"/>
              <a:t>(small-scale</a:t>
            </a:r>
            <a:r>
              <a:rPr lang="zh-TW" altLang="en-US" dirty="0"/>
              <a:t> </a:t>
            </a:r>
            <a:r>
              <a:rPr lang="en-US" altLang="zh-TW" dirty="0"/>
              <a:t>fading)</a:t>
            </a:r>
            <a:r>
              <a:rPr lang="zh-TW" altLang="en-US" dirty="0"/>
              <a:t>幾乎不相關。於是在這篇它假設每個</a:t>
            </a:r>
            <a:r>
              <a:rPr lang="en-US" altLang="zh-TW" dirty="0"/>
              <a:t>frequency resources</a:t>
            </a:r>
            <a:r>
              <a:rPr lang="zh-TW" altLang="en-US" dirty="0"/>
              <a:t>至少有分開一定的帶寬，所以保證通道是</a:t>
            </a:r>
            <a:r>
              <a:rPr lang="en-US" altLang="zh-TW" dirty="0"/>
              <a:t>orthogonal </a:t>
            </a:r>
            <a:r>
              <a:rPr lang="zh-TW" altLang="en-US" dirty="0"/>
              <a:t>並且衰弱是獨立的。</a:t>
            </a:r>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8</a:t>
            </a:fld>
            <a:endParaRPr lang="ko-KR" altLang="en-US"/>
          </a:p>
        </p:txBody>
      </p:sp>
    </p:spTree>
    <p:extLst>
      <p:ext uri="{BB962C8B-B14F-4D97-AF65-F5344CB8AC3E}">
        <p14:creationId xmlns:p14="http://schemas.microsoft.com/office/powerpoint/2010/main" val="4075078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此外，為了滿足</a:t>
            </a:r>
            <a:r>
              <a:rPr lang="en-US" altLang="zh-TW" dirty="0"/>
              <a:t>URLLC</a:t>
            </a:r>
            <a:r>
              <a:rPr lang="zh-TW" altLang="en-US" dirty="0"/>
              <a:t>的低延遲要求，這邊作者考慮使用較短的</a:t>
            </a:r>
            <a:r>
              <a:rPr lang="en-US" altLang="zh-TW" dirty="0"/>
              <a:t>encoded sequences(</a:t>
            </a:r>
            <a:r>
              <a:rPr lang="zh-TW" altLang="en-US" dirty="0"/>
              <a:t>編碼序列</a:t>
            </a:r>
            <a:r>
              <a:rPr lang="en-US" altLang="zh-TW" dirty="0"/>
              <a:t>) </a:t>
            </a:r>
            <a:r>
              <a:rPr lang="zh-TW" altLang="en-US" dirty="0"/>
              <a:t>讓這個</a:t>
            </a:r>
            <a:r>
              <a:rPr lang="en-US" altLang="zh-TW" dirty="0"/>
              <a:t>encoded sequence</a:t>
            </a:r>
            <a:r>
              <a:rPr lang="zh-TW" altLang="en-US" dirty="0"/>
              <a:t>小於等於</a:t>
            </a:r>
            <a:r>
              <a:rPr lang="en-US" altLang="zh-TW" dirty="0"/>
              <a:t>block Rayleigh fading </a:t>
            </a:r>
            <a:r>
              <a:rPr lang="zh-TW" altLang="en-US" dirty="0"/>
              <a:t>的</a:t>
            </a:r>
            <a:r>
              <a:rPr lang="en-US" altLang="zh-TW" dirty="0"/>
              <a:t>fading block</a:t>
            </a:r>
            <a:r>
              <a:rPr lang="zh-TW" altLang="en-US" dirty="0"/>
              <a:t>長度 </a:t>
            </a:r>
            <a:r>
              <a:rPr lang="en-US" altLang="zh-TW" dirty="0"/>
              <a:t>(fading block</a:t>
            </a:r>
            <a:r>
              <a:rPr lang="zh-TW" altLang="en-US" dirty="0"/>
              <a:t> 可以想像是在衰弱過程中恆定的部分</a:t>
            </a:r>
            <a:r>
              <a:rPr lang="en-US" altLang="zh-TW" dirty="0"/>
              <a:t>)</a:t>
            </a:r>
          </a:p>
          <a:p>
            <a:r>
              <a:rPr lang="zh-TW" altLang="en-US" dirty="0"/>
              <a:t>那我們可以假設剛剛的</a:t>
            </a:r>
            <a:r>
              <a:rPr lang="en-US" altLang="zh-TW" dirty="0"/>
              <a:t>sequence </a:t>
            </a:r>
            <a:r>
              <a:rPr lang="zh-TW" altLang="en-US" dirty="0"/>
              <a:t>傳輸過程中經歷</a:t>
            </a:r>
            <a:r>
              <a:rPr lang="en-US" altLang="zh-TW" sz="1200" b="0" i="0" u="none" strike="noStrike" kern="1200" baseline="0" dirty="0">
                <a:solidFill>
                  <a:schemeClr val="tx1"/>
                </a:solidFill>
                <a:latin typeface="+mn-lt"/>
                <a:ea typeface="+mn-ea"/>
                <a:cs typeface="+mn-cs"/>
              </a:rPr>
              <a:t>block Rayleigh fading</a:t>
            </a:r>
            <a:r>
              <a:rPr lang="zh-TW" altLang="en-US" sz="1200" b="0" i="0" u="none" strike="noStrike" kern="1200" baseline="0" dirty="0">
                <a:solidFill>
                  <a:schemeClr val="tx1"/>
                </a:solidFill>
                <a:latin typeface="+mn-lt"/>
                <a:ea typeface="+mn-ea"/>
                <a:cs typeface="+mn-cs"/>
              </a:rPr>
              <a:t> 以及</a:t>
            </a:r>
            <a:r>
              <a:rPr lang="en-US" altLang="zh-TW" sz="1200" b="0" i="0" u="none" strike="noStrike" kern="1200" baseline="0" dirty="0">
                <a:solidFill>
                  <a:schemeClr val="tx1"/>
                </a:solidFill>
                <a:latin typeface="+mn-lt"/>
                <a:ea typeface="+mn-ea"/>
                <a:cs typeface="+mn-cs"/>
              </a:rPr>
              <a:t>additive white Gaussian</a:t>
            </a:r>
            <a:r>
              <a:rPr lang="zh-TW" altLang="en-US" sz="1200" b="0" i="0" u="none" strike="noStrike" kern="1200" baseline="0" dirty="0">
                <a:solidFill>
                  <a:schemeClr val="tx1"/>
                </a:solidFill>
                <a:latin typeface="+mn-lt"/>
                <a:ea typeface="+mn-ea"/>
                <a:cs typeface="+mn-cs"/>
              </a:rPr>
              <a:t> 後接受到的</a:t>
            </a:r>
            <a:r>
              <a:rPr lang="en-US" altLang="zh-TW" sz="1200" b="0" i="0" u="none" strike="noStrike" kern="1200" baseline="0" dirty="0">
                <a:solidFill>
                  <a:schemeClr val="tx1"/>
                </a:solidFill>
                <a:latin typeface="+mn-lt"/>
                <a:ea typeface="+mn-ea"/>
                <a:cs typeface="+mn-cs"/>
              </a:rPr>
              <a:t>SNR</a:t>
            </a:r>
            <a:r>
              <a:rPr lang="zh-TW" altLang="en-US" sz="1200" b="0" i="0" u="none" strike="noStrike" kern="1200" baseline="0" dirty="0">
                <a:solidFill>
                  <a:schemeClr val="tx1"/>
                </a:solidFill>
                <a:latin typeface="+mn-lt"/>
                <a:ea typeface="+mn-ea"/>
                <a:cs typeface="+mn-cs"/>
              </a:rPr>
              <a:t>的機率分布函數可以表示成這樣</a:t>
            </a:r>
            <a:endParaRPr lang="en-US" altLang="zh-TW" sz="1200" b="0" i="0" u="none" strike="noStrike" kern="1200" baseline="0" dirty="0">
              <a:solidFill>
                <a:schemeClr val="tx1"/>
              </a:solidFill>
              <a:latin typeface="+mn-lt"/>
              <a:ea typeface="+mn-ea"/>
              <a:cs typeface="+mn-cs"/>
            </a:endParaRPr>
          </a:p>
          <a:p>
            <a:endParaRPr lang="en-US" altLang="zh-TW" sz="1200" b="0" i="0" u="none" strike="noStrike" kern="1200" baseline="0" dirty="0">
              <a:solidFill>
                <a:schemeClr val="tx1"/>
              </a:solidFill>
              <a:latin typeface="+mn-lt"/>
              <a:ea typeface="+mn-ea"/>
              <a:cs typeface="+mn-cs"/>
            </a:endParaRPr>
          </a:p>
          <a:p>
            <a:r>
              <a:rPr lang="zh-TW" altLang="en-US" sz="1200" b="0" i="1" u="none" strike="noStrike" kern="1200" baseline="0" dirty="0">
                <a:solidFill>
                  <a:schemeClr val="tx1"/>
                </a:solidFill>
                <a:latin typeface="+mn-lt"/>
                <a:ea typeface="+mn-ea"/>
                <a:cs typeface="+mn-cs"/>
              </a:rPr>
              <a:t>𝑃𝑖 </a:t>
            </a:r>
            <a:r>
              <a:rPr lang="en-US" altLang="zh-TW" sz="1200" b="0" i="0" u="none" strike="noStrike" kern="1200" baseline="0" dirty="0">
                <a:solidFill>
                  <a:schemeClr val="tx1"/>
                </a:solidFill>
                <a:latin typeface="+mn-lt"/>
                <a:ea typeface="+mn-ea"/>
                <a:cs typeface="+mn-cs"/>
              </a:rPr>
              <a:t>is the transmit power per channel</a:t>
            </a:r>
          </a:p>
          <a:p>
            <a:r>
              <a:rPr lang="en-US" altLang="zh-TW" dirty="0"/>
              <a:t>d </a:t>
            </a:r>
            <a:r>
              <a:rPr lang="zh-TW" altLang="en-US" dirty="0"/>
              <a:t>是</a:t>
            </a:r>
            <a:r>
              <a:rPr lang="en-US" altLang="zh-TW" dirty="0"/>
              <a:t>Base station </a:t>
            </a:r>
            <a:r>
              <a:rPr lang="zh-TW" altLang="en-US" dirty="0"/>
              <a:t>與</a:t>
            </a:r>
            <a:r>
              <a:rPr lang="en-US" altLang="zh-TW" dirty="0"/>
              <a:t>UE</a:t>
            </a:r>
            <a:r>
              <a:rPr lang="zh-TW" altLang="en-US" dirty="0"/>
              <a:t>的位置，</a:t>
            </a:r>
            <a:endParaRPr lang="en-US" altLang="zh-TW" dirty="0"/>
          </a:p>
          <a:p>
            <a:r>
              <a:rPr lang="zh-TW" altLang="en-US" sz="1200" b="0" i="1" u="none" strike="noStrike" kern="1200" baseline="0" dirty="0">
                <a:solidFill>
                  <a:schemeClr val="tx1"/>
                </a:solidFill>
                <a:latin typeface="+mn-lt"/>
                <a:ea typeface="+mn-ea"/>
                <a:cs typeface="+mn-cs"/>
              </a:rPr>
              <a:t>𝜂</a:t>
            </a:r>
            <a:r>
              <a:rPr lang="en-US" altLang="zh-TW" sz="1200" b="0" i="1" u="none" strike="noStrike" kern="1200" baseline="0" dirty="0">
                <a:solidFill>
                  <a:schemeClr val="tx1"/>
                </a:solidFill>
                <a:latin typeface="+mn-lt"/>
                <a:ea typeface="+mn-ea"/>
                <a:cs typeface="+mn-cs"/>
              </a:rPr>
              <a:t>(</a:t>
            </a:r>
            <a:r>
              <a:rPr lang="zh-TW" altLang="en-US" sz="1200" b="0" i="1" u="none" strike="noStrike" kern="1200" baseline="0" dirty="0">
                <a:solidFill>
                  <a:schemeClr val="tx1"/>
                </a:solidFill>
                <a:latin typeface="+mn-lt"/>
                <a:ea typeface="+mn-ea"/>
                <a:cs typeface="+mn-cs"/>
              </a:rPr>
              <a:t>壓他</a:t>
            </a:r>
            <a:r>
              <a:rPr lang="en-US" altLang="zh-TW" sz="1200" b="0" i="1" u="none" strike="noStrike" kern="1200" baseline="0" dirty="0">
                <a:solidFill>
                  <a:schemeClr val="tx1"/>
                </a:solidFill>
                <a:latin typeface="+mn-lt"/>
                <a:ea typeface="+mn-ea"/>
                <a:cs typeface="+mn-cs"/>
              </a:rPr>
              <a:t>)</a:t>
            </a:r>
            <a:r>
              <a:rPr lang="zh-TW" altLang="en-US" sz="1200" b="0" i="1" u="none" strike="noStrike" kern="1200" baseline="0" dirty="0">
                <a:solidFill>
                  <a:schemeClr val="tx1"/>
                </a:solidFill>
                <a:latin typeface="+mn-lt"/>
                <a:ea typeface="+mn-ea"/>
                <a:cs typeface="+mn-cs"/>
              </a:rPr>
              <a:t> 是 </a:t>
            </a:r>
            <a:r>
              <a:rPr lang="en-US" altLang="zh-TW" sz="1200" b="0" i="0" u="none" strike="noStrike" kern="1200" baseline="0" dirty="0">
                <a:solidFill>
                  <a:schemeClr val="tx1"/>
                </a:solidFill>
                <a:latin typeface="+mn-lt"/>
                <a:ea typeface="+mn-ea"/>
                <a:cs typeface="+mn-cs"/>
              </a:rPr>
              <a:t>path loss exponent</a:t>
            </a:r>
            <a:endParaRPr lang="zh-TW" altLang="en-US" dirty="0"/>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9</a:t>
            </a:fld>
            <a:endParaRPr lang="ko-KR" altLang="en-US"/>
          </a:p>
        </p:txBody>
      </p:sp>
    </p:spTree>
    <p:extLst>
      <p:ext uri="{BB962C8B-B14F-4D97-AF65-F5344CB8AC3E}">
        <p14:creationId xmlns:p14="http://schemas.microsoft.com/office/powerpoint/2010/main" val="3701453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1" u="none" strike="noStrike" kern="1200" baseline="0" dirty="0">
                <a:solidFill>
                  <a:schemeClr val="tx1"/>
                </a:solidFill>
                <a:latin typeface="+mn-lt"/>
                <a:ea typeface="+mn-ea"/>
                <a:cs typeface="+mn-cs"/>
              </a:rPr>
              <a:t>R:</a:t>
            </a:r>
            <a:r>
              <a:rPr lang="zh-TW" altLang="en-US" sz="1200" b="0" i="1" u="none" strike="noStrike" kern="1200" baseline="0" dirty="0">
                <a:solidFill>
                  <a:schemeClr val="tx1"/>
                </a:solidFill>
                <a:latin typeface="+mn-lt"/>
                <a:ea typeface="+mn-ea"/>
                <a:cs typeface="+mn-cs"/>
              </a:rPr>
              <a:t> </a:t>
            </a:r>
            <a:r>
              <a:rPr lang="en-US" altLang="zh-TW" sz="1200" b="0" i="1" u="none" strike="noStrike" kern="1200" baseline="0" dirty="0">
                <a:solidFill>
                  <a:schemeClr val="tx1"/>
                </a:solidFill>
                <a:latin typeface="+mn-lt"/>
                <a:ea typeface="+mn-ea"/>
                <a:cs typeface="+mn-cs"/>
              </a:rPr>
              <a:t>source code rates</a:t>
            </a:r>
          </a:p>
          <a:p>
            <a:endParaRPr lang="en-US" altLang="zh-TW" sz="1200" b="0" i="1" u="none" strike="noStrike" kern="1200" baseline="0" dirty="0">
              <a:solidFill>
                <a:schemeClr val="tx1"/>
              </a:solidFill>
              <a:latin typeface="+mn-lt"/>
              <a:ea typeface="+mn-ea"/>
              <a:cs typeface="+mn-cs"/>
            </a:endParaRPr>
          </a:p>
          <a:p>
            <a:r>
              <a:rPr lang="zh-TW" altLang="en-US" i="0" dirty="0"/>
              <a:t>意思是當</a:t>
            </a:r>
            <a:r>
              <a:rPr lang="zh-TW" altLang="en-US" dirty="0"/>
              <a:t>無失真壓縮</a:t>
            </a:r>
            <a:r>
              <a:rPr lang="zh-TW" altLang="en-US" i="0" dirty="0"/>
              <a:t>來自不同</a:t>
            </a:r>
            <a:r>
              <a:rPr lang="en-US" altLang="zh-TW" i="0" dirty="0"/>
              <a:t>source</a:t>
            </a:r>
            <a:r>
              <a:rPr lang="zh-TW" altLang="en-US" i="0" dirty="0"/>
              <a:t>的相關訊息時各個訊息的熵值總和會大於聯合訊息的熵值。 並且合併最小</a:t>
            </a:r>
            <a:r>
              <a:rPr lang="en-US" altLang="zh-TW" i="0" dirty="0"/>
              <a:t>code rate</a:t>
            </a:r>
            <a:r>
              <a:rPr lang="zh-TW" altLang="en-US" i="0" dirty="0"/>
              <a:t>就是聯合訊息的熵值。</a:t>
            </a:r>
            <a:endParaRPr lang="en-US" altLang="zh-TW" i="0" dirty="0"/>
          </a:p>
          <a:p>
            <a:r>
              <a:rPr lang="zh-TW" altLang="en-US" i="0" dirty="0"/>
              <a:t>根據剛剛有提到的每個</a:t>
            </a:r>
            <a:r>
              <a:rPr lang="en-US" altLang="zh-TW" i="0" dirty="0"/>
              <a:t>symbol</a:t>
            </a:r>
            <a:r>
              <a:rPr lang="zh-TW" altLang="en-US" i="0" dirty="0"/>
              <a:t>互相獨立 其熵值為</a:t>
            </a:r>
            <a:r>
              <a:rPr lang="en-US" altLang="zh-TW" i="0" dirty="0"/>
              <a:t>1</a:t>
            </a:r>
            <a:r>
              <a:rPr lang="zh-TW" altLang="en-US" i="0" dirty="0"/>
              <a:t> </a:t>
            </a:r>
            <a:r>
              <a:rPr lang="en-US" altLang="zh-TW" i="0" dirty="0"/>
              <a:t>, </a:t>
            </a:r>
            <a:r>
              <a:rPr lang="zh-TW" altLang="en-US" i="0" dirty="0"/>
              <a:t>因此我們可以將他化簡為 下面形式，代表每個</a:t>
            </a:r>
            <a:r>
              <a:rPr lang="en-US" altLang="zh-TW" i="0" dirty="0"/>
              <a:t>Link</a:t>
            </a:r>
            <a:r>
              <a:rPr lang="zh-TW" altLang="en-US" i="0" dirty="0"/>
              <a:t>的</a:t>
            </a:r>
            <a:r>
              <a:rPr lang="en-US" altLang="zh-TW" i="0" dirty="0"/>
              <a:t>code</a:t>
            </a:r>
            <a:r>
              <a:rPr lang="zh-TW" altLang="en-US" i="0" dirty="0"/>
              <a:t> </a:t>
            </a:r>
            <a:r>
              <a:rPr lang="en-US" altLang="zh-TW" i="0" dirty="0"/>
              <a:t>rate</a:t>
            </a:r>
            <a:r>
              <a:rPr lang="zh-TW" altLang="en-US" i="0" dirty="0"/>
              <a:t>都會大於等於</a:t>
            </a:r>
            <a:r>
              <a:rPr lang="en-US" altLang="zh-TW" i="0" dirty="0"/>
              <a:t>1</a:t>
            </a:r>
          </a:p>
          <a:p>
            <a:endParaRPr lang="en-US" altLang="zh-TW" i="0" dirty="0"/>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10</a:t>
            </a:fld>
            <a:endParaRPr lang="ko-KR" altLang="en-US"/>
          </a:p>
        </p:txBody>
      </p:sp>
    </p:spTree>
    <p:extLst>
      <p:ext uri="{BB962C8B-B14F-4D97-AF65-F5344CB8AC3E}">
        <p14:creationId xmlns:p14="http://schemas.microsoft.com/office/powerpoint/2010/main" val="4202891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Ri = transmission rate</a:t>
            </a:r>
          </a:p>
          <a:p>
            <a:r>
              <a:rPr lang="zh-TW" altLang="el-GR" sz="1200" b="0" i="1" u="none" strike="noStrike" kern="1200" baseline="0" dirty="0">
                <a:solidFill>
                  <a:schemeClr val="tx1"/>
                </a:solidFill>
                <a:latin typeface="+mn-lt"/>
                <a:ea typeface="+mn-ea"/>
                <a:cs typeface="+mn-cs"/>
              </a:rPr>
              <a:t>𝐶𝑖</a:t>
            </a:r>
            <a:r>
              <a:rPr lang="el-GR" altLang="zh-TW" sz="1200" b="0" i="0" u="none" strike="noStrike" kern="1200" baseline="0" dirty="0">
                <a:solidFill>
                  <a:schemeClr val="tx1"/>
                </a:solidFill>
                <a:latin typeface="+mn-lt"/>
                <a:ea typeface="+mn-ea"/>
                <a:cs typeface="+mn-cs"/>
              </a:rPr>
              <a:t>(Γ</a:t>
            </a:r>
            <a:r>
              <a:rPr lang="zh-TW" altLang="el-GR" sz="1200" b="0" i="1" u="none" strike="noStrike" kern="1200" baseline="0" dirty="0">
                <a:solidFill>
                  <a:schemeClr val="tx1"/>
                </a:solidFill>
                <a:latin typeface="+mn-lt"/>
                <a:ea typeface="+mn-ea"/>
                <a:cs typeface="+mn-cs"/>
              </a:rPr>
              <a:t>𝑖</a:t>
            </a:r>
            <a:r>
              <a:rPr lang="el-GR" altLang="zh-TW" sz="1200" b="0" i="0" u="none" strike="noStrike" kern="1200" baseline="0" dirty="0">
                <a:solidFill>
                  <a:schemeClr val="tx1"/>
                </a:solidFill>
                <a:latin typeface="+mn-lt"/>
                <a:ea typeface="+mn-ea"/>
                <a:cs typeface="+mn-cs"/>
              </a:rPr>
              <a:t>)</a:t>
            </a:r>
            <a:r>
              <a:rPr lang="en-US" altLang="zh-TW" dirty="0"/>
              <a:t>. = </a:t>
            </a:r>
            <a:r>
              <a:rPr lang="en-US" altLang="zh-TW" sz="1200" b="0" i="0" u="none" strike="noStrike" kern="1200" baseline="0" dirty="0">
                <a:solidFill>
                  <a:schemeClr val="tx1"/>
                </a:solidFill>
                <a:latin typeface="+mn-lt"/>
                <a:ea typeface="+mn-ea"/>
                <a:cs typeface="+mn-cs"/>
              </a:rPr>
              <a:t>capacity </a:t>
            </a:r>
          </a:p>
          <a:p>
            <a:r>
              <a:rPr lang="zh-TW" altLang="en-US" sz="1200" b="0" i="1" u="none" strike="noStrike" kern="1200" baseline="0" dirty="0">
                <a:solidFill>
                  <a:schemeClr val="tx1"/>
                </a:solidFill>
                <a:latin typeface="+mn-lt"/>
                <a:ea typeface="+mn-ea"/>
                <a:cs typeface="+mn-cs"/>
              </a:rPr>
              <a:t>𝜙</a:t>
            </a:r>
            <a:r>
              <a:rPr lang="en-US" altLang="zh-TW" sz="1200" b="0" i="1" u="none" strike="noStrike" kern="1200" baseline="0" dirty="0">
                <a:solidFill>
                  <a:schemeClr val="tx1"/>
                </a:solidFill>
                <a:latin typeface="+mn-lt"/>
                <a:ea typeface="+mn-ea"/>
                <a:cs typeface="+mn-cs"/>
              </a:rPr>
              <a:t>(</a:t>
            </a:r>
            <a:r>
              <a:rPr lang="en-US" altLang="zh-TW" sz="1200" b="0" i="1" u="none" strike="noStrike" kern="1200" baseline="0" dirty="0" err="1">
                <a:solidFill>
                  <a:schemeClr val="tx1"/>
                </a:solidFill>
                <a:latin typeface="+mn-lt"/>
                <a:ea typeface="+mn-ea"/>
                <a:cs typeface="+mn-cs"/>
              </a:rPr>
              <a:t>fai</a:t>
            </a:r>
            <a:r>
              <a:rPr lang="en-US" altLang="zh-TW" sz="1200" b="0" i="1" u="none" strike="noStrike" kern="1200" baseline="0" dirty="0">
                <a:solidFill>
                  <a:schemeClr val="tx1"/>
                </a:solidFill>
                <a:latin typeface="+mn-lt"/>
                <a:ea typeface="+mn-ea"/>
                <a:cs typeface="+mn-cs"/>
              </a:rPr>
              <a:t>) = </a:t>
            </a:r>
            <a:r>
              <a:rPr lang="en-US" altLang="zh-TW" sz="1200" b="0" i="0" u="none" strike="noStrike" kern="1200" baseline="0" dirty="0">
                <a:solidFill>
                  <a:schemeClr val="tx1"/>
                </a:solidFill>
                <a:latin typeface="+mn-lt"/>
                <a:ea typeface="+mn-ea"/>
                <a:cs typeface="+mn-cs"/>
              </a:rPr>
              <a:t>log2(1 + </a:t>
            </a:r>
            <a:r>
              <a:rPr lang="el-GR" altLang="zh-TW" sz="1200" b="0" i="0" u="none" strike="noStrike" kern="1200" baseline="0" dirty="0">
                <a:solidFill>
                  <a:schemeClr val="tx1"/>
                </a:solidFill>
                <a:latin typeface="+mn-lt"/>
                <a:ea typeface="+mn-ea"/>
                <a:cs typeface="+mn-cs"/>
              </a:rPr>
              <a:t>Γ</a:t>
            </a:r>
            <a:r>
              <a:rPr lang="zh-TW" altLang="el-GR" sz="1200" b="0" i="1" u="none" strike="noStrike" kern="1200" baseline="0" dirty="0">
                <a:solidFill>
                  <a:schemeClr val="tx1"/>
                </a:solidFill>
                <a:latin typeface="+mn-lt"/>
                <a:ea typeface="+mn-ea"/>
                <a:cs typeface="+mn-cs"/>
              </a:rPr>
              <a:t>𝑖</a:t>
            </a:r>
            <a:r>
              <a:rPr lang="el-GR" altLang="zh-TW" sz="1200" b="0" i="0" u="none" strike="noStrike" kern="1200" baseline="0" dirty="0">
                <a:solidFill>
                  <a:schemeClr val="tx1"/>
                </a:solidFill>
                <a:latin typeface="+mn-lt"/>
                <a:ea typeface="+mn-ea"/>
                <a:cs typeface="+mn-cs"/>
              </a:rPr>
              <a:t>).</a:t>
            </a:r>
            <a:endParaRPr lang="en-US" altLang="zh-TW" sz="1200" b="0" i="0" u="none" strike="noStrike" kern="1200" baseline="0" dirty="0">
              <a:solidFill>
                <a:schemeClr val="tx1"/>
              </a:solidFill>
              <a:latin typeface="+mn-lt"/>
              <a:ea typeface="+mn-ea"/>
              <a:cs typeface="+mn-cs"/>
            </a:endParaRPr>
          </a:p>
          <a:p>
            <a:endParaRPr lang="en-US" altLang="zh-TW" sz="1200" b="0" i="0" u="none" strike="noStrike" kern="1200" baseline="0" dirty="0">
              <a:solidFill>
                <a:schemeClr val="tx1"/>
              </a:solidFill>
              <a:latin typeface="+mn-lt"/>
              <a:ea typeface="+mn-ea"/>
              <a:cs typeface="+mn-cs"/>
            </a:endParaRPr>
          </a:p>
          <a:p>
            <a:r>
              <a:rPr lang="zh-TW" altLang="en-US" sz="1200" b="0" i="1" u="none" strike="noStrike" kern="1200" baseline="0" dirty="0">
                <a:solidFill>
                  <a:schemeClr val="tx1"/>
                </a:solidFill>
                <a:latin typeface="+mn-lt"/>
                <a:ea typeface="+mn-ea"/>
                <a:cs typeface="+mn-cs"/>
              </a:rPr>
              <a:t>𝑅𝑖</a:t>
            </a:r>
            <a:r>
              <a:rPr lang="en-US" altLang="zh-TW" sz="1200" b="0" i="1" u="none" strike="noStrike" kern="1200" baseline="0" dirty="0">
                <a:solidFill>
                  <a:schemeClr val="tx1"/>
                </a:solidFill>
                <a:latin typeface="+mn-lt"/>
                <a:ea typeface="+mn-ea"/>
                <a:cs typeface="+mn-cs"/>
              </a:rPr>
              <a:t>,</a:t>
            </a:r>
            <a:r>
              <a:rPr lang="en-US" altLang="zh-TW" sz="1200" b="0" i="0" u="none" strike="noStrike" kern="1200" baseline="0" dirty="0">
                <a:solidFill>
                  <a:schemeClr val="tx1"/>
                </a:solidFill>
                <a:latin typeface="+mn-lt"/>
                <a:ea typeface="+mn-ea"/>
                <a:cs typeface="+mn-cs"/>
              </a:rPr>
              <a:t>c =  the spectral efficiency (measured in source samples per channel input symbol)</a:t>
            </a:r>
            <a:endParaRPr lang="zh-TW" altLang="en-US" dirty="0"/>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11</a:t>
            </a:fld>
            <a:endParaRPr lang="ko-KR" altLang="en-US"/>
          </a:p>
        </p:txBody>
      </p:sp>
    </p:spTree>
    <p:extLst>
      <p:ext uri="{BB962C8B-B14F-4D97-AF65-F5344CB8AC3E}">
        <p14:creationId xmlns:p14="http://schemas.microsoft.com/office/powerpoint/2010/main" val="2754238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MC</a:t>
            </a:r>
            <a:r>
              <a:rPr lang="zh-TW" altLang="en-US" dirty="0"/>
              <a:t>需要</a:t>
            </a:r>
            <a:r>
              <a:rPr lang="en-US" altLang="zh-TW" dirty="0"/>
              <a:t>SNR</a:t>
            </a:r>
            <a:r>
              <a:rPr lang="zh-TW" altLang="en-US" dirty="0"/>
              <a:t>大於一個</a:t>
            </a:r>
            <a:r>
              <a:rPr lang="en-US" altLang="zh-TW" dirty="0"/>
              <a:t>threshold </a:t>
            </a:r>
            <a:r>
              <a:rPr lang="zh-TW" altLang="en-US" dirty="0"/>
              <a:t>，因此當一組訊息進來時，他根據他通道狀況，會有機率落在合法的</a:t>
            </a:r>
            <a:r>
              <a:rPr lang="en-US" altLang="zh-TW" dirty="0"/>
              <a:t>SNR</a:t>
            </a:r>
            <a:r>
              <a:rPr lang="zh-TW" altLang="en-US" dirty="0"/>
              <a:t>內以及非法的</a:t>
            </a:r>
            <a:r>
              <a:rPr lang="en-US" altLang="zh-TW" dirty="0"/>
              <a:t>SNR</a:t>
            </a:r>
            <a:r>
              <a:rPr lang="zh-TW" altLang="en-US" dirty="0"/>
              <a:t>內。</a:t>
            </a:r>
            <a:endParaRPr lang="en-US" altLang="zh-TW" dirty="0"/>
          </a:p>
          <a:p>
            <a:r>
              <a:rPr lang="zh-TW" altLang="en-US" dirty="0"/>
              <a:t>假設</a:t>
            </a:r>
            <a:r>
              <a:rPr lang="en-US" altLang="zh-TW" dirty="0"/>
              <a:t>N= 2</a:t>
            </a:r>
            <a:r>
              <a:rPr lang="zh-TW" altLang="en-US" dirty="0"/>
              <a:t> 並收到</a:t>
            </a:r>
            <a:r>
              <a:rPr lang="en-US" altLang="zh-TW" sz="1200" b="0" i="0" u="none" strike="noStrike" kern="1200" baseline="0" dirty="0">
                <a:solidFill>
                  <a:schemeClr val="tx1"/>
                </a:solidFill>
                <a:latin typeface="+mn-lt"/>
                <a:ea typeface="+mn-ea"/>
                <a:cs typeface="+mn-cs"/>
              </a:rPr>
              <a:t>2-tuple (</a:t>
            </a:r>
            <a:r>
              <a:rPr lang="zh-TW" altLang="en-US" sz="1200" b="0" i="1" u="none" strike="noStrike" kern="1200" baseline="0" dirty="0">
                <a:solidFill>
                  <a:schemeClr val="tx1"/>
                </a:solidFill>
                <a:latin typeface="+mn-lt"/>
                <a:ea typeface="+mn-ea"/>
                <a:cs typeface="+mn-cs"/>
              </a:rPr>
              <a:t>𝛾</a:t>
            </a:r>
            <a:r>
              <a:rPr lang="en-US" altLang="zh-TW" sz="1200" b="0" i="0" u="none" strike="noStrike" kern="1200" baseline="0" dirty="0">
                <a:solidFill>
                  <a:schemeClr val="tx1"/>
                </a:solidFill>
                <a:latin typeface="+mn-lt"/>
                <a:ea typeface="+mn-ea"/>
                <a:cs typeface="+mn-cs"/>
              </a:rPr>
              <a:t>1</a:t>
            </a:r>
            <a:r>
              <a:rPr lang="en-US" altLang="zh-TW" sz="1200" b="0" i="1" u="none" strike="noStrike" kern="1200" baseline="0" dirty="0">
                <a:solidFill>
                  <a:schemeClr val="tx1"/>
                </a:solidFill>
                <a:latin typeface="+mn-lt"/>
                <a:ea typeface="+mn-ea"/>
                <a:cs typeface="+mn-cs"/>
              </a:rPr>
              <a:t>, </a:t>
            </a:r>
            <a:r>
              <a:rPr lang="zh-TW" altLang="en-US" sz="1200" b="0" i="1" u="none" strike="noStrike" kern="1200" baseline="0" dirty="0">
                <a:solidFill>
                  <a:schemeClr val="tx1"/>
                </a:solidFill>
                <a:latin typeface="+mn-lt"/>
                <a:ea typeface="+mn-ea"/>
                <a:cs typeface="+mn-cs"/>
              </a:rPr>
              <a:t>𝛾</a:t>
            </a:r>
            <a:r>
              <a:rPr lang="en-US" altLang="zh-TW" sz="1200" b="0" i="0" u="none" strike="noStrike" kern="1200" baseline="0" dirty="0">
                <a:solidFill>
                  <a:schemeClr val="tx1"/>
                </a:solidFill>
                <a:latin typeface="+mn-lt"/>
                <a:ea typeface="+mn-ea"/>
                <a:cs typeface="+mn-cs"/>
              </a:rPr>
              <a:t>2).</a:t>
            </a:r>
            <a:r>
              <a:rPr lang="en-US" altLang="zh-TW" dirty="0"/>
              <a:t> </a:t>
            </a:r>
          </a:p>
          <a:p>
            <a:r>
              <a:rPr lang="en-US" altLang="zh-TW" sz="1200" b="0" i="1" u="none" strike="noStrike" kern="1200" baseline="0" dirty="0">
                <a:solidFill>
                  <a:schemeClr val="tx1"/>
                </a:solidFill>
                <a:latin typeface="+mn-lt"/>
                <a:ea typeface="+mn-ea"/>
                <a:cs typeface="+mn-cs"/>
              </a:rPr>
              <a:t>ℛ</a:t>
            </a:r>
            <a:r>
              <a:rPr lang="en-US" altLang="zh-TW" sz="1200" b="0" i="0" u="none" strike="noStrike" kern="1200" baseline="0" dirty="0">
                <a:solidFill>
                  <a:schemeClr val="tx1"/>
                </a:solidFill>
                <a:latin typeface="+mn-lt"/>
                <a:ea typeface="+mn-ea"/>
                <a:cs typeface="+mn-cs"/>
              </a:rPr>
              <a:t>MC</a:t>
            </a:r>
            <a:r>
              <a:rPr lang="zh-TW" altLang="en-US" sz="1200" b="0" i="0" u="none" strike="noStrike" kern="1200" baseline="0" dirty="0">
                <a:solidFill>
                  <a:schemeClr val="tx1"/>
                </a:solidFill>
                <a:latin typeface="+mn-lt"/>
                <a:ea typeface="+mn-ea"/>
                <a:cs typeface="+mn-cs"/>
              </a:rPr>
              <a:t>  </a:t>
            </a:r>
            <a:r>
              <a:rPr lang="en-US" altLang="zh-TW" sz="1200" b="0" i="0" u="none" strike="noStrike" kern="1200" baseline="0" dirty="0">
                <a:solidFill>
                  <a:schemeClr val="tx1"/>
                </a:solidFill>
                <a:latin typeface="+mn-lt"/>
                <a:ea typeface="+mn-ea"/>
                <a:cs typeface="+mn-cs"/>
              </a:rPr>
              <a:t>=</a:t>
            </a:r>
            <a:r>
              <a:rPr lang="zh-TW" altLang="en-US" sz="1200" b="0" i="0" u="none" strike="noStrike" kern="1200" baseline="0" dirty="0">
                <a:solidFill>
                  <a:schemeClr val="tx1"/>
                </a:solidFill>
                <a:latin typeface="+mn-lt"/>
                <a:ea typeface="+mn-ea"/>
                <a:cs typeface="+mn-cs"/>
              </a:rPr>
              <a:t> </a:t>
            </a:r>
            <a:r>
              <a:rPr lang="en-US" altLang="zh-TW" sz="1200" b="0" i="0" u="none" strike="noStrike" kern="1200" baseline="0" dirty="0">
                <a:solidFill>
                  <a:schemeClr val="tx1"/>
                </a:solidFill>
                <a:latin typeface="+mn-lt"/>
                <a:ea typeface="+mn-ea"/>
                <a:cs typeface="+mn-cs"/>
              </a:rPr>
              <a:t>MC admissible rate region </a:t>
            </a:r>
          </a:p>
          <a:p>
            <a:r>
              <a:rPr lang="zh-TW" altLang="en-US" sz="1200" b="0" i="1" u="none" strike="noStrike" kern="1200" baseline="0" dirty="0">
                <a:solidFill>
                  <a:schemeClr val="tx1"/>
                </a:solidFill>
                <a:latin typeface="+mn-lt"/>
                <a:ea typeface="+mn-ea"/>
                <a:cs typeface="+mn-cs"/>
              </a:rPr>
              <a:t>𝑅</a:t>
            </a:r>
            <a:r>
              <a:rPr lang="en-US" altLang="zh-TW" sz="1200" b="0" i="0" u="none" strike="noStrike" kern="1200" baseline="0" dirty="0">
                <a:solidFill>
                  <a:schemeClr val="tx1"/>
                </a:solidFill>
                <a:latin typeface="+mn-lt"/>
                <a:ea typeface="+mn-ea"/>
                <a:cs typeface="+mn-cs"/>
              </a:rPr>
              <a:t>1 + </a:t>
            </a:r>
            <a:r>
              <a:rPr lang="zh-TW" altLang="en-US" sz="1200" b="0" i="1" u="none" strike="noStrike" kern="1200" baseline="0" dirty="0">
                <a:solidFill>
                  <a:schemeClr val="tx1"/>
                </a:solidFill>
                <a:latin typeface="+mn-lt"/>
                <a:ea typeface="+mn-ea"/>
                <a:cs typeface="+mn-cs"/>
              </a:rPr>
              <a:t>𝑅</a:t>
            </a:r>
            <a:r>
              <a:rPr lang="en-US" altLang="zh-TW" sz="1200" b="0" i="0" u="none" strike="noStrike" kern="1200" baseline="0" dirty="0">
                <a:solidFill>
                  <a:schemeClr val="tx1"/>
                </a:solidFill>
                <a:latin typeface="+mn-lt"/>
                <a:ea typeface="+mn-ea"/>
                <a:cs typeface="+mn-cs"/>
              </a:rPr>
              <a:t>2 =1</a:t>
            </a:r>
            <a:endParaRPr lang="zh-TW" altLang="en-US" dirty="0"/>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12</a:t>
            </a:fld>
            <a:endParaRPr lang="ko-KR" altLang="en-US"/>
          </a:p>
        </p:txBody>
      </p:sp>
    </p:spTree>
    <p:extLst>
      <p:ext uri="{BB962C8B-B14F-4D97-AF65-F5344CB8AC3E}">
        <p14:creationId xmlns:p14="http://schemas.microsoft.com/office/powerpoint/2010/main" val="13101737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latin typeface="Times-Roman"/>
              </a:rPr>
              <a:t>Outage</a:t>
            </a:r>
            <a:r>
              <a:rPr lang="zh-TW" altLang="en-US" dirty="0">
                <a:latin typeface="Times-Roman"/>
              </a:rPr>
              <a:t> 發生在</a:t>
            </a:r>
            <a:r>
              <a:rPr lang="en-US" altLang="zh-TW" dirty="0">
                <a:latin typeface="Times-Roman"/>
              </a:rPr>
              <a:t>transmission rate </a:t>
            </a:r>
            <a:r>
              <a:rPr lang="zh-TW" altLang="en-US" dirty="0">
                <a:latin typeface="Times-Roman"/>
              </a:rPr>
              <a:t>落在可接受的</a:t>
            </a:r>
            <a:r>
              <a:rPr lang="en-US" altLang="zh-TW" dirty="0">
                <a:latin typeface="Times-Roman"/>
              </a:rPr>
              <a:t>rate region</a:t>
            </a:r>
            <a:r>
              <a:rPr lang="zh-TW" altLang="en-US" dirty="0">
                <a:latin typeface="Times-Roman"/>
              </a:rPr>
              <a:t>外的情況，若是在可接受的</a:t>
            </a:r>
            <a:r>
              <a:rPr lang="en-US" altLang="zh-TW" dirty="0">
                <a:latin typeface="Times-Roman"/>
              </a:rPr>
              <a:t>rate region</a:t>
            </a:r>
            <a:r>
              <a:rPr lang="zh-TW" altLang="en-US" dirty="0">
                <a:latin typeface="Times-Roman"/>
              </a:rPr>
              <a:t>外</a:t>
            </a:r>
            <a:r>
              <a:rPr lang="en-US" altLang="zh-TW" dirty="0">
                <a:latin typeface="Times-Roman"/>
              </a:rPr>
              <a:t>joint decoder</a:t>
            </a:r>
            <a:r>
              <a:rPr lang="zh-TW" altLang="en-US" dirty="0">
                <a:latin typeface="Times-Roman"/>
              </a:rPr>
              <a:t>就無法完好的重現原本的訊息，</a:t>
            </a:r>
            <a:endParaRPr lang="en-US" altLang="zh-TW" dirty="0">
              <a:latin typeface="Times-Roman"/>
            </a:endParaRPr>
          </a:p>
          <a:p>
            <a:r>
              <a:rPr lang="zh-TW" altLang="en-US" dirty="0">
                <a:latin typeface="Times-Roman"/>
              </a:rPr>
              <a:t>剛剛有講到根據</a:t>
            </a:r>
            <a:r>
              <a:rPr lang="en-US" altLang="zh-TW" sz="1200" b="0" i="1" u="none" strike="noStrike" kern="1200" baseline="0" dirty="0">
                <a:solidFill>
                  <a:schemeClr val="tx1"/>
                </a:solidFill>
                <a:latin typeface="+mn-lt"/>
                <a:ea typeface="+mn-ea"/>
                <a:cs typeface="+mn-cs"/>
              </a:rPr>
              <a:t>Slepian-Wolf Theorem</a:t>
            </a:r>
            <a:r>
              <a:rPr lang="zh-TW" altLang="en-US" sz="1200" b="0" i="1" u="none" strike="noStrike" kern="1200" baseline="0" dirty="0">
                <a:solidFill>
                  <a:schemeClr val="tx1"/>
                </a:solidFill>
                <a:latin typeface="+mn-lt"/>
                <a:ea typeface="+mn-ea"/>
                <a:cs typeface="+mn-cs"/>
              </a:rPr>
              <a:t>，</a:t>
            </a:r>
            <a:r>
              <a:rPr lang="zh-TW" altLang="en-US" dirty="0">
                <a:latin typeface="Times-Roman"/>
              </a:rPr>
              <a:t>一個熵值 也就是他的</a:t>
            </a:r>
            <a:r>
              <a:rPr lang="en-US" altLang="zh-TW" dirty="0">
                <a:latin typeface="Times-Roman"/>
              </a:rPr>
              <a:t>code rate</a:t>
            </a:r>
            <a:r>
              <a:rPr lang="zh-TW" altLang="en-US" dirty="0">
                <a:latin typeface="Times-Roman"/>
              </a:rPr>
              <a:t>會大於</a:t>
            </a:r>
            <a:r>
              <a:rPr lang="en-US" altLang="zh-TW" dirty="0">
                <a:latin typeface="Times-Roman"/>
              </a:rPr>
              <a:t>1 </a:t>
            </a:r>
            <a:r>
              <a:rPr lang="zh-TW" altLang="en-US" dirty="0">
                <a:latin typeface="Times-Roman"/>
              </a:rPr>
              <a:t>也就是這邊總和小於</a:t>
            </a:r>
            <a:r>
              <a:rPr lang="en-US" altLang="zh-TW" dirty="0">
                <a:latin typeface="Times-Roman"/>
              </a:rPr>
              <a:t>1</a:t>
            </a:r>
            <a:r>
              <a:rPr lang="zh-TW" altLang="en-US" dirty="0">
                <a:latin typeface="Times-Roman"/>
              </a:rPr>
              <a:t>的就代表</a:t>
            </a:r>
            <a:r>
              <a:rPr lang="en-US" altLang="zh-TW" dirty="0">
                <a:latin typeface="Times-Roman"/>
              </a:rPr>
              <a:t>outage</a:t>
            </a:r>
            <a:endParaRPr lang="zh-TW" altLang="en-US" dirty="0"/>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13</a:t>
            </a:fld>
            <a:endParaRPr lang="ko-KR" altLang="en-US"/>
          </a:p>
        </p:txBody>
      </p:sp>
    </p:spTree>
    <p:extLst>
      <p:ext uri="{BB962C8B-B14F-4D97-AF65-F5344CB8AC3E}">
        <p14:creationId xmlns:p14="http://schemas.microsoft.com/office/powerpoint/2010/main" val="23249167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只選擇所有</a:t>
            </a:r>
            <a:r>
              <a:rPr lang="en-US" altLang="zh-TW" dirty="0"/>
              <a:t>channel</a:t>
            </a:r>
            <a:r>
              <a:rPr lang="zh-TW" altLang="en-US" dirty="0"/>
              <a:t>中最大的</a:t>
            </a:r>
            <a:r>
              <a:rPr lang="en-US" altLang="zh-TW" dirty="0"/>
              <a:t>transmission rate</a:t>
            </a:r>
            <a:r>
              <a:rPr lang="zh-TW" altLang="en-US" dirty="0"/>
              <a:t>，若最大的</a:t>
            </a:r>
            <a:r>
              <a:rPr lang="en-US" altLang="zh-TW" dirty="0" err="1"/>
              <a:t>Rmax</a:t>
            </a:r>
            <a:r>
              <a:rPr lang="en-US" altLang="zh-TW" dirty="0"/>
              <a:t> </a:t>
            </a:r>
            <a:r>
              <a:rPr lang="zh-TW" altLang="en-US" dirty="0"/>
              <a:t>一樣不滿足</a:t>
            </a:r>
            <a:r>
              <a:rPr lang="en-US" altLang="zh-TW" dirty="0"/>
              <a:t>rate</a:t>
            </a:r>
            <a:r>
              <a:rPr lang="zh-TW" altLang="en-US" dirty="0"/>
              <a:t>限制，就會發生</a:t>
            </a:r>
            <a:r>
              <a:rPr lang="en-US" altLang="zh-TW" dirty="0"/>
              <a:t>outage</a:t>
            </a:r>
            <a:endParaRPr lang="zh-TW" altLang="en-US" dirty="0"/>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14</a:t>
            </a:fld>
            <a:endParaRPr lang="ko-KR" altLang="en-US"/>
          </a:p>
        </p:txBody>
      </p:sp>
    </p:spTree>
    <p:extLst>
      <p:ext uri="{BB962C8B-B14F-4D97-AF65-F5344CB8AC3E}">
        <p14:creationId xmlns:p14="http://schemas.microsoft.com/office/powerpoint/2010/main" val="9452168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將所有訊號疊加再進行</a:t>
            </a:r>
            <a:r>
              <a:rPr lang="en-US" altLang="zh-TW" dirty="0"/>
              <a:t>decode</a:t>
            </a:r>
            <a:r>
              <a:rPr lang="zh-TW" altLang="en-US" dirty="0"/>
              <a:t>根據 </a:t>
            </a:r>
            <a:r>
              <a:rPr lang="en-US" altLang="zh-TW" sz="1200" b="0" i="0" u="none" strike="noStrike" kern="1200" baseline="0" dirty="0">
                <a:solidFill>
                  <a:schemeClr val="tx1"/>
                </a:solidFill>
                <a:latin typeface="+mn-lt"/>
                <a:ea typeface="+mn-ea"/>
                <a:cs typeface="+mn-cs"/>
              </a:rPr>
              <a:t>source-channel separation theorem</a:t>
            </a:r>
            <a:r>
              <a:rPr lang="zh-TW" altLang="en-US" sz="1200" b="0" i="0" u="none" strike="noStrike" kern="1200" baseline="0" dirty="0">
                <a:solidFill>
                  <a:schemeClr val="tx1"/>
                </a:solidFill>
                <a:latin typeface="+mn-lt"/>
                <a:ea typeface="+mn-ea"/>
                <a:cs typeface="+mn-cs"/>
              </a:rPr>
              <a:t> </a:t>
            </a:r>
            <a:endParaRPr lang="zh-TW" altLang="en-US" dirty="0"/>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15</a:t>
            </a:fld>
            <a:endParaRPr lang="ko-KR" altLang="en-US"/>
          </a:p>
        </p:txBody>
      </p:sp>
    </p:spTree>
    <p:extLst>
      <p:ext uri="{BB962C8B-B14F-4D97-AF65-F5344CB8AC3E}">
        <p14:creationId xmlns:p14="http://schemas.microsoft.com/office/powerpoint/2010/main" val="31820276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zh-TW" sz="1200" b="0" i="0" u="none" strike="noStrike" kern="1200" baseline="0" dirty="0">
                <a:solidFill>
                  <a:schemeClr val="tx1"/>
                </a:solidFill>
                <a:latin typeface="+mn-lt"/>
                <a:ea typeface="+mn-ea"/>
                <a:cs typeface="+mn-cs"/>
              </a:rPr>
              <a:t>total SNR </a:t>
            </a:r>
          </a:p>
          <a:p>
            <a:r>
              <a:rPr lang="zh-TW" altLang="en-US" dirty="0"/>
              <a:t>會長成</a:t>
            </a:r>
            <a:r>
              <a:rPr lang="en-US" altLang="zh-TW" dirty="0"/>
              <a:t>22</a:t>
            </a:r>
            <a:r>
              <a:rPr lang="zh-TW" altLang="en-US" dirty="0"/>
              <a:t>行那樣 </a:t>
            </a:r>
            <a:endParaRPr lang="en-US" altLang="zh-TW" dirty="0"/>
          </a:p>
          <a:p>
            <a:r>
              <a:rPr lang="zh-TW" altLang="en-US" dirty="0"/>
              <a:t>然後再把</a:t>
            </a:r>
            <a:r>
              <a:rPr lang="en-US" altLang="zh-TW" dirty="0"/>
              <a:t>22</a:t>
            </a:r>
            <a:r>
              <a:rPr lang="zh-TW" altLang="en-US" dirty="0"/>
              <a:t>行的東西帶到</a:t>
            </a:r>
            <a:r>
              <a:rPr lang="en-US" altLang="zh-TW" dirty="0"/>
              <a:t>25</a:t>
            </a:r>
            <a:r>
              <a:rPr lang="zh-TW" altLang="en-US" dirty="0"/>
              <a:t>行</a:t>
            </a:r>
            <a:endParaRPr lang="en-US" altLang="zh-TW" dirty="0"/>
          </a:p>
          <a:p>
            <a:r>
              <a:rPr lang="zh-TW" altLang="en-US" dirty="0"/>
              <a:t>就可以得到</a:t>
            </a:r>
            <a:r>
              <a:rPr lang="en-US" altLang="zh-TW" dirty="0"/>
              <a:t>outage probability</a:t>
            </a:r>
            <a:endParaRPr lang="zh-TW" altLang="en-US" dirty="0"/>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16</a:t>
            </a:fld>
            <a:endParaRPr lang="ko-KR" altLang="en-US"/>
          </a:p>
        </p:txBody>
      </p:sp>
    </p:spTree>
    <p:extLst>
      <p:ext uri="{BB962C8B-B14F-4D97-AF65-F5344CB8AC3E}">
        <p14:creationId xmlns:p14="http://schemas.microsoft.com/office/powerpoint/2010/main" val="9766968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1" u="none" strike="noStrike" kern="1200" baseline="0" dirty="0">
                <a:solidFill>
                  <a:schemeClr val="tx1"/>
                </a:solidFill>
                <a:latin typeface="+mn-lt"/>
                <a:ea typeface="+mn-ea"/>
                <a:cs typeface="+mn-cs"/>
              </a:rPr>
              <a:t>𝜎𝑖</a:t>
            </a:r>
            <a:r>
              <a:rPr lang="en-US" altLang="zh-TW" sz="1200" b="0" i="0" u="none" strike="noStrike" kern="1200" baseline="0" dirty="0">
                <a:solidFill>
                  <a:schemeClr val="tx1"/>
                </a:solidFill>
                <a:latin typeface="+mn-lt"/>
                <a:ea typeface="+mn-ea"/>
                <a:cs typeface="+mn-cs"/>
              </a:rPr>
              <a:t>(</a:t>
            </a:r>
            <a:r>
              <a:rPr lang="zh-TW" altLang="en-US" sz="1200" b="0" i="1" u="none" strike="noStrike" kern="1200" baseline="0" dirty="0">
                <a:solidFill>
                  <a:schemeClr val="tx1"/>
                </a:solidFill>
                <a:latin typeface="+mn-lt"/>
                <a:ea typeface="+mn-ea"/>
                <a:cs typeface="+mn-cs"/>
              </a:rPr>
              <a:t>𝑃</a:t>
            </a:r>
            <a:r>
              <a:rPr lang="en-US" altLang="zh-TW" sz="1200" b="0" i="0" u="none" strike="noStrike" kern="1200" baseline="0" dirty="0">
                <a:solidFill>
                  <a:schemeClr val="tx1"/>
                </a:solidFill>
                <a:latin typeface="+mn-lt"/>
                <a:ea typeface="+mn-ea"/>
                <a:cs typeface="+mn-cs"/>
              </a:rPr>
              <a:t>out</a:t>
            </a:r>
            <a:r>
              <a:rPr lang="zh-TW" altLang="en-US" sz="1200" b="0" i="1" u="none" strike="noStrike" kern="1200" baseline="0" dirty="0">
                <a:solidFill>
                  <a:schemeClr val="tx1"/>
                </a:solidFill>
                <a:latin typeface="+mn-lt"/>
                <a:ea typeface="+mn-ea"/>
                <a:cs typeface="+mn-cs"/>
              </a:rPr>
              <a:t>∗ </a:t>
            </a:r>
            <a:r>
              <a:rPr lang="en-US" altLang="zh-TW" sz="1200" b="0" i="0" u="none" strike="noStrike" kern="1200" baseline="0" dirty="0">
                <a:solidFill>
                  <a:schemeClr val="tx1"/>
                </a:solidFill>
                <a:latin typeface="+mn-lt"/>
                <a:ea typeface="+mn-ea"/>
                <a:cs typeface="+mn-cs"/>
              </a:rPr>
              <a:t>)required average system transmit</a:t>
            </a:r>
            <a:r>
              <a:rPr lang="zh-TW" altLang="en-US" sz="1200" b="0" i="0" u="none" strike="noStrike" kern="1200" baseline="0" dirty="0">
                <a:solidFill>
                  <a:schemeClr val="tx1"/>
                </a:solidFill>
                <a:latin typeface="+mn-lt"/>
                <a:ea typeface="+mn-ea"/>
                <a:cs typeface="+mn-cs"/>
              </a:rPr>
              <a:t> </a:t>
            </a:r>
            <a:r>
              <a:rPr lang="en-US" altLang="zh-TW" sz="1200" b="0" i="0" u="none" strike="noStrike" kern="1200" baseline="0" dirty="0">
                <a:solidFill>
                  <a:schemeClr val="tx1"/>
                </a:solidFill>
                <a:latin typeface="+mn-lt"/>
                <a:ea typeface="+mn-ea"/>
                <a:cs typeface="+mn-cs"/>
              </a:rPr>
              <a:t>SNR</a:t>
            </a:r>
          </a:p>
          <a:p>
            <a:r>
              <a:rPr lang="zh-TW" altLang="en-US" sz="1200" b="0" i="0" u="none" strike="noStrike" kern="1200" baseline="0" dirty="0">
                <a:solidFill>
                  <a:schemeClr val="tx1"/>
                </a:solidFill>
                <a:latin typeface="+mn-lt"/>
                <a:ea typeface="+mn-ea"/>
                <a:cs typeface="+mn-cs"/>
              </a:rPr>
              <a:t>這邊可以看到當</a:t>
            </a:r>
            <a:r>
              <a:rPr lang="en-US" altLang="zh-TW" sz="1200" b="0" i="0" u="none" strike="noStrike" kern="1200" baseline="0" dirty="0">
                <a:solidFill>
                  <a:schemeClr val="tx1"/>
                </a:solidFill>
                <a:latin typeface="+mn-lt"/>
                <a:ea typeface="+mn-ea"/>
                <a:cs typeface="+mn-cs"/>
              </a:rPr>
              <a:t>SNR</a:t>
            </a:r>
            <a:r>
              <a:rPr lang="zh-TW" altLang="en-US" sz="1200" b="0" i="0" u="none" strike="noStrike" kern="1200" baseline="0" dirty="0">
                <a:solidFill>
                  <a:schemeClr val="tx1"/>
                </a:solidFill>
                <a:latin typeface="+mn-lt"/>
                <a:ea typeface="+mn-ea"/>
                <a:cs typeface="+mn-cs"/>
              </a:rPr>
              <a:t>固定為</a:t>
            </a:r>
            <a:r>
              <a:rPr lang="en-US" altLang="zh-TW" sz="1200" b="0" i="0" u="none" strike="noStrike" kern="1200" baseline="0" dirty="0">
                <a:solidFill>
                  <a:schemeClr val="tx1"/>
                </a:solidFill>
                <a:latin typeface="+mn-lt"/>
                <a:ea typeface="+mn-ea"/>
                <a:cs typeface="+mn-cs"/>
              </a:rPr>
              <a:t>15</a:t>
            </a:r>
            <a:r>
              <a:rPr lang="zh-TW" altLang="en-US" sz="1200" b="0" i="0" u="none" strike="noStrike" kern="1200" baseline="0" dirty="0">
                <a:solidFill>
                  <a:schemeClr val="tx1"/>
                </a:solidFill>
                <a:latin typeface="+mn-lt"/>
                <a:ea typeface="+mn-ea"/>
                <a:cs typeface="+mn-cs"/>
              </a:rPr>
              <a:t>時，不管</a:t>
            </a:r>
            <a:r>
              <a:rPr lang="en-US" altLang="zh-TW" sz="1200" b="0" i="0" u="none" strike="noStrike" kern="1200" baseline="0" dirty="0">
                <a:solidFill>
                  <a:schemeClr val="tx1"/>
                </a:solidFill>
                <a:latin typeface="+mn-lt"/>
                <a:ea typeface="+mn-ea"/>
                <a:cs typeface="+mn-cs"/>
              </a:rPr>
              <a:t>base stations</a:t>
            </a:r>
            <a:r>
              <a:rPr lang="zh-TW" altLang="en-US" sz="1200" b="0" i="0" u="none" strike="noStrike" kern="1200" baseline="0" dirty="0">
                <a:solidFill>
                  <a:schemeClr val="tx1"/>
                </a:solidFill>
                <a:latin typeface="+mn-lt"/>
                <a:ea typeface="+mn-ea"/>
                <a:cs typeface="+mn-cs"/>
              </a:rPr>
              <a:t>數量是</a:t>
            </a:r>
            <a:r>
              <a:rPr lang="en-US" altLang="zh-TW" sz="1200" b="0" i="0" u="none" strike="noStrike" kern="1200" baseline="0" dirty="0">
                <a:solidFill>
                  <a:schemeClr val="tx1"/>
                </a:solidFill>
                <a:latin typeface="+mn-lt"/>
                <a:ea typeface="+mn-ea"/>
                <a:cs typeface="+mn-cs"/>
              </a:rPr>
              <a:t>2</a:t>
            </a:r>
            <a:r>
              <a:rPr lang="zh-TW" altLang="en-US" sz="1200" b="0" i="0" u="none" strike="noStrike" kern="1200" baseline="0" dirty="0">
                <a:solidFill>
                  <a:schemeClr val="tx1"/>
                </a:solidFill>
                <a:latin typeface="+mn-lt"/>
                <a:ea typeface="+mn-ea"/>
                <a:cs typeface="+mn-cs"/>
              </a:rPr>
              <a:t>還是</a:t>
            </a:r>
            <a:r>
              <a:rPr lang="en-US" altLang="zh-TW" sz="1200" b="0" i="0" u="none" strike="noStrike" kern="1200" baseline="0" dirty="0">
                <a:solidFill>
                  <a:schemeClr val="tx1"/>
                </a:solidFill>
                <a:latin typeface="+mn-lt"/>
                <a:ea typeface="+mn-ea"/>
                <a:cs typeface="+mn-cs"/>
              </a:rPr>
              <a:t>5</a:t>
            </a:r>
            <a:r>
              <a:rPr lang="zh-TW" altLang="en-US" sz="1200" b="0" i="0" u="none" strike="noStrike" kern="1200" baseline="0" dirty="0">
                <a:solidFill>
                  <a:schemeClr val="tx1"/>
                </a:solidFill>
                <a:latin typeface="+mn-lt"/>
                <a:ea typeface="+mn-ea"/>
                <a:cs typeface="+mn-cs"/>
              </a:rPr>
              <a:t>，利用</a:t>
            </a:r>
            <a:r>
              <a:rPr lang="en-US" altLang="zh-TW" sz="1200" b="0" i="0" u="none" strike="noStrike" kern="1200" baseline="0" dirty="0">
                <a:solidFill>
                  <a:schemeClr val="tx1"/>
                </a:solidFill>
                <a:latin typeface="+mn-lt"/>
                <a:ea typeface="+mn-ea"/>
                <a:cs typeface="+mn-cs"/>
              </a:rPr>
              <a:t>joint decoding </a:t>
            </a:r>
            <a:r>
              <a:rPr lang="zh-TW" altLang="en-US" sz="1200" b="0" i="0" u="none" strike="noStrike" kern="1200" baseline="0" dirty="0">
                <a:solidFill>
                  <a:schemeClr val="tx1"/>
                </a:solidFill>
                <a:latin typeface="+mn-lt"/>
                <a:ea typeface="+mn-ea"/>
                <a:cs typeface="+mn-cs"/>
              </a:rPr>
              <a:t>的方式所發生</a:t>
            </a:r>
            <a:r>
              <a:rPr lang="en-US" altLang="zh-TW" sz="1200" b="0" i="0" u="none" strike="noStrike" kern="1200" baseline="0" dirty="0">
                <a:solidFill>
                  <a:schemeClr val="tx1"/>
                </a:solidFill>
                <a:latin typeface="+mn-lt"/>
                <a:ea typeface="+mn-ea"/>
                <a:cs typeface="+mn-cs"/>
              </a:rPr>
              <a:t>outage</a:t>
            </a:r>
            <a:r>
              <a:rPr lang="zh-TW" altLang="en-US" sz="1200" b="0" i="0" u="none" strike="noStrike" kern="1200" baseline="0" dirty="0">
                <a:solidFill>
                  <a:schemeClr val="tx1"/>
                </a:solidFill>
                <a:latin typeface="+mn-lt"/>
                <a:ea typeface="+mn-ea"/>
                <a:cs typeface="+mn-cs"/>
              </a:rPr>
              <a:t>的機率比較小</a:t>
            </a:r>
            <a:endParaRPr lang="zh-TW" altLang="en-US" dirty="0"/>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17</a:t>
            </a:fld>
            <a:endParaRPr lang="ko-KR" altLang="en-US"/>
          </a:p>
        </p:txBody>
      </p:sp>
    </p:spTree>
    <p:extLst>
      <p:ext uri="{BB962C8B-B14F-4D97-AF65-F5344CB8AC3E}">
        <p14:creationId xmlns:p14="http://schemas.microsoft.com/office/powerpoint/2010/main" val="28172971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然後這個是表示出當不同的</a:t>
            </a:r>
            <a:r>
              <a:rPr lang="en-US" altLang="zh-TW" dirty="0"/>
              <a:t>base stations</a:t>
            </a:r>
            <a:r>
              <a:rPr lang="zh-TW" altLang="en-US" dirty="0"/>
              <a:t>數以及不同的</a:t>
            </a:r>
            <a:r>
              <a:rPr lang="en-US" altLang="zh-TW" dirty="0"/>
              <a:t>outage probability</a:t>
            </a:r>
            <a:r>
              <a:rPr lang="zh-TW" altLang="en-US" dirty="0"/>
              <a:t>下，所需求的</a:t>
            </a:r>
            <a:r>
              <a:rPr lang="en-US" altLang="zh-TW" dirty="0"/>
              <a:t>SNR</a:t>
            </a:r>
            <a:r>
              <a:rPr lang="zh-TW" altLang="en-US" dirty="0"/>
              <a:t>關西圖</a:t>
            </a:r>
            <a:endParaRPr lang="en-US" altLang="zh-TW" dirty="0"/>
          </a:p>
          <a:p>
            <a:r>
              <a:rPr lang="zh-TW" altLang="en-US" dirty="0"/>
              <a:t> 可以看到當</a:t>
            </a:r>
            <a:r>
              <a:rPr lang="en-US" altLang="zh-TW" dirty="0"/>
              <a:t>outage probability</a:t>
            </a:r>
            <a:r>
              <a:rPr lang="zh-TW" altLang="en-US" dirty="0"/>
              <a:t>固定時</a:t>
            </a:r>
            <a:r>
              <a:rPr lang="en-US" altLang="zh-TW" dirty="0"/>
              <a:t>links</a:t>
            </a:r>
            <a:r>
              <a:rPr lang="zh-TW" altLang="en-US" dirty="0"/>
              <a:t>數越多 ，所需要的</a:t>
            </a:r>
            <a:r>
              <a:rPr lang="en-US" altLang="zh-TW" dirty="0"/>
              <a:t>SNR</a:t>
            </a:r>
            <a:r>
              <a:rPr lang="zh-TW" altLang="en-US" dirty="0"/>
              <a:t>都會變小</a:t>
            </a:r>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18</a:t>
            </a:fld>
            <a:endParaRPr lang="ko-KR" altLang="en-US"/>
          </a:p>
        </p:txBody>
      </p:sp>
    </p:spTree>
    <p:extLst>
      <p:ext uri="{BB962C8B-B14F-4D97-AF65-F5344CB8AC3E}">
        <p14:creationId xmlns:p14="http://schemas.microsoft.com/office/powerpoint/2010/main" val="1623572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Joint decoder</a:t>
            </a:r>
            <a:r>
              <a:rPr lang="zh-TW" altLang="en-US" dirty="0"/>
              <a:t> 與 其他兩個 </a:t>
            </a:r>
            <a:r>
              <a:rPr lang="en-US" altLang="zh-TW" dirty="0"/>
              <a:t>MSC</a:t>
            </a:r>
            <a:r>
              <a:rPr lang="zh-TW" altLang="en-US" dirty="0"/>
              <a:t> </a:t>
            </a:r>
            <a:r>
              <a:rPr lang="en-US" altLang="zh-TW" dirty="0"/>
              <a:t>MRC</a:t>
            </a:r>
            <a:r>
              <a:rPr lang="zh-TW" altLang="en-US" dirty="0"/>
              <a:t> 他們的</a:t>
            </a:r>
            <a:r>
              <a:rPr lang="en-US" altLang="zh-TW" dirty="0"/>
              <a:t>required</a:t>
            </a:r>
            <a:r>
              <a:rPr lang="zh-TW" altLang="en-US" dirty="0"/>
              <a:t> </a:t>
            </a:r>
            <a:r>
              <a:rPr lang="en-US" altLang="zh-TW" dirty="0"/>
              <a:t>SNR</a:t>
            </a:r>
            <a:r>
              <a:rPr lang="zh-TW" altLang="en-US" dirty="0"/>
              <a:t> 比值</a:t>
            </a:r>
            <a:endParaRPr lang="en-US" altLang="zh-TW" dirty="0"/>
          </a:p>
          <a:p>
            <a:r>
              <a:rPr lang="zh-TW" altLang="en-US" dirty="0"/>
              <a:t>可以看到 </a:t>
            </a:r>
            <a:r>
              <a:rPr lang="en-US" altLang="zh-TW" dirty="0"/>
              <a:t>MRC</a:t>
            </a:r>
            <a:r>
              <a:rPr lang="zh-TW" altLang="en-US" dirty="0"/>
              <a:t> 再不同的</a:t>
            </a:r>
            <a:r>
              <a:rPr lang="en-US" altLang="zh-TW" dirty="0"/>
              <a:t>outage probability</a:t>
            </a:r>
            <a:r>
              <a:rPr lang="zh-TW" altLang="en-US" dirty="0"/>
              <a:t>下會有不同</a:t>
            </a:r>
            <a:endParaRPr lang="en-US" altLang="zh-TW" dirty="0"/>
          </a:p>
          <a:p>
            <a:r>
              <a:rPr lang="en-US" altLang="zh-TW" dirty="0"/>
              <a:t>link</a:t>
            </a:r>
            <a:r>
              <a:rPr lang="zh-TW" altLang="en-US" dirty="0"/>
              <a:t>數的限制</a:t>
            </a:r>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19</a:t>
            </a:fld>
            <a:endParaRPr lang="ko-KR" altLang="en-US"/>
          </a:p>
        </p:txBody>
      </p:sp>
    </p:spTree>
    <p:extLst>
      <p:ext uri="{BB962C8B-B14F-4D97-AF65-F5344CB8AC3E}">
        <p14:creationId xmlns:p14="http://schemas.microsoft.com/office/powerpoint/2010/main" val="12902872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在這項工作中，我們推導並評估了在多連接情況下不同組合算法（即</a:t>
            </a:r>
            <a:r>
              <a:rPr lang="en-US" altLang="zh-TW" dirty="0"/>
              <a:t>JD</a:t>
            </a:r>
            <a:r>
              <a:rPr lang="zh-TW" altLang="en-US" dirty="0"/>
              <a:t>，</a:t>
            </a:r>
            <a:r>
              <a:rPr lang="en-US" altLang="zh-TW" dirty="0"/>
              <a:t>MSC</a:t>
            </a:r>
            <a:r>
              <a:rPr lang="zh-TW" altLang="en-US" dirty="0"/>
              <a:t>和</a:t>
            </a:r>
            <a:r>
              <a:rPr lang="en-US" altLang="zh-TW" dirty="0"/>
              <a:t>MRC</a:t>
            </a:r>
            <a:r>
              <a:rPr lang="zh-TW" altLang="en-US" dirty="0"/>
              <a:t>）的中斷概率。 。 對於所有這三種組合算法，我們已經建立了一個非常簡單但準確的分析框架來描述中斷概率，具體取決於鏈路數量，</a:t>
            </a:r>
            <a:r>
              <a:rPr lang="en-US" altLang="zh-TW" dirty="0"/>
              <a:t>modulation scheme</a:t>
            </a:r>
            <a:r>
              <a:rPr lang="zh-TW" altLang="en-US" dirty="0"/>
              <a:t>，編碼率和接收到的</a:t>
            </a:r>
            <a:r>
              <a:rPr lang="en-US" altLang="zh-TW" dirty="0"/>
              <a:t>SNR</a:t>
            </a:r>
            <a:r>
              <a:rPr lang="zh-TW" altLang="en-US" dirty="0"/>
              <a:t>。 我們使用了分析框架來比較性能，從而評估了使用</a:t>
            </a:r>
            <a:r>
              <a:rPr lang="en-US" altLang="zh-TW" dirty="0"/>
              <a:t>JD</a:t>
            </a:r>
            <a:r>
              <a:rPr lang="zh-TW" altLang="en-US" dirty="0"/>
              <a:t>，</a:t>
            </a:r>
            <a:r>
              <a:rPr lang="en-US" altLang="zh-TW" dirty="0"/>
              <a:t>MSC</a:t>
            </a:r>
            <a:r>
              <a:rPr lang="zh-TW" altLang="en-US" dirty="0"/>
              <a:t>和</a:t>
            </a:r>
            <a:r>
              <a:rPr lang="en-US" altLang="zh-TW" dirty="0"/>
              <a:t>MRC</a:t>
            </a:r>
            <a:r>
              <a:rPr lang="zh-TW" altLang="en-US" dirty="0"/>
              <a:t>同時達到相同中斷概率相比所需</a:t>
            </a:r>
            <a:r>
              <a:rPr lang="en-US" altLang="zh-TW" dirty="0"/>
              <a:t>SNR</a:t>
            </a:r>
            <a:r>
              <a:rPr lang="zh-TW" altLang="en-US" dirty="0"/>
              <a:t>。</a:t>
            </a:r>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20</a:t>
            </a:fld>
            <a:endParaRPr lang="ko-KR" altLang="en-US"/>
          </a:p>
        </p:txBody>
      </p:sp>
    </p:spTree>
    <p:extLst>
      <p:ext uri="{BB962C8B-B14F-4D97-AF65-F5344CB8AC3E}">
        <p14:creationId xmlns:p14="http://schemas.microsoft.com/office/powerpoint/2010/main" val="6732383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22789A33-A361-4541-B6A7-456994CC0C02}" type="slidenum">
              <a:rPr lang="ko-KR" altLang="en-US" smtClean="0"/>
              <a:t>21</a:t>
            </a:fld>
            <a:endParaRPr lang="ko-KR" altLang="en-US"/>
          </a:p>
        </p:txBody>
      </p:sp>
    </p:spTree>
    <p:extLst>
      <p:ext uri="{BB962C8B-B14F-4D97-AF65-F5344CB8AC3E}">
        <p14:creationId xmlns:p14="http://schemas.microsoft.com/office/powerpoint/2010/main" val="26253888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649293" y="1563638"/>
            <a:ext cx="3845416" cy="1080121"/>
          </a:xfrm>
          <a:prstGeom prst="rect">
            <a:avLst/>
          </a:prstGeom>
        </p:spPr>
        <p:txBody>
          <a:bodyPr anchor="ctr"/>
          <a:lstStyle>
            <a:lvl1pPr marL="0" indent="0" algn="ctr">
              <a:lnSpc>
                <a:spcPct val="100000"/>
              </a:lnSpc>
              <a:buNone/>
              <a:defRPr sz="3600" b="1" baseline="0">
                <a:solidFill>
                  <a:schemeClr val="tx1">
                    <a:lumMod val="75000"/>
                    <a:lumOff val="25000"/>
                  </a:schemeClr>
                </a:solidFill>
                <a:latin typeface="+mj-lt"/>
                <a:cs typeface="Arial" pitchFamily="34" charset="0"/>
              </a:defRPr>
            </a:lvl1pPr>
          </a:lstStyle>
          <a:p>
            <a:pPr lvl="0"/>
            <a:r>
              <a:rPr lang="en-US" altLang="ko-KR" dirty="0">
                <a:ea typeface="맑은 고딕" pitchFamily="50" charset="-127"/>
              </a:rPr>
              <a:t>FREE PPT TEMPLATES</a:t>
            </a:r>
            <a:endParaRPr lang="en-US" altLang="ko-KR" dirty="0"/>
          </a:p>
        </p:txBody>
      </p:sp>
      <p:sp>
        <p:nvSpPr>
          <p:cNvPr id="11" name="Text Placeholder 9"/>
          <p:cNvSpPr>
            <a:spLocks noGrp="1"/>
          </p:cNvSpPr>
          <p:nvPr>
            <p:ph type="body" sz="quarter" idx="11" hasCustomPrompt="1"/>
          </p:nvPr>
        </p:nvSpPr>
        <p:spPr>
          <a:xfrm>
            <a:off x="2649145" y="2634232"/>
            <a:ext cx="3845416" cy="799934"/>
          </a:xfrm>
          <a:prstGeom prst="rect">
            <a:avLst/>
          </a:prstGeom>
        </p:spPr>
        <p:txBody>
          <a:bodyPr anchor="ctr"/>
          <a:lstStyle>
            <a:lvl1pPr marL="0" indent="0" algn="ctr">
              <a:lnSpc>
                <a:spcPct val="100000"/>
              </a:lnSpc>
              <a:buNone/>
              <a:defRPr sz="1400" b="1" baseline="0">
                <a:solidFill>
                  <a:schemeClr val="tx1">
                    <a:lumMod val="75000"/>
                    <a:lumOff val="25000"/>
                  </a:schemeClr>
                </a:solidFill>
                <a:latin typeface="+mn-lt"/>
                <a:cs typeface="Arial" pitchFamily="34" charset="0"/>
              </a:defRPr>
            </a:lvl1pPr>
          </a:lstStyle>
          <a:p>
            <a:pPr lvl="0"/>
            <a:r>
              <a:rPr lang="en-US" altLang="ko-KR" dirty="0"/>
              <a:t>INSTERT THE TITLE</a:t>
            </a:r>
          </a:p>
          <a:p>
            <a:pPr lvl="0"/>
            <a:r>
              <a:rPr lang="en-US" altLang="ko-KR" dirty="0"/>
              <a:t>OF YOUR </a:t>
            </a:r>
          </a:p>
          <a:p>
            <a:pPr lvl="0"/>
            <a:r>
              <a:rPr lang="en-US" altLang="ko-KR" dirty="0"/>
              <a:t>PRESENTATION HERE</a:t>
            </a:r>
            <a:endParaRPr lang="ko-KR" altLang="en-US" dirty="0"/>
          </a:p>
        </p:txBody>
      </p:sp>
      <p:grpSp>
        <p:nvGrpSpPr>
          <p:cNvPr id="4" name="Group 3"/>
          <p:cNvGrpSpPr/>
          <p:nvPr userDrawn="1"/>
        </p:nvGrpSpPr>
        <p:grpSpPr>
          <a:xfrm>
            <a:off x="1944300" y="0"/>
            <a:ext cx="5255402" cy="5143500"/>
            <a:chOff x="1619672" y="548680"/>
            <a:chExt cx="5904656" cy="5778928"/>
          </a:xfrm>
        </p:grpSpPr>
        <p:sp>
          <p:nvSpPr>
            <p:cNvPr id="5" name="Oval 4"/>
            <p:cNvSpPr/>
            <p:nvPr userDrawn="1"/>
          </p:nvSpPr>
          <p:spPr>
            <a:xfrm>
              <a:off x="2411760" y="1268760"/>
              <a:ext cx="4320480" cy="4320480"/>
            </a:xfrm>
            <a:prstGeom prst="ellipse">
              <a:avLst/>
            </a:prstGeom>
            <a:noFill/>
            <a:ln w="19050">
              <a:solidFill>
                <a:schemeClr val="bg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a:p>
          </p:txBody>
        </p:sp>
        <p:sp>
          <p:nvSpPr>
            <p:cNvPr id="6" name="Oval 5"/>
            <p:cNvSpPr/>
            <p:nvPr userDrawn="1"/>
          </p:nvSpPr>
          <p:spPr>
            <a:xfrm>
              <a:off x="2483768" y="1340768"/>
              <a:ext cx="4176464" cy="4176464"/>
            </a:xfrm>
            <a:prstGeom prst="ellipse">
              <a:avLst/>
            </a:prstGeom>
            <a:noFill/>
            <a:ln w="19050">
              <a:solidFill>
                <a:schemeClr val="bg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a:p>
          </p:txBody>
        </p:sp>
        <p:cxnSp>
          <p:nvCxnSpPr>
            <p:cNvPr id="7" name="Straight Connector 6"/>
            <p:cNvCxnSpPr/>
            <p:nvPr userDrawn="1"/>
          </p:nvCxnSpPr>
          <p:spPr>
            <a:xfrm>
              <a:off x="4572000" y="548680"/>
              <a:ext cx="0" cy="720080"/>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4572000" y="5607528"/>
              <a:ext cx="0" cy="720080"/>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732240" y="3429000"/>
              <a:ext cx="792088" cy="0"/>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1619672" y="3429000"/>
              <a:ext cx="792088" cy="0"/>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flipV="1">
              <a:off x="6156176" y="2378312"/>
              <a:ext cx="792088" cy="330608"/>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flipV="1">
              <a:off x="5431496" y="1124744"/>
              <a:ext cx="432048" cy="792088"/>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3094136" y="1131624"/>
              <a:ext cx="613768" cy="785208"/>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2195736" y="2090992"/>
              <a:ext cx="898400" cy="492240"/>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V="1">
              <a:off x="3180984" y="4941168"/>
              <a:ext cx="526920" cy="576064"/>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flipV="1">
              <a:off x="2456304" y="4329100"/>
              <a:ext cx="637832" cy="396044"/>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5979584" y="4142812"/>
              <a:ext cx="968680" cy="510324"/>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5431496" y="4875464"/>
              <a:ext cx="490068" cy="732064"/>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62736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a:blip r:embed="rId2"/>
          <a:stretch>
            <a:fillRect/>
          </a:stretch>
        </a:blip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tx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p:cNvGrpSpPr/>
          <p:nvPr userDrawn="1"/>
        </p:nvGrpSpPr>
        <p:grpSpPr>
          <a:xfrm>
            <a:off x="1944300" y="0"/>
            <a:ext cx="5255402" cy="5143500"/>
            <a:chOff x="1619672" y="548680"/>
            <a:chExt cx="5904656" cy="5778928"/>
          </a:xfrm>
        </p:grpSpPr>
        <p:sp>
          <p:nvSpPr>
            <p:cNvPr id="5" name="Oval 4"/>
            <p:cNvSpPr/>
            <p:nvPr userDrawn="1"/>
          </p:nvSpPr>
          <p:spPr>
            <a:xfrm>
              <a:off x="2411760" y="1268760"/>
              <a:ext cx="4320480" cy="4320480"/>
            </a:xfrm>
            <a:prstGeom prst="ellipse">
              <a:avLst/>
            </a:prstGeom>
            <a:noFill/>
            <a:ln w="19050">
              <a:solidFill>
                <a:schemeClr val="bg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a:p>
          </p:txBody>
        </p:sp>
        <p:sp>
          <p:nvSpPr>
            <p:cNvPr id="6" name="Oval 5"/>
            <p:cNvSpPr/>
            <p:nvPr userDrawn="1"/>
          </p:nvSpPr>
          <p:spPr>
            <a:xfrm>
              <a:off x="2483768" y="1340768"/>
              <a:ext cx="4176464" cy="4176464"/>
            </a:xfrm>
            <a:prstGeom prst="ellipse">
              <a:avLst/>
            </a:prstGeom>
            <a:blipFill>
              <a:blip r:embed="rId2"/>
              <a:stretch>
                <a:fillRect/>
              </a:stretch>
            </a:blipFill>
            <a:ln w="19050">
              <a:solidFill>
                <a:schemeClr val="bg1">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a:p>
          </p:txBody>
        </p:sp>
        <p:cxnSp>
          <p:nvCxnSpPr>
            <p:cNvPr id="7" name="Straight Connector 6"/>
            <p:cNvCxnSpPr/>
            <p:nvPr userDrawn="1"/>
          </p:nvCxnSpPr>
          <p:spPr>
            <a:xfrm>
              <a:off x="4572000" y="548680"/>
              <a:ext cx="0" cy="720080"/>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4572000" y="5607528"/>
              <a:ext cx="0" cy="720080"/>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732240" y="3429000"/>
              <a:ext cx="792088" cy="0"/>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1619672" y="3429000"/>
              <a:ext cx="792088" cy="0"/>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flipV="1">
              <a:off x="6156176" y="2378312"/>
              <a:ext cx="792088" cy="330608"/>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flipV="1">
              <a:off x="5431496" y="1124744"/>
              <a:ext cx="432048" cy="792088"/>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3094136" y="1131624"/>
              <a:ext cx="613768" cy="785208"/>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2195736" y="2090992"/>
              <a:ext cx="898400" cy="492240"/>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V="1">
              <a:off x="3180984" y="4941168"/>
              <a:ext cx="526920" cy="576064"/>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flipV="1">
              <a:off x="2456304" y="4329100"/>
              <a:ext cx="637832" cy="396044"/>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5979584" y="4142812"/>
              <a:ext cx="968680" cy="510324"/>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5431496" y="4875464"/>
              <a:ext cx="490068" cy="732064"/>
            </a:xfrm>
            <a:prstGeom prst="line">
              <a:avLst/>
            </a:prstGeom>
            <a:ln w="19050">
              <a:solidFill>
                <a:schemeClr val="bg1">
                  <a:alpha val="70000"/>
                </a:schemeClr>
              </a:solidFill>
            </a:ln>
          </p:spPr>
          <p:style>
            <a:lnRef idx="1">
              <a:schemeClr val="accent1"/>
            </a:lnRef>
            <a:fillRef idx="0">
              <a:schemeClr val="accent1"/>
            </a:fillRef>
            <a:effectRef idx="0">
              <a:schemeClr val="accent1"/>
            </a:effectRef>
            <a:fontRef idx="minor">
              <a:schemeClr val="tx1"/>
            </a:fontRef>
          </p:style>
        </p:cxnSp>
      </p:grpSp>
      <p:sp>
        <p:nvSpPr>
          <p:cNvPr id="10" name="Text Placeholder 9"/>
          <p:cNvSpPr>
            <a:spLocks noGrp="1"/>
          </p:cNvSpPr>
          <p:nvPr>
            <p:ph type="body" sz="quarter" idx="10" hasCustomPrompt="1"/>
          </p:nvPr>
        </p:nvSpPr>
        <p:spPr>
          <a:xfrm>
            <a:off x="0" y="2105794"/>
            <a:ext cx="9144000" cy="576063"/>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148" y="2681858"/>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922477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5712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12904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2827544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467544" y="195486"/>
            <a:ext cx="8424936"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467544" y="771550"/>
            <a:ext cx="8424936"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310652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80628"/>
            <a:ext cx="9144000" cy="576064"/>
          </a:xfrm>
          <a:prstGeom prst="rect">
            <a:avLst/>
          </a:prstGeom>
        </p:spPr>
        <p:txBody>
          <a:bodyPr anchor="ctr"/>
          <a:lstStyle>
            <a:lvl1pPr marL="0" indent="0" algn="ctr">
              <a:buNone/>
              <a:defRPr sz="3600" b="0" baseline="0">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703817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1691680" y="123478"/>
            <a:ext cx="7452320"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1691680" y="699542"/>
            <a:ext cx="7452320"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298141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2700934" y="322499"/>
            <a:ext cx="1583034" cy="1385155"/>
          </a:xfrm>
          <a:prstGeom prst="rect">
            <a:avLst/>
          </a:prstGeom>
          <a:solidFill>
            <a:schemeClr val="bg1">
              <a:lumMod val="95000"/>
            </a:schemeClr>
          </a:solidFill>
          <a:ln w="19050">
            <a:solidFill>
              <a:schemeClr val="accent2"/>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5" name="Picture Placeholder 2"/>
          <p:cNvSpPr>
            <a:spLocks noGrp="1"/>
          </p:cNvSpPr>
          <p:nvPr>
            <p:ph type="pic" idx="11" hasCustomPrompt="1"/>
          </p:nvPr>
        </p:nvSpPr>
        <p:spPr>
          <a:xfrm>
            <a:off x="2700934" y="1898609"/>
            <a:ext cx="1583034" cy="1385155"/>
          </a:xfrm>
          <a:prstGeom prst="rect">
            <a:avLst/>
          </a:prstGeom>
          <a:solidFill>
            <a:schemeClr val="bg1">
              <a:lumMod val="95000"/>
            </a:schemeClr>
          </a:solidFill>
          <a:ln w="19050">
            <a:solidFill>
              <a:schemeClr val="accent3"/>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2" hasCustomPrompt="1"/>
          </p:nvPr>
        </p:nvSpPr>
        <p:spPr>
          <a:xfrm>
            <a:off x="2700934" y="3474719"/>
            <a:ext cx="1583034" cy="1385155"/>
          </a:xfrm>
          <a:prstGeom prst="rect">
            <a:avLst/>
          </a:prstGeom>
          <a:solidFill>
            <a:schemeClr val="bg1">
              <a:lumMod val="95000"/>
            </a:schemeClr>
          </a:solidFill>
          <a:ln w="19050">
            <a:solidFill>
              <a:schemeClr val="accent4"/>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4096584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533116" y="843558"/>
            <a:ext cx="8077768" cy="2160240"/>
          </a:xfrm>
          <a:prstGeom prst="rect">
            <a:avLst/>
          </a:prstGeom>
          <a:solidFill>
            <a:schemeClr val="bg1">
              <a:lumMod val="95000"/>
            </a:schemeClr>
          </a:solidFill>
          <a:ln w="38100">
            <a:noFill/>
          </a:ln>
        </p:spPr>
        <p:txBody>
          <a:bodyPr anchor="ctr"/>
          <a:lstStyle>
            <a:lvl1pPr marL="0" indent="0" algn="ctr">
              <a:buNone/>
              <a:defRPr sz="14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5" name="Picture Placeholder 2"/>
          <p:cNvSpPr>
            <a:spLocks noGrp="1"/>
          </p:cNvSpPr>
          <p:nvPr>
            <p:ph type="pic" idx="13" hasCustomPrompt="1"/>
          </p:nvPr>
        </p:nvSpPr>
        <p:spPr>
          <a:xfrm>
            <a:off x="4031416" y="2475359"/>
            <a:ext cx="1062118" cy="1062118"/>
          </a:xfrm>
          <a:prstGeom prst="ellipse">
            <a:avLst/>
          </a:prstGeom>
          <a:solidFill>
            <a:schemeClr val="bg1">
              <a:lumMod val="95000"/>
            </a:schemeClr>
          </a:solidFill>
          <a:ln w="38100">
            <a:solidFill>
              <a:schemeClr val="accent1"/>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Text Placeholder 9"/>
          <p:cNvSpPr>
            <a:spLocks noGrp="1"/>
          </p:cNvSpPr>
          <p:nvPr>
            <p:ph type="body" sz="quarter" idx="10" hasCustomPrompt="1"/>
          </p:nvPr>
        </p:nvSpPr>
        <p:spPr>
          <a:xfrm>
            <a:off x="0" y="18062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615967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3" name="Rectangle 2"/>
          <p:cNvSpPr/>
          <p:nvPr userDrawn="1"/>
        </p:nvSpPr>
        <p:spPr>
          <a:xfrm>
            <a:off x="6012160" y="0"/>
            <a:ext cx="313184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Picture Placeholder 2"/>
          <p:cNvSpPr>
            <a:spLocks noGrp="1"/>
          </p:cNvSpPr>
          <p:nvPr>
            <p:ph type="pic" idx="1" hasCustomPrompt="1"/>
          </p:nvPr>
        </p:nvSpPr>
        <p:spPr>
          <a:xfrm>
            <a:off x="3131840" y="0"/>
            <a:ext cx="2880320" cy="51435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233221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2" name="Rectangle 1"/>
          <p:cNvSpPr/>
          <p:nvPr userDrawn="1"/>
        </p:nvSpPr>
        <p:spPr>
          <a:xfrm>
            <a:off x="8244000" y="0"/>
            <a:ext cx="90000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 name="Picture Placeholder 2"/>
          <p:cNvSpPr>
            <a:spLocks noGrp="1"/>
          </p:cNvSpPr>
          <p:nvPr>
            <p:ph type="pic" idx="12" hasCustomPrompt="1"/>
          </p:nvPr>
        </p:nvSpPr>
        <p:spPr>
          <a:xfrm>
            <a:off x="5811908" y="0"/>
            <a:ext cx="2448000" cy="51435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4" name="Picture Placeholder 2"/>
          <p:cNvSpPr>
            <a:spLocks noGrp="1"/>
          </p:cNvSpPr>
          <p:nvPr>
            <p:ph type="pic" idx="13" hasCustomPrompt="1"/>
          </p:nvPr>
        </p:nvSpPr>
        <p:spPr>
          <a:xfrm>
            <a:off x="2477595" y="0"/>
            <a:ext cx="2448000" cy="51435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5" name="Rectangle 4"/>
          <p:cNvSpPr/>
          <p:nvPr userDrawn="1"/>
        </p:nvSpPr>
        <p:spPr>
          <a:xfrm>
            <a:off x="4916268" y="0"/>
            <a:ext cx="900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Tree>
    <p:extLst>
      <p:ext uri="{BB962C8B-B14F-4D97-AF65-F5344CB8AC3E}">
        <p14:creationId xmlns:p14="http://schemas.microsoft.com/office/powerpoint/2010/main" val="32317301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2" name="Picture Placeholder 2"/>
          <p:cNvSpPr>
            <a:spLocks noGrp="1"/>
          </p:cNvSpPr>
          <p:nvPr>
            <p:ph type="pic" idx="13" hasCustomPrompt="1"/>
          </p:nvPr>
        </p:nvSpPr>
        <p:spPr>
          <a:xfrm>
            <a:off x="429444" y="915566"/>
            <a:ext cx="4104456" cy="187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Picture Placeholder 2"/>
          <p:cNvSpPr>
            <a:spLocks noGrp="1"/>
          </p:cNvSpPr>
          <p:nvPr>
            <p:ph type="pic" idx="15" hasCustomPrompt="1"/>
          </p:nvPr>
        </p:nvSpPr>
        <p:spPr>
          <a:xfrm>
            <a:off x="4644008" y="915566"/>
            <a:ext cx="4104456" cy="187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4" name="Picture Placeholder 2"/>
          <p:cNvSpPr>
            <a:spLocks noGrp="1"/>
          </p:cNvSpPr>
          <p:nvPr>
            <p:ph type="pic" idx="16" hasCustomPrompt="1"/>
          </p:nvPr>
        </p:nvSpPr>
        <p:spPr>
          <a:xfrm>
            <a:off x="429444" y="2912740"/>
            <a:ext cx="4104456" cy="1872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Text Placeholder 9"/>
          <p:cNvSpPr>
            <a:spLocks noGrp="1"/>
          </p:cNvSpPr>
          <p:nvPr>
            <p:ph type="body" sz="quarter" idx="10" hasCustomPrompt="1"/>
          </p:nvPr>
        </p:nvSpPr>
        <p:spPr>
          <a:xfrm>
            <a:off x="0" y="180628"/>
            <a:ext cx="9144000" cy="576064"/>
          </a:xfrm>
          <a:prstGeom prst="rect">
            <a:avLst/>
          </a:prstGeom>
        </p:spPr>
        <p:txBody>
          <a:bodyPr anchor="ctr"/>
          <a:lstStyle>
            <a:lvl1pPr marL="0" indent="0" algn="ctr">
              <a:buNone/>
              <a:defRPr sz="3600" b="0" baseline="0">
                <a:latin typeface="+mj-lt"/>
                <a:cs typeface="Arial" pitchFamily="34" charset="0"/>
              </a:defRPr>
            </a:lvl1pPr>
          </a:lstStyle>
          <a:p>
            <a:pPr lvl="0"/>
            <a:r>
              <a:rPr lang="en-US" altLang="ko-KR" dirty="0"/>
              <a:t>BASIC LAYOUT</a:t>
            </a:r>
          </a:p>
        </p:txBody>
      </p:sp>
      <p:sp>
        <p:nvSpPr>
          <p:cNvPr id="9" name="Rectangle 8"/>
          <p:cNvSpPr/>
          <p:nvPr userDrawn="1"/>
        </p:nvSpPr>
        <p:spPr>
          <a:xfrm>
            <a:off x="4644464" y="2912740"/>
            <a:ext cx="4104000" cy="18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855765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2" name="Rectangle 1"/>
          <p:cNvSpPr/>
          <p:nvPr userDrawn="1"/>
        </p:nvSpPr>
        <p:spPr>
          <a:xfrm>
            <a:off x="4583048" y="0"/>
            <a:ext cx="2286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Picture Placeholder 2"/>
          <p:cNvSpPr>
            <a:spLocks noGrp="1"/>
          </p:cNvSpPr>
          <p:nvPr>
            <p:ph type="pic" idx="10" hasCustomPrompt="1"/>
          </p:nvPr>
        </p:nvSpPr>
        <p:spPr>
          <a:xfrm>
            <a:off x="6858000" y="698778"/>
            <a:ext cx="2286000" cy="187220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4" name="Picture Placeholder 2"/>
          <p:cNvSpPr>
            <a:spLocks noGrp="1"/>
          </p:cNvSpPr>
          <p:nvPr>
            <p:ph type="pic" idx="11" hasCustomPrompt="1"/>
          </p:nvPr>
        </p:nvSpPr>
        <p:spPr>
          <a:xfrm>
            <a:off x="4583048" y="2578606"/>
            <a:ext cx="2286000" cy="187220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5" name="Picture Placeholder 2"/>
          <p:cNvSpPr>
            <a:spLocks noGrp="1"/>
          </p:cNvSpPr>
          <p:nvPr>
            <p:ph type="pic" idx="12" hasCustomPrompt="1"/>
          </p:nvPr>
        </p:nvSpPr>
        <p:spPr>
          <a:xfrm>
            <a:off x="2298953" y="699542"/>
            <a:ext cx="2286000" cy="187220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3" hasCustomPrompt="1"/>
          </p:nvPr>
        </p:nvSpPr>
        <p:spPr>
          <a:xfrm>
            <a:off x="0" y="2579370"/>
            <a:ext cx="2286000" cy="187220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9811595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2" name="Picture Placeholder 2"/>
          <p:cNvSpPr>
            <a:spLocks noGrp="1"/>
          </p:cNvSpPr>
          <p:nvPr>
            <p:ph type="pic" idx="13" hasCustomPrompt="1"/>
          </p:nvPr>
        </p:nvSpPr>
        <p:spPr>
          <a:xfrm>
            <a:off x="323528" y="248444"/>
            <a:ext cx="3294112"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Picture Placeholder 2"/>
          <p:cNvSpPr>
            <a:spLocks noGrp="1"/>
          </p:cNvSpPr>
          <p:nvPr>
            <p:ph type="pic" idx="14" hasCustomPrompt="1"/>
          </p:nvPr>
        </p:nvSpPr>
        <p:spPr>
          <a:xfrm>
            <a:off x="3671560" y="1832620"/>
            <a:ext cx="1512000"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4" name="Picture Placeholder 2"/>
          <p:cNvSpPr>
            <a:spLocks noGrp="1"/>
          </p:cNvSpPr>
          <p:nvPr>
            <p:ph type="pic" idx="15" hasCustomPrompt="1"/>
          </p:nvPr>
        </p:nvSpPr>
        <p:spPr>
          <a:xfrm>
            <a:off x="2105640" y="3416796"/>
            <a:ext cx="3077920"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5" name="Picture Placeholder 2"/>
          <p:cNvSpPr>
            <a:spLocks noGrp="1"/>
          </p:cNvSpPr>
          <p:nvPr>
            <p:ph type="pic" idx="16" hasCustomPrompt="1"/>
          </p:nvPr>
        </p:nvSpPr>
        <p:spPr>
          <a:xfrm>
            <a:off x="323528" y="1832620"/>
            <a:ext cx="1728192" cy="309634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7" hasCustomPrompt="1"/>
          </p:nvPr>
        </p:nvSpPr>
        <p:spPr>
          <a:xfrm>
            <a:off x="2105640" y="1832049"/>
            <a:ext cx="1512000"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8" hasCustomPrompt="1"/>
          </p:nvPr>
        </p:nvSpPr>
        <p:spPr>
          <a:xfrm>
            <a:off x="3671560" y="248444"/>
            <a:ext cx="1512000"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4831478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467544" y="195486"/>
            <a:ext cx="8424936"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467544" y="771550"/>
            <a:ext cx="8424936"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4" name="Picture 2" descr="D:\Fullppt\005-PNG이미지\노트북.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635896" y="1019175"/>
            <a:ext cx="6011911" cy="3057758"/>
          </a:xfrm>
          <a:prstGeom prst="rect">
            <a:avLst/>
          </a:prstGeom>
          <a:noFill/>
          <a:extLst>
            <a:ext uri="{909E8E84-426E-40DD-AFC4-6F175D3DCCD1}">
              <a14:hiddenFill xmlns:a14="http://schemas.microsoft.com/office/drawing/2010/main">
                <a:solidFill>
                  <a:srgbClr val="FFFFFF"/>
                </a:solidFill>
              </a14:hiddenFill>
            </a:ext>
          </a:extLst>
        </p:spPr>
      </p:pic>
      <p:sp>
        <p:nvSpPr>
          <p:cNvPr id="5" name="Picture Placeholder 2"/>
          <p:cNvSpPr>
            <a:spLocks noGrp="1"/>
          </p:cNvSpPr>
          <p:nvPr>
            <p:ph type="pic" idx="1" hasCustomPrompt="1"/>
          </p:nvPr>
        </p:nvSpPr>
        <p:spPr>
          <a:xfrm>
            <a:off x="5283453" y="1415430"/>
            <a:ext cx="2834003" cy="211421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497966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_Images and Conten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3" descr="D:\Fullppt\005-PNG이미지\모니터.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648247" y="1275606"/>
            <a:ext cx="2526010" cy="251861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 descr="D:\Fullppt\005-PNG이미지\모니터.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888607" y="1275606"/>
            <a:ext cx="2526010" cy="2518619"/>
          </a:xfrm>
          <a:prstGeom prst="rect">
            <a:avLst/>
          </a:prstGeom>
          <a:noFill/>
          <a:extLst>
            <a:ext uri="{909E8E84-426E-40DD-AFC4-6F175D3DCCD1}">
              <a14:hiddenFill xmlns:a14="http://schemas.microsoft.com/office/drawing/2010/main">
                <a:solidFill>
                  <a:srgbClr val="FFFFFF"/>
                </a:solidFill>
              </a14:hiddenFill>
            </a:ext>
          </a:extLst>
        </p:spPr>
      </p:pic>
      <p:sp>
        <p:nvSpPr>
          <p:cNvPr id="4" name="Picture Placeholder 2"/>
          <p:cNvSpPr>
            <a:spLocks noGrp="1"/>
          </p:cNvSpPr>
          <p:nvPr>
            <p:ph type="pic" idx="1" hasCustomPrompt="1"/>
          </p:nvPr>
        </p:nvSpPr>
        <p:spPr>
          <a:xfrm>
            <a:off x="1748616" y="1374406"/>
            <a:ext cx="2319328" cy="1584833"/>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5" name="Picture Placeholder 2"/>
          <p:cNvSpPr>
            <a:spLocks noGrp="1"/>
          </p:cNvSpPr>
          <p:nvPr>
            <p:ph type="pic" idx="12" hasCustomPrompt="1"/>
          </p:nvPr>
        </p:nvSpPr>
        <p:spPr>
          <a:xfrm>
            <a:off x="4986924" y="1374406"/>
            <a:ext cx="2319328" cy="1584833"/>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Text Placeholder 9"/>
          <p:cNvSpPr>
            <a:spLocks noGrp="1"/>
          </p:cNvSpPr>
          <p:nvPr>
            <p:ph type="body" sz="quarter" idx="10" hasCustomPrompt="1"/>
          </p:nvPr>
        </p:nvSpPr>
        <p:spPr>
          <a:xfrm>
            <a:off x="467544" y="195486"/>
            <a:ext cx="8424936"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7" name="Text Placeholder 9"/>
          <p:cNvSpPr>
            <a:spLocks noGrp="1"/>
          </p:cNvSpPr>
          <p:nvPr>
            <p:ph type="body" sz="quarter" idx="11" hasCustomPrompt="1"/>
          </p:nvPr>
        </p:nvSpPr>
        <p:spPr>
          <a:xfrm>
            <a:off x="467544" y="771550"/>
            <a:ext cx="8424936"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1163576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Images and Conten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2" descr="D:\Fullppt\PNG이미지\핸드폰2.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940152" y="1023301"/>
            <a:ext cx="3024336" cy="3662411"/>
          </a:xfrm>
          <a:prstGeom prst="rect">
            <a:avLst/>
          </a:prstGeom>
          <a:noFill/>
          <a:extLst>
            <a:ext uri="{909E8E84-426E-40DD-AFC4-6F175D3DCCD1}">
              <a14:hiddenFill xmlns:a14="http://schemas.microsoft.com/office/drawing/2010/main">
                <a:solidFill>
                  <a:srgbClr val="FFFFFF"/>
                </a:solidFill>
              </a14:hiddenFill>
            </a:ext>
          </a:extLst>
        </p:spPr>
      </p:pic>
      <p:sp>
        <p:nvSpPr>
          <p:cNvPr id="3" name="Picture Placeholder 2"/>
          <p:cNvSpPr>
            <a:spLocks noGrp="1"/>
          </p:cNvSpPr>
          <p:nvPr>
            <p:ph type="pic" idx="1" hasCustomPrompt="1"/>
          </p:nvPr>
        </p:nvSpPr>
        <p:spPr>
          <a:xfrm>
            <a:off x="6687664" y="1164297"/>
            <a:ext cx="1744194" cy="269424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4" name="Picture Placeholder 2"/>
          <p:cNvSpPr>
            <a:spLocks noGrp="1"/>
          </p:cNvSpPr>
          <p:nvPr>
            <p:ph type="pic" idx="12" hasCustomPrompt="1"/>
          </p:nvPr>
        </p:nvSpPr>
        <p:spPr>
          <a:xfrm>
            <a:off x="5196830" y="1426241"/>
            <a:ext cx="1744194" cy="269424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5" name="Text Placeholder 9"/>
          <p:cNvSpPr>
            <a:spLocks noGrp="1"/>
          </p:cNvSpPr>
          <p:nvPr>
            <p:ph type="body" sz="quarter" idx="10" hasCustomPrompt="1"/>
          </p:nvPr>
        </p:nvSpPr>
        <p:spPr>
          <a:xfrm>
            <a:off x="467544" y="195486"/>
            <a:ext cx="8424936"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6" name="Text Placeholder 9"/>
          <p:cNvSpPr>
            <a:spLocks noGrp="1"/>
          </p:cNvSpPr>
          <p:nvPr>
            <p:ph type="body" sz="quarter" idx="11" hasCustomPrompt="1"/>
          </p:nvPr>
        </p:nvSpPr>
        <p:spPr>
          <a:xfrm>
            <a:off x="467544" y="771550"/>
            <a:ext cx="8424936"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8922350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ICON SETS LAYOUT</a:t>
            </a:r>
          </a:p>
        </p:txBody>
      </p:sp>
      <p:grpSp>
        <p:nvGrpSpPr>
          <p:cNvPr id="5" name="Group 4"/>
          <p:cNvGrpSpPr/>
          <p:nvPr userDrawn="1"/>
        </p:nvGrpSpPr>
        <p:grpSpPr>
          <a:xfrm>
            <a:off x="354008" y="1131589"/>
            <a:ext cx="2849840" cy="3649171"/>
            <a:chOff x="354008" y="1131589"/>
            <a:chExt cx="2849840" cy="3649171"/>
          </a:xfrm>
        </p:grpSpPr>
        <p:sp>
          <p:nvSpPr>
            <p:cNvPr id="6" name="Rounded Rectangle 5"/>
            <p:cNvSpPr/>
            <p:nvPr/>
          </p:nvSpPr>
          <p:spPr>
            <a:xfrm>
              <a:off x="354008" y="1131589"/>
              <a:ext cx="2849840" cy="3649171"/>
            </a:xfrm>
            <a:prstGeom prst="roundRect">
              <a:avLst>
                <a:gd name="adj" fmla="val 3968"/>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Tree>
    <p:extLst>
      <p:ext uri="{BB962C8B-B14F-4D97-AF65-F5344CB8AC3E}">
        <p14:creationId xmlns:p14="http://schemas.microsoft.com/office/powerpoint/2010/main" val="7381822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3995936" y="2253238"/>
            <a:ext cx="5148064" cy="473576"/>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3995936" y="2726814"/>
            <a:ext cx="5148064"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grpSp>
        <p:nvGrpSpPr>
          <p:cNvPr id="8" name="Group 7"/>
          <p:cNvGrpSpPr/>
          <p:nvPr userDrawn="1"/>
        </p:nvGrpSpPr>
        <p:grpSpPr>
          <a:xfrm>
            <a:off x="941932" y="1244876"/>
            <a:ext cx="2693964" cy="2636602"/>
            <a:chOff x="1619672" y="548680"/>
            <a:chExt cx="5904656" cy="5778928"/>
          </a:xfrm>
        </p:grpSpPr>
        <p:sp>
          <p:nvSpPr>
            <p:cNvPr id="9" name="Oval 8"/>
            <p:cNvSpPr/>
            <p:nvPr userDrawn="1"/>
          </p:nvSpPr>
          <p:spPr>
            <a:xfrm>
              <a:off x="2411760" y="1268760"/>
              <a:ext cx="4320480" cy="4320480"/>
            </a:xfrm>
            <a:prstGeom prst="ellipse">
              <a:avLst/>
            </a:prstGeom>
            <a:noFill/>
            <a:ln w="1905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a:p>
          </p:txBody>
        </p:sp>
        <p:sp>
          <p:nvSpPr>
            <p:cNvPr id="12" name="Oval 11"/>
            <p:cNvSpPr/>
            <p:nvPr userDrawn="1"/>
          </p:nvSpPr>
          <p:spPr>
            <a:xfrm>
              <a:off x="2483768" y="1340768"/>
              <a:ext cx="4176464" cy="4176464"/>
            </a:xfrm>
            <a:prstGeom prst="ellipse">
              <a:avLst/>
            </a:prstGeom>
            <a:blipFill>
              <a:blip r:embed="rId3"/>
              <a:stretch>
                <a:fillRect/>
              </a:stretch>
            </a:blipFill>
            <a:ln w="1905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a:p>
          </p:txBody>
        </p:sp>
        <p:cxnSp>
          <p:nvCxnSpPr>
            <p:cNvPr id="13" name="Straight Connector 12"/>
            <p:cNvCxnSpPr/>
            <p:nvPr userDrawn="1"/>
          </p:nvCxnSpPr>
          <p:spPr>
            <a:xfrm>
              <a:off x="4572000" y="548680"/>
              <a:ext cx="0" cy="72008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4572000" y="5607528"/>
              <a:ext cx="0" cy="72008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6732240" y="3429000"/>
              <a:ext cx="792088" cy="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619672" y="3429000"/>
              <a:ext cx="792088" cy="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V="1">
              <a:off x="6156176" y="2378312"/>
              <a:ext cx="792088" cy="330608"/>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flipV="1">
              <a:off x="5431496" y="1124744"/>
              <a:ext cx="432048" cy="792088"/>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3094136" y="1131624"/>
              <a:ext cx="613768" cy="785208"/>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2195736" y="2090992"/>
              <a:ext cx="898400" cy="49224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flipV="1">
              <a:off x="3180984" y="4941168"/>
              <a:ext cx="526920" cy="576064"/>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userDrawn="1"/>
          </p:nvCxnSpPr>
          <p:spPr>
            <a:xfrm flipV="1">
              <a:off x="2456304" y="4329100"/>
              <a:ext cx="637832" cy="396044"/>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a:off x="5979584" y="4142812"/>
              <a:ext cx="968680" cy="510324"/>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5431496" y="4875464"/>
              <a:ext cx="490068" cy="732064"/>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382354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6683050"/>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555548"/>
      </p:ext>
    </p:extLst>
  </p:cSld>
  <p:clrMap bg1="lt1" tx1="dk1" bg2="lt2" tx2="dk2" accent1="accent1" accent2="accent2" accent3="accent3" accent4="accent4" accent5="accent5" accent6="accent6" hlink="hlink" folHlink="folHlink"/>
  <p:sldLayoutIdLst>
    <p:sldLayoutId id="2147483659" r:id="rId1"/>
    <p:sldLayoutId id="2147483652" r:id="rId2"/>
    <p:sldLayoutId id="2147483663" r:id="rId3"/>
    <p:sldLayoutId id="2147483660" r:id="rId4"/>
    <p:sldLayoutId id="2147483661" r:id="rId5"/>
    <p:sldLayoutId id="2147483662" r:id="rId6"/>
    <p:sldLayoutId id="2147483664" r:id="rId7"/>
    <p:sldLayoutId id="2147483655" r:id="rId8"/>
    <p:sldLayoutId id="2147483665" r:id="rId9"/>
    <p:sldLayoutId id="2147483666" r:id="rId10"/>
    <p:sldLayoutId id="2147483667" r:id="rId11"/>
    <p:sldLayoutId id="2147483668" r:id="rId12"/>
    <p:sldLayoutId id="2147483669" r:id="rId13"/>
    <p:sldLayoutId id="2147483673" r:id="rId14"/>
    <p:sldLayoutId id="2147483672" r:id="rId15"/>
    <p:sldLayoutId id="2147483671" r:id="rId16"/>
    <p:sldLayoutId id="2147483656" r:id="rId17"/>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4710703"/>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1090365" y="1491629"/>
            <a:ext cx="6963269" cy="1080121"/>
          </a:xfrm>
        </p:spPr>
        <p:txBody>
          <a:bodyPr/>
          <a:lstStyle/>
          <a:p>
            <a:pPr lvl="0"/>
            <a:r>
              <a:rPr lang="en-US" altLang="ko-KR" dirty="0">
                <a:ea typeface="맑은 고딕" pitchFamily="50" charset="-127"/>
              </a:rPr>
              <a:t>On the Gain of Joint Decoding</a:t>
            </a:r>
          </a:p>
          <a:p>
            <a:pPr lvl="0"/>
            <a:r>
              <a:rPr lang="en-US" altLang="ko-KR" dirty="0">
                <a:ea typeface="맑은 고딕" pitchFamily="50" charset="-127"/>
              </a:rPr>
              <a:t>for Multi-Connectivity</a:t>
            </a:r>
            <a:endParaRPr lang="en-US" altLang="ko-KR" dirty="0"/>
          </a:p>
        </p:txBody>
      </p:sp>
      <p:sp>
        <p:nvSpPr>
          <p:cNvPr id="4" name="Text Placeholder 3"/>
          <p:cNvSpPr>
            <a:spLocks noGrp="1"/>
          </p:cNvSpPr>
          <p:nvPr>
            <p:ph type="body" sz="quarter" idx="11"/>
          </p:nvPr>
        </p:nvSpPr>
        <p:spPr>
          <a:xfrm>
            <a:off x="2649291" y="2787774"/>
            <a:ext cx="3845416" cy="799934"/>
          </a:xfrm>
        </p:spPr>
        <p:txBody>
          <a:bodyPr/>
          <a:lstStyle/>
          <a:p>
            <a:pPr>
              <a:spcBef>
                <a:spcPts val="0"/>
              </a:spcBef>
              <a:defRPr/>
            </a:pPr>
            <a:r>
              <a:rPr lang="en-US" altLang="ko-KR" sz="1000" dirty="0"/>
              <a:t>Albrecht Wolf, Philipp Schulz, David O¨ </a:t>
            </a:r>
            <a:r>
              <a:rPr lang="en-US" altLang="ko-KR" sz="1000" dirty="0" err="1"/>
              <a:t>hmann</a:t>
            </a:r>
            <a:r>
              <a:rPr lang="en-US" altLang="ko-KR" sz="1000" dirty="0"/>
              <a:t>, </a:t>
            </a:r>
            <a:r>
              <a:rPr lang="en-US" altLang="ko-KR" sz="1000" dirty="0" err="1"/>
              <a:t>Meik</a:t>
            </a:r>
            <a:r>
              <a:rPr lang="en-US" altLang="ko-KR" sz="1000" dirty="0"/>
              <a:t> </a:t>
            </a:r>
            <a:r>
              <a:rPr lang="en-US" altLang="ko-KR" sz="1000" dirty="0" err="1"/>
              <a:t>Do¨rpinghaus</a:t>
            </a:r>
            <a:r>
              <a:rPr lang="en-US" altLang="ko-KR" sz="1000" dirty="0"/>
              <a:t>, and Gerhard </a:t>
            </a:r>
            <a:r>
              <a:rPr lang="en-US" altLang="ko-KR" sz="1000" dirty="0" err="1"/>
              <a:t>Fettweis</a:t>
            </a:r>
            <a:endParaRPr lang="en-US" altLang="ko-KR" sz="1000" dirty="0"/>
          </a:p>
          <a:p>
            <a:pPr>
              <a:spcBef>
                <a:spcPts val="0"/>
              </a:spcBef>
              <a:defRPr/>
            </a:pPr>
            <a:r>
              <a:rPr lang="en-US" altLang="ko-KR" sz="1000" dirty="0"/>
              <a:t>Vodafone Chair Mobile Communications Systems, </a:t>
            </a:r>
            <a:r>
              <a:rPr lang="en-US" altLang="ko-KR" sz="1000" dirty="0" err="1"/>
              <a:t>Technische</a:t>
            </a:r>
            <a:r>
              <a:rPr lang="en-US" altLang="ko-KR" sz="1000" dirty="0"/>
              <a:t> </a:t>
            </a:r>
            <a:r>
              <a:rPr lang="en-US" altLang="ko-KR" sz="1000" dirty="0" err="1"/>
              <a:t>Universit¨at</a:t>
            </a:r>
            <a:r>
              <a:rPr lang="en-US" altLang="ko-KR" sz="1000" dirty="0"/>
              <a:t> Dresden, Germany</a:t>
            </a:r>
          </a:p>
        </p:txBody>
      </p:sp>
      <p:sp>
        <p:nvSpPr>
          <p:cNvPr id="5" name="TextBox 4"/>
          <p:cNvSpPr txBox="1"/>
          <p:nvPr/>
        </p:nvSpPr>
        <p:spPr>
          <a:xfrm>
            <a:off x="2123727" y="3672927"/>
            <a:ext cx="4896544" cy="261610"/>
          </a:xfrm>
          <a:prstGeom prst="rect">
            <a:avLst/>
          </a:prstGeom>
          <a:noFill/>
        </p:spPr>
        <p:txBody>
          <a:bodyPr wrap="square" rtlCol="0">
            <a:spAutoFit/>
          </a:bodyPr>
          <a:lstStyle/>
          <a:p>
            <a:pPr algn="ctr"/>
            <a:r>
              <a:rPr lang="en-US" altLang="ko-KR" sz="1100" b="1" dirty="0">
                <a:solidFill>
                  <a:schemeClr val="tx1">
                    <a:lumMod val="75000"/>
                    <a:lumOff val="25000"/>
                  </a:schemeClr>
                </a:solidFill>
                <a:cs typeface="Arial" pitchFamily="34" charset="0"/>
              </a:rPr>
              <a:t>GLOBECOM 2017 - 2017 IEEE Global Communications Conference</a:t>
            </a:r>
            <a:endParaRPr lang="ko-KR" altLang="en-US" sz="1100" b="1" dirty="0">
              <a:solidFill>
                <a:schemeClr val="tx1">
                  <a:lumMod val="75000"/>
                  <a:lumOff val="25000"/>
                </a:schemeClr>
              </a:solidFill>
              <a:cs typeface="Arial" pitchFamily="34" charset="0"/>
            </a:endParaRPr>
          </a:p>
        </p:txBody>
      </p:sp>
    </p:spTree>
    <p:extLst>
      <p:ext uri="{BB962C8B-B14F-4D97-AF65-F5344CB8AC3E}">
        <p14:creationId xmlns:p14="http://schemas.microsoft.com/office/powerpoint/2010/main" val="2971841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a:off x="755576" y="339502"/>
            <a:ext cx="8388424" cy="576064"/>
          </a:xfrm>
          <a:prstGeom prst="rect">
            <a:avLst/>
          </a:prstGeom>
        </p:spPr>
        <p:txBody>
          <a:bodyPr anchor="ctr"/>
          <a:lstStyle>
            <a:lvl1pPr algn="ctr" defTabSz="914400" rtl="0" eaLnBrk="1" latinLnBrk="1" hangingPunct="1">
              <a:spcBef>
                <a:spcPct val="0"/>
              </a:spcBef>
              <a:buNone/>
              <a:defRPr sz="4400" kern="1200">
                <a:solidFill>
                  <a:schemeClr val="tx1"/>
                </a:solidFill>
                <a:latin typeface="+mj-lt"/>
                <a:ea typeface="+mj-ea"/>
                <a:cs typeface="+mj-cs"/>
              </a:defRPr>
            </a:lvl1pPr>
          </a:lstStyle>
          <a:p>
            <a:pPr algn="l"/>
            <a:r>
              <a:rPr lang="en-US" sz="3600" dirty="0">
                <a:solidFill>
                  <a:schemeClr val="tx1">
                    <a:lumMod val="75000"/>
                    <a:lumOff val="25000"/>
                  </a:schemeClr>
                </a:solidFill>
                <a:cs typeface="Arial" pitchFamily="34" charset="0"/>
              </a:rPr>
              <a:t>Agenda</a:t>
            </a:r>
          </a:p>
        </p:txBody>
      </p:sp>
      <p:sp>
        <p:nvSpPr>
          <p:cNvPr id="4" name="Rectangle 3"/>
          <p:cNvSpPr/>
          <p:nvPr/>
        </p:nvSpPr>
        <p:spPr>
          <a:xfrm>
            <a:off x="1457754" y="1426511"/>
            <a:ext cx="6570630" cy="615921"/>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cs typeface="Arial" pitchFamily="34" charset="0"/>
            </a:endParaRPr>
          </a:p>
        </p:txBody>
      </p:sp>
      <p:sp>
        <p:nvSpPr>
          <p:cNvPr id="7" name="TextBox 12"/>
          <p:cNvSpPr txBox="1"/>
          <p:nvPr/>
        </p:nvSpPr>
        <p:spPr bwMode="auto">
          <a:xfrm>
            <a:off x="2073782" y="1588202"/>
            <a:ext cx="5738578" cy="307777"/>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zh-TW" sz="1400" dirty="0"/>
              <a:t>MULTI</a:t>
            </a:r>
            <a:r>
              <a:rPr lang="zh-TW" altLang="en-US" sz="1400" dirty="0"/>
              <a:t> </a:t>
            </a:r>
            <a:r>
              <a:rPr lang="en-US" altLang="zh-TW" sz="1400" dirty="0"/>
              <a:t>–</a:t>
            </a:r>
            <a:r>
              <a:rPr lang="zh-TW" altLang="en-US" sz="1400" dirty="0"/>
              <a:t> </a:t>
            </a:r>
            <a:r>
              <a:rPr lang="en-US" altLang="zh-TW" sz="1400" dirty="0"/>
              <a:t>CONNECTIVITY</a:t>
            </a:r>
            <a:endParaRPr lang="ko-KR" altLang="en-US" sz="1400" dirty="0">
              <a:solidFill>
                <a:schemeClr val="tx1">
                  <a:lumMod val="75000"/>
                  <a:lumOff val="25000"/>
                </a:schemeClr>
              </a:solidFill>
              <a:cs typeface="Arial" pitchFamily="34" charset="0"/>
            </a:endParaRPr>
          </a:p>
        </p:txBody>
      </p:sp>
      <p:sp>
        <p:nvSpPr>
          <p:cNvPr id="5" name="Oval 4"/>
          <p:cNvSpPr/>
          <p:nvPr/>
        </p:nvSpPr>
        <p:spPr>
          <a:xfrm>
            <a:off x="1115576" y="1392293"/>
            <a:ext cx="684357" cy="684357"/>
          </a:xfrm>
          <a:prstGeom prst="ellipse">
            <a:avLst/>
          </a:prstGeom>
          <a:solidFill>
            <a:schemeClr val="bg1"/>
          </a:solidFill>
          <a:ln w="12700">
            <a:solidFill>
              <a:schemeClr val="accent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p:cNvSpPr txBox="1"/>
          <p:nvPr/>
        </p:nvSpPr>
        <p:spPr>
          <a:xfrm>
            <a:off x="1243454" y="1482387"/>
            <a:ext cx="428602" cy="523220"/>
          </a:xfrm>
          <a:prstGeom prst="rect">
            <a:avLst/>
          </a:prstGeom>
          <a:noFill/>
        </p:spPr>
        <p:txBody>
          <a:bodyPr wrap="square" rtlCol="0" anchor="ctr">
            <a:spAutoFit/>
          </a:bodyPr>
          <a:lstStyle/>
          <a:p>
            <a:pPr algn="ctr"/>
            <a:r>
              <a:rPr lang="en-US" altLang="ko-KR" sz="2800" b="1" dirty="0">
                <a:solidFill>
                  <a:schemeClr val="accent1"/>
                </a:solidFill>
                <a:cs typeface="Arial" pitchFamily="34" charset="0"/>
              </a:rPr>
              <a:t>1</a:t>
            </a:r>
            <a:endParaRPr lang="ko-KR" altLang="en-US" sz="2800" b="1" dirty="0">
              <a:solidFill>
                <a:schemeClr val="accent1"/>
              </a:solidFill>
              <a:cs typeface="Arial" pitchFamily="34" charset="0"/>
            </a:endParaRPr>
          </a:p>
        </p:txBody>
      </p:sp>
      <p:sp>
        <p:nvSpPr>
          <p:cNvPr id="32" name="Rectangle 31"/>
          <p:cNvSpPr/>
          <p:nvPr/>
        </p:nvSpPr>
        <p:spPr>
          <a:xfrm>
            <a:off x="1457754" y="2263268"/>
            <a:ext cx="6570630" cy="615921"/>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cs typeface="Arial" pitchFamily="34" charset="0"/>
            </a:endParaRPr>
          </a:p>
        </p:txBody>
      </p:sp>
      <p:sp>
        <p:nvSpPr>
          <p:cNvPr id="33" name="TextBox 12"/>
          <p:cNvSpPr txBox="1"/>
          <p:nvPr/>
        </p:nvSpPr>
        <p:spPr bwMode="auto">
          <a:xfrm>
            <a:off x="2073782" y="2424959"/>
            <a:ext cx="5738578" cy="307777"/>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zh-TW" sz="1400" dirty="0"/>
              <a:t>SYSTEM MODEL</a:t>
            </a:r>
            <a:endParaRPr lang="ko-KR" altLang="en-US" sz="1400" dirty="0"/>
          </a:p>
        </p:txBody>
      </p:sp>
      <p:sp>
        <p:nvSpPr>
          <p:cNvPr id="34" name="Oval 33"/>
          <p:cNvSpPr/>
          <p:nvPr/>
        </p:nvSpPr>
        <p:spPr>
          <a:xfrm>
            <a:off x="1115576" y="2229050"/>
            <a:ext cx="684357" cy="684357"/>
          </a:xfrm>
          <a:prstGeom prst="ellipse">
            <a:avLst/>
          </a:prstGeom>
          <a:solidFill>
            <a:schemeClr val="bg1"/>
          </a:solidFill>
          <a:ln w="12700">
            <a:solidFill>
              <a:schemeClr val="accent2"/>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TextBox 34"/>
          <p:cNvSpPr txBox="1"/>
          <p:nvPr/>
        </p:nvSpPr>
        <p:spPr>
          <a:xfrm>
            <a:off x="1243454" y="2319144"/>
            <a:ext cx="428602" cy="523220"/>
          </a:xfrm>
          <a:prstGeom prst="rect">
            <a:avLst/>
          </a:prstGeom>
          <a:noFill/>
        </p:spPr>
        <p:txBody>
          <a:bodyPr wrap="square" rtlCol="0" anchor="ctr">
            <a:spAutoFit/>
          </a:bodyPr>
          <a:lstStyle/>
          <a:p>
            <a:pPr algn="ctr"/>
            <a:r>
              <a:rPr lang="en-US" altLang="ko-KR" sz="2800" b="1" dirty="0">
                <a:solidFill>
                  <a:schemeClr val="accent2"/>
                </a:solidFill>
                <a:cs typeface="Arial" pitchFamily="34" charset="0"/>
              </a:rPr>
              <a:t>2</a:t>
            </a:r>
            <a:endParaRPr lang="ko-KR" altLang="en-US" sz="2800" b="1" dirty="0">
              <a:solidFill>
                <a:schemeClr val="accent2"/>
              </a:solidFill>
              <a:cs typeface="Arial" pitchFamily="34" charset="0"/>
            </a:endParaRPr>
          </a:p>
        </p:txBody>
      </p:sp>
      <p:sp>
        <p:nvSpPr>
          <p:cNvPr id="37" name="Rectangle 36"/>
          <p:cNvSpPr/>
          <p:nvPr/>
        </p:nvSpPr>
        <p:spPr>
          <a:xfrm>
            <a:off x="1457754" y="3100025"/>
            <a:ext cx="6570630" cy="615921"/>
          </a:xfrm>
          <a:prstGeom prst="rect">
            <a:avLst/>
          </a:prstGeom>
          <a:no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cs typeface="Arial" pitchFamily="34" charset="0"/>
            </a:endParaRPr>
          </a:p>
        </p:txBody>
      </p:sp>
      <p:sp>
        <p:nvSpPr>
          <p:cNvPr id="38" name="TextBox 12"/>
          <p:cNvSpPr txBox="1"/>
          <p:nvPr/>
        </p:nvSpPr>
        <p:spPr bwMode="auto">
          <a:xfrm>
            <a:off x="2073782" y="3261715"/>
            <a:ext cx="5738578" cy="307777"/>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400" dirty="0">
                <a:solidFill>
                  <a:schemeClr val="tx1">
                    <a:lumMod val="75000"/>
                    <a:lumOff val="25000"/>
                  </a:schemeClr>
                </a:solidFill>
                <a:cs typeface="Arial" pitchFamily="34" charset="0"/>
              </a:rPr>
              <a:t>PRELIMINARIES &amp; </a:t>
            </a:r>
            <a:r>
              <a:rPr lang="en-US" altLang="zh-TW" sz="1400" dirty="0"/>
              <a:t>OUTAGE PROBABILITY</a:t>
            </a:r>
            <a:endParaRPr lang="zh-TW" altLang="en-US" sz="1400" dirty="0"/>
          </a:p>
        </p:txBody>
      </p:sp>
      <p:sp>
        <p:nvSpPr>
          <p:cNvPr id="39" name="Oval 38"/>
          <p:cNvSpPr/>
          <p:nvPr/>
        </p:nvSpPr>
        <p:spPr>
          <a:xfrm>
            <a:off x="1115576" y="3065807"/>
            <a:ext cx="684357" cy="684357"/>
          </a:xfrm>
          <a:prstGeom prst="ellipse">
            <a:avLst/>
          </a:prstGeom>
          <a:solidFill>
            <a:schemeClr val="bg1"/>
          </a:solidFill>
          <a:ln w="12700">
            <a:solidFill>
              <a:schemeClr val="accent3"/>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TextBox 39"/>
          <p:cNvSpPr txBox="1"/>
          <p:nvPr/>
        </p:nvSpPr>
        <p:spPr>
          <a:xfrm>
            <a:off x="1243454" y="3155901"/>
            <a:ext cx="428602" cy="523220"/>
          </a:xfrm>
          <a:prstGeom prst="rect">
            <a:avLst/>
          </a:prstGeom>
          <a:noFill/>
        </p:spPr>
        <p:txBody>
          <a:bodyPr wrap="square" rtlCol="0" anchor="ctr">
            <a:spAutoFit/>
          </a:bodyPr>
          <a:lstStyle/>
          <a:p>
            <a:pPr algn="ctr"/>
            <a:r>
              <a:rPr lang="en-US" altLang="ko-KR" sz="2800" b="1" dirty="0">
                <a:solidFill>
                  <a:schemeClr val="accent3"/>
                </a:solidFill>
                <a:cs typeface="Arial" pitchFamily="34" charset="0"/>
              </a:rPr>
              <a:t>3</a:t>
            </a:r>
            <a:endParaRPr lang="ko-KR" altLang="en-US" sz="2800" b="1" dirty="0">
              <a:solidFill>
                <a:schemeClr val="accent3"/>
              </a:solidFill>
              <a:cs typeface="Arial" pitchFamily="34" charset="0"/>
            </a:endParaRPr>
          </a:p>
        </p:txBody>
      </p:sp>
      <p:sp>
        <p:nvSpPr>
          <p:cNvPr id="42" name="Rectangle 41"/>
          <p:cNvSpPr/>
          <p:nvPr/>
        </p:nvSpPr>
        <p:spPr>
          <a:xfrm>
            <a:off x="1457754" y="3936782"/>
            <a:ext cx="6570630" cy="615921"/>
          </a:xfrm>
          <a:prstGeom prst="rect">
            <a:avLst/>
          </a:prstGeom>
          <a:no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cs typeface="Arial" pitchFamily="34" charset="0"/>
            </a:endParaRPr>
          </a:p>
        </p:txBody>
      </p:sp>
      <p:sp>
        <p:nvSpPr>
          <p:cNvPr id="43" name="TextBox 12"/>
          <p:cNvSpPr txBox="1"/>
          <p:nvPr/>
        </p:nvSpPr>
        <p:spPr bwMode="auto">
          <a:xfrm>
            <a:off x="2073782" y="4098473"/>
            <a:ext cx="5738578" cy="307777"/>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400" dirty="0">
                <a:solidFill>
                  <a:schemeClr val="tx1">
                    <a:lumMod val="75000"/>
                    <a:lumOff val="25000"/>
                  </a:schemeClr>
                </a:solidFill>
                <a:cs typeface="Arial" pitchFamily="34" charset="0"/>
              </a:rPr>
              <a:t>NUMERICAL RESULTS</a:t>
            </a:r>
            <a:endParaRPr lang="ko-KR" altLang="en-US" sz="1400" dirty="0">
              <a:solidFill>
                <a:schemeClr val="tx1">
                  <a:lumMod val="75000"/>
                  <a:lumOff val="25000"/>
                </a:schemeClr>
              </a:solidFill>
              <a:cs typeface="Arial" pitchFamily="34" charset="0"/>
            </a:endParaRPr>
          </a:p>
        </p:txBody>
      </p:sp>
      <p:sp>
        <p:nvSpPr>
          <p:cNvPr id="44" name="Oval 43"/>
          <p:cNvSpPr/>
          <p:nvPr/>
        </p:nvSpPr>
        <p:spPr>
          <a:xfrm>
            <a:off x="1115576" y="3902564"/>
            <a:ext cx="684357" cy="684357"/>
          </a:xfrm>
          <a:prstGeom prst="ellipse">
            <a:avLst/>
          </a:prstGeom>
          <a:solidFill>
            <a:schemeClr val="bg1"/>
          </a:solidFill>
          <a:ln w="12700">
            <a:solidFill>
              <a:schemeClr val="accent4"/>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TextBox 44"/>
          <p:cNvSpPr txBox="1"/>
          <p:nvPr/>
        </p:nvSpPr>
        <p:spPr>
          <a:xfrm>
            <a:off x="1243454" y="3992658"/>
            <a:ext cx="428602" cy="523220"/>
          </a:xfrm>
          <a:prstGeom prst="rect">
            <a:avLst/>
          </a:prstGeom>
          <a:noFill/>
        </p:spPr>
        <p:txBody>
          <a:bodyPr wrap="square" rtlCol="0" anchor="ctr">
            <a:spAutoFit/>
          </a:bodyPr>
          <a:lstStyle/>
          <a:p>
            <a:pPr algn="ctr"/>
            <a:r>
              <a:rPr lang="en-US" altLang="ko-KR" sz="2800" b="1" dirty="0">
                <a:solidFill>
                  <a:schemeClr val="accent4"/>
                </a:solidFill>
                <a:cs typeface="Arial" pitchFamily="34" charset="0"/>
              </a:rPr>
              <a:t>4</a:t>
            </a:r>
            <a:endParaRPr lang="ko-KR" altLang="en-US" sz="2800" b="1" dirty="0">
              <a:solidFill>
                <a:schemeClr val="accent4"/>
              </a:solidFill>
              <a:cs typeface="Arial" pitchFamily="34" charset="0"/>
            </a:endParaRPr>
          </a:p>
        </p:txBody>
      </p:sp>
    </p:spTree>
    <p:extLst>
      <p:ext uri="{BB962C8B-B14F-4D97-AF65-F5344CB8AC3E}">
        <p14:creationId xmlns:p14="http://schemas.microsoft.com/office/powerpoint/2010/main" val="1095055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4B66F60C-6C8C-46BA-BCE8-2D13C203914D}"/>
              </a:ext>
            </a:extLst>
          </p:cNvPr>
          <p:cNvSpPr>
            <a:spLocks noGrp="1"/>
          </p:cNvSpPr>
          <p:nvPr>
            <p:ph type="body" sz="quarter" idx="10"/>
          </p:nvPr>
        </p:nvSpPr>
        <p:spPr/>
        <p:txBody>
          <a:bodyPr/>
          <a:lstStyle/>
          <a:p>
            <a:r>
              <a:rPr lang="en-US" altLang="zh-TW" dirty="0"/>
              <a:t>Multi</a:t>
            </a:r>
            <a:r>
              <a:rPr lang="zh-TW" altLang="en-US" dirty="0"/>
              <a:t> </a:t>
            </a:r>
            <a:r>
              <a:rPr lang="en-US" altLang="zh-TW" dirty="0"/>
              <a:t>–</a:t>
            </a:r>
            <a:r>
              <a:rPr lang="zh-TW" altLang="en-US" dirty="0"/>
              <a:t> </a:t>
            </a:r>
            <a:r>
              <a:rPr lang="en-US" altLang="zh-TW" dirty="0"/>
              <a:t>connectivity (MC)</a:t>
            </a:r>
            <a:endParaRPr lang="zh-TW" altLang="en-US" dirty="0"/>
          </a:p>
        </p:txBody>
      </p:sp>
      <p:sp>
        <p:nvSpPr>
          <p:cNvPr id="4" name="文字版面配置區 3">
            <a:extLst>
              <a:ext uri="{FF2B5EF4-FFF2-40B4-BE49-F238E27FC236}">
                <a16:creationId xmlns:a16="http://schemas.microsoft.com/office/drawing/2014/main" id="{7CF30656-DA25-4A89-B782-87C3E5C26E39}"/>
              </a:ext>
            </a:extLst>
          </p:cNvPr>
          <p:cNvSpPr>
            <a:spLocks noGrp="1"/>
          </p:cNvSpPr>
          <p:nvPr>
            <p:ph type="body" sz="quarter" idx="11"/>
          </p:nvPr>
        </p:nvSpPr>
        <p:spPr/>
        <p:txBody>
          <a:bodyPr/>
          <a:lstStyle/>
          <a:p>
            <a:endParaRPr lang="zh-TW" altLang="en-US"/>
          </a:p>
        </p:txBody>
      </p:sp>
      <p:sp>
        <p:nvSpPr>
          <p:cNvPr id="3" name="文字方塊 2">
            <a:extLst>
              <a:ext uri="{FF2B5EF4-FFF2-40B4-BE49-F238E27FC236}">
                <a16:creationId xmlns:a16="http://schemas.microsoft.com/office/drawing/2014/main" id="{EBEE54B7-BE4A-4452-973C-438FBDEB9AAD}"/>
              </a:ext>
            </a:extLst>
          </p:cNvPr>
          <p:cNvSpPr txBox="1"/>
          <p:nvPr/>
        </p:nvSpPr>
        <p:spPr>
          <a:xfrm>
            <a:off x="1151620" y="1144825"/>
            <a:ext cx="6840760" cy="2308324"/>
          </a:xfrm>
          <a:prstGeom prst="rect">
            <a:avLst/>
          </a:prstGeom>
          <a:noFill/>
        </p:spPr>
        <p:txBody>
          <a:bodyPr wrap="square" rtlCol="0">
            <a:spAutoFit/>
          </a:bodyPr>
          <a:lstStyle/>
          <a:p>
            <a:r>
              <a:rPr lang="en-US" altLang="zh-TW" dirty="0"/>
              <a:t>Multi-Connectivity: </a:t>
            </a:r>
          </a:p>
          <a:p>
            <a:r>
              <a:rPr lang="en-US" altLang="zh-TW" dirty="0"/>
              <a:t>	In wireless communications, MC concepts have been mainly developed and applied for increasing data rates and capacity. Various ways exist to realize MC and we distinguish between two types, namely, intra- and inter-frequency MC.</a:t>
            </a:r>
          </a:p>
          <a:p>
            <a:endParaRPr lang="en-US" altLang="zh-TW" dirty="0"/>
          </a:p>
          <a:p>
            <a:r>
              <a:rPr lang="en-US" altLang="zh-TW" dirty="0"/>
              <a:t>	Established principles realizing intra-frequency MC are single frequency networks and coordinated multi-point.</a:t>
            </a:r>
            <a:endParaRPr lang="zh-TW" altLang="en-US" dirty="0"/>
          </a:p>
        </p:txBody>
      </p:sp>
      <p:pic>
        <p:nvPicPr>
          <p:cNvPr id="1028" name="Picture 4" descr="Multi-connectivity example B. Connection and Traffic model ...">
            <a:extLst>
              <a:ext uri="{FF2B5EF4-FFF2-40B4-BE49-F238E27FC236}">
                <a16:creationId xmlns:a16="http://schemas.microsoft.com/office/drawing/2014/main" id="{1CAB554C-A8E5-417B-9878-1A44AA93A7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3459303"/>
            <a:ext cx="3240360" cy="1566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1671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685FC0F5-F082-4410-9414-DF61E25FD83D}"/>
              </a:ext>
            </a:extLst>
          </p:cNvPr>
          <p:cNvSpPr>
            <a:spLocks noGrp="1"/>
          </p:cNvSpPr>
          <p:nvPr>
            <p:ph type="body" sz="quarter" idx="10"/>
          </p:nvPr>
        </p:nvSpPr>
        <p:spPr/>
        <p:txBody>
          <a:bodyPr/>
          <a:lstStyle/>
          <a:p>
            <a:r>
              <a:rPr lang="en-US" altLang="zh-TW" dirty="0"/>
              <a:t>Distributed Source Coding</a:t>
            </a:r>
            <a:endParaRPr lang="zh-TW" altLang="en-US" dirty="0"/>
          </a:p>
        </p:txBody>
      </p:sp>
      <p:sp>
        <p:nvSpPr>
          <p:cNvPr id="3" name="文字版面配置區 2">
            <a:extLst>
              <a:ext uri="{FF2B5EF4-FFF2-40B4-BE49-F238E27FC236}">
                <a16:creationId xmlns:a16="http://schemas.microsoft.com/office/drawing/2014/main" id="{0AE4137A-C993-4A72-AE49-A9FD98D4FF97}"/>
              </a:ext>
            </a:extLst>
          </p:cNvPr>
          <p:cNvSpPr>
            <a:spLocks noGrp="1"/>
          </p:cNvSpPr>
          <p:nvPr>
            <p:ph type="body" sz="quarter" idx="11"/>
          </p:nvPr>
        </p:nvSpPr>
        <p:spPr/>
        <p:txBody>
          <a:bodyPr/>
          <a:lstStyle/>
          <a:p>
            <a:endParaRPr lang="zh-TW" altLang="en-US"/>
          </a:p>
        </p:txBody>
      </p:sp>
      <p:pic>
        <p:nvPicPr>
          <p:cNvPr id="4" name="圖片 3">
            <a:extLst>
              <a:ext uri="{FF2B5EF4-FFF2-40B4-BE49-F238E27FC236}">
                <a16:creationId xmlns:a16="http://schemas.microsoft.com/office/drawing/2014/main" id="{B80DDDCB-B1D8-4ABD-8E45-534FE4F4FB32}"/>
              </a:ext>
            </a:extLst>
          </p:cNvPr>
          <p:cNvPicPr>
            <a:picLocks noChangeAspect="1"/>
          </p:cNvPicPr>
          <p:nvPr/>
        </p:nvPicPr>
        <p:blipFill>
          <a:blip r:embed="rId3"/>
          <a:stretch>
            <a:fillRect/>
          </a:stretch>
        </p:blipFill>
        <p:spPr>
          <a:xfrm>
            <a:off x="2123728" y="3174201"/>
            <a:ext cx="5040560" cy="1816418"/>
          </a:xfrm>
          <a:prstGeom prst="rect">
            <a:avLst/>
          </a:prstGeom>
        </p:spPr>
      </p:pic>
      <p:sp>
        <p:nvSpPr>
          <p:cNvPr id="7" name="矩形 6">
            <a:extLst>
              <a:ext uri="{FF2B5EF4-FFF2-40B4-BE49-F238E27FC236}">
                <a16:creationId xmlns:a16="http://schemas.microsoft.com/office/drawing/2014/main" id="{2E438512-09E0-43F8-84E4-48D4877D0968}"/>
              </a:ext>
            </a:extLst>
          </p:cNvPr>
          <p:cNvSpPr/>
          <p:nvPr/>
        </p:nvSpPr>
        <p:spPr>
          <a:xfrm>
            <a:off x="170892" y="1172946"/>
            <a:ext cx="8802216" cy="1815882"/>
          </a:xfrm>
          <a:prstGeom prst="rect">
            <a:avLst/>
          </a:prstGeom>
        </p:spPr>
        <p:txBody>
          <a:bodyPr wrap="square">
            <a:spAutoFit/>
          </a:bodyPr>
          <a:lstStyle/>
          <a:p>
            <a:r>
              <a:rPr lang="en-US" altLang="zh-TW" sz="1600" dirty="0"/>
              <a:t>	Distributed source coding (DSC) is an important problem in information theory and communication. DSC problems regard the compression of multiple correlated information sources that do not communicate with each other.</a:t>
            </a:r>
            <a:r>
              <a:rPr lang="zh-TW" altLang="en-US" sz="1600" dirty="0"/>
              <a:t> </a:t>
            </a:r>
            <a:r>
              <a:rPr lang="en-US" altLang="zh-TW" sz="1600" dirty="0"/>
              <a:t>By modeling the correlation between multiple sources at the decoder side together with channel codes, DSC is able to shift the computational complexity from encoder side to decoder side, therefore provide appropriate frameworks for applications with complexity-constrained sender. One of the main properties of distributed source coding is that the computational burden in encoders is shifted to the joint decoder.</a:t>
            </a:r>
            <a:endParaRPr lang="zh-TW" altLang="en-US" sz="1600" dirty="0"/>
          </a:p>
        </p:txBody>
      </p:sp>
    </p:spTree>
    <p:extLst>
      <p:ext uri="{BB962C8B-B14F-4D97-AF65-F5344CB8AC3E}">
        <p14:creationId xmlns:p14="http://schemas.microsoft.com/office/powerpoint/2010/main" val="408926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altLang="zh-TW" dirty="0"/>
              <a:t>System Model</a:t>
            </a:r>
            <a:endParaRPr lang="ko-KR" altLang="en-US" dirty="0"/>
          </a:p>
        </p:txBody>
      </p:sp>
      <p:sp>
        <p:nvSpPr>
          <p:cNvPr id="3" name="Text Placeholder 2"/>
          <p:cNvSpPr>
            <a:spLocks noGrp="1"/>
          </p:cNvSpPr>
          <p:nvPr>
            <p:ph type="body" sz="quarter" idx="11"/>
          </p:nvPr>
        </p:nvSpPr>
        <p:spPr/>
        <p:txBody>
          <a:bodyPr/>
          <a:lstStyle/>
          <a:p>
            <a:pPr lvl="0"/>
            <a:r>
              <a:rPr lang="en-US" altLang="ko-KR" dirty="0"/>
              <a:t>Insert the title of your subtitle Here</a:t>
            </a:r>
          </a:p>
        </p:txBody>
      </p:sp>
      <p:pic>
        <p:nvPicPr>
          <p:cNvPr id="37" name="圖片 36">
            <a:extLst>
              <a:ext uri="{FF2B5EF4-FFF2-40B4-BE49-F238E27FC236}">
                <a16:creationId xmlns:a16="http://schemas.microsoft.com/office/drawing/2014/main" id="{022D87C8-6599-4107-9EA1-B5536458544A}"/>
              </a:ext>
            </a:extLst>
          </p:cNvPr>
          <p:cNvPicPr>
            <a:picLocks noChangeAspect="1"/>
          </p:cNvPicPr>
          <p:nvPr/>
        </p:nvPicPr>
        <p:blipFill>
          <a:blip r:embed="rId3"/>
          <a:stretch>
            <a:fillRect/>
          </a:stretch>
        </p:blipFill>
        <p:spPr>
          <a:xfrm>
            <a:off x="1115616" y="1059582"/>
            <a:ext cx="6590848" cy="3788617"/>
          </a:xfrm>
          <a:prstGeom prst="rect">
            <a:avLst/>
          </a:prstGeom>
        </p:spPr>
      </p:pic>
    </p:spTree>
    <p:extLst>
      <p:ext uri="{BB962C8B-B14F-4D97-AF65-F5344CB8AC3E}">
        <p14:creationId xmlns:p14="http://schemas.microsoft.com/office/powerpoint/2010/main" val="2547238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EFE2D08B-094A-404B-8A2F-07BF9A5CE0CB}"/>
              </a:ext>
            </a:extLst>
          </p:cNvPr>
          <p:cNvSpPr>
            <a:spLocks noGrp="1"/>
          </p:cNvSpPr>
          <p:nvPr>
            <p:ph type="body" sz="quarter" idx="10"/>
          </p:nvPr>
        </p:nvSpPr>
        <p:spPr/>
        <p:txBody>
          <a:bodyPr/>
          <a:lstStyle/>
          <a:p>
            <a:r>
              <a:rPr lang="en-US" altLang="zh-TW" dirty="0"/>
              <a:t>Multi-Connectivity System Model</a:t>
            </a:r>
            <a:endParaRPr lang="zh-TW" altLang="en-US" dirty="0"/>
          </a:p>
        </p:txBody>
      </p:sp>
      <p:sp>
        <p:nvSpPr>
          <p:cNvPr id="3" name="文字版面配置區 2">
            <a:extLst>
              <a:ext uri="{FF2B5EF4-FFF2-40B4-BE49-F238E27FC236}">
                <a16:creationId xmlns:a16="http://schemas.microsoft.com/office/drawing/2014/main" id="{B71038C5-F982-4164-B507-7FA408BE66BA}"/>
              </a:ext>
            </a:extLst>
          </p:cNvPr>
          <p:cNvSpPr>
            <a:spLocks noGrp="1"/>
          </p:cNvSpPr>
          <p:nvPr>
            <p:ph type="body" sz="quarter" idx="11"/>
          </p:nvPr>
        </p:nvSpPr>
        <p:spPr/>
        <p:txBody>
          <a:bodyPr/>
          <a:lstStyle/>
          <a:p>
            <a:endParaRPr lang="zh-TW" altLang="en-US" dirty="0"/>
          </a:p>
        </p:txBody>
      </p:sp>
      <mc:AlternateContent xmlns:mc="http://schemas.openxmlformats.org/markup-compatibility/2006">
        <mc:Choice xmlns:a14="http://schemas.microsoft.com/office/drawing/2010/main" Requires="a14">
          <p:sp>
            <p:nvSpPr>
              <p:cNvPr id="6" name="矩形 5">
                <a:extLst>
                  <a:ext uri="{FF2B5EF4-FFF2-40B4-BE49-F238E27FC236}">
                    <a16:creationId xmlns:a16="http://schemas.microsoft.com/office/drawing/2014/main" id="{35DC6BE1-0288-42B7-830A-0E7714EF1713}"/>
                  </a:ext>
                </a:extLst>
              </p:cNvPr>
              <p:cNvSpPr/>
              <p:nvPr/>
            </p:nvSpPr>
            <p:spPr>
              <a:xfrm>
                <a:off x="345218" y="787939"/>
                <a:ext cx="8712968" cy="2375137"/>
              </a:xfrm>
              <a:prstGeom prst="rect">
                <a:avLst/>
              </a:prstGeom>
            </p:spPr>
            <p:txBody>
              <a:bodyPr wrap="square">
                <a:spAutoFit/>
              </a:bodyPr>
              <a:lstStyle/>
              <a:p>
                <a:pPr marL="342900" indent="-342900">
                  <a:buAutoNum type="alphaLcParenR"/>
                </a:pPr>
                <a:r>
                  <a:rPr lang="en-US" altLang="zh-TW" dirty="0"/>
                  <a:t>Downlink: </a:t>
                </a:r>
              </a:p>
              <a:p>
                <a:r>
                  <a:rPr lang="en-US" altLang="zh-TW" dirty="0"/>
                  <a:t>	The downlink system model, as illustrated</a:t>
                </a:r>
                <a:r>
                  <a:rPr lang="zh-TW" altLang="en-US" dirty="0"/>
                  <a:t> </a:t>
                </a:r>
                <a:r>
                  <a:rPr lang="en-US" altLang="zh-TW" dirty="0"/>
                  <a:t>in Fig. 1, has one binary memoryless source, denoted as</a:t>
                </a:r>
                <a:r>
                  <a:rPr lang="zh-TW" altLang="en-US" dirty="0"/>
                  <a:t> </a:t>
                </a:r>
                <a14:m>
                  <m:oMath xmlns:m="http://schemas.openxmlformats.org/officeDocument/2006/math">
                    <m:sSubSup>
                      <m:sSubSupPr>
                        <m:ctrlPr>
                          <a:rPr lang="en-US" altLang="zh-TW" i="1" dirty="0" smtClean="0">
                            <a:latin typeface="Cambria Math" panose="02040503050406030204" pitchFamily="18" charset="0"/>
                          </a:rPr>
                        </m:ctrlPr>
                      </m:sSubSupPr>
                      <m:e>
                        <m:r>
                          <m:rPr>
                            <m:nor/>
                          </m:rPr>
                          <a:rPr lang="en-US" altLang="zh-TW" dirty="0"/>
                          <m:t>[</m:t>
                        </m:r>
                        <m:r>
                          <m:rPr>
                            <m:nor/>
                          </m:rPr>
                          <a:rPr lang="zh-TW" altLang="en-US" dirty="0"/>
                          <m:t>𝑆</m:t>
                        </m:r>
                        <m:r>
                          <m:rPr>
                            <m:nor/>
                          </m:rPr>
                          <a:rPr lang="en-US" altLang="zh-TW" dirty="0"/>
                          <m:t>(</m:t>
                        </m:r>
                        <m:r>
                          <m:rPr>
                            <m:nor/>
                          </m:rPr>
                          <a:rPr lang="zh-TW" altLang="en-US" dirty="0"/>
                          <m:t>𝑘</m:t>
                        </m:r>
                        <m:r>
                          <m:rPr>
                            <m:nor/>
                          </m:rPr>
                          <a:rPr lang="en-US" altLang="zh-TW" dirty="0"/>
                          <m:t>)]</m:t>
                        </m:r>
                      </m:e>
                      <m:sub>
                        <m:r>
                          <a:rPr lang="en-US" altLang="zh-TW" b="0" i="1" dirty="0" smtClean="0">
                            <a:latin typeface="Cambria Math" panose="02040503050406030204" pitchFamily="18" charset="0"/>
                          </a:rPr>
                          <m:t>𝑡</m:t>
                        </m:r>
                        <m:r>
                          <a:rPr lang="en-US" altLang="zh-TW" b="0" i="1" dirty="0" smtClean="0">
                            <a:latin typeface="Cambria Math" panose="02040503050406030204" pitchFamily="18" charset="0"/>
                          </a:rPr>
                          <m:t>=1</m:t>
                        </m:r>
                      </m:sub>
                      <m:sup>
                        <m:r>
                          <m:rPr>
                            <m:nor/>
                          </m:rPr>
                          <a:rPr lang="zh-TW" altLang="en-US" i="1"/>
                          <m:t>∞</m:t>
                        </m:r>
                      </m:sup>
                    </m:sSubSup>
                  </m:oMath>
                </a14:m>
                <a:r>
                  <a:rPr lang="en-US" altLang="zh-TW" dirty="0"/>
                  <a:t>, with the </a:t>
                </a:r>
                <a:r>
                  <a:rPr lang="zh-TW" altLang="en-US" dirty="0"/>
                  <a:t>𝑘</a:t>
                </a:r>
                <a:r>
                  <a:rPr lang="en-US" altLang="zh-TW" dirty="0"/>
                  <a:t>-sample sequence being represented in</a:t>
                </a:r>
                <a:r>
                  <a:rPr lang="zh-TW" altLang="en-US" dirty="0"/>
                  <a:t> </a:t>
                </a:r>
                <a:r>
                  <a:rPr lang="en-US" altLang="zh-TW" dirty="0"/>
                  <a:t>vector form as </a:t>
                </a:r>
                <a14:m>
                  <m:oMath xmlns:m="http://schemas.openxmlformats.org/officeDocument/2006/math">
                    <m:sSup>
                      <m:sSupPr>
                        <m:ctrlPr>
                          <a:rPr lang="en-US" altLang="zh-TW" i="1" smtClean="0">
                            <a:latin typeface="Cambria Math" panose="02040503050406030204" pitchFamily="18" charset="0"/>
                          </a:rPr>
                        </m:ctrlPr>
                      </m:sSupPr>
                      <m:e>
                        <m:r>
                          <m:rPr>
                            <m:sty m:val="p"/>
                          </m:rPr>
                          <a:rPr lang="en-US" altLang="zh-TW" i="1">
                            <a:latin typeface="Cambria Math" panose="02040503050406030204" pitchFamily="18" charset="0"/>
                          </a:rPr>
                          <m:t>S</m:t>
                        </m:r>
                      </m:e>
                      <m:sup>
                        <m:r>
                          <a:rPr lang="en-US" altLang="zh-TW" b="0" i="1" smtClean="0">
                            <a:latin typeface="Cambria Math" panose="02040503050406030204" pitchFamily="18" charset="0"/>
                          </a:rPr>
                          <m:t>𝑘</m:t>
                        </m:r>
                      </m:sup>
                    </m:sSup>
                  </m:oMath>
                </a14:m>
                <a:r>
                  <a:rPr lang="zh-TW" altLang="en-US" dirty="0"/>
                  <a:t> </a:t>
                </a:r>
                <a:r>
                  <a:rPr lang="en-US" altLang="zh-TW" dirty="0"/>
                  <a:t>= [</a:t>
                </a:r>
                <a:r>
                  <a:rPr lang="zh-TW" altLang="en-US" dirty="0"/>
                  <a:t>𝑆</a:t>
                </a:r>
                <a:r>
                  <a:rPr lang="en-US" altLang="zh-TW" dirty="0"/>
                  <a:t>(1), </a:t>
                </a:r>
                <a:r>
                  <a:rPr lang="zh-TW" altLang="en-US" dirty="0"/>
                  <a:t>𝑆</a:t>
                </a:r>
                <a:r>
                  <a:rPr lang="en-US" altLang="zh-TW" dirty="0"/>
                  <a:t>(2), ..., </a:t>
                </a:r>
                <a:r>
                  <a:rPr lang="zh-TW" altLang="en-US" dirty="0"/>
                  <a:t>𝑆</a:t>
                </a:r>
                <a:r>
                  <a:rPr lang="en-US" altLang="zh-TW" dirty="0"/>
                  <a:t>(</a:t>
                </a:r>
                <a:r>
                  <a:rPr lang="zh-TW" altLang="en-US" dirty="0"/>
                  <a:t>𝑘</a:t>
                </a:r>
                <a:r>
                  <a:rPr lang="en-US" altLang="zh-TW" dirty="0"/>
                  <a:t>)]. When appropriate,</a:t>
                </a:r>
                <a:r>
                  <a:rPr lang="zh-TW" altLang="en-US" dirty="0"/>
                  <a:t> </a:t>
                </a:r>
                <a:r>
                  <a:rPr lang="en-US" altLang="zh-TW" dirty="0"/>
                  <a:t>for simplicity, we shall drop the temporal index of the</a:t>
                </a:r>
                <a:r>
                  <a:rPr lang="zh-TW" altLang="en-US" dirty="0"/>
                  <a:t> </a:t>
                </a:r>
                <a:r>
                  <a:rPr lang="en-US" altLang="zh-TW" dirty="0"/>
                  <a:t>sequence, denoting the source merely as </a:t>
                </a:r>
                <a:r>
                  <a:rPr lang="zh-TW" altLang="en-US" dirty="0"/>
                  <a:t>𝑆</a:t>
                </a:r>
                <a:r>
                  <a:rPr lang="en-US" altLang="zh-TW" dirty="0"/>
                  <a:t>. By assumption</a:t>
                </a:r>
                <a:r>
                  <a:rPr lang="zh-TW" altLang="en-US" dirty="0"/>
                  <a:t> 𝑆 </a:t>
                </a:r>
                <a:r>
                  <a:rPr lang="en-US" altLang="zh-TW" dirty="0"/>
                  <a:t>takes values in a binary set ℬ = {0, 1} with uniform</a:t>
                </a:r>
                <a:r>
                  <a:rPr lang="zh-TW" altLang="en-US" dirty="0"/>
                  <a:t> </a:t>
                </a:r>
                <a:r>
                  <a:rPr lang="en-US" altLang="zh-TW" dirty="0"/>
                  <a:t>probabilities, </a:t>
                </a:r>
              </a:p>
              <a:p>
                <a:r>
                  <a:rPr lang="en-US" altLang="zh-TW" dirty="0"/>
                  <a:t>i.e., </a:t>
                </a:r>
                <a:r>
                  <a:rPr lang="en-US" altLang="zh-TW" dirty="0" err="1"/>
                  <a:t>Pr</a:t>
                </a:r>
                <a:r>
                  <a:rPr lang="en-US" altLang="zh-TW" dirty="0"/>
                  <a:t>[</a:t>
                </a:r>
                <a:r>
                  <a:rPr lang="zh-TW" altLang="en-US" dirty="0"/>
                  <a:t>𝑆 </a:t>
                </a:r>
                <a:r>
                  <a:rPr lang="en-US" altLang="zh-TW" dirty="0"/>
                  <a:t>= 0] = </a:t>
                </a:r>
                <a:r>
                  <a:rPr lang="en-US" altLang="zh-TW" dirty="0" err="1"/>
                  <a:t>Pr</a:t>
                </a:r>
                <a:r>
                  <a:rPr lang="en-US" altLang="zh-TW" dirty="0"/>
                  <a:t>[</a:t>
                </a:r>
                <a:r>
                  <a:rPr lang="zh-TW" altLang="en-US" dirty="0"/>
                  <a:t>𝑆 </a:t>
                </a:r>
                <a:r>
                  <a:rPr lang="en-US" altLang="zh-TW" dirty="0"/>
                  <a:t>= 1] = 0.5, ∀</a:t>
                </a:r>
                <a:r>
                  <a:rPr lang="zh-TW" altLang="en-US" dirty="0"/>
                  <a:t>𝑖 ∈ 𝒩</a:t>
                </a:r>
                <a:r>
                  <a:rPr lang="en-US" altLang="zh-TW" dirty="0"/>
                  <a:t>.</a:t>
                </a:r>
                <a:r>
                  <a:rPr lang="zh-TW" altLang="en-US" dirty="0"/>
                  <a:t> </a:t>
                </a:r>
                <a:r>
                  <a:rPr lang="en-US" altLang="zh-TW" dirty="0"/>
                  <a:t>Therefore the entropy of the sequence is</a:t>
                </a:r>
              </a:p>
              <a:p>
                <a:endParaRPr lang="zh-TW" altLang="en-US" dirty="0"/>
              </a:p>
            </p:txBody>
          </p:sp>
        </mc:Choice>
        <mc:Fallback>
          <p:sp>
            <p:nvSpPr>
              <p:cNvPr id="6" name="矩形 5">
                <a:extLst>
                  <a:ext uri="{FF2B5EF4-FFF2-40B4-BE49-F238E27FC236}">
                    <a16:creationId xmlns:a16="http://schemas.microsoft.com/office/drawing/2014/main" id="{35DC6BE1-0288-42B7-830A-0E7714EF1713}"/>
                  </a:ext>
                </a:extLst>
              </p:cNvPr>
              <p:cNvSpPr>
                <a:spLocks noRot="1" noChangeAspect="1" noMove="1" noResize="1" noEditPoints="1" noAdjustHandles="1" noChangeArrowheads="1" noChangeShapeType="1" noTextEdit="1"/>
              </p:cNvSpPr>
              <p:nvPr/>
            </p:nvSpPr>
            <p:spPr>
              <a:xfrm>
                <a:off x="345218" y="787939"/>
                <a:ext cx="8712968" cy="2375137"/>
              </a:xfrm>
              <a:prstGeom prst="rect">
                <a:avLst/>
              </a:prstGeom>
              <a:blipFill>
                <a:blip r:embed="rId3"/>
                <a:stretch>
                  <a:fillRect l="-630" t="-1282"/>
                </a:stretch>
              </a:blipFill>
            </p:spPr>
            <p:txBody>
              <a:bodyPr/>
              <a:lstStyle/>
              <a:p>
                <a:r>
                  <a:rPr lang="zh-TW" altLang="en-US">
                    <a:noFill/>
                  </a:rPr>
                  <a:t> </a:t>
                </a:r>
              </a:p>
            </p:txBody>
          </p:sp>
        </mc:Fallback>
      </mc:AlternateContent>
      <p:pic>
        <p:nvPicPr>
          <p:cNvPr id="7" name="圖片 6">
            <a:extLst>
              <a:ext uri="{FF2B5EF4-FFF2-40B4-BE49-F238E27FC236}">
                <a16:creationId xmlns:a16="http://schemas.microsoft.com/office/drawing/2014/main" id="{945E4251-CA97-4841-92E8-57961543AD04}"/>
              </a:ext>
            </a:extLst>
          </p:cNvPr>
          <p:cNvPicPr>
            <a:picLocks noChangeAspect="1"/>
          </p:cNvPicPr>
          <p:nvPr/>
        </p:nvPicPr>
        <p:blipFill>
          <a:blip r:embed="rId4"/>
          <a:stretch>
            <a:fillRect/>
          </a:stretch>
        </p:blipFill>
        <p:spPr>
          <a:xfrm>
            <a:off x="2190416" y="2870420"/>
            <a:ext cx="4763165" cy="762106"/>
          </a:xfrm>
          <a:prstGeom prst="rect">
            <a:avLst/>
          </a:prstGeom>
        </p:spPr>
      </p:pic>
      <mc:AlternateContent xmlns:mc="http://schemas.openxmlformats.org/markup-compatibility/2006">
        <mc:Choice xmlns:a14="http://schemas.microsoft.com/office/drawing/2010/main" Requires="a14">
          <p:sp>
            <p:nvSpPr>
              <p:cNvPr id="9" name="矩形 8">
                <a:extLst>
                  <a:ext uri="{FF2B5EF4-FFF2-40B4-BE49-F238E27FC236}">
                    <a16:creationId xmlns:a16="http://schemas.microsoft.com/office/drawing/2014/main" id="{72FF0A66-6271-4B80-9365-57104DECF5FA}"/>
                  </a:ext>
                </a:extLst>
              </p:cNvPr>
              <p:cNvSpPr/>
              <p:nvPr/>
            </p:nvSpPr>
            <p:spPr>
              <a:xfrm>
                <a:off x="323526" y="3646525"/>
                <a:ext cx="8496944" cy="1206292"/>
              </a:xfrm>
              <a:prstGeom prst="rect">
                <a:avLst/>
              </a:prstGeom>
            </p:spPr>
            <p:txBody>
              <a:bodyPr wrap="square">
                <a:spAutoFit/>
              </a:bodyPr>
              <a:lstStyle/>
              <a:p>
                <a:r>
                  <a:rPr lang="en-US" altLang="zh-TW" dirty="0"/>
                  <a:t>The source sequence </a:t>
                </a:r>
                <a14:m>
                  <m:oMath xmlns:m="http://schemas.openxmlformats.org/officeDocument/2006/math">
                    <m:sSup>
                      <m:sSupPr>
                        <m:ctrlPr>
                          <a:rPr lang="en-US" altLang="zh-TW" i="1">
                            <a:latin typeface="Cambria Math" panose="02040503050406030204" pitchFamily="18" charset="0"/>
                          </a:rPr>
                        </m:ctrlPr>
                      </m:sSupPr>
                      <m:e>
                        <m:r>
                          <m:rPr>
                            <m:sty m:val="p"/>
                          </m:rPr>
                          <a:rPr lang="en-US" altLang="zh-TW" i="1">
                            <a:latin typeface="Cambria Math" panose="02040503050406030204" pitchFamily="18" charset="0"/>
                          </a:rPr>
                          <m:t>S</m:t>
                        </m:r>
                      </m:e>
                      <m:sup>
                        <m:r>
                          <a:rPr lang="en-US" altLang="zh-TW" i="1">
                            <a:latin typeface="Cambria Math" panose="02040503050406030204" pitchFamily="18" charset="0"/>
                          </a:rPr>
                          <m:t>𝑘</m:t>
                        </m:r>
                      </m:sup>
                    </m:sSup>
                    <m:r>
                      <a:rPr lang="en-US" altLang="zh-TW" i="1">
                        <a:latin typeface="Cambria Math" panose="02040503050406030204" pitchFamily="18" charset="0"/>
                      </a:rPr>
                      <m:t> </m:t>
                    </m:r>
                  </m:oMath>
                </a14:m>
                <a:r>
                  <a:rPr lang="zh-TW" altLang="en-US" dirty="0"/>
                  <a:t> </a:t>
                </a:r>
                <a:r>
                  <a:rPr lang="en-US" altLang="zh-TW" dirty="0"/>
                  <a:t>originating from the core network is</a:t>
                </a:r>
                <a:r>
                  <a:rPr lang="zh-TW" altLang="en-US" dirty="0"/>
                  <a:t> </a:t>
                </a:r>
                <a:r>
                  <a:rPr lang="en-US" altLang="zh-TW" dirty="0"/>
                  <a:t>encoded at </a:t>
                </a:r>
                <a:r>
                  <a:rPr lang="zh-TW" altLang="en-US" dirty="0"/>
                  <a:t>𝑁 </a:t>
                </a:r>
                <a:r>
                  <a:rPr lang="en-US" altLang="zh-TW" dirty="0"/>
                  <a:t>BSs. The </a:t>
                </a:r>
                <a:r>
                  <a:rPr lang="zh-TW" altLang="en-US" dirty="0"/>
                  <a:t>𝑖</a:t>
                </a:r>
                <a:r>
                  <a:rPr lang="en-US" altLang="zh-TW" dirty="0" err="1"/>
                  <a:t>th</a:t>
                </a:r>
                <a:r>
                  <a:rPr lang="en-US" altLang="zh-TW" dirty="0"/>
                  <a:t> transmit sequence at BS </a:t>
                </a:r>
                <a:r>
                  <a:rPr lang="zh-TW" altLang="en-US" dirty="0"/>
                  <a:t>𝑖</a:t>
                </a:r>
                <a:r>
                  <a:rPr lang="en-US" altLang="zh-TW" dirty="0"/>
                  <a:t>, denoted</a:t>
                </a:r>
                <a:r>
                  <a:rPr lang="zh-TW" altLang="en-US" dirty="0"/>
                  <a:t> </a:t>
                </a:r>
                <a:r>
                  <a:rPr lang="en-US" altLang="zh-TW" dirty="0"/>
                  <a:t>as </a:t>
                </a:r>
                <a14:m>
                  <m:oMath xmlns:m="http://schemas.openxmlformats.org/officeDocument/2006/math">
                    <m:sSubSup>
                      <m:sSubSupPr>
                        <m:ctrlPr>
                          <a:rPr lang="en-US" altLang="zh-TW" i="1" smtClean="0">
                            <a:latin typeface="Cambria Math" panose="02040503050406030204" pitchFamily="18" charset="0"/>
                          </a:rPr>
                        </m:ctrlPr>
                      </m:sSubSupPr>
                      <m:e>
                        <m:r>
                          <m:rPr>
                            <m:sty m:val="p"/>
                          </m:rPr>
                          <a:rPr lang="en-US" altLang="zh-TW" i="1">
                            <a:latin typeface="Cambria Math" panose="02040503050406030204" pitchFamily="18" charset="0"/>
                          </a:rPr>
                          <m:t>X</m:t>
                        </m:r>
                      </m:e>
                      <m:sub>
                        <m:r>
                          <a:rPr lang="en-US" altLang="zh-TW" b="0" i="1" smtClean="0">
                            <a:latin typeface="Cambria Math" panose="02040503050406030204" pitchFamily="18" charset="0"/>
                          </a:rPr>
                          <m:t>𝑖</m:t>
                        </m:r>
                      </m:sub>
                      <m:sup>
                        <m:r>
                          <a:rPr lang="en-US" altLang="zh-TW" b="0" i="1" smtClean="0">
                            <a:latin typeface="Cambria Math" panose="02040503050406030204" pitchFamily="18" charset="0"/>
                          </a:rPr>
                          <m:t>𝑛</m:t>
                        </m:r>
                      </m:sup>
                    </m:sSubSup>
                  </m:oMath>
                </a14:m>
                <a:r>
                  <a:rPr lang="en-US" altLang="zh-TW" dirty="0"/>
                  <a:t>, is sent to the UE over an orthogonal MAC. The decoder</a:t>
                </a:r>
                <a:r>
                  <a:rPr lang="zh-TW" altLang="en-US" dirty="0"/>
                  <a:t> </a:t>
                </a:r>
                <a:r>
                  <a:rPr lang="en-US" altLang="zh-TW" dirty="0"/>
                  <a:t>at the UE retrieves the source sequence </a:t>
                </a:r>
                <a14:m>
                  <m:oMath xmlns:m="http://schemas.openxmlformats.org/officeDocument/2006/math">
                    <m:sSup>
                      <m:sSupPr>
                        <m:ctrlPr>
                          <a:rPr lang="en-US" altLang="zh-TW" i="1">
                            <a:latin typeface="Cambria Math" panose="02040503050406030204" pitchFamily="18" charset="0"/>
                          </a:rPr>
                        </m:ctrlPr>
                      </m:sSupPr>
                      <m:e>
                        <m:r>
                          <m:rPr>
                            <m:sty m:val="p"/>
                          </m:rPr>
                          <a:rPr lang="en-US" altLang="zh-TW" i="1">
                            <a:latin typeface="Cambria Math" panose="02040503050406030204" pitchFamily="18" charset="0"/>
                          </a:rPr>
                          <m:t>S</m:t>
                        </m:r>
                      </m:e>
                      <m:sup>
                        <m:r>
                          <a:rPr lang="en-US" altLang="zh-TW" i="1">
                            <a:latin typeface="Cambria Math" panose="02040503050406030204" pitchFamily="18" charset="0"/>
                          </a:rPr>
                          <m:t>𝑘</m:t>
                        </m:r>
                      </m:sup>
                    </m:sSup>
                    <m:r>
                      <a:rPr lang="en-US" altLang="zh-TW" i="1">
                        <a:latin typeface="Cambria Math" panose="02040503050406030204" pitchFamily="18" charset="0"/>
                      </a:rPr>
                      <m:t> </m:t>
                    </m:r>
                  </m:oMath>
                </a14:m>
                <a:r>
                  <a:rPr lang="en-US" altLang="zh-TW" dirty="0"/>
                  <a:t>from the received</a:t>
                </a:r>
                <a:r>
                  <a:rPr lang="zh-TW" altLang="en-US" dirty="0"/>
                  <a:t> </a:t>
                </a:r>
                <a:r>
                  <a:rPr lang="en-US" altLang="zh-TW" dirty="0"/>
                  <a:t>sequences </a:t>
                </a:r>
                <a14:m>
                  <m:oMath xmlns:m="http://schemas.openxmlformats.org/officeDocument/2006/math">
                    <m:sSubSup>
                      <m:sSubSupPr>
                        <m:ctrlPr>
                          <a:rPr lang="en-US" altLang="zh-TW" i="1">
                            <a:latin typeface="Cambria Math" panose="02040503050406030204" pitchFamily="18" charset="0"/>
                          </a:rPr>
                        </m:ctrlPr>
                      </m:sSubSupPr>
                      <m:e>
                        <m:r>
                          <a:rPr lang="en-US" altLang="zh-TW" b="0" i="1" smtClean="0">
                            <a:latin typeface="Cambria Math" panose="02040503050406030204" pitchFamily="18" charset="0"/>
                          </a:rPr>
                          <m:t>𝑌</m:t>
                        </m:r>
                      </m:e>
                      <m:sub>
                        <m:r>
                          <a:rPr lang="en-US" altLang="zh-TW" i="1">
                            <a:latin typeface="Cambria Math" panose="02040503050406030204" pitchFamily="18" charset="0"/>
                          </a:rPr>
                          <m:t>𝑖</m:t>
                        </m:r>
                      </m:sub>
                      <m:sup>
                        <m:r>
                          <a:rPr lang="en-US" altLang="zh-TW" i="1">
                            <a:latin typeface="Cambria Math" panose="02040503050406030204" pitchFamily="18" charset="0"/>
                          </a:rPr>
                          <m:t>𝑛</m:t>
                        </m:r>
                      </m:sup>
                    </m:sSubSup>
                  </m:oMath>
                </a14:m>
                <a:r>
                  <a:rPr lang="en-US" altLang="zh-TW" dirty="0"/>
                  <a:t>, ∀</a:t>
                </a:r>
                <a:r>
                  <a:rPr lang="zh-TW" altLang="en-US" dirty="0"/>
                  <a:t>𝑖 ∈ 𝒩</a:t>
                </a:r>
                <a:r>
                  <a:rPr lang="en-US" altLang="zh-TW" dirty="0"/>
                  <a:t>.</a:t>
                </a:r>
                <a:endParaRPr lang="zh-TW" altLang="en-US" dirty="0"/>
              </a:p>
            </p:txBody>
          </p:sp>
        </mc:Choice>
        <mc:Fallback>
          <p:sp>
            <p:nvSpPr>
              <p:cNvPr id="9" name="矩形 8">
                <a:extLst>
                  <a:ext uri="{FF2B5EF4-FFF2-40B4-BE49-F238E27FC236}">
                    <a16:creationId xmlns:a16="http://schemas.microsoft.com/office/drawing/2014/main" id="{72FF0A66-6271-4B80-9365-57104DECF5FA}"/>
                  </a:ext>
                </a:extLst>
              </p:cNvPr>
              <p:cNvSpPr>
                <a:spLocks noRot="1" noChangeAspect="1" noMove="1" noResize="1" noEditPoints="1" noAdjustHandles="1" noChangeArrowheads="1" noChangeShapeType="1" noTextEdit="1"/>
              </p:cNvSpPr>
              <p:nvPr/>
            </p:nvSpPr>
            <p:spPr>
              <a:xfrm>
                <a:off x="323526" y="3646525"/>
                <a:ext cx="8496944" cy="1206292"/>
              </a:xfrm>
              <a:prstGeom prst="rect">
                <a:avLst/>
              </a:prstGeom>
              <a:blipFill>
                <a:blip r:embed="rId5"/>
                <a:stretch>
                  <a:fillRect l="-574" t="-2525" b="-757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03133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8978BE82-5032-4178-A433-348789D9709B}"/>
              </a:ext>
            </a:extLst>
          </p:cNvPr>
          <p:cNvSpPr>
            <a:spLocks noGrp="1"/>
          </p:cNvSpPr>
          <p:nvPr>
            <p:ph type="body" sz="quarter" idx="10"/>
          </p:nvPr>
        </p:nvSpPr>
        <p:spPr/>
        <p:txBody>
          <a:bodyPr/>
          <a:lstStyle/>
          <a:p>
            <a:endParaRPr lang="zh-TW" altLang="en-US"/>
          </a:p>
        </p:txBody>
      </p:sp>
      <p:sp>
        <p:nvSpPr>
          <p:cNvPr id="3" name="文字版面配置區 2">
            <a:extLst>
              <a:ext uri="{FF2B5EF4-FFF2-40B4-BE49-F238E27FC236}">
                <a16:creationId xmlns:a16="http://schemas.microsoft.com/office/drawing/2014/main" id="{A25DF1B9-FF13-4DAF-84A8-5AD2FD7C54A1}"/>
              </a:ext>
            </a:extLst>
          </p:cNvPr>
          <p:cNvSpPr>
            <a:spLocks noGrp="1"/>
          </p:cNvSpPr>
          <p:nvPr>
            <p:ph type="body" sz="quarter" idx="11"/>
          </p:nvPr>
        </p:nvSpPr>
        <p:spPr/>
        <p:txBody>
          <a:bodyPr/>
          <a:lstStyle/>
          <a:p>
            <a:endParaRPr lang="zh-TW" altLang="en-US"/>
          </a:p>
        </p:txBody>
      </p:sp>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B75E90BB-F72E-4EA6-B97A-015A1BE1454B}"/>
                  </a:ext>
                </a:extLst>
              </p:cNvPr>
              <p:cNvSpPr/>
              <p:nvPr/>
            </p:nvSpPr>
            <p:spPr>
              <a:xfrm>
                <a:off x="755576" y="1503647"/>
                <a:ext cx="7920880" cy="1754326"/>
              </a:xfrm>
              <a:prstGeom prst="rect">
                <a:avLst/>
              </a:prstGeom>
            </p:spPr>
            <p:txBody>
              <a:bodyPr wrap="square">
                <a:spAutoFit/>
              </a:bodyPr>
              <a:lstStyle/>
              <a:p>
                <a:r>
                  <a:rPr lang="en-US" altLang="zh-TW" dirty="0"/>
                  <a:t>b) Uplink: </a:t>
                </a:r>
              </a:p>
              <a:p>
                <a:r>
                  <a:rPr lang="en-US" altLang="zh-TW" dirty="0"/>
                  <a:t>	The uplink system model is similar to the</a:t>
                </a:r>
                <a:r>
                  <a:rPr lang="zh-TW" altLang="en-US" dirty="0"/>
                  <a:t> </a:t>
                </a:r>
                <a:r>
                  <a:rPr lang="en-US" altLang="zh-TW" dirty="0"/>
                  <a:t>downlink, except that the source sequence is originated from</a:t>
                </a:r>
                <a:r>
                  <a:rPr lang="zh-TW" altLang="en-US" dirty="0"/>
                  <a:t> </a:t>
                </a:r>
                <a:r>
                  <a:rPr lang="en-US" altLang="zh-TW" dirty="0"/>
                  <a:t>the UE, and the received sequences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𝑌</m:t>
                        </m:r>
                      </m:e>
                      <m:sub>
                        <m:r>
                          <a:rPr lang="en-US" altLang="zh-TW" i="1">
                            <a:latin typeface="Cambria Math" panose="02040503050406030204" pitchFamily="18" charset="0"/>
                          </a:rPr>
                          <m:t>𝑖</m:t>
                        </m:r>
                      </m:sub>
                      <m:sup>
                        <m:r>
                          <a:rPr lang="en-US" altLang="zh-TW" i="1">
                            <a:latin typeface="Cambria Math" panose="02040503050406030204" pitchFamily="18" charset="0"/>
                          </a:rPr>
                          <m:t>𝑛</m:t>
                        </m:r>
                      </m:sup>
                    </m:sSubSup>
                  </m:oMath>
                </a14:m>
                <a:r>
                  <a:rPr lang="zh-TW" altLang="en-US" dirty="0"/>
                  <a:t> </a:t>
                </a:r>
                <a:r>
                  <a:rPr lang="en-US" altLang="zh-TW" dirty="0"/>
                  <a:t>, ∀</a:t>
                </a:r>
                <a:r>
                  <a:rPr lang="zh-TW" altLang="en-US" dirty="0"/>
                  <a:t>𝑖 ∈ 𝒩</a:t>
                </a:r>
                <a:r>
                  <a:rPr lang="en-US" altLang="zh-TW" dirty="0"/>
                  <a:t>, are decoded</a:t>
                </a:r>
                <a:r>
                  <a:rPr lang="zh-TW" altLang="en-US" dirty="0"/>
                  <a:t> </a:t>
                </a:r>
                <a:r>
                  <a:rPr lang="en-US" altLang="zh-TW" dirty="0"/>
                  <a:t>at the core network to retrieve the source sequence </a:t>
                </a:r>
                <a14:m>
                  <m:oMath xmlns:m="http://schemas.openxmlformats.org/officeDocument/2006/math">
                    <m:sSup>
                      <m:sSupPr>
                        <m:ctrlPr>
                          <a:rPr lang="en-US" altLang="zh-TW" i="1">
                            <a:latin typeface="Cambria Math" panose="02040503050406030204" pitchFamily="18" charset="0"/>
                          </a:rPr>
                        </m:ctrlPr>
                      </m:sSupPr>
                      <m:e>
                        <m:r>
                          <m:rPr>
                            <m:sty m:val="p"/>
                          </m:rPr>
                          <a:rPr lang="en-US" altLang="zh-TW" i="1">
                            <a:latin typeface="Cambria Math" panose="02040503050406030204" pitchFamily="18" charset="0"/>
                          </a:rPr>
                          <m:t>S</m:t>
                        </m:r>
                      </m:e>
                      <m:sup>
                        <m:r>
                          <a:rPr lang="en-US" altLang="zh-TW" i="1">
                            <a:latin typeface="Cambria Math" panose="02040503050406030204" pitchFamily="18" charset="0"/>
                          </a:rPr>
                          <m:t>𝑘</m:t>
                        </m:r>
                      </m:sup>
                    </m:sSup>
                    <m:r>
                      <a:rPr lang="en-US" altLang="zh-TW" i="1">
                        <a:latin typeface="Cambria Math" panose="02040503050406030204" pitchFamily="18" charset="0"/>
                      </a:rPr>
                      <m:t> </m:t>
                    </m:r>
                  </m:oMath>
                </a14:m>
                <a:r>
                  <a:rPr lang="en-US" altLang="zh-TW" dirty="0"/>
                  <a:t>. Similar</a:t>
                </a:r>
                <a:r>
                  <a:rPr lang="zh-TW" altLang="en-US" dirty="0"/>
                  <a:t> </a:t>
                </a:r>
                <a:r>
                  <a:rPr lang="en-US" altLang="zh-TW" dirty="0"/>
                  <a:t>to the downlink, the </a:t>
                </a:r>
                <a:r>
                  <a:rPr lang="zh-TW" altLang="en-US" dirty="0"/>
                  <a:t>𝑖</a:t>
                </a:r>
                <a:r>
                  <a:rPr lang="en-US" altLang="zh-TW" dirty="0" err="1"/>
                  <a:t>th</a:t>
                </a:r>
                <a:r>
                  <a:rPr lang="en-US" altLang="zh-TW" dirty="0"/>
                  <a:t> transmit sequence </a:t>
                </a:r>
                <a14:m>
                  <m:oMath xmlns:m="http://schemas.openxmlformats.org/officeDocument/2006/math">
                    <m:sSubSup>
                      <m:sSubSupPr>
                        <m:ctrlPr>
                          <a:rPr lang="en-US" altLang="zh-TW" i="1">
                            <a:latin typeface="Cambria Math" panose="02040503050406030204" pitchFamily="18" charset="0"/>
                          </a:rPr>
                        </m:ctrlPr>
                      </m:sSubSupPr>
                      <m:e>
                        <m:r>
                          <m:rPr>
                            <m:sty m:val="p"/>
                          </m:rPr>
                          <a:rPr lang="en-US" altLang="zh-TW" i="1" smtClean="0">
                            <a:latin typeface="Cambria Math" panose="02040503050406030204" pitchFamily="18" charset="0"/>
                          </a:rPr>
                          <m:t>X</m:t>
                        </m:r>
                      </m:e>
                      <m:sub>
                        <m:r>
                          <a:rPr lang="en-US" altLang="zh-TW" i="1">
                            <a:latin typeface="Cambria Math" panose="02040503050406030204" pitchFamily="18" charset="0"/>
                          </a:rPr>
                          <m:t>𝑖</m:t>
                        </m:r>
                      </m:sub>
                      <m:sup>
                        <m:r>
                          <a:rPr lang="en-US" altLang="zh-TW" i="1">
                            <a:latin typeface="Cambria Math" panose="02040503050406030204" pitchFamily="18" charset="0"/>
                          </a:rPr>
                          <m:t>𝑛</m:t>
                        </m:r>
                      </m:sup>
                    </m:sSubSup>
                  </m:oMath>
                </a14:m>
                <a:r>
                  <a:rPr lang="zh-TW" altLang="en-US" dirty="0"/>
                  <a:t> </a:t>
                </a:r>
                <a:r>
                  <a:rPr lang="en-US" altLang="zh-TW" dirty="0"/>
                  <a:t>is sent from the</a:t>
                </a:r>
                <a:r>
                  <a:rPr lang="zh-TW" altLang="en-US" dirty="0"/>
                  <a:t> </a:t>
                </a:r>
                <a:r>
                  <a:rPr lang="en-US" altLang="zh-TW" dirty="0"/>
                  <a:t>UE to the </a:t>
                </a:r>
                <a:r>
                  <a:rPr lang="zh-TW" altLang="en-US" dirty="0"/>
                  <a:t>𝑖</a:t>
                </a:r>
                <a:r>
                  <a:rPr lang="en-US" altLang="zh-TW" dirty="0" err="1"/>
                  <a:t>th</a:t>
                </a:r>
                <a:r>
                  <a:rPr lang="en-US" altLang="zh-TW" dirty="0"/>
                  <a:t> BS over an orthogonal MAC.</a:t>
                </a:r>
                <a:endParaRPr lang="zh-TW" altLang="en-US" dirty="0"/>
              </a:p>
            </p:txBody>
          </p:sp>
        </mc:Choice>
        <mc:Fallback>
          <p:sp>
            <p:nvSpPr>
              <p:cNvPr id="5" name="矩形 4">
                <a:extLst>
                  <a:ext uri="{FF2B5EF4-FFF2-40B4-BE49-F238E27FC236}">
                    <a16:creationId xmlns:a16="http://schemas.microsoft.com/office/drawing/2014/main" id="{B75E90BB-F72E-4EA6-B97A-015A1BE1454B}"/>
                  </a:ext>
                </a:extLst>
              </p:cNvPr>
              <p:cNvSpPr>
                <a:spLocks noRot="1" noChangeAspect="1" noMove="1" noResize="1" noEditPoints="1" noAdjustHandles="1" noChangeArrowheads="1" noChangeShapeType="1" noTextEdit="1"/>
              </p:cNvSpPr>
              <p:nvPr/>
            </p:nvSpPr>
            <p:spPr>
              <a:xfrm>
                <a:off x="755576" y="1503647"/>
                <a:ext cx="7920880" cy="1754326"/>
              </a:xfrm>
              <a:prstGeom prst="rect">
                <a:avLst/>
              </a:prstGeom>
              <a:blipFill>
                <a:blip r:embed="rId3"/>
                <a:stretch>
                  <a:fillRect l="-693" t="-2091" r="-2232" b="-557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98485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9A1305DE-FC87-4446-AA72-03E5F942D844}"/>
              </a:ext>
            </a:extLst>
          </p:cNvPr>
          <p:cNvSpPr>
            <a:spLocks noGrp="1"/>
          </p:cNvSpPr>
          <p:nvPr>
            <p:ph type="body" sz="quarter" idx="10"/>
          </p:nvPr>
        </p:nvSpPr>
        <p:spPr/>
        <p:txBody>
          <a:bodyPr/>
          <a:lstStyle/>
          <a:p>
            <a:r>
              <a:rPr lang="en-US" altLang="zh-TW" dirty="0"/>
              <a:t>Link Model</a:t>
            </a:r>
            <a:endParaRPr lang="zh-TW" altLang="en-US" dirty="0"/>
          </a:p>
        </p:txBody>
      </p:sp>
      <p:sp>
        <p:nvSpPr>
          <p:cNvPr id="3" name="文字版面配置區 2">
            <a:extLst>
              <a:ext uri="{FF2B5EF4-FFF2-40B4-BE49-F238E27FC236}">
                <a16:creationId xmlns:a16="http://schemas.microsoft.com/office/drawing/2014/main" id="{1BBB9B45-E287-426B-A668-3D71F2D5973F}"/>
              </a:ext>
            </a:extLst>
          </p:cNvPr>
          <p:cNvSpPr>
            <a:spLocks noGrp="1"/>
          </p:cNvSpPr>
          <p:nvPr>
            <p:ph type="body" sz="quarter" idx="11"/>
          </p:nvPr>
        </p:nvSpPr>
        <p:spPr/>
        <p:txBody>
          <a:bodyPr/>
          <a:lstStyle/>
          <a:p>
            <a:endParaRPr lang="zh-TW" altLang="en-US"/>
          </a:p>
        </p:txBody>
      </p:sp>
      <p:sp>
        <p:nvSpPr>
          <p:cNvPr id="5" name="文字方塊 4">
            <a:extLst>
              <a:ext uri="{FF2B5EF4-FFF2-40B4-BE49-F238E27FC236}">
                <a16:creationId xmlns:a16="http://schemas.microsoft.com/office/drawing/2014/main" id="{384405FD-BDFF-4E85-A72D-CD5BC28BC7C5}"/>
              </a:ext>
            </a:extLst>
          </p:cNvPr>
          <p:cNvSpPr txBox="1"/>
          <p:nvPr/>
        </p:nvSpPr>
        <p:spPr>
          <a:xfrm>
            <a:off x="539552" y="1263950"/>
            <a:ext cx="7704856" cy="2862322"/>
          </a:xfrm>
          <a:prstGeom prst="rect">
            <a:avLst/>
          </a:prstGeom>
          <a:noFill/>
        </p:spPr>
        <p:txBody>
          <a:bodyPr wrap="square" rtlCol="0">
            <a:spAutoFit/>
          </a:bodyPr>
          <a:lstStyle/>
          <a:p>
            <a:r>
              <a:rPr lang="en-US" altLang="zh-TW" dirty="0"/>
              <a:t>	Instead of sending multiple sequences at different time</a:t>
            </a:r>
            <a:r>
              <a:rPr lang="zh-TW" altLang="en-US" dirty="0"/>
              <a:t> </a:t>
            </a:r>
            <a:r>
              <a:rPr lang="en-US" altLang="zh-TW" dirty="0"/>
              <a:t>instances, i.e., coding in time, we use multiple frequency</a:t>
            </a:r>
            <a:r>
              <a:rPr lang="zh-TW" altLang="en-US" dirty="0"/>
              <a:t> </a:t>
            </a:r>
            <a:r>
              <a:rPr lang="en-US" altLang="zh-TW" dirty="0"/>
              <a:t>channels to transmit the information.</a:t>
            </a:r>
            <a:r>
              <a:rPr lang="zh-TW" altLang="en-US" dirty="0"/>
              <a:t> </a:t>
            </a:r>
            <a:r>
              <a:rPr lang="en-US" altLang="zh-TW" dirty="0"/>
              <a:t>Thus, the information</a:t>
            </a:r>
            <a:r>
              <a:rPr lang="zh-TW" altLang="en-US" dirty="0"/>
              <a:t> </a:t>
            </a:r>
            <a:r>
              <a:rPr lang="en-US" altLang="zh-TW" dirty="0"/>
              <a:t>can, in the best case, be delivered in a </a:t>
            </a:r>
            <a:r>
              <a:rPr lang="zh-TW" altLang="en-US" dirty="0"/>
              <a:t>    </a:t>
            </a:r>
            <a:r>
              <a:rPr lang="en-US" altLang="zh-TW" dirty="0"/>
              <a:t>single time slot, which</a:t>
            </a:r>
            <a:r>
              <a:rPr lang="zh-TW" altLang="en-US" dirty="0"/>
              <a:t> </a:t>
            </a:r>
            <a:r>
              <a:rPr lang="en-US" altLang="zh-TW" dirty="0"/>
              <a:t>helps satisfying the URLLC requirements.</a:t>
            </a:r>
          </a:p>
          <a:p>
            <a:endParaRPr lang="en-US" altLang="zh-TW" dirty="0"/>
          </a:p>
          <a:p>
            <a:r>
              <a:rPr lang="en-US" altLang="zh-TW" dirty="0"/>
              <a:t>	According to [13], the small-scale fading of two signals is approximately uncorrelated if their frequencies are at least separated by the coherence bandwidth, which is confirmed, for instance, by measurement results in [14].</a:t>
            </a:r>
          </a:p>
          <a:p>
            <a:endParaRPr lang="zh-TW" altLang="en-US" dirty="0"/>
          </a:p>
        </p:txBody>
      </p:sp>
    </p:spTree>
    <p:extLst>
      <p:ext uri="{BB962C8B-B14F-4D97-AF65-F5344CB8AC3E}">
        <p14:creationId xmlns:p14="http://schemas.microsoft.com/office/powerpoint/2010/main" val="2203906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F6E9D6C1-0B44-4149-9443-01B1314A6D15}"/>
              </a:ext>
            </a:extLst>
          </p:cNvPr>
          <p:cNvSpPr>
            <a:spLocks noGrp="1"/>
          </p:cNvSpPr>
          <p:nvPr>
            <p:ph type="body" sz="quarter" idx="10"/>
          </p:nvPr>
        </p:nvSpPr>
        <p:spPr/>
        <p:txBody>
          <a:bodyPr/>
          <a:lstStyle/>
          <a:p>
            <a:endParaRPr lang="zh-TW" altLang="en-US"/>
          </a:p>
        </p:txBody>
      </p:sp>
      <p:sp>
        <p:nvSpPr>
          <p:cNvPr id="3" name="文字版面配置區 2">
            <a:extLst>
              <a:ext uri="{FF2B5EF4-FFF2-40B4-BE49-F238E27FC236}">
                <a16:creationId xmlns:a16="http://schemas.microsoft.com/office/drawing/2014/main" id="{638158A9-EE07-4432-BD05-9D4B73BA28D2}"/>
              </a:ext>
            </a:extLst>
          </p:cNvPr>
          <p:cNvSpPr>
            <a:spLocks noGrp="1"/>
          </p:cNvSpPr>
          <p:nvPr>
            <p:ph type="body" sz="quarter" idx="11"/>
          </p:nvPr>
        </p:nvSpPr>
        <p:spPr/>
        <p:txBody>
          <a:bodyPr/>
          <a:lstStyle/>
          <a:p>
            <a:endParaRPr lang="zh-TW" altLang="en-US"/>
          </a:p>
        </p:txBody>
      </p:sp>
      <p:sp>
        <p:nvSpPr>
          <p:cNvPr id="5" name="矩形 4">
            <a:extLst>
              <a:ext uri="{FF2B5EF4-FFF2-40B4-BE49-F238E27FC236}">
                <a16:creationId xmlns:a16="http://schemas.microsoft.com/office/drawing/2014/main" id="{60A9EFD2-5B8D-4F72-A27F-DEBD4198D92C}"/>
              </a:ext>
            </a:extLst>
          </p:cNvPr>
          <p:cNvSpPr/>
          <p:nvPr/>
        </p:nvSpPr>
        <p:spPr>
          <a:xfrm>
            <a:off x="323528" y="1275606"/>
            <a:ext cx="8280920" cy="1477328"/>
          </a:xfrm>
          <a:prstGeom prst="rect">
            <a:avLst/>
          </a:prstGeom>
        </p:spPr>
        <p:txBody>
          <a:bodyPr wrap="square">
            <a:spAutoFit/>
          </a:bodyPr>
          <a:lstStyle/>
          <a:p>
            <a:r>
              <a:rPr lang="en-US" altLang="zh-TW" dirty="0"/>
              <a:t>	Furthermore, to cope with the low latency constraint in URLLC, we consider relatively short encoded sequences.  As a result, the length of an encoded sequence is less than or equal to the length of a fading block of the block Rayleigh fading. Moreover, the signals are transmitted from or to different BSs, which leads to individual average SNR values.</a:t>
            </a:r>
            <a:endParaRPr lang="zh-TW" altLang="en-US" dirty="0"/>
          </a:p>
        </p:txBody>
      </p:sp>
      <p:sp>
        <p:nvSpPr>
          <p:cNvPr id="6" name="矩形 5">
            <a:extLst>
              <a:ext uri="{FF2B5EF4-FFF2-40B4-BE49-F238E27FC236}">
                <a16:creationId xmlns:a16="http://schemas.microsoft.com/office/drawing/2014/main" id="{EE76D05B-0F55-4593-9A3F-840EF08FC891}"/>
              </a:ext>
            </a:extLst>
          </p:cNvPr>
          <p:cNvSpPr/>
          <p:nvPr/>
        </p:nvSpPr>
        <p:spPr>
          <a:xfrm>
            <a:off x="611560" y="3040966"/>
            <a:ext cx="710451" cy="369332"/>
          </a:xfrm>
          <a:prstGeom prst="rect">
            <a:avLst/>
          </a:prstGeom>
        </p:spPr>
        <p:txBody>
          <a:bodyPr wrap="none">
            <a:spAutoFit/>
          </a:bodyPr>
          <a:lstStyle/>
          <a:p>
            <a:r>
              <a:rPr lang="en-US" altLang="zh-TW" dirty="0">
                <a:solidFill>
                  <a:srgbClr val="3C4043"/>
                </a:solidFill>
                <a:latin typeface="arial" panose="020B0604020202020204" pitchFamily="34" charset="0"/>
              </a:rPr>
              <a:t>PDF:</a:t>
            </a:r>
            <a:endParaRPr lang="zh-TW" altLang="en-US" dirty="0"/>
          </a:p>
        </p:txBody>
      </p:sp>
      <p:pic>
        <p:nvPicPr>
          <p:cNvPr id="7" name="圖片 6">
            <a:extLst>
              <a:ext uri="{FF2B5EF4-FFF2-40B4-BE49-F238E27FC236}">
                <a16:creationId xmlns:a16="http://schemas.microsoft.com/office/drawing/2014/main" id="{C97182E3-9A0E-4003-9772-34220D06EBF3}"/>
              </a:ext>
            </a:extLst>
          </p:cNvPr>
          <p:cNvPicPr>
            <a:picLocks noChangeAspect="1"/>
          </p:cNvPicPr>
          <p:nvPr/>
        </p:nvPicPr>
        <p:blipFill>
          <a:blip r:embed="rId3"/>
          <a:stretch>
            <a:fillRect/>
          </a:stretch>
        </p:blipFill>
        <p:spPr>
          <a:xfrm>
            <a:off x="1504522" y="2859782"/>
            <a:ext cx="6134956" cy="847843"/>
          </a:xfrm>
          <a:prstGeom prst="rect">
            <a:avLst/>
          </a:prstGeom>
        </p:spPr>
      </p:pic>
      <p:pic>
        <p:nvPicPr>
          <p:cNvPr id="8" name="圖片 7">
            <a:extLst>
              <a:ext uri="{FF2B5EF4-FFF2-40B4-BE49-F238E27FC236}">
                <a16:creationId xmlns:a16="http://schemas.microsoft.com/office/drawing/2014/main" id="{5443CD61-12AA-4020-A4F1-5FA908ED9B30}"/>
              </a:ext>
            </a:extLst>
          </p:cNvPr>
          <p:cNvPicPr>
            <a:picLocks noChangeAspect="1"/>
          </p:cNvPicPr>
          <p:nvPr/>
        </p:nvPicPr>
        <p:blipFill>
          <a:blip r:embed="rId4"/>
          <a:stretch>
            <a:fillRect/>
          </a:stretch>
        </p:blipFill>
        <p:spPr>
          <a:xfrm>
            <a:off x="1752206" y="3791970"/>
            <a:ext cx="5639587" cy="1162212"/>
          </a:xfrm>
          <a:prstGeom prst="rect">
            <a:avLst/>
          </a:prstGeom>
        </p:spPr>
      </p:pic>
    </p:spTree>
    <p:extLst>
      <p:ext uri="{BB962C8B-B14F-4D97-AF65-F5344CB8AC3E}">
        <p14:creationId xmlns:p14="http://schemas.microsoft.com/office/powerpoint/2010/main" val="631346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D94644F0-C987-4D38-9994-7B54278278F8}"/>
              </a:ext>
            </a:extLst>
          </p:cNvPr>
          <p:cNvSpPr>
            <a:spLocks noGrp="1"/>
          </p:cNvSpPr>
          <p:nvPr>
            <p:ph type="body" sz="quarter" idx="10"/>
          </p:nvPr>
        </p:nvSpPr>
        <p:spPr/>
        <p:txBody>
          <a:bodyPr/>
          <a:lstStyle/>
          <a:p>
            <a:r>
              <a:rPr lang="en-US" altLang="zh-TW" i="1" dirty="0"/>
              <a:t>Slepian-Wolf Theorem</a:t>
            </a:r>
            <a:endParaRPr lang="zh-TW" altLang="en-US" dirty="0"/>
          </a:p>
        </p:txBody>
      </p:sp>
      <p:sp>
        <p:nvSpPr>
          <p:cNvPr id="3" name="文字版面配置區 2">
            <a:extLst>
              <a:ext uri="{FF2B5EF4-FFF2-40B4-BE49-F238E27FC236}">
                <a16:creationId xmlns:a16="http://schemas.microsoft.com/office/drawing/2014/main" id="{B39F9A93-481B-4276-AB4D-6204465F9ADB}"/>
              </a:ext>
            </a:extLst>
          </p:cNvPr>
          <p:cNvSpPr>
            <a:spLocks noGrp="1"/>
          </p:cNvSpPr>
          <p:nvPr>
            <p:ph type="body" sz="quarter" idx="11"/>
          </p:nvPr>
        </p:nvSpPr>
        <p:spPr/>
        <p:txBody>
          <a:bodyPr/>
          <a:lstStyle/>
          <a:p>
            <a:endParaRPr lang="zh-TW" altLang="en-US"/>
          </a:p>
        </p:txBody>
      </p:sp>
      <p:pic>
        <p:nvPicPr>
          <p:cNvPr id="4" name="圖片 3">
            <a:extLst>
              <a:ext uri="{FF2B5EF4-FFF2-40B4-BE49-F238E27FC236}">
                <a16:creationId xmlns:a16="http://schemas.microsoft.com/office/drawing/2014/main" id="{AAB092D2-D6DA-44E2-8D58-6A7ABB45A0F8}"/>
              </a:ext>
            </a:extLst>
          </p:cNvPr>
          <p:cNvPicPr>
            <a:picLocks noChangeAspect="1"/>
          </p:cNvPicPr>
          <p:nvPr/>
        </p:nvPicPr>
        <p:blipFill rotWithShape="1">
          <a:blip r:embed="rId3"/>
          <a:srcRect t="5737"/>
          <a:stretch/>
        </p:blipFill>
        <p:spPr>
          <a:xfrm>
            <a:off x="1259632" y="1563638"/>
            <a:ext cx="6335009" cy="1993526"/>
          </a:xfrm>
          <a:prstGeom prst="rect">
            <a:avLst/>
          </a:prstGeom>
        </p:spPr>
      </p:pic>
      <p:pic>
        <p:nvPicPr>
          <p:cNvPr id="6" name="圖片 5">
            <a:extLst>
              <a:ext uri="{FF2B5EF4-FFF2-40B4-BE49-F238E27FC236}">
                <a16:creationId xmlns:a16="http://schemas.microsoft.com/office/drawing/2014/main" id="{C9EBF79F-83B6-45F5-9B35-EA002CF6ED00}"/>
              </a:ext>
            </a:extLst>
          </p:cNvPr>
          <p:cNvPicPr>
            <a:picLocks noChangeAspect="1"/>
          </p:cNvPicPr>
          <p:nvPr/>
        </p:nvPicPr>
        <p:blipFill>
          <a:blip r:embed="rId4"/>
          <a:stretch>
            <a:fillRect/>
          </a:stretch>
        </p:blipFill>
        <p:spPr>
          <a:xfrm>
            <a:off x="2051720" y="4133228"/>
            <a:ext cx="4667901" cy="457264"/>
          </a:xfrm>
          <a:prstGeom prst="rect">
            <a:avLst/>
          </a:prstGeom>
        </p:spPr>
      </p:pic>
    </p:spTree>
    <p:extLst>
      <p:ext uri="{BB962C8B-B14F-4D97-AF65-F5344CB8AC3E}">
        <p14:creationId xmlns:p14="http://schemas.microsoft.com/office/powerpoint/2010/main" val="1555413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3A64B184-2D50-4117-B25D-E7415C9C54FA}"/>
              </a:ext>
            </a:extLst>
          </p:cNvPr>
          <p:cNvSpPr>
            <a:spLocks noGrp="1"/>
          </p:cNvSpPr>
          <p:nvPr>
            <p:ph type="body" sz="quarter" idx="10"/>
          </p:nvPr>
        </p:nvSpPr>
        <p:spPr/>
        <p:txBody>
          <a:bodyPr/>
          <a:lstStyle/>
          <a:p>
            <a:r>
              <a:rPr lang="en-US" altLang="zh-TW" i="1" dirty="0"/>
              <a:t>Mapping: SNR to Rate</a:t>
            </a:r>
            <a:endParaRPr lang="zh-TW" altLang="en-US" dirty="0"/>
          </a:p>
        </p:txBody>
      </p:sp>
      <p:sp>
        <p:nvSpPr>
          <p:cNvPr id="3" name="文字版面配置區 2">
            <a:extLst>
              <a:ext uri="{FF2B5EF4-FFF2-40B4-BE49-F238E27FC236}">
                <a16:creationId xmlns:a16="http://schemas.microsoft.com/office/drawing/2014/main" id="{6751404F-F513-48DD-B6E9-5C3B8CE1191B}"/>
              </a:ext>
            </a:extLst>
          </p:cNvPr>
          <p:cNvSpPr>
            <a:spLocks noGrp="1"/>
          </p:cNvSpPr>
          <p:nvPr>
            <p:ph type="body" sz="quarter" idx="11"/>
          </p:nvPr>
        </p:nvSpPr>
        <p:spPr/>
        <p:txBody>
          <a:bodyPr/>
          <a:lstStyle/>
          <a:p>
            <a:endParaRPr lang="zh-TW" altLang="en-US"/>
          </a:p>
        </p:txBody>
      </p:sp>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4444461C-37A7-45C1-A313-F31DA1B7083B}"/>
                  </a:ext>
                </a:extLst>
              </p:cNvPr>
              <p:cNvSpPr/>
              <p:nvPr/>
            </p:nvSpPr>
            <p:spPr>
              <a:xfrm>
                <a:off x="755576" y="1419622"/>
                <a:ext cx="7272808" cy="923330"/>
              </a:xfrm>
              <a:prstGeom prst="rect">
                <a:avLst/>
              </a:prstGeom>
            </p:spPr>
            <p:txBody>
              <a:bodyPr wrap="square">
                <a:spAutoFit/>
              </a:bodyPr>
              <a:lstStyle/>
              <a:p>
                <a:r>
                  <a:rPr lang="en-US" altLang="zh-TW" dirty="0"/>
                  <a:t>The maximum achievable value of the transmission rate </a:t>
                </a:r>
                <a14:m>
                  <m:oMath xmlns:m="http://schemas.openxmlformats.org/officeDocument/2006/math">
                    <m:sSub>
                      <m:sSubPr>
                        <m:ctrlPr>
                          <a:rPr lang="en-US" altLang="zh-TW" i="1" smtClean="0">
                            <a:latin typeface="Cambria Math" panose="02040503050406030204" pitchFamily="18" charset="0"/>
                          </a:rPr>
                        </m:ctrlPr>
                      </m:sSubPr>
                      <m:e>
                        <m:r>
                          <m:rPr>
                            <m:sty m:val="p"/>
                          </m:rPr>
                          <a:rPr lang="en-US" altLang="zh-TW" i="1">
                            <a:latin typeface="Cambria Math" panose="02040503050406030204" pitchFamily="18" charset="0"/>
                          </a:rPr>
                          <m:t>R</m:t>
                        </m:r>
                      </m:e>
                      <m:sub>
                        <m:r>
                          <a:rPr lang="en-US" altLang="zh-TW" b="0" i="1" smtClean="0">
                            <a:latin typeface="Cambria Math" panose="02040503050406030204" pitchFamily="18" charset="0"/>
                          </a:rPr>
                          <m:t>𝑖</m:t>
                        </m:r>
                      </m:sub>
                    </m:sSub>
                  </m:oMath>
                </a14:m>
                <a:r>
                  <a:rPr lang="en-US" altLang="zh-TW" dirty="0"/>
                  <a:t>is then </a:t>
                </a:r>
              </a:p>
              <a:p>
                <a:r>
                  <a:rPr lang="en-US" altLang="zh-TW" dirty="0"/>
                  <a:t>related to the received SNR </a:t>
                </a:r>
                <a14:m>
                  <m:oMath xmlns:m="http://schemas.openxmlformats.org/officeDocument/2006/math">
                    <m:sSub>
                      <m:sSubPr>
                        <m:ctrlPr>
                          <a:rPr lang="en-US" altLang="zh-TW" i="1">
                            <a:latin typeface="Cambria Math" panose="02040503050406030204" pitchFamily="18" charset="0"/>
                          </a:rPr>
                        </m:ctrlPr>
                      </m:sSubPr>
                      <m:e>
                        <m:r>
                          <m:rPr>
                            <m:nor/>
                          </m:rPr>
                          <a:rPr lang="en-US" altLang="zh-TW" dirty="0"/>
                          <m:t>Γ</m:t>
                        </m:r>
                      </m:e>
                      <m:sub>
                        <m:r>
                          <a:rPr lang="en-US" altLang="zh-TW" i="1">
                            <a:latin typeface="Cambria Math" panose="02040503050406030204" pitchFamily="18" charset="0"/>
                          </a:rPr>
                          <m:t>𝑖</m:t>
                        </m:r>
                      </m:sub>
                    </m:sSub>
                  </m:oMath>
                </a14:m>
                <a:r>
                  <a:rPr lang="en-US" altLang="zh-TW" dirty="0"/>
                  <a:t>, based on the block</a:t>
                </a:r>
              </a:p>
              <a:p>
                <a:r>
                  <a:rPr lang="en-US" altLang="zh-TW" dirty="0"/>
                  <a:t>Rayleigh fading assumption, by</a:t>
                </a:r>
                <a:endParaRPr lang="zh-TW" altLang="en-US" dirty="0"/>
              </a:p>
            </p:txBody>
          </p:sp>
        </mc:Choice>
        <mc:Fallback>
          <p:sp>
            <p:nvSpPr>
              <p:cNvPr id="5" name="矩形 4">
                <a:extLst>
                  <a:ext uri="{FF2B5EF4-FFF2-40B4-BE49-F238E27FC236}">
                    <a16:creationId xmlns:a16="http://schemas.microsoft.com/office/drawing/2014/main" id="{4444461C-37A7-45C1-A313-F31DA1B7083B}"/>
                  </a:ext>
                </a:extLst>
              </p:cNvPr>
              <p:cNvSpPr>
                <a:spLocks noRot="1" noChangeAspect="1" noMove="1" noResize="1" noEditPoints="1" noAdjustHandles="1" noChangeArrowheads="1" noChangeShapeType="1" noTextEdit="1"/>
              </p:cNvSpPr>
              <p:nvPr/>
            </p:nvSpPr>
            <p:spPr>
              <a:xfrm>
                <a:off x="755576" y="1419622"/>
                <a:ext cx="7272808" cy="923330"/>
              </a:xfrm>
              <a:prstGeom prst="rect">
                <a:avLst/>
              </a:prstGeom>
              <a:blipFill>
                <a:blip r:embed="rId3"/>
                <a:stretch>
                  <a:fillRect l="-754" t="-3974" b="-9934"/>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AFFEC8C9-5A53-400C-9B16-7902674617A7}"/>
              </a:ext>
            </a:extLst>
          </p:cNvPr>
          <p:cNvPicPr>
            <a:picLocks noChangeAspect="1"/>
          </p:cNvPicPr>
          <p:nvPr/>
        </p:nvPicPr>
        <p:blipFill>
          <a:blip r:embed="rId4"/>
          <a:stretch>
            <a:fillRect/>
          </a:stretch>
        </p:blipFill>
        <p:spPr>
          <a:xfrm>
            <a:off x="1886555" y="2499742"/>
            <a:ext cx="5010849" cy="905001"/>
          </a:xfrm>
          <a:prstGeom prst="rect">
            <a:avLst/>
          </a:prstGeom>
        </p:spPr>
      </p:pic>
    </p:spTree>
    <p:extLst>
      <p:ext uri="{BB962C8B-B14F-4D97-AF65-F5344CB8AC3E}">
        <p14:creationId xmlns:p14="http://schemas.microsoft.com/office/powerpoint/2010/main" val="2784237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E0071CD8-6CF1-42AE-ABB8-E5B052BB10BE}"/>
              </a:ext>
            </a:extLst>
          </p:cNvPr>
          <p:cNvSpPr>
            <a:spLocks noGrp="1"/>
          </p:cNvSpPr>
          <p:nvPr>
            <p:ph type="body" sz="quarter" idx="10"/>
          </p:nvPr>
        </p:nvSpPr>
        <p:spPr/>
        <p:txBody>
          <a:bodyPr/>
          <a:lstStyle/>
          <a:p>
            <a:endParaRPr lang="zh-TW" altLang="en-US"/>
          </a:p>
        </p:txBody>
      </p:sp>
      <p:sp>
        <p:nvSpPr>
          <p:cNvPr id="3" name="文字版面配置區 2">
            <a:extLst>
              <a:ext uri="{FF2B5EF4-FFF2-40B4-BE49-F238E27FC236}">
                <a16:creationId xmlns:a16="http://schemas.microsoft.com/office/drawing/2014/main" id="{45EAE44C-F917-49F0-9B6B-67AA59402DF3}"/>
              </a:ext>
            </a:extLst>
          </p:cNvPr>
          <p:cNvSpPr>
            <a:spLocks noGrp="1"/>
          </p:cNvSpPr>
          <p:nvPr>
            <p:ph type="body" sz="quarter" idx="11"/>
          </p:nvPr>
        </p:nvSpPr>
        <p:spPr/>
        <p:txBody>
          <a:bodyPr/>
          <a:lstStyle/>
          <a:p>
            <a:endParaRPr lang="zh-TW" altLang="en-US"/>
          </a:p>
        </p:txBody>
      </p:sp>
      <p:pic>
        <p:nvPicPr>
          <p:cNvPr id="4" name="圖片 3">
            <a:extLst>
              <a:ext uri="{FF2B5EF4-FFF2-40B4-BE49-F238E27FC236}">
                <a16:creationId xmlns:a16="http://schemas.microsoft.com/office/drawing/2014/main" id="{CB1114A5-331D-4738-82FC-98D0AB295A2F}"/>
              </a:ext>
            </a:extLst>
          </p:cNvPr>
          <p:cNvPicPr>
            <a:picLocks noChangeAspect="1"/>
          </p:cNvPicPr>
          <p:nvPr/>
        </p:nvPicPr>
        <p:blipFill>
          <a:blip r:embed="rId3"/>
          <a:stretch>
            <a:fillRect/>
          </a:stretch>
        </p:blipFill>
        <p:spPr>
          <a:xfrm>
            <a:off x="2051720" y="796395"/>
            <a:ext cx="4683036" cy="3860451"/>
          </a:xfrm>
          <a:prstGeom prst="rect">
            <a:avLst/>
          </a:prstGeom>
        </p:spPr>
      </p:pic>
      <p:pic>
        <p:nvPicPr>
          <p:cNvPr id="5" name="圖片 4">
            <a:extLst>
              <a:ext uri="{FF2B5EF4-FFF2-40B4-BE49-F238E27FC236}">
                <a16:creationId xmlns:a16="http://schemas.microsoft.com/office/drawing/2014/main" id="{CCB1DAB7-659B-4EE9-9E79-01C49D6ED1A0}"/>
              </a:ext>
            </a:extLst>
          </p:cNvPr>
          <p:cNvPicPr>
            <a:picLocks noChangeAspect="1"/>
          </p:cNvPicPr>
          <p:nvPr/>
        </p:nvPicPr>
        <p:blipFill>
          <a:blip r:embed="rId4"/>
          <a:stretch>
            <a:fillRect/>
          </a:stretch>
        </p:blipFill>
        <p:spPr>
          <a:xfrm>
            <a:off x="6012160" y="2612763"/>
            <a:ext cx="3759890" cy="679067"/>
          </a:xfrm>
          <a:prstGeom prst="rect">
            <a:avLst/>
          </a:prstGeom>
        </p:spPr>
      </p:pic>
    </p:spTree>
    <p:extLst>
      <p:ext uri="{BB962C8B-B14F-4D97-AF65-F5344CB8AC3E}">
        <p14:creationId xmlns:p14="http://schemas.microsoft.com/office/powerpoint/2010/main" val="659666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C7FA1B27-A4B9-4884-B9B2-93D0E740E1EA}"/>
              </a:ext>
            </a:extLst>
          </p:cNvPr>
          <p:cNvSpPr>
            <a:spLocks noGrp="1"/>
          </p:cNvSpPr>
          <p:nvPr>
            <p:ph type="body" sz="quarter" idx="10"/>
          </p:nvPr>
        </p:nvSpPr>
        <p:spPr/>
        <p:txBody>
          <a:bodyPr/>
          <a:lstStyle/>
          <a:p>
            <a:r>
              <a:rPr lang="en-US" altLang="zh-TW" dirty="0"/>
              <a:t>OUTAGE PROBABILITY</a:t>
            </a:r>
            <a:endParaRPr lang="zh-TW" altLang="en-US" dirty="0"/>
          </a:p>
        </p:txBody>
      </p:sp>
      <p:sp>
        <p:nvSpPr>
          <p:cNvPr id="3" name="文字版面配置區 2">
            <a:extLst>
              <a:ext uri="{FF2B5EF4-FFF2-40B4-BE49-F238E27FC236}">
                <a16:creationId xmlns:a16="http://schemas.microsoft.com/office/drawing/2014/main" id="{D261D647-777C-4DA2-8D6E-4ACA630519C4}"/>
              </a:ext>
            </a:extLst>
          </p:cNvPr>
          <p:cNvSpPr>
            <a:spLocks noGrp="1"/>
          </p:cNvSpPr>
          <p:nvPr>
            <p:ph type="body" sz="quarter" idx="11"/>
          </p:nvPr>
        </p:nvSpPr>
        <p:spPr/>
        <p:txBody>
          <a:bodyPr/>
          <a:lstStyle/>
          <a:p>
            <a:r>
              <a:rPr lang="en-US" altLang="zh-TW" i="1" dirty="0"/>
              <a:t>Joint Decoding</a:t>
            </a:r>
            <a:endParaRPr lang="zh-TW" altLang="en-US" dirty="0"/>
          </a:p>
        </p:txBody>
      </p:sp>
      <p:sp>
        <p:nvSpPr>
          <p:cNvPr id="4" name="矩形 3">
            <a:extLst>
              <a:ext uri="{FF2B5EF4-FFF2-40B4-BE49-F238E27FC236}">
                <a16:creationId xmlns:a16="http://schemas.microsoft.com/office/drawing/2014/main" id="{2F564F57-8F0B-4AE6-9338-618CDE7EAF0F}"/>
              </a:ext>
            </a:extLst>
          </p:cNvPr>
          <p:cNvSpPr/>
          <p:nvPr/>
        </p:nvSpPr>
        <p:spPr>
          <a:xfrm>
            <a:off x="1043608" y="1108414"/>
            <a:ext cx="7344816" cy="646331"/>
          </a:xfrm>
          <a:prstGeom prst="rect">
            <a:avLst/>
          </a:prstGeom>
        </p:spPr>
        <p:txBody>
          <a:bodyPr wrap="square">
            <a:spAutoFit/>
          </a:bodyPr>
          <a:lstStyle/>
          <a:p>
            <a:r>
              <a:rPr lang="en-US" altLang="zh-TW" dirty="0">
                <a:latin typeface="Times-Roman"/>
              </a:rPr>
              <a:t>An outage event occurs whenever the transmission rate</a:t>
            </a:r>
            <a:r>
              <a:rPr lang="zh-TW" altLang="en-US" dirty="0">
                <a:latin typeface="Times-Roman"/>
              </a:rPr>
              <a:t> </a:t>
            </a:r>
            <a:r>
              <a:rPr lang="zh-TW" altLang="en-US" i="1" dirty="0">
                <a:latin typeface="CMMI10"/>
              </a:rPr>
              <a:t>𝑁</a:t>
            </a:r>
            <a:r>
              <a:rPr lang="en-US" altLang="zh-TW" dirty="0">
                <a:latin typeface="Times-Roman"/>
              </a:rPr>
              <a:t>-tuple </a:t>
            </a:r>
            <a:r>
              <a:rPr lang="zh-TW" altLang="en-US" i="1" dirty="0">
                <a:latin typeface="CMMI10"/>
              </a:rPr>
              <a:t>𝑅</a:t>
            </a:r>
            <a:r>
              <a:rPr lang="en-US" altLang="zh-TW" sz="800" dirty="0">
                <a:latin typeface="CMR7"/>
              </a:rPr>
              <a:t>1</a:t>
            </a:r>
            <a:r>
              <a:rPr lang="en-US" altLang="zh-TW" i="1" dirty="0">
                <a:latin typeface="CMMI10"/>
              </a:rPr>
              <a:t>, ...,</a:t>
            </a:r>
            <a:r>
              <a:rPr lang="zh-TW" altLang="en-US" i="1" dirty="0">
                <a:latin typeface="CMMI10"/>
              </a:rPr>
              <a:t>𝑅</a:t>
            </a:r>
            <a:r>
              <a:rPr lang="zh-TW" altLang="en-US" sz="800" i="1" dirty="0">
                <a:latin typeface="CMMI7"/>
              </a:rPr>
              <a:t>𝑁 </a:t>
            </a:r>
            <a:r>
              <a:rPr lang="en-US" altLang="zh-TW" dirty="0">
                <a:latin typeface="Times-Roman"/>
              </a:rPr>
              <a:t>falls outside the MC admissible rate</a:t>
            </a:r>
            <a:r>
              <a:rPr lang="zh-TW" altLang="en-US" dirty="0">
                <a:latin typeface="Times-Roman"/>
              </a:rPr>
              <a:t> </a:t>
            </a:r>
            <a:r>
              <a:rPr lang="en-US" altLang="zh-TW" dirty="0">
                <a:latin typeface="Times-Roman"/>
              </a:rPr>
              <a:t>region </a:t>
            </a:r>
            <a:r>
              <a:rPr lang="en-US" altLang="zh-TW" i="1" dirty="0">
                <a:latin typeface="CMSY10"/>
              </a:rPr>
              <a:t>ℛ</a:t>
            </a:r>
            <a:r>
              <a:rPr lang="en-US" altLang="zh-TW" sz="800" dirty="0">
                <a:latin typeface="Times-Roman"/>
              </a:rPr>
              <a:t>MC</a:t>
            </a:r>
            <a:r>
              <a:rPr lang="en-US" altLang="zh-TW" dirty="0">
                <a:latin typeface="Times-Roman"/>
              </a:rPr>
              <a:t>.</a:t>
            </a:r>
            <a:endParaRPr lang="zh-TW" altLang="en-US" dirty="0"/>
          </a:p>
        </p:txBody>
      </p:sp>
      <p:pic>
        <p:nvPicPr>
          <p:cNvPr id="5" name="圖片 4">
            <a:extLst>
              <a:ext uri="{FF2B5EF4-FFF2-40B4-BE49-F238E27FC236}">
                <a16:creationId xmlns:a16="http://schemas.microsoft.com/office/drawing/2014/main" id="{1C2A79BC-A3EA-4ABA-B3DB-7F16CD7A2402}"/>
              </a:ext>
            </a:extLst>
          </p:cNvPr>
          <p:cNvPicPr>
            <a:picLocks noChangeAspect="1"/>
          </p:cNvPicPr>
          <p:nvPr/>
        </p:nvPicPr>
        <p:blipFill>
          <a:blip r:embed="rId3"/>
          <a:stretch>
            <a:fillRect/>
          </a:stretch>
        </p:blipFill>
        <p:spPr>
          <a:xfrm>
            <a:off x="1115616" y="1895497"/>
            <a:ext cx="6296904" cy="2695951"/>
          </a:xfrm>
          <a:prstGeom prst="rect">
            <a:avLst/>
          </a:prstGeom>
        </p:spPr>
      </p:pic>
    </p:spTree>
    <p:extLst>
      <p:ext uri="{BB962C8B-B14F-4D97-AF65-F5344CB8AC3E}">
        <p14:creationId xmlns:p14="http://schemas.microsoft.com/office/powerpoint/2010/main" val="1070663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F92B02CB-2364-4EAC-B2DC-63254EC0B7CD}"/>
              </a:ext>
            </a:extLst>
          </p:cNvPr>
          <p:cNvSpPr>
            <a:spLocks noGrp="1"/>
          </p:cNvSpPr>
          <p:nvPr>
            <p:ph type="body" sz="quarter" idx="10"/>
          </p:nvPr>
        </p:nvSpPr>
        <p:spPr/>
        <p:txBody>
          <a:bodyPr/>
          <a:lstStyle/>
          <a:p>
            <a:r>
              <a:rPr lang="en-US" altLang="zh-TW" dirty="0"/>
              <a:t>OUTAGE PROBABILITY</a:t>
            </a:r>
            <a:endParaRPr lang="zh-TW" altLang="en-US" dirty="0"/>
          </a:p>
        </p:txBody>
      </p:sp>
      <p:sp>
        <p:nvSpPr>
          <p:cNvPr id="3" name="文字版面配置區 2">
            <a:extLst>
              <a:ext uri="{FF2B5EF4-FFF2-40B4-BE49-F238E27FC236}">
                <a16:creationId xmlns:a16="http://schemas.microsoft.com/office/drawing/2014/main" id="{09325095-79EB-4D16-AF2F-2590162074A5}"/>
              </a:ext>
            </a:extLst>
          </p:cNvPr>
          <p:cNvSpPr>
            <a:spLocks noGrp="1"/>
          </p:cNvSpPr>
          <p:nvPr>
            <p:ph type="body" sz="quarter" idx="11"/>
          </p:nvPr>
        </p:nvSpPr>
        <p:spPr/>
        <p:txBody>
          <a:bodyPr/>
          <a:lstStyle/>
          <a:p>
            <a:r>
              <a:rPr lang="en-US" altLang="zh-TW" i="1" dirty="0"/>
              <a:t>Maximum Selection Combining</a:t>
            </a:r>
            <a:r>
              <a:rPr lang="zh-TW" altLang="en-US" i="1" dirty="0"/>
              <a:t> </a:t>
            </a:r>
            <a:r>
              <a:rPr lang="en-US" altLang="zh-TW" i="1" dirty="0"/>
              <a:t>(MSC)</a:t>
            </a:r>
            <a:endParaRPr lang="zh-TW" altLang="en-US" dirty="0"/>
          </a:p>
        </p:txBody>
      </p:sp>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4372728A-1B25-40FB-9DC2-D1DAE2F926B0}"/>
                  </a:ext>
                </a:extLst>
              </p:cNvPr>
              <p:cNvSpPr/>
              <p:nvPr/>
            </p:nvSpPr>
            <p:spPr>
              <a:xfrm>
                <a:off x="611560" y="1419622"/>
                <a:ext cx="8064896" cy="1477328"/>
              </a:xfrm>
              <a:prstGeom prst="rect">
                <a:avLst/>
              </a:prstGeom>
            </p:spPr>
            <p:txBody>
              <a:bodyPr wrap="square">
                <a:spAutoFit/>
              </a:bodyPr>
              <a:lstStyle/>
              <a:p>
                <a:r>
                  <a:rPr lang="en-US" altLang="zh-TW" dirty="0"/>
                  <a:t>For MSC at each time instant only the channel with the maximum transmission rate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𝑅</m:t>
                        </m:r>
                      </m:e>
                      <m:sub>
                        <m:r>
                          <a:rPr lang="en-US" altLang="zh-TW" b="0" i="1" smtClean="0">
                            <a:latin typeface="Cambria Math" panose="02040503050406030204" pitchFamily="18" charset="0"/>
                          </a:rPr>
                          <m:t>𝑚𝑎𝑥</m:t>
                        </m:r>
                      </m:sub>
                    </m:sSub>
                  </m:oMath>
                </a14:m>
                <a:r>
                  <a:rPr lang="en-US" altLang="zh-TW" dirty="0"/>
                  <a:t>= max(</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𝑅</m:t>
                        </m:r>
                      </m:e>
                      <m:sub>
                        <m:r>
                          <a:rPr lang="en-US" altLang="zh-TW" b="0" i="1" smtClean="0">
                            <a:latin typeface="Cambria Math" panose="02040503050406030204" pitchFamily="18" charset="0"/>
                          </a:rPr>
                          <m:t>1</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𝑅</m:t>
                        </m:r>
                      </m:e>
                      <m:sub>
                        <m:r>
                          <a:rPr lang="en-US" altLang="zh-TW" b="0" i="1" smtClean="0">
                            <a:latin typeface="Cambria Math" panose="02040503050406030204" pitchFamily="18" charset="0"/>
                          </a:rPr>
                          <m:t>2</m:t>
                        </m:r>
                      </m:sub>
                    </m:sSub>
                  </m:oMath>
                </a14:m>
                <a:r>
                  <a:rPr lang="en-US" altLang="zh-TW" dirty="0"/>
                  <a:t>, ...,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𝑅</m:t>
                        </m:r>
                      </m:e>
                      <m:sub>
                        <m:r>
                          <a:rPr lang="en-US" altLang="zh-TW" b="0" i="1" smtClean="0">
                            <a:latin typeface="Cambria Math" panose="02040503050406030204" pitchFamily="18" charset="0"/>
                          </a:rPr>
                          <m:t>𝑁</m:t>
                        </m:r>
                      </m:sub>
                    </m:sSub>
                  </m:oMath>
                </a14:m>
                <a:r>
                  <a:rPr lang="en-US" altLang="zh-TW" dirty="0"/>
                  <a:t>) </a:t>
                </a:r>
                <a:r>
                  <a:rPr lang="en-US" altLang="zh-TW" dirty="0" err="1"/>
                  <a:t>isselected</a:t>
                </a:r>
                <a:r>
                  <a:rPr lang="en-US" altLang="zh-TW" dirty="0"/>
                  <a:t>. If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𝑅</m:t>
                        </m:r>
                      </m:e>
                      <m:sub>
                        <m:r>
                          <a:rPr lang="en-US" altLang="zh-TW" i="1">
                            <a:latin typeface="Cambria Math" panose="02040503050406030204" pitchFamily="18" charset="0"/>
                          </a:rPr>
                          <m:t>𝑚𝑎𝑥</m:t>
                        </m:r>
                      </m:sub>
                    </m:sSub>
                    <m:r>
                      <a:rPr lang="en-US" altLang="zh-TW" i="1">
                        <a:latin typeface="Cambria Math" panose="02040503050406030204" pitchFamily="18" charset="0"/>
                      </a:rPr>
                      <m:t> </m:t>
                    </m:r>
                  </m:oMath>
                </a14:m>
                <a:r>
                  <a:rPr lang="en-US" altLang="zh-TW" dirty="0"/>
                  <a:t>does not satisfy the rate constraint in (7) an outage occurs. In other word, each received source sequence is decoded individually and no received source sequence can be perfectly reproduced. The outage probability can be calculated as follows:</a:t>
                </a:r>
                <a:endParaRPr lang="zh-TW" altLang="en-US" dirty="0"/>
              </a:p>
            </p:txBody>
          </p:sp>
        </mc:Choice>
        <mc:Fallback>
          <p:sp>
            <p:nvSpPr>
              <p:cNvPr id="7" name="矩形 6">
                <a:extLst>
                  <a:ext uri="{FF2B5EF4-FFF2-40B4-BE49-F238E27FC236}">
                    <a16:creationId xmlns:a16="http://schemas.microsoft.com/office/drawing/2014/main" id="{4372728A-1B25-40FB-9DC2-D1DAE2F926B0}"/>
                  </a:ext>
                </a:extLst>
              </p:cNvPr>
              <p:cNvSpPr>
                <a:spLocks noRot="1" noChangeAspect="1" noMove="1" noResize="1" noEditPoints="1" noAdjustHandles="1" noChangeArrowheads="1" noChangeShapeType="1" noTextEdit="1"/>
              </p:cNvSpPr>
              <p:nvPr/>
            </p:nvSpPr>
            <p:spPr>
              <a:xfrm>
                <a:off x="611560" y="1419622"/>
                <a:ext cx="8064896" cy="1477328"/>
              </a:xfrm>
              <a:prstGeom prst="rect">
                <a:avLst/>
              </a:prstGeom>
              <a:blipFill>
                <a:blip r:embed="rId3"/>
                <a:stretch>
                  <a:fillRect l="-605" t="-2479" r="-378" b="-5785"/>
                </a:stretch>
              </a:blipFill>
            </p:spPr>
            <p:txBody>
              <a:bodyPr/>
              <a:lstStyle/>
              <a:p>
                <a:r>
                  <a:rPr lang="zh-TW" altLang="en-US">
                    <a:noFill/>
                  </a:rPr>
                  <a:t> </a:t>
                </a:r>
              </a:p>
            </p:txBody>
          </p:sp>
        </mc:Fallback>
      </mc:AlternateContent>
      <p:pic>
        <p:nvPicPr>
          <p:cNvPr id="8" name="圖片 7">
            <a:extLst>
              <a:ext uri="{FF2B5EF4-FFF2-40B4-BE49-F238E27FC236}">
                <a16:creationId xmlns:a16="http://schemas.microsoft.com/office/drawing/2014/main" id="{EABDA60C-E5A6-4EB6-985A-D6C14DB6BF38}"/>
              </a:ext>
            </a:extLst>
          </p:cNvPr>
          <p:cNvPicPr>
            <a:picLocks noChangeAspect="1"/>
          </p:cNvPicPr>
          <p:nvPr/>
        </p:nvPicPr>
        <p:blipFill>
          <a:blip r:embed="rId4"/>
          <a:stretch>
            <a:fillRect/>
          </a:stretch>
        </p:blipFill>
        <p:spPr>
          <a:xfrm>
            <a:off x="1403648" y="2896950"/>
            <a:ext cx="5782482" cy="657317"/>
          </a:xfrm>
          <a:prstGeom prst="rect">
            <a:avLst/>
          </a:prstGeom>
        </p:spPr>
      </p:pic>
      <p:pic>
        <p:nvPicPr>
          <p:cNvPr id="9" name="圖片 8">
            <a:extLst>
              <a:ext uri="{FF2B5EF4-FFF2-40B4-BE49-F238E27FC236}">
                <a16:creationId xmlns:a16="http://schemas.microsoft.com/office/drawing/2014/main" id="{F0BA150C-525A-4DED-A34B-D65765FA6B18}"/>
              </a:ext>
            </a:extLst>
          </p:cNvPr>
          <p:cNvPicPr>
            <a:picLocks noChangeAspect="1"/>
          </p:cNvPicPr>
          <p:nvPr/>
        </p:nvPicPr>
        <p:blipFill>
          <a:blip r:embed="rId5"/>
          <a:stretch>
            <a:fillRect/>
          </a:stretch>
        </p:blipFill>
        <p:spPr>
          <a:xfrm>
            <a:off x="2051720" y="3405809"/>
            <a:ext cx="3993490" cy="1628551"/>
          </a:xfrm>
          <a:prstGeom prst="rect">
            <a:avLst/>
          </a:prstGeom>
        </p:spPr>
      </p:pic>
    </p:spTree>
    <p:extLst>
      <p:ext uri="{BB962C8B-B14F-4D97-AF65-F5344CB8AC3E}">
        <p14:creationId xmlns:p14="http://schemas.microsoft.com/office/powerpoint/2010/main" val="1911895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C28FF27F-4077-434A-9D47-FEF60161D2A6}"/>
              </a:ext>
            </a:extLst>
          </p:cNvPr>
          <p:cNvSpPr>
            <a:spLocks noGrp="1"/>
          </p:cNvSpPr>
          <p:nvPr>
            <p:ph type="body" sz="quarter" idx="10"/>
          </p:nvPr>
        </p:nvSpPr>
        <p:spPr/>
        <p:txBody>
          <a:bodyPr/>
          <a:lstStyle/>
          <a:p>
            <a:r>
              <a:rPr lang="en-US" altLang="zh-TW" dirty="0"/>
              <a:t>OUTAGE PROBABILITY</a:t>
            </a:r>
            <a:endParaRPr lang="zh-TW" altLang="en-US" dirty="0"/>
          </a:p>
        </p:txBody>
      </p:sp>
      <p:sp>
        <p:nvSpPr>
          <p:cNvPr id="3" name="文字版面配置區 2">
            <a:extLst>
              <a:ext uri="{FF2B5EF4-FFF2-40B4-BE49-F238E27FC236}">
                <a16:creationId xmlns:a16="http://schemas.microsoft.com/office/drawing/2014/main" id="{57885206-5FA8-41BB-908E-0F0EC659760C}"/>
              </a:ext>
            </a:extLst>
          </p:cNvPr>
          <p:cNvSpPr>
            <a:spLocks noGrp="1"/>
          </p:cNvSpPr>
          <p:nvPr>
            <p:ph type="body" sz="quarter" idx="11"/>
          </p:nvPr>
        </p:nvSpPr>
        <p:spPr/>
        <p:txBody>
          <a:bodyPr/>
          <a:lstStyle/>
          <a:p>
            <a:r>
              <a:rPr lang="en-US" altLang="zh-TW" dirty="0"/>
              <a:t>Maximal-ratio combining</a:t>
            </a:r>
            <a:r>
              <a:rPr lang="zh-TW" altLang="en-US" dirty="0"/>
              <a:t> </a:t>
            </a:r>
            <a:r>
              <a:rPr lang="en-US" altLang="zh-TW" dirty="0"/>
              <a:t>(MRC)</a:t>
            </a:r>
          </a:p>
        </p:txBody>
      </p:sp>
      <p:sp>
        <p:nvSpPr>
          <p:cNvPr id="4" name="矩形 3">
            <a:extLst>
              <a:ext uri="{FF2B5EF4-FFF2-40B4-BE49-F238E27FC236}">
                <a16:creationId xmlns:a16="http://schemas.microsoft.com/office/drawing/2014/main" id="{0F89541A-2297-455E-8B23-0A9D64F54388}"/>
              </a:ext>
            </a:extLst>
          </p:cNvPr>
          <p:cNvSpPr/>
          <p:nvPr/>
        </p:nvSpPr>
        <p:spPr>
          <a:xfrm>
            <a:off x="611560" y="987574"/>
            <a:ext cx="7920880" cy="2308324"/>
          </a:xfrm>
          <a:prstGeom prst="rect">
            <a:avLst/>
          </a:prstGeom>
        </p:spPr>
        <p:txBody>
          <a:bodyPr wrap="square">
            <a:spAutoFit/>
          </a:bodyPr>
          <a:lstStyle/>
          <a:p>
            <a:r>
              <a:rPr lang="en-US" altLang="zh-TW" dirty="0"/>
              <a:t>In telecommunications, maximum-ratio combining (MRC) is a method of diversity combining in which:</a:t>
            </a:r>
          </a:p>
          <a:p>
            <a:endParaRPr lang="en-US" altLang="zh-TW" dirty="0"/>
          </a:p>
          <a:p>
            <a:pPr marL="285750" indent="-285750">
              <a:buFont typeface="Arial" panose="020B0604020202020204" pitchFamily="34" charset="0"/>
              <a:buChar char="•"/>
            </a:pPr>
            <a:r>
              <a:rPr lang="en-US" altLang="zh-TW" dirty="0"/>
              <a:t>The signals from each channel are added together,</a:t>
            </a:r>
          </a:p>
          <a:p>
            <a:pPr marL="285750" indent="-285750">
              <a:buFont typeface="Arial" panose="020B0604020202020204" pitchFamily="34" charset="0"/>
              <a:buChar char="•"/>
            </a:pPr>
            <a:r>
              <a:rPr lang="en-US" altLang="zh-TW" dirty="0"/>
              <a:t>The gain of each channel is made proportional to the rms signal level and inversely proportional to the mean square noise level in that channel.</a:t>
            </a:r>
          </a:p>
          <a:p>
            <a:pPr marL="285750" indent="-285750">
              <a:buFont typeface="Arial" panose="020B0604020202020204" pitchFamily="34" charset="0"/>
              <a:buChar char="•"/>
            </a:pPr>
            <a:r>
              <a:rPr lang="en-US" altLang="zh-TW" dirty="0"/>
              <a:t>Different proportionality constants are used for each channel.</a:t>
            </a:r>
          </a:p>
          <a:p>
            <a:endParaRPr lang="en-US" altLang="zh-TW" dirty="0"/>
          </a:p>
        </p:txBody>
      </p:sp>
    </p:spTree>
    <p:extLst>
      <p:ext uri="{BB962C8B-B14F-4D97-AF65-F5344CB8AC3E}">
        <p14:creationId xmlns:p14="http://schemas.microsoft.com/office/powerpoint/2010/main" val="3257635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07BACE1C-76A1-4463-B049-1C3A816288C2}"/>
              </a:ext>
            </a:extLst>
          </p:cNvPr>
          <p:cNvSpPr>
            <a:spLocks noGrp="1"/>
          </p:cNvSpPr>
          <p:nvPr>
            <p:ph type="body" sz="quarter" idx="10"/>
          </p:nvPr>
        </p:nvSpPr>
        <p:spPr/>
        <p:txBody>
          <a:bodyPr/>
          <a:lstStyle/>
          <a:p>
            <a:endParaRPr lang="zh-TW" altLang="en-US"/>
          </a:p>
        </p:txBody>
      </p:sp>
      <p:sp>
        <p:nvSpPr>
          <p:cNvPr id="3" name="文字版面配置區 2">
            <a:extLst>
              <a:ext uri="{FF2B5EF4-FFF2-40B4-BE49-F238E27FC236}">
                <a16:creationId xmlns:a16="http://schemas.microsoft.com/office/drawing/2014/main" id="{9B237C95-02B8-47C8-A4A5-FDD16A73EA96}"/>
              </a:ext>
            </a:extLst>
          </p:cNvPr>
          <p:cNvSpPr>
            <a:spLocks noGrp="1"/>
          </p:cNvSpPr>
          <p:nvPr>
            <p:ph type="body" sz="quarter" idx="11"/>
          </p:nvPr>
        </p:nvSpPr>
        <p:spPr/>
        <p:txBody>
          <a:bodyPr/>
          <a:lstStyle/>
          <a:p>
            <a:endParaRPr lang="zh-TW" altLang="en-US"/>
          </a:p>
        </p:txBody>
      </p:sp>
      <p:pic>
        <p:nvPicPr>
          <p:cNvPr id="4" name="圖片 3">
            <a:extLst>
              <a:ext uri="{FF2B5EF4-FFF2-40B4-BE49-F238E27FC236}">
                <a16:creationId xmlns:a16="http://schemas.microsoft.com/office/drawing/2014/main" id="{F4125056-6652-454E-8563-2A1D06D86C68}"/>
              </a:ext>
            </a:extLst>
          </p:cNvPr>
          <p:cNvPicPr>
            <a:picLocks noChangeAspect="1"/>
          </p:cNvPicPr>
          <p:nvPr/>
        </p:nvPicPr>
        <p:blipFill>
          <a:blip r:embed="rId3"/>
          <a:stretch>
            <a:fillRect/>
          </a:stretch>
        </p:blipFill>
        <p:spPr>
          <a:xfrm>
            <a:off x="1187624" y="2964759"/>
            <a:ext cx="6611273" cy="2162477"/>
          </a:xfrm>
          <a:prstGeom prst="rect">
            <a:avLst/>
          </a:prstGeom>
        </p:spPr>
      </p:pic>
      <p:pic>
        <p:nvPicPr>
          <p:cNvPr id="5" name="圖片 4">
            <a:extLst>
              <a:ext uri="{FF2B5EF4-FFF2-40B4-BE49-F238E27FC236}">
                <a16:creationId xmlns:a16="http://schemas.microsoft.com/office/drawing/2014/main" id="{CC95192A-F4E4-4429-9745-0CA2CFC96057}"/>
              </a:ext>
            </a:extLst>
          </p:cNvPr>
          <p:cNvPicPr>
            <a:picLocks noChangeAspect="1"/>
          </p:cNvPicPr>
          <p:nvPr/>
        </p:nvPicPr>
        <p:blipFill>
          <a:blip r:embed="rId4"/>
          <a:stretch>
            <a:fillRect/>
          </a:stretch>
        </p:blipFill>
        <p:spPr>
          <a:xfrm>
            <a:off x="899592" y="123478"/>
            <a:ext cx="6595934" cy="2736304"/>
          </a:xfrm>
          <a:prstGeom prst="rect">
            <a:avLst/>
          </a:prstGeom>
        </p:spPr>
      </p:pic>
    </p:spTree>
    <p:extLst>
      <p:ext uri="{BB962C8B-B14F-4D97-AF65-F5344CB8AC3E}">
        <p14:creationId xmlns:p14="http://schemas.microsoft.com/office/powerpoint/2010/main" val="1527144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939F80E8-DB82-454B-AFA1-748DF957B485}"/>
              </a:ext>
            </a:extLst>
          </p:cNvPr>
          <p:cNvSpPr>
            <a:spLocks noGrp="1"/>
          </p:cNvSpPr>
          <p:nvPr>
            <p:ph type="body" sz="quarter" idx="10"/>
          </p:nvPr>
        </p:nvSpPr>
        <p:spPr/>
        <p:txBody>
          <a:bodyPr/>
          <a:lstStyle/>
          <a:p>
            <a:r>
              <a:rPr lang="en-US" altLang="zh-TW" dirty="0"/>
              <a:t>NUMERICAL RESULTS</a:t>
            </a:r>
            <a:endParaRPr lang="zh-TW" altLang="en-US" dirty="0"/>
          </a:p>
        </p:txBody>
      </p:sp>
      <p:sp>
        <p:nvSpPr>
          <p:cNvPr id="3" name="文字版面配置區 2">
            <a:extLst>
              <a:ext uri="{FF2B5EF4-FFF2-40B4-BE49-F238E27FC236}">
                <a16:creationId xmlns:a16="http://schemas.microsoft.com/office/drawing/2014/main" id="{577C3A81-3131-4A2E-8756-9486BCA4AFED}"/>
              </a:ext>
            </a:extLst>
          </p:cNvPr>
          <p:cNvSpPr>
            <a:spLocks noGrp="1"/>
          </p:cNvSpPr>
          <p:nvPr>
            <p:ph type="body" sz="quarter" idx="11"/>
          </p:nvPr>
        </p:nvSpPr>
        <p:spPr/>
        <p:txBody>
          <a:bodyPr/>
          <a:lstStyle/>
          <a:p>
            <a:endParaRPr lang="zh-TW" altLang="en-US"/>
          </a:p>
        </p:txBody>
      </p:sp>
      <p:pic>
        <p:nvPicPr>
          <p:cNvPr id="6" name="圖片 5">
            <a:extLst>
              <a:ext uri="{FF2B5EF4-FFF2-40B4-BE49-F238E27FC236}">
                <a16:creationId xmlns:a16="http://schemas.microsoft.com/office/drawing/2014/main" id="{10013516-B431-41E0-91D9-499A8C71586F}"/>
              </a:ext>
            </a:extLst>
          </p:cNvPr>
          <p:cNvPicPr>
            <a:picLocks noChangeAspect="1"/>
          </p:cNvPicPr>
          <p:nvPr/>
        </p:nvPicPr>
        <p:blipFill>
          <a:blip r:embed="rId3"/>
          <a:stretch>
            <a:fillRect/>
          </a:stretch>
        </p:blipFill>
        <p:spPr>
          <a:xfrm>
            <a:off x="1547664" y="843558"/>
            <a:ext cx="5976664" cy="4173896"/>
          </a:xfrm>
          <a:prstGeom prst="rect">
            <a:avLst/>
          </a:prstGeom>
        </p:spPr>
      </p:pic>
    </p:spTree>
    <p:extLst>
      <p:ext uri="{BB962C8B-B14F-4D97-AF65-F5344CB8AC3E}">
        <p14:creationId xmlns:p14="http://schemas.microsoft.com/office/powerpoint/2010/main" val="642760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0DE2950F-D9C7-4F7E-B442-FBEECCC91448}"/>
              </a:ext>
            </a:extLst>
          </p:cNvPr>
          <p:cNvSpPr>
            <a:spLocks noGrp="1"/>
          </p:cNvSpPr>
          <p:nvPr>
            <p:ph type="body" sz="quarter" idx="10"/>
          </p:nvPr>
        </p:nvSpPr>
        <p:spPr/>
        <p:txBody>
          <a:bodyPr/>
          <a:lstStyle/>
          <a:p>
            <a:endParaRPr lang="zh-TW" altLang="en-US"/>
          </a:p>
        </p:txBody>
      </p:sp>
      <p:sp>
        <p:nvSpPr>
          <p:cNvPr id="3" name="文字版面配置區 2">
            <a:extLst>
              <a:ext uri="{FF2B5EF4-FFF2-40B4-BE49-F238E27FC236}">
                <a16:creationId xmlns:a16="http://schemas.microsoft.com/office/drawing/2014/main" id="{80DABCF3-B7C0-4DCF-BCE5-A7327FCBDA7B}"/>
              </a:ext>
            </a:extLst>
          </p:cNvPr>
          <p:cNvSpPr>
            <a:spLocks noGrp="1"/>
          </p:cNvSpPr>
          <p:nvPr>
            <p:ph type="body" sz="quarter" idx="11"/>
          </p:nvPr>
        </p:nvSpPr>
        <p:spPr/>
        <p:txBody>
          <a:bodyPr/>
          <a:lstStyle/>
          <a:p>
            <a:endParaRPr lang="zh-TW" altLang="en-US"/>
          </a:p>
        </p:txBody>
      </p:sp>
      <p:pic>
        <p:nvPicPr>
          <p:cNvPr id="4" name="圖片 3">
            <a:extLst>
              <a:ext uri="{FF2B5EF4-FFF2-40B4-BE49-F238E27FC236}">
                <a16:creationId xmlns:a16="http://schemas.microsoft.com/office/drawing/2014/main" id="{14FEF8B9-AF24-4093-9DC5-F420B8C71A8D}"/>
              </a:ext>
            </a:extLst>
          </p:cNvPr>
          <p:cNvPicPr>
            <a:picLocks noChangeAspect="1"/>
          </p:cNvPicPr>
          <p:nvPr/>
        </p:nvPicPr>
        <p:blipFill>
          <a:blip r:embed="rId3"/>
          <a:stretch>
            <a:fillRect/>
          </a:stretch>
        </p:blipFill>
        <p:spPr>
          <a:xfrm>
            <a:off x="1361627" y="1203598"/>
            <a:ext cx="6420746" cy="3562847"/>
          </a:xfrm>
          <a:prstGeom prst="rect">
            <a:avLst/>
          </a:prstGeom>
        </p:spPr>
      </p:pic>
    </p:spTree>
    <p:extLst>
      <p:ext uri="{BB962C8B-B14F-4D97-AF65-F5344CB8AC3E}">
        <p14:creationId xmlns:p14="http://schemas.microsoft.com/office/powerpoint/2010/main" val="827705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374664E4-BF2A-4F59-B866-6F93EFA5C52D}"/>
              </a:ext>
            </a:extLst>
          </p:cNvPr>
          <p:cNvSpPr>
            <a:spLocks noGrp="1"/>
          </p:cNvSpPr>
          <p:nvPr>
            <p:ph type="body" sz="quarter" idx="10"/>
          </p:nvPr>
        </p:nvSpPr>
        <p:spPr/>
        <p:txBody>
          <a:bodyPr/>
          <a:lstStyle/>
          <a:p>
            <a:r>
              <a:rPr lang="en-US" altLang="zh-TW" dirty="0"/>
              <a:t>SNR</a:t>
            </a:r>
            <a:r>
              <a:rPr lang="zh-TW" altLang="en-US" dirty="0"/>
              <a:t> </a:t>
            </a:r>
            <a:r>
              <a:rPr lang="en-US" altLang="zh-TW" dirty="0"/>
              <a:t>gain</a:t>
            </a:r>
            <a:endParaRPr lang="zh-TW" altLang="en-US" dirty="0"/>
          </a:p>
        </p:txBody>
      </p:sp>
      <p:sp>
        <p:nvSpPr>
          <p:cNvPr id="3" name="文字版面配置區 2">
            <a:extLst>
              <a:ext uri="{FF2B5EF4-FFF2-40B4-BE49-F238E27FC236}">
                <a16:creationId xmlns:a16="http://schemas.microsoft.com/office/drawing/2014/main" id="{A3C18846-6D06-4DA5-BA8D-48E4DF6C66FC}"/>
              </a:ext>
            </a:extLst>
          </p:cNvPr>
          <p:cNvSpPr>
            <a:spLocks noGrp="1"/>
          </p:cNvSpPr>
          <p:nvPr>
            <p:ph type="body" sz="quarter" idx="11"/>
          </p:nvPr>
        </p:nvSpPr>
        <p:spPr/>
        <p:txBody>
          <a:bodyPr/>
          <a:lstStyle/>
          <a:p>
            <a:endParaRPr lang="zh-TW" altLang="en-US"/>
          </a:p>
        </p:txBody>
      </p:sp>
      <p:pic>
        <p:nvPicPr>
          <p:cNvPr id="4" name="圖片 3">
            <a:extLst>
              <a:ext uri="{FF2B5EF4-FFF2-40B4-BE49-F238E27FC236}">
                <a16:creationId xmlns:a16="http://schemas.microsoft.com/office/drawing/2014/main" id="{548A80D9-68C3-4BA2-86B3-E31CFAC0FC46}"/>
              </a:ext>
            </a:extLst>
          </p:cNvPr>
          <p:cNvPicPr>
            <a:picLocks noChangeAspect="1"/>
          </p:cNvPicPr>
          <p:nvPr/>
        </p:nvPicPr>
        <p:blipFill>
          <a:blip r:embed="rId3"/>
          <a:stretch>
            <a:fillRect/>
          </a:stretch>
        </p:blipFill>
        <p:spPr>
          <a:xfrm>
            <a:off x="1403648" y="699542"/>
            <a:ext cx="6068272" cy="838317"/>
          </a:xfrm>
          <a:prstGeom prst="rect">
            <a:avLst/>
          </a:prstGeom>
        </p:spPr>
      </p:pic>
      <p:pic>
        <p:nvPicPr>
          <p:cNvPr id="5" name="圖片 4">
            <a:extLst>
              <a:ext uri="{FF2B5EF4-FFF2-40B4-BE49-F238E27FC236}">
                <a16:creationId xmlns:a16="http://schemas.microsoft.com/office/drawing/2014/main" id="{2EB9EAB4-C81E-4F01-85AD-F4B92C21DDB1}"/>
              </a:ext>
            </a:extLst>
          </p:cNvPr>
          <p:cNvPicPr>
            <a:picLocks noChangeAspect="1"/>
          </p:cNvPicPr>
          <p:nvPr/>
        </p:nvPicPr>
        <p:blipFill>
          <a:blip r:embed="rId4"/>
          <a:stretch>
            <a:fillRect/>
          </a:stretch>
        </p:blipFill>
        <p:spPr>
          <a:xfrm>
            <a:off x="-20717" y="1518316"/>
            <a:ext cx="9144000" cy="3719245"/>
          </a:xfrm>
          <a:prstGeom prst="rect">
            <a:avLst/>
          </a:prstGeom>
        </p:spPr>
      </p:pic>
    </p:spTree>
    <p:extLst>
      <p:ext uri="{BB962C8B-B14F-4D97-AF65-F5344CB8AC3E}">
        <p14:creationId xmlns:p14="http://schemas.microsoft.com/office/powerpoint/2010/main" val="3899307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E95AE063-64AC-4AE9-81C9-73FB5865BE97}"/>
              </a:ext>
            </a:extLst>
          </p:cNvPr>
          <p:cNvSpPr>
            <a:spLocks noGrp="1"/>
          </p:cNvSpPr>
          <p:nvPr>
            <p:ph type="body" sz="quarter" idx="10"/>
          </p:nvPr>
        </p:nvSpPr>
        <p:spPr/>
        <p:txBody>
          <a:bodyPr/>
          <a:lstStyle/>
          <a:p>
            <a:r>
              <a:rPr lang="en-US" altLang="zh-TW" dirty="0"/>
              <a:t>Conclusion</a:t>
            </a:r>
            <a:endParaRPr lang="zh-TW" altLang="en-US" dirty="0"/>
          </a:p>
        </p:txBody>
      </p:sp>
      <p:sp>
        <p:nvSpPr>
          <p:cNvPr id="3" name="文字版面配置區 2">
            <a:extLst>
              <a:ext uri="{FF2B5EF4-FFF2-40B4-BE49-F238E27FC236}">
                <a16:creationId xmlns:a16="http://schemas.microsoft.com/office/drawing/2014/main" id="{9319CA70-5A2A-46DD-801E-26FE85EFE784}"/>
              </a:ext>
            </a:extLst>
          </p:cNvPr>
          <p:cNvSpPr>
            <a:spLocks noGrp="1"/>
          </p:cNvSpPr>
          <p:nvPr>
            <p:ph type="body" sz="quarter" idx="11"/>
          </p:nvPr>
        </p:nvSpPr>
        <p:spPr/>
        <p:txBody>
          <a:bodyPr/>
          <a:lstStyle/>
          <a:p>
            <a:endParaRPr lang="zh-TW" altLang="en-US"/>
          </a:p>
        </p:txBody>
      </p:sp>
      <p:sp>
        <p:nvSpPr>
          <p:cNvPr id="6" name="矩形 5">
            <a:extLst>
              <a:ext uri="{FF2B5EF4-FFF2-40B4-BE49-F238E27FC236}">
                <a16:creationId xmlns:a16="http://schemas.microsoft.com/office/drawing/2014/main" id="{0E80FA74-BB60-431A-B98F-AF432821EEC7}"/>
              </a:ext>
            </a:extLst>
          </p:cNvPr>
          <p:cNvSpPr/>
          <p:nvPr/>
        </p:nvSpPr>
        <p:spPr>
          <a:xfrm>
            <a:off x="107504" y="1131590"/>
            <a:ext cx="8928992" cy="3139321"/>
          </a:xfrm>
          <a:prstGeom prst="rect">
            <a:avLst/>
          </a:prstGeom>
        </p:spPr>
        <p:txBody>
          <a:bodyPr wrap="square">
            <a:spAutoFit/>
          </a:bodyPr>
          <a:lstStyle/>
          <a:p>
            <a:r>
              <a:rPr lang="en-US" altLang="zh-TW" dirty="0"/>
              <a:t>	</a:t>
            </a:r>
            <a:r>
              <a:rPr lang="zh-TW" altLang="en-US" dirty="0"/>
              <a:t>In this work we have derived and evaluated the outage probability for different combining algorithms, namely, joint decoding, maximum selection combining, and maximum ratio combining in the context of multi-connectivity. The outage analysis has been based on the Slepian-Wolf theorem and the source-channel separation theorem. For all three combining algorithms, we have established a remarkably simple, yet accurate analytical framework to describe the outage probability depending on the number of links, the modulation scheme, the code rate, and the received SNR. We have used the analytical framework to compare the performance and thereby have evaluated the reduction of the required SNR when using joint decoding in comparison to maximum selection combining and maximum ratio combining while achieving the same outage probability.</a:t>
            </a:r>
          </a:p>
        </p:txBody>
      </p:sp>
    </p:spTree>
    <p:extLst>
      <p:ext uri="{BB962C8B-B14F-4D97-AF65-F5344CB8AC3E}">
        <p14:creationId xmlns:p14="http://schemas.microsoft.com/office/powerpoint/2010/main" val="1836773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altLang="ko-KR" dirty="0"/>
              <a:t>Thank you</a:t>
            </a:r>
            <a:endParaRPr lang="ko-KR" altLang="en-US" dirty="0"/>
          </a:p>
        </p:txBody>
      </p:sp>
      <p:sp>
        <p:nvSpPr>
          <p:cNvPr id="3" name="Text Placeholder 2"/>
          <p:cNvSpPr>
            <a:spLocks noGrp="1"/>
          </p:cNvSpPr>
          <p:nvPr>
            <p:ph type="body" sz="quarter" idx="11"/>
          </p:nvPr>
        </p:nvSpPr>
        <p:spPr/>
        <p:txBody>
          <a:bodyPr/>
          <a:lstStyle/>
          <a:p>
            <a:pPr lvl="0"/>
            <a:endParaRPr lang="en-US" altLang="ko-KR" dirty="0"/>
          </a:p>
        </p:txBody>
      </p:sp>
    </p:spTree>
    <p:extLst>
      <p:ext uri="{BB962C8B-B14F-4D97-AF65-F5344CB8AC3E}">
        <p14:creationId xmlns:p14="http://schemas.microsoft.com/office/powerpoint/2010/main" val="1663840748"/>
      </p:ext>
    </p:extLst>
  </p:cSld>
  <p:clrMapOvr>
    <a:masterClrMapping/>
  </p:clrMapOvr>
</p:sld>
</file>

<file path=ppt/theme/theme1.xml><?xml version="1.0" encoding="utf-8"?>
<a:theme xmlns:a="http://schemas.openxmlformats.org/drawingml/2006/main" name="Cover and End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ection Break Slide Master">
  <a:themeElements>
    <a:clrScheme name="ALLPPT-COLOR-A02">
      <a:dk1>
        <a:sysClr val="windowText" lastClr="000000"/>
      </a:dk1>
      <a:lt1>
        <a:sysClr val="window" lastClr="FFFFFF"/>
      </a:lt1>
      <a:dk2>
        <a:srgbClr val="1F497D"/>
      </a:dk2>
      <a:lt2>
        <a:srgbClr val="EEECE1"/>
      </a:lt2>
      <a:accent1>
        <a:srgbClr val="0DD2D9"/>
      </a:accent1>
      <a:accent2>
        <a:srgbClr val="0DD2D9"/>
      </a:accent2>
      <a:accent3>
        <a:srgbClr val="0DD2D9"/>
      </a:accent3>
      <a:accent4>
        <a:srgbClr val="0DD2D9"/>
      </a:accent4>
      <a:accent5>
        <a:srgbClr val="0DD2D9"/>
      </a:accent5>
      <a:accent6>
        <a:srgbClr val="0DD2D9"/>
      </a:accent6>
      <a:hlink>
        <a:srgbClr val="000000"/>
      </a:hlink>
      <a:folHlink>
        <a:srgbClr val="00000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2090</TotalTime>
  <Words>2397</Words>
  <Application>Microsoft Office PowerPoint</Application>
  <PresentationFormat>如螢幕大小 (16:9)</PresentationFormat>
  <Paragraphs>126</Paragraphs>
  <Slides>21</Slides>
  <Notes>20</Notes>
  <HiddenSlides>0</HiddenSlides>
  <MMClips>0</MMClips>
  <ScaleCrop>false</ScaleCrop>
  <HeadingPairs>
    <vt:vector size="6" baseType="variant">
      <vt:variant>
        <vt:lpstr>使用字型</vt:lpstr>
      </vt:variant>
      <vt:variant>
        <vt:i4>11</vt:i4>
      </vt:variant>
      <vt:variant>
        <vt:lpstr>佈景主題</vt:lpstr>
      </vt:variant>
      <vt:variant>
        <vt:i4>3</vt:i4>
      </vt:variant>
      <vt:variant>
        <vt:lpstr>投影片標題</vt:lpstr>
      </vt:variant>
      <vt:variant>
        <vt:i4>21</vt:i4>
      </vt:variant>
    </vt:vector>
  </HeadingPairs>
  <TitlesOfParts>
    <vt:vector size="35" baseType="lpstr">
      <vt:lpstr>Arial Unicode MS</vt:lpstr>
      <vt:lpstr>CMMI10</vt:lpstr>
      <vt:lpstr>CMMI7</vt:lpstr>
      <vt:lpstr>CMR7</vt:lpstr>
      <vt:lpstr>CMSY10</vt:lpstr>
      <vt:lpstr>맑은 고딕</vt:lpstr>
      <vt:lpstr>Times-Roman</vt:lpstr>
      <vt:lpstr>新細明體</vt:lpstr>
      <vt:lpstr>Arial</vt:lpstr>
      <vt:lpstr>Arial</vt:lpstr>
      <vt:lpstr>Cambria Math</vt:lpstr>
      <vt:lpstr>Cover and End Slide Master</vt:lpstr>
      <vt:lpstr>Contents Slide Master</vt:lpstr>
      <vt:lpstr>Section Break Slide Master</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Albert</cp:lastModifiedBy>
  <cp:revision>170</cp:revision>
  <dcterms:created xsi:type="dcterms:W3CDTF">2016-12-05T23:26:54Z</dcterms:created>
  <dcterms:modified xsi:type="dcterms:W3CDTF">2020-04-10T04:36:26Z</dcterms:modified>
</cp:coreProperties>
</file>