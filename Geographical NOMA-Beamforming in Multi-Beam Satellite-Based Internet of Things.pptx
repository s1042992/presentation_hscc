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86" r:id="rId3"/>
    <p:sldId id="290" r:id="rId4"/>
    <p:sldId id="320" r:id="rId5"/>
    <p:sldId id="258" r:id="rId6"/>
    <p:sldId id="304" r:id="rId7"/>
    <p:sldId id="322" r:id="rId8"/>
    <p:sldId id="323" r:id="rId9"/>
    <p:sldId id="324" r:id="rId10"/>
    <p:sldId id="325" r:id="rId11"/>
    <p:sldId id="307" r:id="rId12"/>
    <p:sldId id="328" r:id="rId13"/>
    <p:sldId id="309" r:id="rId14"/>
    <p:sldId id="329" r:id="rId15"/>
    <p:sldId id="330" r:id="rId16"/>
    <p:sldId id="331" r:id="rId17"/>
    <p:sldId id="332" r:id="rId18"/>
    <p:sldId id="333" r:id="rId19"/>
    <p:sldId id="335" r:id="rId20"/>
    <p:sldId id="336" r:id="rId21"/>
    <p:sldId id="341" r:id="rId22"/>
    <p:sldId id="342" r:id="rId23"/>
    <p:sldId id="338" r:id="rId24"/>
    <p:sldId id="339" r:id="rId25"/>
    <p:sldId id="343" r:id="rId26"/>
    <p:sldId id="262" r:id="rId27"/>
    <p:sldId id="345" r:id="rId28"/>
    <p:sldId id="346" r:id="rId29"/>
    <p:sldId id="268" r:id="rId30"/>
    <p:sldId id="279" r:id="rId3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3"/>
    </p:embeddedFont>
    <p:embeddedFont>
      <p:font typeface="Dosis ExtraLight" panose="02020500000000000000" charset="0"/>
      <p:regular r:id="rId34"/>
      <p:bold r:id="rId35"/>
    </p:embeddedFont>
    <p:embeddedFont>
      <p:font typeface="Titillium Web Light" panose="02020500000000000000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EC0432-F7E4-46DE-892C-E2017EF582BC}">
  <a:tblStyle styleId="{ECEC0432-F7E4-46DE-892C-E2017EF582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76698" autoAdjust="0"/>
  </p:normalViewPr>
  <p:slideViewPr>
    <p:cSldViewPr snapToGrid="0">
      <p:cViewPr varScale="1">
        <p:scale>
          <a:sx n="116" d="100"/>
          <a:sy n="116" d="100"/>
        </p:scale>
        <p:origin x="14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932093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4" name="Google Shape;383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這篇是基於地理性的</a:t>
            </a:r>
            <a:r>
              <a:rPr lang="en-US" altLang="zh-TW" dirty="0"/>
              <a:t>NOMA</a:t>
            </a:r>
            <a:r>
              <a:rPr lang="zh-TW" altLang="en-US" dirty="0"/>
              <a:t> </a:t>
            </a:r>
            <a:r>
              <a:rPr lang="en-US" altLang="zh-TW" dirty="0"/>
              <a:t>Beamforming scheme</a:t>
            </a:r>
            <a:r>
              <a:rPr lang="zh-TW" altLang="en-US" dirty="0"/>
              <a:t>，目的是為了提高頻譜效率，每個</a:t>
            </a:r>
            <a:r>
              <a:rPr lang="en-US" altLang="zh-TW" dirty="0"/>
              <a:t>beam</a:t>
            </a:r>
            <a:r>
              <a:rPr lang="zh-TW" altLang="en-US" dirty="0"/>
              <a:t>都有一個</a:t>
            </a:r>
            <a:r>
              <a:rPr lang="en-US" altLang="zh-TW" dirty="0"/>
              <a:t>primary user</a:t>
            </a:r>
            <a:r>
              <a:rPr lang="zh-TW" altLang="en-US" dirty="0"/>
              <a:t>，</a:t>
            </a:r>
            <a:r>
              <a:rPr lang="en-US" altLang="zh-TW" dirty="0"/>
              <a:t> primary user</a:t>
            </a:r>
            <a:r>
              <a:rPr lang="zh-TW" altLang="en-US" dirty="0"/>
              <a:t>透過 </a:t>
            </a:r>
            <a:r>
              <a:rPr lang="en-US" altLang="zh-TW" dirty="0" err="1"/>
              <a:t>noma</a:t>
            </a:r>
            <a:r>
              <a:rPr lang="en-US" altLang="zh-TW" dirty="0"/>
              <a:t> </a:t>
            </a:r>
            <a:r>
              <a:rPr lang="zh-TW" altLang="en-US" dirty="0"/>
              <a:t>，以較小的</a:t>
            </a:r>
            <a:r>
              <a:rPr lang="en-US" altLang="zh-TW" dirty="0"/>
              <a:t>data rate</a:t>
            </a:r>
            <a:r>
              <a:rPr lang="zh-TW" altLang="en-US" dirty="0"/>
              <a:t>服務，這樣同時也有機會為其他</a:t>
            </a:r>
            <a:r>
              <a:rPr lang="en-US" altLang="zh-TW" dirty="0"/>
              <a:t>user</a:t>
            </a:r>
            <a:r>
              <a:rPr lang="zh-TW" altLang="en-US" dirty="0"/>
              <a:t>提供服務，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6621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8" name="Google Shape;383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9" name="Google Shape;383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在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5G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通訊中，連接數十億個 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設備不是件容易的事。但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5G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衛星可以為設備提供服務連續性和可用性，此外，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beamforming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是一種用於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multi-beam satellite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的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full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frequency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reuse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的信號處理技術，可實現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high throughput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。在一班使用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TDMA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方式的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full frequency 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的衛星繪有很嚴重的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delay 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，且會有一個</a:t>
            </a:r>
            <a:r>
              <a:rPr lang="en-US" altLang="zh-TW" sz="1100" dirty="0"/>
              <a:t>holdover time </a:t>
            </a:r>
            <a:r>
              <a:rPr lang="zh-TW" altLang="en-US" sz="1100" dirty="0"/>
              <a:t>，在這</a:t>
            </a:r>
            <a:r>
              <a:rPr lang="en-US" altLang="zh-TW" sz="1100" dirty="0"/>
              <a:t>hold over time</a:t>
            </a:r>
            <a:r>
              <a:rPr lang="zh-TW" altLang="en-US" sz="1100" dirty="0"/>
              <a:t>裡衛星繪持續分配頻寬，因此實際上會有很多未使用的頻寬，導致</a:t>
            </a:r>
            <a:r>
              <a:rPr lang="en-US" altLang="zh-TW" sz="1100" dirty="0"/>
              <a:t>TDMA</a:t>
            </a:r>
            <a:r>
              <a:rPr lang="zh-TW" altLang="en-US" sz="1100" dirty="0"/>
              <a:t>的頻譜效率降低。</a:t>
            </a:r>
            <a:endParaRPr lang="en-US" altLang="zh-TW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9683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8" name="Google Shape;383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9" name="Google Shape;383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為了滿足上述要求，作者研究在基於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multi-beam satellite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中應用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NOMA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。</a:t>
            </a:r>
            <a:endParaRPr lang="en-US" altLang="zh-TW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現有的大多數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NOMA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方案都基於以下假設：用戶的信道條件明顯不同。</a:t>
            </a:r>
            <a:endParaRPr lang="en-US" altLang="zh-TW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因為要明顯不同，接收者才有辦法利用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sic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解出來</a:t>
            </a:r>
            <a:endParaRPr lang="en-US" altLang="zh-TW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3857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8" name="Google Shape;383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9" name="Google Shape;383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為了在基於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multibeam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satellite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的</a:t>
            </a:r>
            <a:r>
              <a:rPr lang="en-US" altLang="zh-TW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中提供高頻譜效率，這項工作是提出一種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geographical NOMA-BF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scheme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，該方案中需要及時為每個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beam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的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primary user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提供較小的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target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data rate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。使用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NOMA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概念可以為每個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beam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提供其他用戶機會。具體而言，作者首先設計一種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user scheduling 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以提高頻譜效率。然後，提出了一種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heuristic multi-layer beamforming 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架構，以減少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beam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間干擾，擴大用戶有效信道增益的差異並執行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beam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之間的功率分配。</a:t>
            </a:r>
            <a:endParaRPr lang="en-US" altLang="zh-TW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774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7" name="Google Shape;384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8" name="Google Shape;384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9923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zh-TW" altLang="en-US" dirty="0"/>
              <a:t>這邊是使用</a:t>
            </a:r>
            <a:r>
              <a:rPr lang="en-US" altLang="zh-TW" dirty="0"/>
              <a:t>GEO</a:t>
            </a:r>
            <a:r>
              <a:rPr lang="zh-TW" altLang="en-US" dirty="0"/>
              <a:t>，然後共有</a:t>
            </a:r>
            <a:r>
              <a:rPr lang="en-US" altLang="zh-TW" dirty="0"/>
              <a:t>N</a:t>
            </a:r>
            <a:r>
              <a:rPr lang="zh-TW" altLang="en-US" dirty="0"/>
              <a:t>個</a:t>
            </a:r>
            <a:r>
              <a:rPr lang="en-US" altLang="zh-TW" dirty="0"/>
              <a:t>beam</a:t>
            </a:r>
            <a:r>
              <a:rPr lang="zh-TW" altLang="en-US" dirty="0"/>
              <a:t>， 每個</a:t>
            </a:r>
            <a:r>
              <a:rPr lang="en-US" altLang="zh-TW" dirty="0"/>
              <a:t>beam</a:t>
            </a:r>
            <a:r>
              <a:rPr lang="zh-TW" altLang="en-US" dirty="0"/>
              <a:t>之中都有一個</a:t>
            </a:r>
            <a:r>
              <a:rPr lang="en-US" altLang="zh-TW" dirty="0"/>
              <a:t>primary user, </a:t>
            </a:r>
            <a:r>
              <a:rPr lang="zh-TW" altLang="en-US" dirty="0"/>
              <a:t>必須及時被服務以及有著基本要求的 </a:t>
            </a:r>
            <a:r>
              <a:rPr lang="en-US" altLang="zh-TW" dirty="0"/>
              <a:t>small data rate( </a:t>
            </a:r>
            <a:r>
              <a:rPr lang="zh-TW" altLang="en-US" dirty="0"/>
              <a:t>譬如說 </a:t>
            </a:r>
            <a:r>
              <a:rPr lang="en-US" altLang="zh-TW" dirty="0"/>
              <a:t>:</a:t>
            </a:r>
            <a:r>
              <a:rPr lang="zh-TW" altLang="en-US" dirty="0"/>
              <a:t>一個探測身體狀況的生命儀器</a:t>
            </a:r>
            <a:r>
              <a:rPr lang="en-US" altLang="zh-TW" dirty="0"/>
              <a:t>)</a:t>
            </a:r>
            <a:r>
              <a:rPr lang="zh-TW" altLang="en-US" dirty="0"/>
              <a:t>，而其他</a:t>
            </a:r>
            <a:r>
              <a:rPr lang="en-US" altLang="zh-TW" dirty="0"/>
              <a:t>users</a:t>
            </a:r>
            <a:r>
              <a:rPr lang="zh-TW" altLang="en-US" dirty="0"/>
              <a:t>也有機會同時被服務。</a:t>
            </a:r>
          </a:p>
        </p:txBody>
      </p:sp>
    </p:spTree>
    <p:extLst>
      <p:ext uri="{BB962C8B-B14F-4D97-AF65-F5344CB8AC3E}">
        <p14:creationId xmlns:p14="http://schemas.microsoft.com/office/powerpoint/2010/main" val="4212371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altLang="zh-TW" sz="1100" dirty="0"/>
              <a:t>VSAT</a:t>
            </a:r>
            <a:r>
              <a:rPr lang="zh-TW" altLang="en-US" sz="1100" dirty="0"/>
              <a:t> 是小型衛星地面站，通常可以為家用或公司來服務，但他有</a:t>
            </a:r>
            <a:r>
              <a:rPr lang="en-US" altLang="zh-TW" sz="1100" dirty="0"/>
              <a:t>light of sight </a:t>
            </a:r>
            <a:r>
              <a:rPr lang="zh-TW" altLang="en-US" sz="1100" dirty="0"/>
              <a:t>的限制，由於有</a:t>
            </a:r>
            <a:r>
              <a:rPr lang="en-US" altLang="zh-TW" sz="1100" dirty="0"/>
              <a:t>light of sight</a:t>
            </a:r>
            <a:r>
              <a:rPr lang="zh-TW" altLang="en-US" sz="1100" dirty="0"/>
              <a:t>的限制，他的通道狀況就可以直接使用他的一些要考慮的參數，</a:t>
            </a:r>
            <a:endParaRPr lang="en-US" altLang="zh-TW" sz="1100" dirty="0"/>
          </a:p>
          <a:p>
            <a:pPr marL="139700" indent="0">
              <a:buNone/>
            </a:pPr>
            <a:r>
              <a:rPr lang="en-US" altLang="zh-TW" sz="1100" dirty="0"/>
              <a:t>H</a:t>
            </a:r>
            <a:r>
              <a:rPr lang="zh-TW" altLang="en-US" sz="1100" dirty="0"/>
              <a:t>代表通道狀況的</a:t>
            </a:r>
            <a:r>
              <a:rPr lang="en-US" altLang="zh-TW" sz="1100" dirty="0"/>
              <a:t>vector</a:t>
            </a:r>
            <a:r>
              <a:rPr lang="zh-TW" altLang="en-US" sz="1100" dirty="0"/>
              <a:t>，</a:t>
            </a:r>
            <a:endParaRPr lang="en-US" altLang="zh-TW" sz="1100" dirty="0"/>
          </a:p>
          <a:p>
            <a:pPr marL="13970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5485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39700" indent="0">
                  <a:buNone/>
                </a:pPr>
                <a:r>
                  <a:rPr lang="zh-TW" altLang="en-US" sz="1100" i="1" dirty="0">
                    <a:latin typeface="Cambria Math" panose="02040503050406030204" pitchFamily="18" charset="0"/>
                  </a:rPr>
                  <a:t>通道的狀況可以用下面的公式計算，</a:t>
                </a:r>
                <a:endParaRPr lang="en-US" altLang="zh-TW" sz="1100" i="1" dirty="0">
                  <a:latin typeface="Cambria Math" panose="02040503050406030204" pitchFamily="18" charset="0"/>
                </a:endParaRPr>
              </a:p>
              <a:p>
                <a:pPr marL="13970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1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TW" altLang="en-US" dirty="0"/>
                  <a:t>  </a:t>
                </a:r>
                <a:r>
                  <a:rPr lang="en-US" altLang="zh-TW" dirty="0"/>
                  <a:t>: satellite</a:t>
                </a:r>
                <a:r>
                  <a:rPr lang="en-US" altLang="zh-TW" baseline="0" dirty="0"/>
                  <a:t> </a:t>
                </a:r>
                <a:r>
                  <a:rPr lang="zh-TW" altLang="en-US" baseline="0" dirty="0"/>
                  <a:t>與</a:t>
                </a:r>
                <a:r>
                  <a:rPr lang="en-US" altLang="zh-TW" baseline="0" dirty="0"/>
                  <a:t>user I </a:t>
                </a:r>
                <a:r>
                  <a:rPr lang="zh-TW" altLang="en-US" baseline="0" dirty="0"/>
                  <a:t>的距離</a:t>
                </a:r>
                <a:endParaRPr lang="en-US" altLang="zh-TW" baseline="0" dirty="0"/>
              </a:p>
              <a:p>
                <a:pPr marL="13970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1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10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TW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</a:t>
                </a:r>
                <a:r>
                  <a:rPr lang="zh-TW" altLang="en-US" baseline="0" dirty="0"/>
                  <a:t> 雨衰 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39700" indent="0">
                  <a:buNone/>
                </a:pPr>
                <a:r>
                  <a:rPr lang="zh-TW" altLang="en-US" sz="1100" i="1" dirty="0">
                    <a:latin typeface="Cambria Math" panose="02040503050406030204" pitchFamily="18" charset="0"/>
                  </a:rPr>
                  <a:t>通道的狀況可以用下面的公式計算，</a:t>
                </a:r>
                <a:endParaRPr lang="en-US" altLang="zh-TW" sz="1100" i="1" dirty="0">
                  <a:latin typeface="Cambria Math" panose="02040503050406030204" pitchFamily="18" charset="0"/>
                </a:endParaRPr>
              </a:p>
              <a:p>
                <a:pPr marL="139700" indent="0">
                  <a:buNone/>
                </a:pPr>
                <a:r>
                  <a:rPr lang="en-US" altLang="zh-TW" sz="1100" b="0" i="0">
                    <a:latin typeface="Cambria Math" panose="02040503050406030204" pitchFamily="18" charset="0"/>
                  </a:rPr>
                  <a:t>𝑑_𝑏^((𝑖))</a:t>
                </a:r>
                <a:r>
                  <a:rPr lang="zh-TW" altLang="en-US" dirty="0"/>
                  <a:t>  </a:t>
                </a:r>
                <a:r>
                  <a:rPr lang="en-US" altLang="zh-TW" dirty="0"/>
                  <a:t>: satellite</a:t>
                </a:r>
                <a:r>
                  <a:rPr lang="en-US" altLang="zh-TW" baseline="0" dirty="0"/>
                  <a:t> </a:t>
                </a:r>
                <a:r>
                  <a:rPr lang="zh-TW" altLang="en-US" baseline="0" dirty="0"/>
                  <a:t>與</a:t>
                </a:r>
                <a:r>
                  <a:rPr lang="en-US" altLang="zh-TW" baseline="0" dirty="0"/>
                  <a:t>user I </a:t>
                </a:r>
                <a:r>
                  <a:rPr lang="zh-TW" altLang="en-US" baseline="0" dirty="0"/>
                  <a:t>的距離</a:t>
                </a:r>
                <a:endParaRPr lang="en-US" altLang="zh-TW" baseline="0" dirty="0"/>
              </a:p>
              <a:p>
                <a:pPr marL="139700" indent="0">
                  <a:buNone/>
                </a:pPr>
                <a:r>
                  <a:rPr lang="en-US" altLang="zh-TW" sz="1100" i="0">
                    <a:latin typeface="Cambria Math" panose="02040503050406030204" pitchFamily="18" charset="0"/>
                  </a:rPr>
                  <a:t>A_</a:t>
                </a:r>
                <a:r>
                  <a:rPr lang="en-US" altLang="zh-TW" sz="1100" b="0" i="0">
                    <a:latin typeface="Cambria Math" panose="02040503050406030204" pitchFamily="18" charset="0"/>
                  </a:rPr>
                  <a:t>𝑏^((𝑖))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:</a:t>
                </a:r>
                <a:r>
                  <a:rPr lang="zh-TW" altLang="en-US" baseline="0" dirty="0"/>
                  <a:t> 雨衰 </a:t>
                </a:r>
                <a:endParaRPr lang="zh-TW" alt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475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altLang="zh-TW" dirty="0"/>
              <a:t>G </a:t>
            </a:r>
            <a:r>
              <a:rPr lang="zh-TW" altLang="en-US" dirty="0"/>
              <a:t>代表 </a:t>
            </a:r>
            <a:r>
              <a:rPr lang="en-US" altLang="zh-TW" dirty="0"/>
              <a:t>user I </a:t>
            </a:r>
            <a:r>
              <a:rPr lang="zh-TW" altLang="en-US" dirty="0"/>
              <a:t>在</a:t>
            </a:r>
            <a:r>
              <a:rPr lang="en-US" altLang="zh-TW" dirty="0"/>
              <a:t>beam</a:t>
            </a:r>
            <a:r>
              <a:rPr lang="zh-TW" altLang="en-US" dirty="0"/>
              <a:t> </a:t>
            </a:r>
            <a:r>
              <a:rPr lang="en-US" altLang="zh-TW" dirty="0"/>
              <a:t>b</a:t>
            </a:r>
            <a:r>
              <a:rPr lang="zh-TW" altLang="en-US" dirty="0"/>
              <a:t> 的</a:t>
            </a:r>
            <a:r>
              <a:rPr lang="en-US" altLang="zh-TW" dirty="0"/>
              <a:t>beam gain</a:t>
            </a:r>
            <a:r>
              <a:rPr lang="zh-TW" altLang="en-US" dirty="0"/>
              <a:t> 可以用這樣表示 </a:t>
            </a:r>
            <a:r>
              <a:rPr lang="en-US" altLang="zh-TW" sz="1100" dirty="0"/>
              <a:t>Bessel functions</a:t>
            </a:r>
          </a:p>
          <a:p>
            <a:pPr marL="139700" indent="0">
              <a:buNone/>
            </a:pPr>
            <a:r>
              <a:rPr lang="de-DE" altLang="zh-TW" sz="11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</a:t>
            </a:r>
            <a:r>
              <a:rPr lang="de-DE" altLang="zh-TW" sz="1100" b="0" i="1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de-DE" altLang="zh-TW" sz="11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beam </a:t>
            </a:r>
            <a:r>
              <a:rPr lang="de-DE" altLang="zh-TW" sz="1100" b="0" i="1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2</a:t>
            </a:r>
            <a:r>
              <a:rPr lang="zh-TW" altLang="en-US" sz="1100" b="0" i="1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的離軸角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9821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每個時間範圍內，在每個波束中同時為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用戶提供服務，是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geographical </a:t>
            </a:r>
            <a:r>
              <a:rPr lang="en-US" altLang="zh-TW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noma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–bf 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的目標，每個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beam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透過</a:t>
            </a:r>
            <a:r>
              <a:rPr lang="en-US" altLang="zh-TW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noma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，可以疊加訊號，並在接收端使用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sic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做訊號分離。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1471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User I </a:t>
            </a:r>
            <a:r>
              <a:rPr lang="zh-TW" altLang="en-US" dirty="0"/>
              <a:t>收到的訊號可以用以下的式子表示 第一行代表他收到的所有訊號，等同於，把它拆解成</a:t>
            </a:r>
            <a:r>
              <a:rPr lang="en-US" altLang="zh-TW" dirty="0"/>
              <a:t>2</a:t>
            </a:r>
            <a:r>
              <a:rPr lang="zh-TW" altLang="en-US" dirty="0"/>
              <a:t>、</a:t>
            </a:r>
            <a:r>
              <a:rPr lang="en-US" altLang="zh-TW" dirty="0"/>
              <a:t>3</a:t>
            </a:r>
            <a:r>
              <a:rPr lang="zh-TW" altLang="en-US" dirty="0"/>
              <a:t>行， 有</a:t>
            </a:r>
            <a:r>
              <a:rPr lang="en-US" altLang="zh-TW" dirty="0"/>
              <a:t>user</a:t>
            </a:r>
            <a:r>
              <a:rPr lang="zh-TW" altLang="en-US" dirty="0"/>
              <a:t>想收的訊號，以及</a:t>
            </a:r>
            <a:r>
              <a:rPr lang="en-US" altLang="zh-TW" dirty="0"/>
              <a:t>beam</a:t>
            </a:r>
            <a:r>
              <a:rPr lang="zh-TW" altLang="en-US" dirty="0"/>
              <a:t>內ㄉ干擾，還有</a:t>
            </a:r>
            <a:r>
              <a:rPr lang="en-US" altLang="zh-TW" dirty="0"/>
              <a:t>beam</a:t>
            </a:r>
            <a:r>
              <a:rPr lang="zh-TW" altLang="en-US" dirty="0"/>
              <a:t>之間的干擾，及雜訊。</a:t>
            </a:r>
          </a:p>
        </p:txBody>
      </p:sp>
    </p:spTree>
    <p:extLst>
      <p:ext uri="{BB962C8B-B14F-4D97-AF65-F5344CB8AC3E}">
        <p14:creationId xmlns:p14="http://schemas.microsoft.com/office/powerpoint/2010/main" val="3599941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39700" indent="0">
                  <a:buNone/>
                </a:pPr>
                <a:r>
                  <a:rPr lang="en-US" altLang="zh-TW" dirty="0"/>
                  <a:t>User I </a:t>
                </a:r>
                <a:r>
                  <a:rPr lang="zh-TW" altLang="en-US" dirty="0"/>
                  <a:t>可達到的</a:t>
                </a:r>
                <a:r>
                  <a:rPr lang="en-US" altLang="zh-TW" dirty="0"/>
                  <a:t>date rate</a:t>
                </a:r>
                <a:r>
                  <a:rPr lang="zh-TW" altLang="en-US" dirty="0"/>
                  <a:t>為式子</a:t>
                </a:r>
                <a:r>
                  <a:rPr lang="en-US" altLang="zh-TW" dirty="0"/>
                  <a:t>5</a:t>
                </a:r>
                <a:r>
                  <a:rPr lang="zh-TW" altLang="en-US" dirty="0"/>
                  <a:t> ，就是之前常見的公式 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1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TW" sz="1100" i="1" smtClean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altLang="zh-TW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TW" altLang="en-US" dirty="0"/>
                  <a:t> 是</a:t>
                </a:r>
                <a:r>
                  <a:rPr lang="en-US" altLang="zh-TW" dirty="0"/>
                  <a:t>intra-beam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power allocation factor</a:t>
                </a:r>
              </a:p>
              <a:p>
                <a:pPr marL="139700" indent="0">
                  <a:buNone/>
                </a:pPr>
                <a:r>
                  <a:rPr lang="en-US" altLang="zh-TW" dirty="0"/>
                  <a:t>Zeta </a:t>
                </a:r>
                <a:r>
                  <a:rPr lang="zh-TW" altLang="en-US" dirty="0"/>
                  <a:t>是經過</a:t>
                </a:r>
                <a:r>
                  <a:rPr lang="en-US" altLang="zh-TW" dirty="0"/>
                  <a:t>beamforming</a:t>
                </a:r>
                <a:r>
                  <a:rPr lang="zh-TW" altLang="en-US" dirty="0"/>
                  <a:t>後，自己的第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個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power+</a:t>
                </a:r>
                <a:r>
                  <a:rPr lang="zh-TW" altLang="en-US" dirty="0"/>
                  <a:t>其他</a:t>
                </a:r>
                <a:r>
                  <a:rPr lang="en-US" altLang="zh-TW" dirty="0"/>
                  <a:t>beam 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power</a:t>
                </a:r>
                <a:r>
                  <a:rPr lang="zh-TW" altLang="en-US" dirty="0"/>
                  <a:t>，</a:t>
                </a:r>
                <a:endParaRPr lang="en-US" altLang="zh-TW" dirty="0"/>
              </a:p>
              <a:p>
                <a:pPr marL="139700" indent="0">
                  <a:buNone/>
                </a:pPr>
                <a:r>
                  <a:rPr lang="zh-TW" altLang="en-US" dirty="0"/>
                  <a:t>然後這邊是設定每個</a:t>
                </a:r>
                <a:r>
                  <a:rPr lang="en-US" altLang="zh-TW" dirty="0"/>
                  <a:t>user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power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allocation vector</a:t>
                </a:r>
                <a:r>
                  <a:rPr lang="zh-TW" altLang="en-US" dirty="0"/>
                  <a:t>對於每個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得總和都是</a:t>
                </a:r>
                <a:r>
                  <a:rPr lang="en-US" altLang="zh-TW" dirty="0"/>
                  <a:t>1;</a:t>
                </a:r>
              </a:p>
              <a:p>
                <a:pPr marL="139700" indent="0">
                  <a:buNone/>
                </a:pPr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39700" indent="0">
                  <a:buNone/>
                </a:pPr>
                <a:r>
                  <a:rPr lang="en-US" altLang="zh-TW" dirty="0"/>
                  <a:t>User I </a:t>
                </a:r>
                <a:r>
                  <a:rPr lang="zh-TW" altLang="en-US" dirty="0"/>
                  <a:t>可達到的</a:t>
                </a:r>
                <a:r>
                  <a:rPr lang="en-US" altLang="zh-TW" dirty="0"/>
                  <a:t>date rate</a:t>
                </a:r>
                <a:r>
                  <a:rPr lang="zh-TW" altLang="en-US" dirty="0"/>
                  <a:t>為式子</a:t>
                </a:r>
                <a:r>
                  <a:rPr lang="en-US" altLang="zh-TW" dirty="0"/>
                  <a:t>5</a:t>
                </a:r>
                <a:r>
                  <a:rPr lang="zh-TW" altLang="en-US" dirty="0"/>
                  <a:t> ，就是之前常見的公式 ， </a:t>
                </a:r>
                <a:r>
                  <a:rPr lang="el-GR" altLang="zh-TW" sz="1100" i="0">
                    <a:latin typeface="Cambria Math" panose="02040503050406030204" pitchFamily="18" charset="0"/>
                  </a:rPr>
                  <a:t>α</a:t>
                </a:r>
                <a:r>
                  <a:rPr lang="en-US" altLang="zh-TW" sz="1100" i="0">
                    <a:latin typeface="Cambria Math" panose="02040503050406030204" pitchFamily="18" charset="0"/>
                  </a:rPr>
                  <a:t>_</a:t>
                </a:r>
                <a:r>
                  <a:rPr lang="en-US" altLang="zh-TW" sz="1100" b="0" i="0">
                    <a:latin typeface="Cambria Math" panose="02040503050406030204" pitchFamily="18" charset="0"/>
                  </a:rPr>
                  <a:t>𝑏^((𝑖))</a:t>
                </a:r>
                <a:r>
                  <a:rPr lang="zh-TW" altLang="en-US" dirty="0"/>
                  <a:t> 是</a:t>
                </a:r>
                <a:r>
                  <a:rPr lang="en-US" altLang="zh-TW" dirty="0"/>
                  <a:t>intra-beam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power allocation factor</a:t>
                </a:r>
              </a:p>
              <a:p>
                <a:pPr marL="139700" indent="0">
                  <a:buNone/>
                </a:pPr>
                <a:r>
                  <a:rPr lang="en-US" altLang="zh-TW" dirty="0"/>
                  <a:t>Zeta </a:t>
                </a:r>
                <a:r>
                  <a:rPr lang="zh-TW" altLang="en-US" dirty="0"/>
                  <a:t>是經過</a:t>
                </a:r>
                <a:r>
                  <a:rPr lang="en-US" altLang="zh-TW" dirty="0"/>
                  <a:t>beamforming</a:t>
                </a:r>
                <a:r>
                  <a:rPr lang="zh-TW" altLang="en-US" dirty="0"/>
                  <a:t>後，自己的第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個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power+</a:t>
                </a:r>
                <a:r>
                  <a:rPr lang="zh-TW" altLang="en-US" dirty="0"/>
                  <a:t>其他</a:t>
                </a:r>
                <a:r>
                  <a:rPr lang="en-US" altLang="zh-TW" dirty="0"/>
                  <a:t>beam 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power</a:t>
                </a:r>
                <a:r>
                  <a:rPr lang="zh-TW" altLang="en-US" dirty="0"/>
                  <a:t>，</a:t>
                </a:r>
                <a:endParaRPr lang="en-US" altLang="zh-TW" dirty="0"/>
              </a:p>
              <a:p>
                <a:pPr marL="139700" indent="0">
                  <a:buNone/>
                </a:pPr>
                <a:r>
                  <a:rPr lang="zh-TW" altLang="en-US" dirty="0"/>
                  <a:t>然後這邊是設定每個</a:t>
                </a:r>
                <a:r>
                  <a:rPr lang="en-US" altLang="zh-TW" dirty="0"/>
                  <a:t>user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power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allocation vector</a:t>
                </a:r>
                <a:r>
                  <a:rPr lang="zh-TW" altLang="en-US" dirty="0"/>
                  <a:t>對於每個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得總和都是</a:t>
                </a:r>
                <a:r>
                  <a:rPr lang="en-US" altLang="zh-TW" dirty="0"/>
                  <a:t>1;</a:t>
                </a:r>
              </a:p>
              <a:p>
                <a:pPr marL="139700" indent="0">
                  <a:buNone/>
                </a:pPr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0598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7" name="Google Shape;384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8" name="Google Shape;384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為了獲得</a:t>
            </a:r>
            <a:r>
              <a:rPr lang="en-US" altLang="zh-TW" dirty="0"/>
              <a:t>NOMA-BF</a:t>
            </a:r>
            <a:r>
              <a:rPr lang="zh-TW" altLang="en-US" dirty="0"/>
              <a:t>承諾的高頻譜效率（即總速率）增益並嚴格保證</a:t>
            </a:r>
            <a:r>
              <a:rPr lang="en-US" altLang="zh-TW" dirty="0"/>
              <a:t>primary user </a:t>
            </a:r>
            <a:r>
              <a:rPr lang="zh-TW" altLang="en-US" dirty="0"/>
              <a:t>的</a:t>
            </a:r>
            <a:r>
              <a:rPr lang="en-US" altLang="zh-TW" dirty="0"/>
              <a:t>data rate </a:t>
            </a:r>
            <a:r>
              <a:rPr lang="zh-TW" altLang="en-US" dirty="0"/>
              <a:t>，作者分別設計了特定的設計參數（即</a:t>
            </a:r>
            <a:r>
              <a:rPr lang="en-US" altLang="zh-TW" dirty="0"/>
              <a:t>user scheduling</a:t>
            </a:r>
            <a:r>
              <a:rPr lang="zh-TW" altLang="en-US" dirty="0"/>
              <a:t>，</a:t>
            </a:r>
            <a:r>
              <a:rPr lang="en-US" altLang="zh-TW" dirty="0"/>
              <a:t>multi-layer BF</a:t>
            </a:r>
            <a:r>
              <a:rPr lang="zh-TW" altLang="en-US" dirty="0"/>
              <a:t>和</a:t>
            </a:r>
            <a:r>
              <a:rPr lang="en-US" altLang="zh-TW" dirty="0"/>
              <a:t>power allocation</a:t>
            </a:r>
            <a:r>
              <a:rPr lang="zh-TW" altLang="en-US" dirty="0"/>
              <a:t>）。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53491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100" b="0" i="1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altLang="zh-TW" sz="1100" b="0" i="1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scheduling</a:t>
            </a:r>
            <a:r>
              <a:rPr lang="zh-TW" altLang="en-US" sz="1100" b="0" i="1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第一步就是要先知道每個</a:t>
            </a:r>
            <a:r>
              <a:rPr lang="en-US" altLang="zh-TW" sz="1100" b="0" i="1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lang="zh-TW" altLang="en-US" sz="1100" b="0" i="1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的關聯</a:t>
            </a:r>
            <a:endParaRPr lang="en-US" altLang="zh-TW" sz="1100" b="0" i="1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zh-TW" altLang="en-US" sz="1100" b="0" i="1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所以他先去計算每個</a:t>
            </a:r>
            <a:r>
              <a:rPr lang="en-US" altLang="zh-TW" sz="1100" b="0" i="1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lang="zh-TW" altLang="en-US" sz="1100" b="0" i="1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以衛星為原點的的</a:t>
            </a:r>
            <a:r>
              <a:rPr lang="en-US" altLang="zh-TW" sz="1100" b="0" i="1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zh-TW" altLang="en-US" sz="1100" b="0" i="1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軸位置，</a:t>
            </a:r>
            <a:endParaRPr lang="en-US" altLang="zh-TW" sz="1100" b="0" i="1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endParaRPr lang="en-US" altLang="zh-TW" sz="1100" b="0" i="1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altLang="zh-TW" sz="1100" b="0" i="1" u="none" strike="noStrike" cap="none" baseline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</a:t>
            </a:r>
            <a:r>
              <a:rPr lang="en-US" altLang="zh-TW" sz="1100" b="0" i="1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1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35786 km (</a:t>
            </a:r>
            <a:r>
              <a:rPr lang="zh-TW" altLang="en-US" sz="11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衛星在赤道上方高度</a:t>
            </a:r>
            <a:r>
              <a:rPr lang="en-US" altLang="zh-TW" sz="11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zh-TW" altLang="en-US" sz="11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altLang="zh-TW" sz="1100" b="0" i="0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altLang="zh-TW" sz="11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Longitude of the satellite is </a:t>
            </a:r>
            <a:r>
              <a:rPr lang="el-GR" altLang="zh-TW" sz="11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λ</a:t>
            </a:r>
            <a:r>
              <a:rPr lang="en-US" altLang="zh-TW" sz="1100" b="0" i="1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altLang="zh-TW" sz="11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19.2 degree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235111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然後用</a:t>
            </a:r>
            <a:r>
              <a:rPr lang="en-US" altLang="zh-TW" dirty="0"/>
              <a:t>user</a:t>
            </a:r>
            <a:r>
              <a:rPr lang="zh-TW" altLang="en-US" dirty="0"/>
              <a:t>座標與衛星座標做外積跟內積，就可以求出</a:t>
            </a:r>
            <a:r>
              <a:rPr lang="en-US" altLang="zh-TW" dirty="0"/>
              <a:t>user</a:t>
            </a:r>
            <a:r>
              <a:rPr lang="zh-TW" altLang="en-US" dirty="0"/>
              <a:t>跟</a:t>
            </a:r>
            <a:r>
              <a:rPr lang="en-US" altLang="zh-TW" dirty="0"/>
              <a:t>satellite</a:t>
            </a:r>
            <a:r>
              <a:rPr lang="zh-TW" altLang="en-US" dirty="0"/>
              <a:t>之間的離軸角，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61947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就可以把剛剛的離軸角帶入前面提到的公式，去計算</a:t>
            </a:r>
            <a:r>
              <a:rPr lang="en-US" altLang="zh-TW" dirty="0"/>
              <a:t>beam</a:t>
            </a:r>
            <a:r>
              <a:rPr lang="zh-TW" altLang="en-US" dirty="0"/>
              <a:t> </a:t>
            </a:r>
            <a:r>
              <a:rPr lang="en-US" altLang="zh-TW" dirty="0"/>
              <a:t>gain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然後去紀錄對於每個</a:t>
            </a:r>
            <a:r>
              <a:rPr lang="en-US" altLang="zh-TW" dirty="0"/>
              <a:t>user</a:t>
            </a:r>
            <a:r>
              <a:rPr lang="zh-TW" altLang="en-US" dirty="0"/>
              <a:t>最大的</a:t>
            </a:r>
            <a:r>
              <a:rPr lang="en-US" altLang="zh-TW" dirty="0"/>
              <a:t>beam gain</a:t>
            </a:r>
            <a:r>
              <a:rPr lang="zh-TW" altLang="en-US" dirty="0"/>
              <a:t>，就可以知道每個</a:t>
            </a:r>
            <a:r>
              <a:rPr lang="en-US" altLang="zh-TW" dirty="0"/>
              <a:t>user</a:t>
            </a:r>
            <a:r>
              <a:rPr lang="zh-TW" altLang="en-US" dirty="0"/>
              <a:t>是用哪個</a:t>
            </a:r>
            <a:r>
              <a:rPr lang="en-US" altLang="zh-TW" dirty="0"/>
              <a:t>beam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31915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zh-TW" altLang="en-US" dirty="0"/>
              <a:t>第二步是要先從</a:t>
            </a:r>
            <a:r>
              <a:rPr lang="en-US" altLang="zh-TW" dirty="0"/>
              <a:t>b</a:t>
            </a:r>
            <a:r>
              <a:rPr lang="zh-TW" altLang="en-US" dirty="0"/>
              <a:t>的</a:t>
            </a:r>
            <a:r>
              <a:rPr lang="en-US" altLang="zh-TW" dirty="0"/>
              <a:t>beam</a:t>
            </a:r>
            <a:r>
              <a:rPr lang="zh-TW" altLang="en-US" dirty="0"/>
              <a:t>裡選擇一個</a:t>
            </a:r>
            <a:r>
              <a:rPr lang="en-US" altLang="zh-TW" dirty="0"/>
              <a:t>primary user</a:t>
            </a:r>
            <a:r>
              <a:rPr lang="zh-TW" altLang="en-US" dirty="0"/>
              <a:t> ，再來去尋找其他的</a:t>
            </a:r>
            <a:r>
              <a:rPr lang="en-US" altLang="zh-TW" dirty="0"/>
              <a:t>user ,  </a:t>
            </a:r>
            <a:r>
              <a:rPr lang="zh-TW" altLang="en-US" dirty="0"/>
              <a:t>取決的條件就是看跟</a:t>
            </a:r>
            <a:r>
              <a:rPr lang="en-US" altLang="zh-TW" dirty="0"/>
              <a:t>primary user</a:t>
            </a:r>
            <a:r>
              <a:rPr lang="zh-TW" altLang="en-US" dirty="0"/>
              <a:t>的</a:t>
            </a:r>
            <a:r>
              <a:rPr lang="en-US" altLang="zh-TW" dirty="0"/>
              <a:t>channel correlation </a:t>
            </a:r>
            <a:r>
              <a:rPr lang="zh-TW" altLang="en-US" dirty="0"/>
              <a:t>高的，只要高於一個給定的</a:t>
            </a:r>
            <a:r>
              <a:rPr lang="en-US" altLang="zh-TW" dirty="0"/>
              <a:t>threshold</a:t>
            </a:r>
            <a:r>
              <a:rPr lang="zh-TW" altLang="en-US" dirty="0"/>
              <a:t> 就把他列為候選者內</a:t>
            </a:r>
            <a:endParaRPr lang="en-US" altLang="zh-TW" dirty="0"/>
          </a:p>
          <a:p>
            <a:pPr marL="13970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692294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39700" indent="0">
                  <a:buNone/>
                </a:pPr>
                <a:r>
                  <a:rPr lang="zh-TW" altLang="en-US" dirty="0"/>
                  <a:t>接著在第</a:t>
                </a:r>
                <a:r>
                  <a:rPr lang="en-US" altLang="zh-TW" dirty="0"/>
                  <a:t>3</a:t>
                </a:r>
                <a:r>
                  <a:rPr lang="zh-TW" altLang="en-US" dirty="0"/>
                  <a:t>部的時候將剛剛選到的候選者，在之中選出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100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altLang="zh-TW" dirty="0"/>
                  <a:t>u </a:t>
                </a:r>
                <a:r>
                  <a:rPr lang="zh-TW" altLang="en-US" dirty="0"/>
                  <a:t>個</a:t>
                </a:r>
                <a:r>
                  <a:rPr lang="en-US" altLang="zh-TW" dirty="0"/>
                  <a:t>group</a:t>
                </a:r>
                <a:r>
                  <a:rPr lang="en-US" altLang="zh-TW" baseline="0" dirty="0"/>
                  <a:t> (</a:t>
                </a:r>
                <a:r>
                  <a:rPr lang="zh-TW" altLang="en-US" baseline="0" dirty="0"/>
                  <a:t>大約是</a:t>
                </a:r>
                <a:r>
                  <a:rPr lang="en-US" altLang="zh-TW" baseline="0" dirty="0"/>
                  <a:t>2~3</a:t>
                </a:r>
                <a:r>
                  <a:rPr lang="zh-TW" altLang="en-US" baseline="0" dirty="0"/>
                  <a:t>個</a:t>
                </a:r>
                <a:r>
                  <a:rPr lang="en-US" altLang="zh-TW" baseline="0" dirty="0"/>
                  <a:t>)</a:t>
                </a:r>
                <a:r>
                  <a:rPr lang="zh-TW" altLang="en-US" baseline="0" dirty="0"/>
                  <a:t>，方法是用</a:t>
                </a:r>
                <a:r>
                  <a:rPr lang="en-US" altLang="zh-TW" baseline="0" dirty="0"/>
                  <a:t>k-means</a:t>
                </a:r>
                <a:r>
                  <a:rPr lang="zh-TW" altLang="en-US" baseline="0" dirty="0"/>
                  <a:t>，這樣一來，每個</a:t>
                </a:r>
                <a:r>
                  <a:rPr lang="en-US" altLang="zh-TW" baseline="0" dirty="0"/>
                  <a:t>group</a:t>
                </a:r>
                <a:r>
                  <a:rPr lang="zh-TW" altLang="en-US" baseline="0" dirty="0"/>
                  <a:t>中的</a:t>
                </a:r>
                <a:r>
                  <a:rPr lang="en-US" altLang="zh-TW" baseline="0" dirty="0"/>
                  <a:t>user </a:t>
                </a:r>
                <a:r>
                  <a:rPr lang="zh-TW" altLang="en-US" baseline="0" dirty="0"/>
                  <a:t>的</a:t>
                </a:r>
                <a:r>
                  <a:rPr lang="en-US" altLang="zh-TW" baseline="0" dirty="0"/>
                  <a:t>channel gain</a:t>
                </a:r>
                <a:r>
                  <a:rPr lang="zh-TW" altLang="en-US" baseline="0" dirty="0"/>
                  <a:t>就會相似，</a:t>
                </a:r>
                <a:endParaRPr lang="en-US" altLang="zh-TW" dirty="0">
                  <a:highlight>
                    <a:srgbClr val="FFFF00"/>
                  </a:highlight>
                </a:endParaRPr>
              </a:p>
            </p:txBody>
          </p:sp>
        </mc:Choice>
        <mc:Fallback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39700" indent="0">
                  <a:buNone/>
                </a:pPr>
                <a:r>
                  <a:rPr lang="zh-TW" altLang="en-US" dirty="0"/>
                  <a:t>接著在第</a:t>
                </a:r>
                <a:r>
                  <a:rPr lang="en-US" altLang="zh-TW" dirty="0"/>
                  <a:t>3</a:t>
                </a:r>
                <a:r>
                  <a:rPr lang="zh-TW" altLang="en-US" dirty="0"/>
                  <a:t>部的時候將剛剛選到的候選者，在之中選出 </a:t>
                </a:r>
                <a:r>
                  <a:rPr lang="en-US" altLang="zh-TW" sz="1100" b="0" i="0">
                    <a:latin typeface="Cambria Math" panose="02040503050406030204" pitchFamily="18" charset="0"/>
                  </a:rPr>
                  <a:t>"N</a:t>
                </a:r>
                <a:r>
                  <a:rPr lang="zh-TW" altLang="en-US" sz="1100" b="0" i="0">
                    <a:latin typeface="Cambria Math" panose="02040503050406030204" pitchFamily="18" charset="0"/>
                  </a:rPr>
                  <a:t>"</a:t>
                </a:r>
                <a:r>
                  <a:rPr lang="en-US" altLang="zh-TW" dirty="0"/>
                  <a:t>u </a:t>
                </a:r>
                <a:r>
                  <a:rPr lang="zh-TW" altLang="en-US" dirty="0"/>
                  <a:t>個</a:t>
                </a:r>
                <a:r>
                  <a:rPr lang="en-US" altLang="zh-TW" dirty="0"/>
                  <a:t>group</a:t>
                </a:r>
                <a:r>
                  <a:rPr lang="en-US" altLang="zh-TW" baseline="0" dirty="0"/>
                  <a:t> (</a:t>
                </a:r>
                <a:r>
                  <a:rPr lang="zh-TW" altLang="en-US" baseline="0" dirty="0"/>
                  <a:t>大約是</a:t>
                </a:r>
                <a:r>
                  <a:rPr lang="en-US" altLang="zh-TW" baseline="0" dirty="0"/>
                  <a:t>2~3</a:t>
                </a:r>
                <a:r>
                  <a:rPr lang="zh-TW" altLang="en-US" baseline="0" dirty="0"/>
                  <a:t>個</a:t>
                </a:r>
                <a:r>
                  <a:rPr lang="en-US" altLang="zh-TW" baseline="0" dirty="0"/>
                  <a:t>)</a:t>
                </a:r>
                <a:r>
                  <a:rPr lang="zh-TW" altLang="en-US" baseline="0" dirty="0"/>
                  <a:t>，方法是用</a:t>
                </a:r>
                <a:r>
                  <a:rPr lang="en-US" altLang="zh-TW" baseline="0" dirty="0"/>
                  <a:t>k-means</a:t>
                </a:r>
                <a:r>
                  <a:rPr lang="zh-TW" altLang="en-US" baseline="0" dirty="0"/>
                  <a:t>，這樣一來，每個</a:t>
                </a:r>
                <a:r>
                  <a:rPr lang="en-US" altLang="zh-TW" baseline="0" dirty="0"/>
                  <a:t>group</a:t>
                </a:r>
                <a:r>
                  <a:rPr lang="zh-TW" altLang="en-US" baseline="0" dirty="0"/>
                  <a:t>中的</a:t>
                </a:r>
                <a:r>
                  <a:rPr lang="en-US" altLang="zh-TW" baseline="0" dirty="0"/>
                  <a:t>user </a:t>
                </a:r>
                <a:r>
                  <a:rPr lang="zh-TW" altLang="en-US" baseline="0" dirty="0"/>
                  <a:t>的</a:t>
                </a:r>
                <a:r>
                  <a:rPr lang="en-US" altLang="zh-TW" baseline="0" dirty="0"/>
                  <a:t>channel gain</a:t>
                </a:r>
                <a:r>
                  <a:rPr lang="zh-TW" altLang="en-US" baseline="0" dirty="0"/>
                  <a:t>就會相似，</a:t>
                </a:r>
                <a:endParaRPr lang="en-US" altLang="zh-TW" dirty="0">
                  <a:highlight>
                    <a:srgbClr val="FFFF00"/>
                  </a:highlight>
                </a:endParaRP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5929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zh-TW" altLang="en-US" dirty="0"/>
              <a:t>最後去</a:t>
            </a:r>
            <a:r>
              <a:rPr lang="en-US" altLang="zh-TW" dirty="0"/>
              <a:t>schedule </a:t>
            </a:r>
            <a:r>
              <a:rPr lang="zh-TW" altLang="en-US" dirty="0"/>
              <a:t>不同</a:t>
            </a:r>
            <a:r>
              <a:rPr lang="en-US" altLang="zh-TW" dirty="0"/>
              <a:t>beam</a:t>
            </a:r>
            <a:r>
              <a:rPr lang="zh-TW" altLang="en-US" dirty="0"/>
              <a:t>的</a:t>
            </a:r>
            <a:r>
              <a:rPr lang="en-US" altLang="zh-TW" dirty="0"/>
              <a:t>primary user </a:t>
            </a:r>
            <a:r>
              <a:rPr lang="zh-TW" altLang="en-US" dirty="0"/>
              <a:t>讓它們的</a:t>
            </a:r>
            <a:r>
              <a:rPr lang="en-US" altLang="zh-TW" dirty="0"/>
              <a:t>channel gain</a:t>
            </a:r>
            <a:r>
              <a:rPr lang="zh-TW" altLang="en-US" dirty="0"/>
              <a:t>差異最大。</a:t>
            </a:r>
            <a:endParaRPr lang="en-US" altLang="zh-TW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109156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這邊設計了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層的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beamforming</a:t>
            </a: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第一步，我們考慮抑制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beam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之間與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beam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內干擾，</a:t>
            </a:r>
            <a:endParaRPr lang="en-US" altLang="zh-TW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第二步，減少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beam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之間干擾後，通過優化每個用戶的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，增加用戶有效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的差異。 </a:t>
            </a:r>
            <a:endParaRPr lang="en-US" altLang="zh-TW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在第三步驟中，根據不同的功率分配來限定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beam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的功率。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09848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zh-TW" dirty="0"/>
              </a:p>
              <a:p>
                <a:r>
                  <a:rPr lang="zh-TW" altLang="en-US" sz="1100" i="1" dirty="0">
                    <a:latin typeface="Cambria Math" panose="02040503050406030204" pitchFamily="18" charset="0"/>
                  </a:rPr>
                  <a:t>第一步主要是使用</a:t>
                </a:r>
                <a:r>
                  <a:rPr lang="en-US" altLang="zh-TW" sz="1100" i="1" dirty="0">
                    <a:latin typeface="Cambria Math" panose="02040503050406030204" pitchFamily="18" charset="0"/>
                  </a:rPr>
                  <a:t>zero-forcing</a:t>
                </a:r>
                <a:r>
                  <a:rPr lang="zh-TW" altLang="en-US" sz="1100" i="1" dirty="0">
                    <a:latin typeface="Cambria Math" panose="02040503050406030204" pitchFamily="18" charset="0"/>
                  </a:rPr>
                  <a:t>減少干擾，並且使用奇異直分解</a:t>
                </a:r>
                <a:endParaRPr lang="en-US" altLang="zh-TW" sz="1100" i="1" dirty="0">
                  <a:latin typeface="Cambria Math" panose="02040503050406030204" pitchFamily="18" charset="0"/>
                </a:endParaRPr>
              </a:p>
              <a:p>
                <a:r>
                  <a:rPr lang="en-US" altLang="zh-TW" sz="1100" i="1" dirty="0">
                    <a:latin typeface="Cambria Math" panose="02040503050406030204" pitchFamily="18" charset="0"/>
                  </a:rPr>
                  <a:t>SVD </a:t>
                </a:r>
                <a:r>
                  <a:rPr lang="zh-TW" altLang="en-US" sz="1100" i="1" dirty="0">
                    <a:latin typeface="Cambria Math" panose="02040503050406030204" pitchFamily="18" charset="0"/>
                  </a:rPr>
                  <a:t>可以刪去影響力小的部分，換句話說 可以消除雜訊</a:t>
                </a:r>
                <a:endParaRPr lang="en-US" altLang="zh-TW" sz="1100" i="1" dirty="0">
                  <a:latin typeface="Cambria Math" panose="02040503050406030204" pitchFamily="18" charset="0"/>
                </a:endParaRPr>
              </a:p>
              <a:p>
                <a:endParaRPr lang="en-US" altLang="zh-TW" sz="1100" i="1" dirty="0">
                  <a:latin typeface="Cambria Math" panose="02040503050406030204" pitchFamily="18" charset="0"/>
                </a:endParaRPr>
              </a:p>
              <a:p>
                <a:endParaRPr lang="en-US" altLang="zh-TW" sz="11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1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1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altLang="zh-TW" sz="11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</m:sSubSup>
                  </m:oMath>
                </a14:m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altLang="zh-TW" sz="1100" b="0" i="0" u="none" strike="noStrike" cap="none" baseline="0" dirty="0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isthe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left singular matrix of size (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 -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1)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  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(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 -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1)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,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1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100" i="1" smtClean="0"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sub>
                        <m:r>
                          <a:rPr lang="en-US" altLang="zh-TW" sz="11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</m:sSubSup>
                  </m:oMath>
                </a14:m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is the (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 -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1)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  </a:t>
                </a:r>
                <a:r>
                  <a:rPr lang="en-US" altLang="zh-TW" sz="1100" b="0" i="1" u="none" strike="noStrike" cap="none" baseline="0" dirty="0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NNu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diagonal matrix,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1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1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sz="11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sz="11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</a:t>
                </a:r>
                <a:r>
                  <a:rPr lang="zh-TW" altLang="en-US" dirty="0"/>
                  <a:t> 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right singular matrix of size </a:t>
                </a:r>
                <a:r>
                  <a:rPr lang="en-US" altLang="zh-TW" sz="1100" b="0" i="1" u="none" strike="noStrike" cap="none" baseline="0" dirty="0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NNu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</a:t>
                </a:r>
                <a:r>
                  <a:rPr lang="en-US" altLang="zh-TW" sz="1100" b="0" i="1" u="none" strike="noStrike" cap="none" baseline="0" dirty="0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NNu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endParaRPr lang="en-US" altLang="zh-TW" sz="1100" b="0" i="0" u="none" strike="noStrike" cap="none" baseline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zh-TW" dirty="0"/>
              </a:p>
              <a:p>
                <a:r>
                  <a:rPr lang="zh-TW" altLang="en-US" sz="1100" i="1" dirty="0">
                    <a:latin typeface="Cambria Math" panose="02040503050406030204" pitchFamily="18" charset="0"/>
                  </a:rPr>
                  <a:t>第一步主要是使用</a:t>
                </a:r>
                <a:r>
                  <a:rPr lang="en-US" altLang="zh-TW" sz="1100" i="1" dirty="0">
                    <a:latin typeface="Cambria Math" panose="02040503050406030204" pitchFamily="18" charset="0"/>
                  </a:rPr>
                  <a:t>zero-forcing</a:t>
                </a:r>
                <a:r>
                  <a:rPr lang="zh-TW" altLang="en-US" sz="1100" i="1" dirty="0">
                    <a:latin typeface="Cambria Math" panose="02040503050406030204" pitchFamily="18" charset="0"/>
                  </a:rPr>
                  <a:t>減少干擾，並且使用奇異直分解</a:t>
                </a:r>
                <a:endParaRPr lang="en-US" altLang="zh-TW" sz="1100" i="1" dirty="0">
                  <a:latin typeface="Cambria Math" panose="02040503050406030204" pitchFamily="18" charset="0"/>
                </a:endParaRPr>
              </a:p>
              <a:p>
                <a:r>
                  <a:rPr lang="en-US" altLang="zh-TW" sz="1100" i="1" dirty="0">
                    <a:latin typeface="Cambria Math" panose="02040503050406030204" pitchFamily="18" charset="0"/>
                  </a:rPr>
                  <a:t>SVD </a:t>
                </a:r>
                <a:r>
                  <a:rPr lang="zh-TW" altLang="en-US" sz="1100" i="1" dirty="0">
                    <a:latin typeface="Cambria Math" panose="02040503050406030204" pitchFamily="18" charset="0"/>
                  </a:rPr>
                  <a:t>可以刪去影響力小的部分，換句話說 可以消除雜訊</a:t>
                </a:r>
                <a:endParaRPr lang="en-US" altLang="zh-TW" sz="1100" i="1" dirty="0">
                  <a:latin typeface="Cambria Math" panose="02040503050406030204" pitchFamily="18" charset="0"/>
                </a:endParaRPr>
              </a:p>
              <a:p>
                <a:endParaRPr lang="en-US" altLang="zh-TW" sz="1100" i="1" dirty="0">
                  <a:latin typeface="Cambria Math" panose="02040503050406030204" pitchFamily="18" charset="0"/>
                </a:endParaRPr>
              </a:p>
              <a:p>
                <a:endParaRPr lang="en-US" altLang="zh-TW" sz="1100" i="1" dirty="0">
                  <a:latin typeface="Cambria Math" panose="02040503050406030204" pitchFamily="18" charset="0"/>
                </a:endParaRPr>
              </a:p>
              <a:p>
                <a:r>
                  <a:rPr lang="en-US" altLang="zh-TW" sz="1100" b="0" i="0">
                    <a:latin typeface="Cambria Math" panose="02040503050406030204" pitchFamily="18" charset="0"/>
                  </a:rPr>
                  <a:t>"U" _</a:t>
                </a:r>
                <a:r>
                  <a:rPr lang="en-US" altLang="zh-TW" sz="1100" i="0">
                    <a:latin typeface="Cambria Math" panose="02040503050406030204" pitchFamily="18" charset="0"/>
                  </a:rPr>
                  <a:t>𝑘^ 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altLang="zh-TW" sz="1100" b="0" i="0" u="none" strike="noStrike" cap="none" baseline="0" dirty="0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isthe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left singular matrix of size (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 -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1)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  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(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 -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1)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,</a:t>
                </a:r>
              </a:p>
              <a:p>
                <a:r>
                  <a:rPr lang="en-US" altLang="zh-TW" sz="1100" i="0">
                    <a:latin typeface="Cambria Math" panose="02040503050406030204" pitchFamily="18" charset="0"/>
                  </a:rPr>
                  <a:t>∑_𝑘^ 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is the (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 -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1)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  </a:t>
                </a:r>
                <a:r>
                  <a:rPr lang="en-US" altLang="zh-TW" sz="1100" b="0" i="1" u="none" strike="noStrike" cap="none" baseline="0" dirty="0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NNu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diagonal matrix,</a:t>
                </a:r>
              </a:p>
              <a:p>
                <a:r>
                  <a:rPr lang="en-US" altLang="zh-TW" sz="1100" b="0" i="0">
                    <a:latin typeface="Cambria Math" panose="02040503050406030204" pitchFamily="18" charset="0"/>
                  </a:rPr>
                  <a:t>"V" _</a:t>
                </a:r>
                <a:r>
                  <a:rPr lang="en-US" altLang="zh-TW" sz="1100" i="0">
                    <a:latin typeface="Cambria Math" panose="02040503050406030204" pitchFamily="18" charset="0"/>
                  </a:rPr>
                  <a:t>𝑘^</a:t>
                </a:r>
                <a:r>
                  <a:rPr lang="en-US" altLang="zh-TW" sz="1100" b="0" i="0">
                    <a:latin typeface="Cambria Math" panose="02040503050406030204" pitchFamily="18" charset="0"/>
                  </a:rPr>
                  <a:t>𝐻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is</a:t>
                </a:r>
                <a:r>
                  <a:rPr lang="zh-TW" altLang="en-US" dirty="0"/>
                  <a:t> 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right singular matrix of size </a:t>
                </a:r>
                <a:r>
                  <a:rPr lang="en-US" altLang="zh-TW" sz="1100" b="0" i="1" u="none" strike="noStrike" cap="none" baseline="0" dirty="0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NNu</a:t>
                </a:r>
                <a:r>
                  <a:rPr lang="en-US" altLang="zh-TW" sz="1100" b="0" i="1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</a:t>
                </a:r>
                <a:r>
                  <a:rPr lang="en-US" altLang="zh-TW" sz="1100" b="0" i="1" u="none" strike="noStrike" cap="none" baseline="0" dirty="0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NNu</a:t>
                </a:r>
                <a:r>
                  <a:rPr lang="en-US" altLang="zh-TW" sz="1100" b="0" i="0" u="none" strike="noStrike" cap="none" baseline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endParaRPr lang="en-US" altLang="zh-TW" sz="1100" b="0" i="0" u="none" strike="noStrike" cap="none" baseline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  <a:p>
                <a:endParaRPr lang="zh-TW" alt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45149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第二步，在抑制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beam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之間干擾後，通過以最大傳輸的速率去優化每個用戶的有效信道，增加用戶有效信道增益的差異</a:t>
            </a:r>
            <a:endParaRPr lang="en-US" altLang="zh-TW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61786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第三步，根據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 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限制來執行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beam</a:t>
            </a:r>
            <a:r>
              <a:rPr lang="zh-TW" alt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間功率分配。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70401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zh-TW" altLang="en-US" dirty="0"/>
              <a:t>最後是他要動態分配</a:t>
            </a:r>
            <a:r>
              <a:rPr lang="en-US" altLang="zh-TW" dirty="0"/>
              <a:t>power</a:t>
            </a:r>
          </a:p>
          <a:p>
            <a:pPr marL="139700" indent="0">
              <a:buNone/>
            </a:pPr>
            <a:endParaRPr lang="en-US" altLang="zh-TW" dirty="0"/>
          </a:p>
          <a:p>
            <a:pPr marL="139700" indent="0">
              <a:buNone/>
            </a:pPr>
            <a:r>
              <a:rPr lang="zh-TW" altLang="en-US" dirty="0"/>
              <a:t>一開始先排序</a:t>
            </a:r>
            <a:r>
              <a:rPr lang="en-US" altLang="zh-TW" dirty="0"/>
              <a:t>user</a:t>
            </a:r>
            <a:r>
              <a:rPr lang="zh-TW" altLang="en-US" dirty="0"/>
              <a:t>的</a:t>
            </a:r>
            <a:r>
              <a:rPr lang="en-US" altLang="zh-TW" dirty="0"/>
              <a:t>channel gain</a:t>
            </a:r>
            <a:r>
              <a:rPr lang="zh-TW" altLang="en-US" dirty="0"/>
              <a:t>， 因此後面的比前面來的小， 用貝塔表示當前</a:t>
            </a:r>
            <a:r>
              <a:rPr lang="en-US" altLang="zh-TW" dirty="0"/>
              <a:t>user</a:t>
            </a:r>
            <a:r>
              <a:rPr lang="zh-TW" altLang="en-US" dirty="0"/>
              <a:t>跟上一個</a:t>
            </a:r>
            <a:r>
              <a:rPr lang="en-US" altLang="zh-TW" dirty="0"/>
              <a:t>user</a:t>
            </a:r>
            <a:r>
              <a:rPr lang="zh-TW" altLang="en-US" dirty="0"/>
              <a:t>的</a:t>
            </a:r>
            <a:r>
              <a:rPr lang="en-US" altLang="zh-TW" dirty="0"/>
              <a:t>power </a:t>
            </a:r>
            <a:r>
              <a:rPr lang="zh-TW" altLang="en-US" dirty="0"/>
              <a:t>分配關西， </a:t>
            </a:r>
            <a:endParaRPr lang="en-US" altLang="zh-TW" dirty="0"/>
          </a:p>
          <a:p>
            <a:pPr marL="139700" indent="0">
              <a:buNone/>
            </a:pPr>
            <a:r>
              <a:rPr lang="zh-TW" altLang="en-US" dirty="0"/>
              <a:t>那代表說，因為後面的通道狀況比較差，因此</a:t>
            </a:r>
            <a:r>
              <a:rPr lang="en-US" altLang="zh-TW" dirty="0"/>
              <a:t>power</a:t>
            </a:r>
            <a:r>
              <a:rPr lang="zh-TW" altLang="en-US" dirty="0"/>
              <a:t>必須打的比較多，但是這樣一來沒辦法保證</a:t>
            </a:r>
            <a:r>
              <a:rPr lang="en-US" altLang="zh-TW" dirty="0"/>
              <a:t>primary user </a:t>
            </a:r>
            <a:r>
              <a:rPr lang="zh-TW" altLang="en-US" dirty="0"/>
              <a:t>能夠達到需要的</a:t>
            </a:r>
            <a:r>
              <a:rPr lang="en-US" altLang="zh-TW" dirty="0"/>
              <a:t>data rate</a:t>
            </a:r>
            <a:r>
              <a:rPr lang="zh-TW" altLang="en-US" dirty="0"/>
              <a:t>，</a:t>
            </a:r>
            <a:endParaRPr lang="en-US" altLang="zh-TW" dirty="0"/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目標數據速率對功率分配策略施加了約束 ，就是每個用戶都有最小的</a:t>
            </a:r>
            <a:r>
              <a:rPr lang="en-US" altLang="zh-TW" dirty="0"/>
              <a:t>data rate </a:t>
            </a:r>
            <a:r>
              <a:rPr lang="zh-TW" altLang="en-US" dirty="0"/>
              <a:t>，不可以小於它</a:t>
            </a:r>
          </a:p>
          <a:p>
            <a:pPr marL="13970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38288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4" name="Google Shape;3874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5" name="Google Shape;3875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55904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zh-TW" altLang="en-US" dirty="0"/>
              <a:t>最後實驗比較了</a:t>
            </a:r>
            <a:r>
              <a:rPr lang="en-US" altLang="zh-TW" dirty="0"/>
              <a:t>4</a:t>
            </a:r>
            <a:r>
              <a:rPr lang="zh-TW" altLang="en-US" dirty="0"/>
              <a:t>種方式</a:t>
            </a:r>
            <a:endParaRPr lang="en-US" altLang="zh-TW" dirty="0"/>
          </a:p>
          <a:p>
            <a:pPr marL="139700" indent="0">
              <a:buNone/>
            </a:pPr>
            <a:r>
              <a:rPr lang="en-US" altLang="zh-TW" dirty="0"/>
              <a:t>1.</a:t>
            </a:r>
            <a:r>
              <a:rPr lang="zh-TW" altLang="en-US" dirty="0"/>
              <a:t>本</a:t>
            </a:r>
            <a:r>
              <a:rPr lang="en-US" altLang="zh-TW" dirty="0"/>
              <a:t>paper</a:t>
            </a:r>
            <a:r>
              <a:rPr lang="zh-TW" altLang="en-US" dirty="0"/>
              <a:t>提出的 </a:t>
            </a:r>
            <a:r>
              <a:rPr lang="en-US" altLang="zh-TW" dirty="0"/>
              <a:t>geographic </a:t>
            </a:r>
            <a:r>
              <a:rPr lang="en-US" altLang="zh-TW" dirty="0" err="1"/>
              <a:t>noma</a:t>
            </a:r>
            <a:r>
              <a:rPr lang="en-US" altLang="zh-TW" dirty="0"/>
              <a:t> beamforming</a:t>
            </a:r>
          </a:p>
          <a:p>
            <a:pPr marL="139700" indent="0">
              <a:buNone/>
            </a:pPr>
            <a:r>
              <a:rPr lang="en-US" altLang="zh-TW" dirty="0"/>
              <a:t>2. NOMA-BF with user scheduling</a:t>
            </a:r>
          </a:p>
          <a:p>
            <a:pPr marL="139700" indent="0">
              <a:buNone/>
            </a:pPr>
            <a:r>
              <a:rPr lang="en-US" altLang="zh-TW" dirty="0"/>
              <a:t>3.</a:t>
            </a:r>
            <a:r>
              <a:rPr lang="zh-TW" altLang="en-US" dirty="0"/>
              <a:t> </a:t>
            </a:r>
            <a:r>
              <a:rPr lang="en-US" altLang="zh-TW" dirty="0"/>
              <a:t>OMA- BF</a:t>
            </a:r>
          </a:p>
          <a:p>
            <a:pPr marL="139700" indent="0">
              <a:buNone/>
            </a:pPr>
            <a:r>
              <a:rPr lang="en-US" altLang="zh-TW" dirty="0"/>
              <a:t>4. NOMA- BF </a:t>
            </a:r>
            <a:r>
              <a:rPr lang="en-US" altLang="zh-TW" dirty="0" err="1"/>
              <a:t>reqularized</a:t>
            </a:r>
            <a:r>
              <a:rPr lang="en-US" altLang="zh-TW" dirty="0"/>
              <a:t> ZF</a:t>
            </a:r>
          </a:p>
          <a:p>
            <a:pPr marL="139700" indent="0">
              <a:buNone/>
            </a:pPr>
            <a:endParaRPr lang="en-US" altLang="zh-TW" dirty="0"/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可以看到使用</a:t>
            </a:r>
            <a:r>
              <a:rPr lang="en-US" altLang="zh-TW" dirty="0"/>
              <a:t>geo </a:t>
            </a:r>
            <a:r>
              <a:rPr lang="en-US" altLang="zh-TW" dirty="0" err="1"/>
              <a:t>noma</a:t>
            </a:r>
            <a:r>
              <a:rPr lang="en-US" altLang="zh-TW" dirty="0"/>
              <a:t> </a:t>
            </a:r>
            <a:r>
              <a:rPr lang="zh-TW" altLang="en-US" dirty="0"/>
              <a:t>跟</a:t>
            </a:r>
            <a:r>
              <a:rPr lang="en-US" altLang="zh-TW" dirty="0" err="1"/>
              <a:t>noma</a:t>
            </a:r>
            <a:r>
              <a:rPr lang="en-US" altLang="zh-TW" dirty="0"/>
              <a:t> </a:t>
            </a:r>
            <a:r>
              <a:rPr lang="en-US" altLang="zh-TW" dirty="0" err="1"/>
              <a:t>reqularized</a:t>
            </a:r>
            <a:r>
              <a:rPr lang="en-US" altLang="zh-TW" dirty="0"/>
              <a:t> ZF </a:t>
            </a:r>
            <a:r>
              <a:rPr lang="zh-TW" altLang="en-US" dirty="0"/>
              <a:t>相比不管是 </a:t>
            </a:r>
            <a:r>
              <a:rPr lang="en-US" altLang="zh-TW" dirty="0"/>
              <a:t>PAPC</a:t>
            </a:r>
            <a:r>
              <a:rPr lang="zh-TW" altLang="en-US" dirty="0"/>
              <a:t> </a:t>
            </a:r>
            <a:r>
              <a:rPr lang="en-US" altLang="zh-TW" dirty="0"/>
              <a:t>or SPC</a:t>
            </a:r>
            <a:r>
              <a:rPr lang="zh-TW" altLang="en-US" dirty="0"/>
              <a:t> 他的頻譜效能差不多，但是作者提到基於</a:t>
            </a:r>
            <a:r>
              <a:rPr lang="en-US" altLang="zh-TW" dirty="0"/>
              <a:t>geographic</a:t>
            </a:r>
            <a:r>
              <a:rPr lang="zh-TW" altLang="en-US" dirty="0"/>
              <a:t>的</a:t>
            </a:r>
            <a:r>
              <a:rPr lang="en-US" altLang="zh-TW" dirty="0"/>
              <a:t>user scheduling</a:t>
            </a:r>
            <a:r>
              <a:rPr lang="zh-TW" altLang="en-US" dirty="0"/>
              <a:t>比較好</a:t>
            </a:r>
            <a:endParaRPr lang="en-US" altLang="zh-TW" dirty="0"/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98248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實驗解果也表明不管是</a:t>
            </a:r>
            <a:r>
              <a:rPr lang="en-US" altLang="zh-TW" dirty="0"/>
              <a:t>PAPC</a:t>
            </a:r>
            <a:r>
              <a:rPr lang="zh-TW" altLang="en-US" dirty="0"/>
              <a:t> 還是</a:t>
            </a:r>
            <a:r>
              <a:rPr lang="en-US" altLang="zh-TW" dirty="0"/>
              <a:t>SPC</a:t>
            </a:r>
            <a:r>
              <a:rPr lang="zh-TW" altLang="en-US" dirty="0"/>
              <a:t> ，都能夠滿足</a:t>
            </a:r>
            <a:r>
              <a:rPr lang="en-US" altLang="zh-TW" dirty="0"/>
              <a:t>primary user data rate</a:t>
            </a:r>
            <a:r>
              <a:rPr lang="zh-TW" altLang="en-US" dirty="0"/>
              <a:t>的需求</a:t>
            </a:r>
            <a:r>
              <a:rPr lang="en-US" altLang="zh-TW" dirty="0"/>
              <a:t>(</a:t>
            </a:r>
            <a:r>
              <a:rPr lang="zh-TW" altLang="en-US" dirty="0"/>
              <a:t>綠色那條線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75431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4" name="Google Shape;3934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5" name="Google Shape;3935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在這篇提出了地理的</a:t>
            </a:r>
            <a:r>
              <a:rPr lang="en-US" altLang="zh-TW" dirty="0"/>
              <a:t>NOMA-BF</a:t>
            </a:r>
            <a:r>
              <a:rPr lang="zh-TW" altLang="en-US" dirty="0"/>
              <a:t>方案以提高頻譜使用率，此外透過建議的</a:t>
            </a:r>
            <a:r>
              <a:rPr lang="en-US" altLang="zh-TW" dirty="0"/>
              <a:t>user scheduling</a:t>
            </a:r>
            <a:r>
              <a:rPr lang="zh-TW" altLang="en-US" dirty="0"/>
              <a:t>，</a:t>
            </a:r>
            <a:r>
              <a:rPr lang="en-US" altLang="zh-TW" dirty="0"/>
              <a:t> multi-layer beamforming</a:t>
            </a:r>
            <a:r>
              <a:rPr lang="zh-TW" altLang="en-US" dirty="0"/>
              <a:t>，以及</a:t>
            </a:r>
            <a:r>
              <a:rPr lang="en-US" altLang="zh-TW" dirty="0"/>
              <a:t>power allocation </a:t>
            </a:r>
            <a:r>
              <a:rPr lang="zh-TW" altLang="en-US" dirty="0"/>
              <a:t>，在滿足</a:t>
            </a:r>
            <a:r>
              <a:rPr lang="en-US" altLang="zh-TW" dirty="0"/>
              <a:t>primary</a:t>
            </a:r>
            <a:r>
              <a:rPr lang="zh-TW" altLang="en-US" dirty="0"/>
              <a:t> </a:t>
            </a:r>
            <a:r>
              <a:rPr lang="en-US" altLang="zh-TW" dirty="0"/>
              <a:t>user</a:t>
            </a:r>
            <a:r>
              <a:rPr lang="zh-TW" altLang="en-US" dirty="0"/>
              <a:t>的 </a:t>
            </a:r>
            <a:r>
              <a:rPr lang="en-US" altLang="zh-TW" dirty="0"/>
              <a:t>data rate</a:t>
            </a:r>
            <a:r>
              <a:rPr lang="zh-TW" altLang="en-US" dirty="0"/>
              <a:t>的通時，提高了頻譜效率。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73669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5" name="Google Shape;4035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6" name="Google Shape;4036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4684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Google Shape;12;p2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Google Shape;93;p2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Google Shape;213;p2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Google Shape;423;p2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"/>
          <p:cNvSpPr txBox="1">
            <a:spLocks noGrp="1"/>
          </p:cNvSpPr>
          <p:nvPr>
            <p:ph type="ctrTitle"/>
          </p:nvPr>
        </p:nvSpPr>
        <p:spPr>
          <a:xfrm>
            <a:off x="685800" y="2878750"/>
            <a:ext cx="5268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28" name="Google Shape;528;p3"/>
          <p:cNvSpPr txBox="1">
            <a:spLocks noGrp="1"/>
          </p:cNvSpPr>
          <p:nvPr>
            <p:ph type="subTitle" idx="1"/>
          </p:nvPr>
        </p:nvSpPr>
        <p:spPr>
          <a:xfrm>
            <a:off x="685800" y="3983055"/>
            <a:ext cx="52689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grpSp>
        <p:nvGrpSpPr>
          <p:cNvPr id="529" name="Google Shape;529;p3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530" name="Google Shape;530;p3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0" name="Google Shape;610;p3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611" name="Google Shape;611;p3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3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731" name="Google Shape;731;p3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0" name="Google Shape;940;p3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941" name="Google Shape;941;p3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6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843" name="Google Shape;1843;p6"/>
          <p:cNvSpPr txBox="1">
            <a:spLocks noGrp="1"/>
          </p:cNvSpPr>
          <p:nvPr>
            <p:ph type="body" idx="1"/>
          </p:nvPr>
        </p:nvSpPr>
        <p:spPr>
          <a:xfrm>
            <a:off x="718300" y="1762650"/>
            <a:ext cx="3242400" cy="30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844" name="Google Shape;1844;p6"/>
          <p:cNvSpPr txBox="1">
            <a:spLocks noGrp="1"/>
          </p:cNvSpPr>
          <p:nvPr>
            <p:ph type="body" idx="2"/>
          </p:nvPr>
        </p:nvSpPr>
        <p:spPr>
          <a:xfrm>
            <a:off x="4156071" y="1762650"/>
            <a:ext cx="3242400" cy="30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845" name="Google Shape;1845;p6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846" name="Google Shape;1846;p6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847" name="Google Shape;1847;p6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6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6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6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6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6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6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6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6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6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6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6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6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6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6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6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6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6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6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6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6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6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6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6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6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6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6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6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6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6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6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6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6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6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6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6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6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6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6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6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6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6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6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6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6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6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6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6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6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6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6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6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6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6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6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6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6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4" name="Google Shape;1904;p6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905" name="Google Shape;1905;p6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6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6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6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6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6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6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6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6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6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6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6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6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6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6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6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6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6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6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6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6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6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6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6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6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6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6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6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6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6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6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6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6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6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6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6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6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6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6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6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6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6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6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6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6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6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6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6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6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6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6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6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6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6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6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6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6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6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6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6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6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6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7" name="Google Shape;1967;p6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968" name="Google Shape;1968;p6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6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6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6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6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6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6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6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6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6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6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6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6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6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6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6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6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6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6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6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6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6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6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6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6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6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6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6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6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6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6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6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6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6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6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6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6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6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6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6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6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6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6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6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6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6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6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6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6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6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6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6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6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6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6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6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6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6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6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6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6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6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6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6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6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6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6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6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6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6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6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6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6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6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6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6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6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6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6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6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6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6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6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6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6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6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6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6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6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6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6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6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6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6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6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6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6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6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6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6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6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9" name="Google Shape;2069;p6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2070" name="Google Shape;2070;p6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6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6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6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6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6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6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6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6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6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6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6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6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6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6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6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6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6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6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6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6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6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6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6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6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6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6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6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6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6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6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6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6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6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6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6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6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6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6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6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6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6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6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6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6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6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6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6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6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6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5" name="Google Shape;2955;p10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56" name="Google Shape;2956;p10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2957" name="Google Shape;2957;p10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10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10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10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10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10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10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10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10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10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10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10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10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10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10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10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10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10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0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0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0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0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0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10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10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10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10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10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10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10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10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10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10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10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10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10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10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10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10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10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10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10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10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10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10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10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10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10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10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10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10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10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10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10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10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10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10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4" name="Google Shape;3014;p10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3015" name="Google Shape;3015;p10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10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10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10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10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10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10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10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10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10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10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10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10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10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10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10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10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10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10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10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10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10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10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10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10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10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10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10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10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10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10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10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10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10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10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10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10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10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10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10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10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10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10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10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10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10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10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10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10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10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10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10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10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10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10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10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10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10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10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10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10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10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7" name="Google Shape;3077;p10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3078" name="Google Shape;3078;p10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10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10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10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10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10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10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10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10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10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10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10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10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10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10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10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10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10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10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10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10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10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10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10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10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10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10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10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10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10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10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10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10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10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10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10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10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10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10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10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10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10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10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10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10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10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10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10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10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10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10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10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10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10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10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10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10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10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10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10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10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10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10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10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10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10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10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10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10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10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10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10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10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10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10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10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10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10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10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10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10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10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10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10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10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10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10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10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10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10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10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10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10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10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10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10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10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10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10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10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10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9" name="Google Shape;3179;p10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3180" name="Google Shape;3180;p10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10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10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10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10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10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10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10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10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10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10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10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10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10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10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10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10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10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10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10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10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10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10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10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10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10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10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10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10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10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10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10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10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10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10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10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10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10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10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10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10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10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10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10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10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10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10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10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10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10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accent5"/>
        </a:solidFill>
        <a:effectLst/>
      </p:bgPr>
    </p:bg>
    <p:spTree>
      <p:nvGrpSpPr>
        <p:cNvPr id="1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1" name="Google Shape;3231;p11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3232" name="Google Shape;3232;p11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11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11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11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11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11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11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11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11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11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11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11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11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11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11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11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11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11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11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11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11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11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11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11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11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11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11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11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11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11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11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11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11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11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11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11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11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11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11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11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11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11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11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11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11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11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11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11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11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11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11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11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11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11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11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11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11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89" name="Google Shape;3289;p11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3290" name="Google Shape;3290;p11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11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11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11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11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11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11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11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11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11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11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11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11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11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11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11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11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11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11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11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11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11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11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11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11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11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11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11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11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11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11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11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11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11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11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11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11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11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11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11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11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11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11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11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11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11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11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11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11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11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11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11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11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11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11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11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11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11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11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11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11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11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2" name="Google Shape;3352;p11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3353" name="Google Shape;3353;p11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11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11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11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11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11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11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11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11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11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11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11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11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11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11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11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11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11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11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11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11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11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11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11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11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11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11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11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11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11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11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11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11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11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11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11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11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11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11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11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11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11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11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11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11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11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11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11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11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11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11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11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11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11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11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11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11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11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11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11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11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11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11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11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11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11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11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11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11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11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11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11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11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11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11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11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11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11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11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11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11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11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11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11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11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11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11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11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11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11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11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11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11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11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11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11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11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11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11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11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11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4" name="Google Shape;3454;p11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3455" name="Google Shape;3455;p11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11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11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11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11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11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11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11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11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11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11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11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11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11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11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11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11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11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11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11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11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1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1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11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11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11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11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11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11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11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11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11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11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11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11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11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11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11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11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11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11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11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11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11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11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11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11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11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11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11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05" name="Google Shape;3505;p1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6" r:id="rId5"/>
    <p:sldLayoutId id="2147483657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13"/>
          <p:cNvSpPr txBox="1">
            <a:spLocks noGrp="1"/>
          </p:cNvSpPr>
          <p:nvPr>
            <p:ph type="ctrTitle"/>
          </p:nvPr>
        </p:nvSpPr>
        <p:spPr>
          <a:xfrm>
            <a:off x="247135" y="498717"/>
            <a:ext cx="5878614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4400" dirty="0"/>
              <a:t>Geographical NOMA-Beamforming in Multi-Beam Satellite-Based Internet of Things</a:t>
            </a:r>
            <a:endParaRPr sz="4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3FA827-3F89-45B7-9D1F-B91B31B4E41D}"/>
              </a:ext>
            </a:extLst>
          </p:cNvPr>
          <p:cNvSpPr/>
          <p:nvPr/>
        </p:nvSpPr>
        <p:spPr>
          <a:xfrm>
            <a:off x="842778" y="3575600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2019 IEEE Global Communications Conference (GLOBECOM)</a:t>
            </a:r>
          </a:p>
          <a:p>
            <a:pPr algn="ctr"/>
            <a:endParaRPr lang="en-US" altLang="zh-TW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lang="en-US" altLang="zh-TW" dirty="0" err="1">
                <a:solidFill>
                  <a:schemeClr val="bg1">
                    <a:lumMod val="85000"/>
                  </a:schemeClr>
                </a:solidFill>
              </a:rPr>
              <a:t>Yazhou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 Zhu, Thomas </a:t>
            </a:r>
            <a:r>
              <a:rPr lang="en-US" altLang="zh-TW" dirty="0" err="1">
                <a:solidFill>
                  <a:schemeClr val="bg1">
                    <a:lumMod val="85000"/>
                  </a:schemeClr>
                </a:solidFill>
              </a:rPr>
              <a:t>Delamotte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, and Andreas </a:t>
            </a:r>
            <a:r>
              <a:rPr lang="en-US" altLang="zh-TW" dirty="0" err="1">
                <a:solidFill>
                  <a:schemeClr val="bg1">
                    <a:lumMod val="85000"/>
                  </a:schemeClr>
                </a:solidFill>
              </a:rPr>
              <a:t>Knopp</a:t>
            </a:r>
            <a:endParaRPr lang="en-US" altLang="zh-TW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Bundeswehr University of Munich, Chair of Signal Processing, 85579 </a:t>
            </a:r>
            <a:r>
              <a:rPr lang="en-US" altLang="zh-TW" dirty="0" err="1">
                <a:solidFill>
                  <a:schemeClr val="bg1">
                    <a:lumMod val="85000"/>
                  </a:schemeClr>
                </a:solidFill>
              </a:rPr>
              <a:t>Neubiberg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, Germany.</a:t>
            </a:r>
            <a:endParaRPr lang="zh-TW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1" name="Google Shape;3841;p14"/>
          <p:cNvSpPr txBox="1">
            <a:spLocks noGrp="1"/>
          </p:cNvSpPr>
          <p:nvPr>
            <p:ph type="title"/>
          </p:nvPr>
        </p:nvSpPr>
        <p:spPr>
          <a:xfrm>
            <a:off x="718300" y="261580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altLang="zh-TW" dirty="0"/>
              <a:t>Introduction</a:t>
            </a:r>
            <a:endParaRPr dirty="0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D0DB9C07-2550-4D8B-B66C-68B0DE7CB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379323"/>
            <a:ext cx="6761100" cy="2980500"/>
          </a:xfrm>
        </p:spPr>
        <p:txBody>
          <a:bodyPr/>
          <a:lstStyle/>
          <a:p>
            <a:r>
              <a:rPr lang="en-US" altLang="zh-TW" sz="1800" dirty="0"/>
              <a:t>In the fifth generation (5G) of mobile communications, connecting billions of Internet of Things (IoT) devices is not a trivial task. </a:t>
            </a:r>
          </a:p>
          <a:p>
            <a:endParaRPr lang="en-US" altLang="zh-TW" sz="1800" dirty="0"/>
          </a:p>
          <a:p>
            <a:r>
              <a:rPr lang="en-US" altLang="zh-TW" sz="1800" dirty="0"/>
              <a:t>In a time division multiple access (TDMA) based satellite system with </a:t>
            </a:r>
            <a:r>
              <a:rPr lang="en-US" altLang="zh-TW" sz="1800" dirty="0">
                <a:solidFill>
                  <a:srgbClr val="FF0000"/>
                </a:solidFill>
              </a:rPr>
              <a:t>large delay </a:t>
            </a:r>
            <a:r>
              <a:rPr lang="en-US" altLang="zh-TW" sz="1800" dirty="0"/>
              <a:t>and massive connections, a </a:t>
            </a:r>
            <a:r>
              <a:rPr lang="en-US" altLang="zh-TW" sz="1800" dirty="0">
                <a:solidFill>
                  <a:srgbClr val="FF0000"/>
                </a:solidFill>
              </a:rPr>
              <a:t>holdover time </a:t>
            </a:r>
            <a:r>
              <a:rPr lang="en-US" altLang="zh-TW" sz="1800" dirty="0"/>
              <a:t>is mandatory, during which the system continues to assign a small amount of bandwidth exceeding the requested bandwidth in the anticipant traffic.</a:t>
            </a:r>
          </a:p>
        </p:txBody>
      </p:sp>
      <p:sp>
        <p:nvSpPr>
          <p:cNvPr id="3845" name="Google Shape;384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7423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1" name="Google Shape;3841;p14"/>
          <p:cNvSpPr txBox="1">
            <a:spLocks noGrp="1"/>
          </p:cNvSpPr>
          <p:nvPr>
            <p:ph type="title"/>
          </p:nvPr>
        </p:nvSpPr>
        <p:spPr>
          <a:xfrm>
            <a:off x="718300" y="261580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altLang="zh-TW" dirty="0"/>
              <a:t>Introduction</a:t>
            </a:r>
            <a:endParaRPr dirty="0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D0DB9C07-2550-4D8B-B66C-68B0DE7CB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379323"/>
            <a:ext cx="6761100" cy="2980500"/>
          </a:xfrm>
        </p:spPr>
        <p:txBody>
          <a:bodyPr/>
          <a:lstStyle/>
          <a:p>
            <a:r>
              <a:rPr lang="en-US" altLang="zh-TW" sz="1800" dirty="0"/>
              <a:t>Most of the existing NOMA schemes base on the assumption that the </a:t>
            </a:r>
            <a:r>
              <a:rPr lang="en-US" altLang="zh-TW" sz="1800" dirty="0">
                <a:solidFill>
                  <a:srgbClr val="FF0000"/>
                </a:solidFill>
              </a:rPr>
              <a:t>channel conditions </a:t>
            </a:r>
            <a:r>
              <a:rPr lang="en-US" altLang="zh-TW" sz="1800" dirty="0"/>
              <a:t>of the users are </a:t>
            </a:r>
            <a:r>
              <a:rPr lang="en-US" altLang="zh-TW" sz="1800" dirty="0">
                <a:solidFill>
                  <a:srgbClr val="FF0000"/>
                </a:solidFill>
              </a:rPr>
              <a:t>significantly different.</a:t>
            </a:r>
            <a:r>
              <a:rPr lang="en-US" altLang="zh-TW" sz="1800" dirty="0"/>
              <a:t> </a:t>
            </a:r>
          </a:p>
          <a:p>
            <a:endParaRPr lang="en-US" altLang="zh-TW" sz="1800" dirty="0"/>
          </a:p>
        </p:txBody>
      </p:sp>
      <p:sp>
        <p:nvSpPr>
          <p:cNvPr id="3845" name="Google Shape;384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2376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1" name="Google Shape;3841;p14"/>
          <p:cNvSpPr txBox="1">
            <a:spLocks noGrp="1"/>
          </p:cNvSpPr>
          <p:nvPr>
            <p:ph type="title"/>
          </p:nvPr>
        </p:nvSpPr>
        <p:spPr>
          <a:xfrm>
            <a:off x="718300" y="261580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altLang="zh-TW" dirty="0"/>
              <a:t>Introduction</a:t>
            </a:r>
            <a:endParaRPr dirty="0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D0DB9C07-2550-4D8B-B66C-68B0DE7CB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379323"/>
            <a:ext cx="6761100" cy="2980500"/>
          </a:xfrm>
        </p:spPr>
        <p:txBody>
          <a:bodyPr/>
          <a:lstStyle/>
          <a:p>
            <a:r>
              <a:rPr lang="en-US" altLang="zh-TW" sz="1800" dirty="0"/>
              <a:t>This work is to propose a </a:t>
            </a:r>
            <a:r>
              <a:rPr lang="en-US" altLang="zh-TW" sz="1800" dirty="0">
                <a:solidFill>
                  <a:srgbClr val="FF0000"/>
                </a:solidFill>
              </a:rPr>
              <a:t>geographical NOMA-BF </a:t>
            </a:r>
            <a:r>
              <a:rPr lang="en-US" altLang="zh-TW" sz="1800" dirty="0"/>
              <a:t>scheme, where a </a:t>
            </a:r>
            <a:r>
              <a:rPr lang="en-US" altLang="zh-TW" sz="1800" dirty="0">
                <a:solidFill>
                  <a:srgbClr val="FF0000"/>
                </a:solidFill>
              </a:rPr>
              <a:t>primary user </a:t>
            </a:r>
            <a:r>
              <a:rPr lang="en-US" altLang="zh-TW" sz="1800" dirty="0"/>
              <a:t>per beam needs to be </a:t>
            </a:r>
            <a:r>
              <a:rPr lang="en-US" altLang="zh-TW" sz="1800" dirty="0">
                <a:solidFill>
                  <a:srgbClr val="FF0000"/>
                </a:solidFill>
              </a:rPr>
              <a:t>timely served </a:t>
            </a:r>
            <a:r>
              <a:rPr lang="en-US" altLang="zh-TW" sz="1800" dirty="0"/>
              <a:t>with a </a:t>
            </a:r>
            <a:r>
              <a:rPr lang="en-US" altLang="zh-TW" sz="1800" dirty="0">
                <a:solidFill>
                  <a:srgbClr val="FF0000"/>
                </a:solidFill>
              </a:rPr>
              <a:t>small target data rate</a:t>
            </a:r>
            <a:r>
              <a:rPr lang="en-US" altLang="zh-TW" sz="1800" dirty="0"/>
              <a:t>.</a:t>
            </a:r>
          </a:p>
          <a:p>
            <a:endParaRPr lang="en-US" altLang="zh-TW" sz="1800" dirty="0"/>
          </a:p>
          <a:p>
            <a:r>
              <a:rPr lang="en-US" altLang="zh-TW" sz="1800" dirty="0"/>
              <a:t>Then, a heuristic </a:t>
            </a:r>
            <a:r>
              <a:rPr lang="en-US" altLang="zh-TW" sz="1800" dirty="0">
                <a:solidFill>
                  <a:srgbClr val="FF0000"/>
                </a:solidFill>
              </a:rPr>
              <a:t>multi-layer BF </a:t>
            </a:r>
            <a:r>
              <a:rPr lang="en-US" altLang="zh-TW" sz="1800" dirty="0"/>
              <a:t>architecture is proposed for reducing inter-beam interference, augmenting the difference of the users' effective channel gains and performing inter-beam power allocation in three steps. </a:t>
            </a:r>
          </a:p>
        </p:txBody>
      </p:sp>
      <p:sp>
        <p:nvSpPr>
          <p:cNvPr id="3845" name="Google Shape;384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055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Google Shape;3850;p15"/>
          <p:cNvSpPr txBox="1">
            <a:spLocks noGrp="1"/>
          </p:cNvSpPr>
          <p:nvPr>
            <p:ph type="ctrTitle" idx="4294967295"/>
          </p:nvPr>
        </p:nvSpPr>
        <p:spPr>
          <a:xfrm>
            <a:off x="3339503" y="3014585"/>
            <a:ext cx="3731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altLang="zh-TW" dirty="0"/>
              <a:t>SYSTEM MODEL</a:t>
            </a:r>
            <a:endParaRPr sz="6000" dirty="0"/>
          </a:p>
        </p:txBody>
      </p:sp>
      <p:pic>
        <p:nvPicPr>
          <p:cNvPr id="3852" name="Google Shape;3852;p15" descr="photo-1434030216411-0b793f4b4173.jpg"/>
          <p:cNvPicPr preferRelativeResize="0"/>
          <p:nvPr/>
        </p:nvPicPr>
        <p:blipFill rotWithShape="1">
          <a:blip r:embed="rId3">
            <a:alphaModFix/>
          </a:blip>
          <a:srcRect l="23367" r="21417"/>
          <a:stretch/>
        </p:blipFill>
        <p:spPr>
          <a:xfrm>
            <a:off x="0" y="0"/>
            <a:ext cx="2840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3" name="Google Shape;3853;p1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6538" y="448447"/>
            <a:ext cx="6761100" cy="4197694"/>
          </a:xfrm>
        </p:spPr>
        <p:txBody>
          <a:bodyPr/>
          <a:lstStyle/>
          <a:p>
            <a:endParaRPr lang="en-US" altLang="zh-TW" sz="1600" dirty="0"/>
          </a:p>
          <a:p>
            <a:endParaRPr lang="en-US" altLang="zh-TW" sz="1600" dirty="0"/>
          </a:p>
          <a:p>
            <a:r>
              <a:rPr lang="en-US" altLang="zh-TW" sz="1600" dirty="0"/>
              <a:t>A GEO provides massive connectivity by means of multiple beams, where the satellite is equipped with an array-fed reflector antenna with N feeds. a total of K = N beams are realized.</a:t>
            </a:r>
          </a:p>
          <a:p>
            <a:endParaRPr lang="en-US" altLang="zh-TW" sz="1600" dirty="0"/>
          </a:p>
          <a:p>
            <a:r>
              <a:rPr lang="en-US" altLang="zh-TW" sz="1600" dirty="0"/>
              <a:t>A </a:t>
            </a:r>
            <a:r>
              <a:rPr lang="en-US" altLang="zh-TW" sz="1600" dirty="0">
                <a:solidFill>
                  <a:srgbClr val="FF0000"/>
                </a:solidFill>
              </a:rPr>
              <a:t>primary user</a:t>
            </a:r>
            <a:r>
              <a:rPr lang="en-US" altLang="zh-TW" sz="1600" dirty="0"/>
              <a:t> per beam is timely served with a </a:t>
            </a:r>
            <a:r>
              <a:rPr lang="en-US" altLang="zh-TW" sz="1600" dirty="0">
                <a:solidFill>
                  <a:srgbClr val="FF0000"/>
                </a:solidFill>
              </a:rPr>
              <a:t>small data rate </a:t>
            </a:r>
            <a:r>
              <a:rPr lang="en-US" altLang="zh-TW" sz="1600" dirty="0"/>
              <a:t>(i.e. narrowband data) such as real-time safety-critical healthcare applications, while the remaining users are </a:t>
            </a:r>
            <a:r>
              <a:rPr lang="en-US" altLang="zh-TW" sz="1600" dirty="0">
                <a:solidFill>
                  <a:srgbClr val="FF0000"/>
                </a:solidFill>
              </a:rPr>
              <a:t>opportunistically served </a:t>
            </a:r>
            <a:r>
              <a:rPr lang="en-US" altLang="zh-TW" sz="1600" dirty="0"/>
              <a:t>with the best effort</a:t>
            </a:r>
          </a:p>
          <a:p>
            <a:endParaRPr lang="zh-TW" altLang="en-US" sz="1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47694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6538" y="448447"/>
            <a:ext cx="6761100" cy="4197694"/>
          </a:xfrm>
        </p:spPr>
        <p:txBody>
          <a:bodyPr/>
          <a:lstStyle/>
          <a:p>
            <a:r>
              <a:rPr lang="en-US" altLang="zh-TW" sz="1600" dirty="0"/>
              <a:t>In the satellite industry, a two-way VSAT is usually employed to provide narrowband data or satellite Internet access to individuals and companies.</a:t>
            </a:r>
          </a:p>
          <a:p>
            <a:endParaRPr lang="en-US" altLang="zh-TW" sz="1600" dirty="0"/>
          </a:p>
          <a:p>
            <a:r>
              <a:rPr lang="en-US" altLang="zh-TW" sz="1600" dirty="0"/>
              <a:t>A general VSAT antenna must have an unobstructed view of the sky to allow for proper line-of- sight (LOS) to the satellite, along with a beam association procedure for Ka-band multi-beam satellites.</a:t>
            </a:r>
          </a:p>
          <a:p>
            <a:endParaRPr lang="en-US" altLang="zh-TW" sz="1600" dirty="0"/>
          </a:p>
          <a:p>
            <a:r>
              <a:rPr lang="en-US" altLang="zh-TW" sz="1600" dirty="0"/>
              <a:t>Due to the strong LOS channel characteristic, the vector of channel coefficients between user </a:t>
            </a:r>
            <a:r>
              <a:rPr lang="en-US" altLang="zh-TW" sz="1600" dirty="0" err="1"/>
              <a:t>i</a:t>
            </a:r>
            <a:r>
              <a:rPr lang="en-US" altLang="zh-TW" sz="1600" dirty="0"/>
              <a:t> in beam b and the N feeds on the satellite is</a:t>
            </a:r>
            <a:endParaRPr lang="zh-TW" altLang="en-US" sz="1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79242BA-63D4-4753-9BBE-569A5A7E0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816" y="3643074"/>
            <a:ext cx="5201376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45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版面配置區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26538" y="448447"/>
                <a:ext cx="6761100" cy="2233793"/>
              </a:xfrm>
            </p:spPr>
            <p:txBody>
              <a:bodyPr/>
              <a:lstStyle/>
              <a:p>
                <a:r>
                  <a:rPr lang="en-US" altLang="zh-TW" sz="1600" dirty="0"/>
                  <a:t>where channel coefficient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sz="1600" dirty="0"/>
                  <a:t>between user </a:t>
                </a:r>
                <a:r>
                  <a:rPr lang="en-US" altLang="zh-TW" sz="1600" dirty="0" err="1"/>
                  <a:t>i</a:t>
                </a:r>
                <a:r>
                  <a:rPr lang="en-US" altLang="zh-TW" sz="1600" dirty="0"/>
                  <a:t> in beam b and feed n on the satellite can be described as</a:t>
                </a:r>
                <a:endParaRPr lang="zh-TW" altLang="en-US" sz="1600" dirty="0"/>
              </a:p>
            </p:txBody>
          </p:sp>
        </mc:Choice>
        <mc:Fallback>
          <p:sp>
            <p:nvSpPr>
              <p:cNvPr id="3" name="文字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6538" y="448447"/>
                <a:ext cx="6761100" cy="2233793"/>
              </a:xfrm>
              <a:blipFill>
                <a:blip r:embed="rId3"/>
                <a:stretch>
                  <a:fillRect l="-541" t="-13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CB6AED6-45EF-4BD9-BFFF-913BA023F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242" y="1495275"/>
            <a:ext cx="5677692" cy="10764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版面配置區 2">
                <a:extLst>
                  <a:ext uri="{FF2B5EF4-FFF2-40B4-BE49-F238E27FC236}">
                    <a16:creationId xmlns:a16="http://schemas.microsoft.com/office/drawing/2014/main" id="{A9026632-AB1F-41E0-98E3-52D8655387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6538" y="2658062"/>
                <a:ext cx="6761100" cy="2233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8100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400"/>
                  <a:buFont typeface="Titillium Web Light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2pPr>
                <a:lvl3pPr marL="1371600" marR="0" lvl="2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3pPr>
                <a:lvl4pPr marL="1828800" marR="0" lvl="3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4pPr>
                <a:lvl5pPr marL="2286000" marR="0" lvl="4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5pPr>
                <a:lvl6pPr marL="2743200" marR="0" lvl="5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6pPr>
                <a:lvl7pPr marL="3200400" marR="0" lvl="6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●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7pPr>
                <a:lvl8pPr marL="3657600" marR="0" lvl="7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○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8pPr>
                <a:lvl9pPr marL="4114800" marR="0" lvl="8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■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9pPr>
              </a:lstStyle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/>
                        </m:sSubSup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TW" alt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sSubSup>
                          <m:sSub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den>
                    </m:f>
                  </m:oMath>
                </a14:m>
                <a:r>
                  <a:rPr lang="zh-TW" altLang="en-US" sz="1600" dirty="0"/>
                  <a:t> </a:t>
                </a:r>
                <a:r>
                  <a:rPr lang="en-US" altLang="zh-TW" sz="1600" dirty="0"/>
                  <a:t>  : free space loss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/>
                    </m:sSubSup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  :  </m:t>
                    </m:r>
                  </m:oMath>
                </a14:m>
                <a:r>
                  <a:rPr lang="zh-TW" altLang="en-US" sz="1600" dirty="0"/>
                  <a:t> </a:t>
                </a:r>
                <a:r>
                  <a:rPr lang="en-US" altLang="zh-TW" sz="1600" dirty="0"/>
                  <a:t>receive antenna gain</a:t>
                </a:r>
              </a:p>
              <a:p>
                <a:endParaRPr lang="en-US" altLang="zh-TW" sz="1600" dirty="0"/>
              </a:p>
              <a:p>
                <a:r>
                  <a:rPr lang="en-US" altLang="zh-TW" sz="1600" dirty="0" err="1"/>
                  <a:t>kBT</a:t>
                </a:r>
                <a:r>
                  <a:rPr lang="en-US" altLang="zh-TW" sz="1600" dirty="0"/>
                  <a:t> : noise power at receiver</a:t>
                </a:r>
              </a:p>
              <a:p>
                <a:endParaRPr lang="zh-TW" altLang="en-US" sz="1600" dirty="0"/>
              </a:p>
            </p:txBody>
          </p:sp>
        </mc:Choice>
        <mc:Fallback>
          <p:sp>
            <p:nvSpPr>
              <p:cNvPr id="6" name="文字版面配置區 2">
                <a:extLst>
                  <a:ext uri="{FF2B5EF4-FFF2-40B4-BE49-F238E27FC236}">
                    <a16:creationId xmlns:a16="http://schemas.microsoft.com/office/drawing/2014/main" id="{A9026632-AB1F-41E0-98E3-52D865538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38" y="2658062"/>
                <a:ext cx="6761100" cy="2233793"/>
              </a:xfrm>
              <a:prstGeom prst="rect">
                <a:avLst/>
              </a:prstGeom>
              <a:blipFill>
                <a:blip r:embed="rId5"/>
                <a:stretch>
                  <a:fillRect l="-5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4A5D3DB3-A0CF-4F59-88F1-0183E6587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4004" y="5639721"/>
            <a:ext cx="2781688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871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版面配置區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26538" y="448447"/>
                <a:ext cx="6761100" cy="209884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600" i="1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sz="1600" dirty="0"/>
                  <a:t> models radiation pattern from feed n to user </a:t>
                </a:r>
                <a:r>
                  <a:rPr lang="en-US" altLang="zh-TW" sz="1600" dirty="0" err="1"/>
                  <a:t>i</a:t>
                </a:r>
                <a:r>
                  <a:rPr lang="en-US" altLang="zh-TW" sz="1600" dirty="0"/>
                  <a:t> in beam b as</a:t>
                </a:r>
              </a:p>
              <a:p>
                <a:endParaRPr lang="en-US" altLang="zh-TW" sz="1600" dirty="0"/>
              </a:p>
              <a:p>
                <a:endParaRPr lang="zh-TW" altLang="en-US" sz="1600" dirty="0"/>
              </a:p>
            </p:txBody>
          </p:sp>
        </mc:Choice>
        <mc:Fallback>
          <p:sp>
            <p:nvSpPr>
              <p:cNvPr id="3" name="文字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6538" y="448447"/>
                <a:ext cx="6761100" cy="2098847"/>
              </a:xfrm>
              <a:blipFill>
                <a:blip r:embed="rId3"/>
                <a:stretch>
                  <a:fillRect l="-541" t="-14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A942C51-923B-4A93-8098-7FDBB8A0C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637" y="1194555"/>
            <a:ext cx="5210902" cy="135273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版面配置區 2">
                <a:extLst>
                  <a:ext uri="{FF2B5EF4-FFF2-40B4-BE49-F238E27FC236}">
                    <a16:creationId xmlns:a16="http://schemas.microsoft.com/office/drawing/2014/main" id="{4DC7E57A-5BF1-47A6-91F6-E339A875EF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6538" y="2811224"/>
                <a:ext cx="6761100" cy="20988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8100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400"/>
                  <a:buFont typeface="Titillium Web Light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2pPr>
                <a:lvl3pPr marL="1371600" marR="0" lvl="2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3pPr>
                <a:lvl4pPr marL="1828800" marR="0" lvl="3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4pPr>
                <a:lvl5pPr marL="2286000" marR="0" lvl="4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5pPr>
                <a:lvl6pPr marL="2743200" marR="0" lvl="5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6pPr>
                <a:lvl7pPr marL="3200400" marR="0" lvl="6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●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7pPr>
                <a:lvl8pPr marL="3657600" marR="0" lvl="7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○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8pPr>
                <a:lvl9pPr marL="4114800" marR="0" lvl="8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■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600" i="1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/>
                      <m:sup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bSup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𝑠𝑎𝑡𝑒𝑙𝑙𝑖𝑡𝑒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𝑡𝑟𝑎𝑛𝑠𝑚𝑖𝑡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𝑎𝑛𝑡𝑒𝑛𝑛𝑎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𝑔𝑎𝑖𝑛</m:t>
                    </m:r>
                  </m:oMath>
                </a14:m>
                <a:endParaRPr lang="en-US" altLang="zh-TW" sz="16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</m:sSubSup>
                  </m:oMath>
                </a14:m>
                <a:r>
                  <a:rPr lang="en-US" altLang="zh-TW" sz="160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/>
                    </m:sSubSup>
                  </m:oMath>
                </a14:m>
                <a:r>
                  <a:rPr lang="en-US" altLang="zh-TW" sz="1600" dirty="0"/>
                  <a:t> are the first and third order Bessel functions of first kind.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sz="1600" dirty="0"/>
                  <a:t> = 2.07123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Sup>
                          <m:sSubSup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60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⁡(</m:t>
                        </m:r>
                        <m:sSubSup>
                          <m:sSubSup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sub>
                          <m:sup/>
                        </m:sSubSup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TW" sz="1600" dirty="0"/>
                  <a:t>  </a:t>
                </a:r>
              </a:p>
              <a:p>
                <a:endParaRPr lang="en-US" altLang="zh-TW" sz="1600" dirty="0"/>
              </a:p>
              <a:p>
                <a:endParaRPr lang="zh-TW" altLang="en-US" sz="1600" dirty="0"/>
              </a:p>
            </p:txBody>
          </p:sp>
        </mc:Choice>
        <mc:Fallback>
          <p:sp>
            <p:nvSpPr>
              <p:cNvPr id="11" name="文字版面配置區 2">
                <a:extLst>
                  <a:ext uri="{FF2B5EF4-FFF2-40B4-BE49-F238E27FC236}">
                    <a16:creationId xmlns:a16="http://schemas.microsoft.com/office/drawing/2014/main" id="{4DC7E57A-5BF1-47A6-91F6-E339A875E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38" y="2811224"/>
                <a:ext cx="6761100" cy="2098847"/>
              </a:xfrm>
              <a:prstGeom prst="rect">
                <a:avLst/>
              </a:prstGeom>
              <a:blipFill>
                <a:blip r:embed="rId5"/>
                <a:stretch>
                  <a:fillRect l="-541" t="-34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0ED69FFE-E787-4107-8041-D2E7414C01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9848" y="3484633"/>
            <a:ext cx="4772691" cy="107647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9AAE8CB-EE48-4BEB-8873-8139A651ED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1122" y="185372"/>
            <a:ext cx="4521417" cy="329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27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C1BB8FFA-DD2B-4DF0-BD75-8CA1C7DB83A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18300" y="1120346"/>
                <a:ext cx="6761100" cy="4433964"/>
              </a:xfrm>
            </p:spPr>
            <p:txBody>
              <a:bodyPr/>
              <a:lstStyle/>
              <a:p>
                <a:r>
                  <a:rPr lang="en-US" altLang="zh-TW" sz="1600" dirty="0"/>
                  <a:t>In order to further improve spectrum efficiency and connectivity density, we propose to implement </a:t>
                </a:r>
                <a:r>
                  <a:rPr lang="en-US" altLang="zh-TW" sz="1600" dirty="0">
                    <a:solidFill>
                      <a:srgbClr val="FF0000"/>
                    </a:solidFill>
                  </a:rPr>
                  <a:t>geographical NOMA-BF </a:t>
                </a:r>
                <a:r>
                  <a:rPr lang="en-US" altLang="zh-TW" sz="1600" dirty="0"/>
                  <a:t>in multi-beam satellite systems, where for each time frame a total number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</m:sSubSup>
                    <m:r>
                      <a:rPr lang="en-US" altLang="zh-TW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600" dirty="0"/>
                  <a:t>users are simultaneously served within each beam.</a:t>
                </a:r>
              </a:p>
              <a:p>
                <a:endParaRPr lang="en-US" altLang="zh-TW" sz="1600" dirty="0"/>
              </a:p>
              <a:p>
                <a:r>
                  <a:rPr lang="en-US" altLang="zh-TW" sz="1600" dirty="0">
                    <a:solidFill>
                      <a:srgbClr val="FF0000"/>
                    </a:solidFill>
                  </a:rPr>
                  <a:t>By employing NOMA in each beam</a:t>
                </a:r>
                <a:r>
                  <a:rPr lang="en-US" altLang="zh-TW" sz="1600" dirty="0"/>
                  <a:t>, intra-beam superposition coding at the GW and </a:t>
                </a:r>
                <a:r>
                  <a:rPr lang="en-US" altLang="zh-TW" sz="1600" dirty="0">
                    <a:solidFill>
                      <a:srgbClr val="FF0000"/>
                    </a:solidFill>
                  </a:rPr>
                  <a:t>successive interference cancellation (SIC) </a:t>
                </a:r>
                <a:r>
                  <a:rPr lang="en-US" altLang="zh-TW" sz="1600" dirty="0"/>
                  <a:t>at the user are performed.</a:t>
                </a:r>
              </a:p>
              <a:p>
                <a:endParaRPr lang="en-US" altLang="zh-TW" sz="1600" dirty="0"/>
              </a:p>
            </p:txBody>
          </p:sp>
        </mc:Choice>
        <mc:Fallback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C1BB8FFA-DD2B-4DF0-BD75-8CA1C7DB8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18300" y="1120346"/>
                <a:ext cx="6761100" cy="4433964"/>
              </a:xfrm>
              <a:blipFill>
                <a:blip r:embed="rId3"/>
                <a:stretch>
                  <a:fillRect l="-541" t="-1926" r="-3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51F406-3969-4718-863E-34A274F663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24394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06133" y="704138"/>
            <a:ext cx="6761100" cy="2980500"/>
          </a:xfrm>
        </p:spPr>
        <p:txBody>
          <a:bodyPr/>
          <a:lstStyle/>
          <a:p>
            <a:r>
              <a:rPr lang="en-US" altLang="zh-TW" sz="1600" dirty="0"/>
              <a:t>Correspondingly, the remaining received signal at user </a:t>
            </a:r>
            <a:r>
              <a:rPr lang="en-US" altLang="zh-TW" sz="1600" dirty="0" err="1"/>
              <a:t>i</a:t>
            </a:r>
            <a:r>
              <a:rPr lang="en-US" altLang="zh-TW" sz="1600" dirty="0"/>
              <a:t> in beam b is written as</a:t>
            </a:r>
            <a:endParaRPr lang="zh-TW" altLang="en-US" sz="1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F49A347-3A8E-47C1-BEB9-550142FA8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761" y="1739701"/>
            <a:ext cx="4884077" cy="298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1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06133" y="704138"/>
            <a:ext cx="6761100" cy="2980500"/>
          </a:xfrm>
        </p:spPr>
        <p:txBody>
          <a:bodyPr/>
          <a:lstStyle/>
          <a:p>
            <a:r>
              <a:rPr lang="en-US" altLang="zh-TW" sz="1600" dirty="0"/>
              <a:t>Then, the achievable rate for user </a:t>
            </a:r>
            <a:r>
              <a:rPr lang="en-US" altLang="zh-TW" sz="1600" dirty="0" err="1"/>
              <a:t>i</a:t>
            </a:r>
            <a:r>
              <a:rPr lang="en-US" altLang="zh-TW" sz="1600" dirty="0"/>
              <a:t> in beam b is expressed as</a:t>
            </a:r>
            <a:endParaRPr lang="zh-TW" altLang="en-US" sz="1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A564FF2-3E21-486A-B1BA-BC48988F3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685" y="1539353"/>
            <a:ext cx="4879121" cy="131006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版面配置區 2">
                <a:extLst>
                  <a:ext uri="{FF2B5EF4-FFF2-40B4-BE49-F238E27FC236}">
                    <a16:creationId xmlns:a16="http://schemas.microsoft.com/office/drawing/2014/main" id="{F908C8D1-A900-4CAD-86BE-720AB408C3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6133" y="3023895"/>
                <a:ext cx="6761100" cy="15728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8100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400"/>
                  <a:buFont typeface="Titillium Web Light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2pPr>
                <a:lvl3pPr marL="1371600" marR="0" lvl="2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3pPr>
                <a:lvl4pPr marL="1828800" marR="0" lvl="3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4pPr>
                <a:lvl5pPr marL="2286000" marR="0" lvl="4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5pPr>
                <a:lvl6pPr marL="2743200" marR="0" lvl="5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6pPr>
                <a:lvl7pPr marL="3200400" marR="0" lvl="6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●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7pPr>
                <a:lvl8pPr marL="3657600" marR="0" lvl="7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○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8pPr>
                <a:lvl9pPr marL="4114800" marR="0" lvl="8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■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9pPr>
              </a:lstStyle>
              <a:p>
                <a:r>
                  <a:rPr lang="en-US" altLang="zh-TW" sz="1600" dirty="0"/>
                  <a:t>Consequently, the achievable sum rate is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𝑠𝑢𝑚</m:t>
                        </m:r>
                      </m:sub>
                      <m:sup/>
                    </m:sSubSup>
                  </m:oMath>
                </a14:m>
                <a:r>
                  <a:rPr lang="zh-TW" altLang="en-US" sz="1600" dirty="0"/>
                  <a:t> </a:t>
                </a:r>
                <a:r>
                  <a:rPr lang="en-US" altLang="zh-TW" sz="16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Sup>
                              <m:sSubSupPr>
                                <m:ctrlPr>
                                  <a:rPr lang="en-US" altLang="zh-TW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  <m:sup/>
                            </m:sSubSup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TW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  <m:sup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e>
                        </m:nary>
                      </m:e>
                    </m:nary>
                  </m:oMath>
                </a14:m>
                <a:endParaRPr lang="en-US" altLang="zh-TW" sz="1600" dirty="0"/>
              </a:p>
              <a:p>
                <a:r>
                  <a:rPr lang="en-US" altLang="zh-TW" sz="1600" dirty="0"/>
                  <a:t>The intra-beam power allocation factor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TW" sz="1600" i="1" smtClean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TW" altLang="en-US" sz="1600" dirty="0"/>
                  <a:t> </a:t>
                </a:r>
                <a:r>
                  <a:rPr lang="en-US" altLang="zh-TW" sz="1600" dirty="0"/>
                  <a:t>satisfies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Sup>
                          <m:sSubSupPr>
                            <m:ctrlPr>
                              <a:rPr lang="en-US" altLang="zh-TW" sz="1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/>
                        </m:sSubSup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Sup>
                          <m:sSubSup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altLang="zh-TW" sz="1600" i="1"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sz="1600" dirty="0"/>
                  <a:t> </a:t>
                </a:r>
                <a:r>
                  <a:rPr lang="zh-TW" altLang="en-US" sz="1600" dirty="0"/>
                  <a:t> </a:t>
                </a:r>
              </a:p>
            </p:txBody>
          </p:sp>
        </mc:Choice>
        <mc:Fallback>
          <p:sp>
            <p:nvSpPr>
              <p:cNvPr id="6" name="文字版面配置區 2">
                <a:extLst>
                  <a:ext uri="{FF2B5EF4-FFF2-40B4-BE49-F238E27FC236}">
                    <a16:creationId xmlns:a16="http://schemas.microsoft.com/office/drawing/2014/main" id="{F908C8D1-A900-4CAD-86BE-720AB408C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133" y="3023895"/>
                <a:ext cx="6761100" cy="1572818"/>
              </a:xfrm>
              <a:prstGeom prst="rect">
                <a:avLst/>
              </a:prstGeom>
              <a:blipFill>
                <a:blip r:embed="rId4"/>
                <a:stretch>
                  <a:fillRect l="-5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091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Google Shape;3850;p15"/>
          <p:cNvSpPr txBox="1">
            <a:spLocks noGrp="1"/>
          </p:cNvSpPr>
          <p:nvPr>
            <p:ph type="ctrTitle" idx="4294967295"/>
          </p:nvPr>
        </p:nvSpPr>
        <p:spPr>
          <a:xfrm>
            <a:off x="3163330" y="3014585"/>
            <a:ext cx="4053016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altLang="zh-TW" dirty="0"/>
              <a:t>DESIGN OF GEOGRAPHICAL NOMA-BF</a:t>
            </a:r>
            <a:endParaRPr sz="6000" dirty="0"/>
          </a:p>
        </p:txBody>
      </p:sp>
      <p:pic>
        <p:nvPicPr>
          <p:cNvPr id="3852" name="Google Shape;3852;p15" descr="photo-1434030216411-0b793f4b4173.jpg"/>
          <p:cNvPicPr preferRelativeResize="0"/>
          <p:nvPr/>
        </p:nvPicPr>
        <p:blipFill rotWithShape="1">
          <a:blip r:embed="rId3">
            <a:alphaModFix/>
          </a:blip>
          <a:srcRect l="23367" r="21417"/>
          <a:stretch/>
        </p:blipFill>
        <p:spPr>
          <a:xfrm>
            <a:off x="0" y="0"/>
            <a:ext cx="2840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3" name="Google Shape;3853;p1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2422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95BABC8-C9C2-4E4C-8E3C-E1BEBF489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1" y="286294"/>
            <a:ext cx="6761100" cy="857400"/>
          </a:xfrm>
        </p:spPr>
        <p:txBody>
          <a:bodyPr/>
          <a:lstStyle/>
          <a:p>
            <a:r>
              <a:rPr lang="en-US" altLang="zh-TW" dirty="0"/>
              <a:t>A Novel User Scheduling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版面配置區 3">
                <a:extLst>
                  <a:ext uri="{FF2B5EF4-FFF2-40B4-BE49-F238E27FC236}">
                    <a16:creationId xmlns:a16="http://schemas.microsoft.com/office/drawing/2014/main" id="{DE8504DB-6919-40A7-AFC6-EDAEFAAB41F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18300" y="1202724"/>
                <a:ext cx="6761100" cy="3511326"/>
              </a:xfrm>
            </p:spPr>
            <p:txBody>
              <a:bodyPr/>
              <a:lstStyle/>
              <a:p>
                <a:r>
                  <a:rPr lang="en-US" altLang="zh-TW" dirty="0"/>
                  <a:t>Phase 1. </a:t>
                </a:r>
                <a:r>
                  <a:rPr lang="en-US" altLang="zh-TW" i="1" dirty="0"/>
                  <a:t>Initial User Association:</a:t>
                </a:r>
              </a:p>
              <a:p>
                <a:r>
                  <a:rPr lang="en-US" altLang="zh-TW" sz="1800" dirty="0"/>
                  <a:t>Definition 1:</a:t>
                </a:r>
                <a:r>
                  <a:rPr lang="zh-TW" altLang="en-US" sz="1800" dirty="0"/>
                  <a:t> </a:t>
                </a:r>
                <a:r>
                  <a:rPr lang="en-US" altLang="zh-TW" sz="1400" dirty="0"/>
                  <a:t>Locations </a:t>
                </a:r>
                <a:r>
                  <a:rPr lang="en-US" altLang="zh-TW" sz="1400" b="1" dirty="0" err="1"/>
                  <a:t>u</a:t>
                </a:r>
                <a:r>
                  <a:rPr lang="en-US" altLang="zh-TW" sz="1400" i="1" dirty="0" err="1"/>
                  <a:t>j</a:t>
                </a:r>
                <a:r>
                  <a:rPr lang="en-US" altLang="zh-TW" sz="1400" i="1" dirty="0"/>
                  <a:t> </a:t>
                </a:r>
                <a:r>
                  <a:rPr lang="en-US" altLang="zh-TW" sz="1400" dirty="0"/>
                  <a:t>and </a:t>
                </a:r>
                <a:r>
                  <a:rPr lang="en-US" altLang="zh-TW" sz="1400" b="1" dirty="0" err="1"/>
                  <a:t>v</a:t>
                </a:r>
                <a:r>
                  <a:rPr lang="en-US" altLang="zh-TW" sz="1400" i="1" dirty="0" err="1"/>
                  <a:t>b</a:t>
                </a:r>
                <a:r>
                  <a:rPr lang="en-US" altLang="zh-TW" sz="1400" i="1" dirty="0"/>
                  <a:t> </a:t>
                </a:r>
                <a:r>
                  <a:rPr lang="en-US" altLang="zh-TW" sz="1400" dirty="0"/>
                  <a:t>on the surface of</a:t>
                </a:r>
                <a:r>
                  <a:rPr lang="zh-TW" altLang="en-US" sz="1400" dirty="0"/>
                  <a:t> </a:t>
                </a:r>
                <a:r>
                  <a:rPr lang="en-US" altLang="zh-TW" sz="1400" dirty="0"/>
                  <a:t>the Earth have corresponding satellite-centered coordinates</a:t>
                </a:r>
                <a:r>
                  <a:rPr lang="zh-TW" altLang="en-US" sz="1400" dirty="0"/>
                  <a:t> </a:t>
                </a:r>
                <a:r>
                  <a:rPr lang="en-US" altLang="zh-TW" sz="1400" i="1" dirty="0"/>
                  <a:t>{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𝑢𝑗</m:t>
                        </m:r>
                      </m:sub>
                      <m:sup/>
                    </m:sSubSup>
                  </m:oMath>
                </a14:m>
                <a:r>
                  <a:rPr lang="en-US" altLang="zh-TW" sz="1400" i="1" dirty="0"/>
                  <a:t>,</a:t>
                </a:r>
                <a:r>
                  <a:rPr lang="en-US" altLang="zh-TW" sz="1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𝑢𝑗</m:t>
                        </m:r>
                      </m:sub>
                      <m:sup/>
                    </m:sSubSup>
                  </m:oMath>
                </a14:m>
                <a:r>
                  <a:rPr lang="en-US" altLang="zh-TW" sz="1400" i="1" dirty="0"/>
                  <a:t> 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𝑢𝑗</m:t>
                        </m:r>
                      </m:sub>
                      <m:sup/>
                    </m:sSubSup>
                    <m:r>
                      <a:rPr lang="en-US" altLang="zh-TW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400" dirty="0"/>
                  <a:t>}and </a:t>
                </a:r>
                <a:r>
                  <a:rPr lang="en-US" altLang="zh-TW" sz="1400" i="1" dirty="0"/>
                  <a:t>{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𝑣𝑏</m:t>
                        </m:r>
                      </m:sub>
                      <m:sup/>
                    </m:sSubSup>
                  </m:oMath>
                </a14:m>
                <a:r>
                  <a:rPr lang="en-US" altLang="zh-TW" sz="1400" i="1" dirty="0"/>
                  <a:t> 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𝑣𝑏</m:t>
                        </m:r>
                      </m:sub>
                      <m:sup/>
                    </m:sSubSup>
                  </m:oMath>
                </a14:m>
                <a:r>
                  <a:rPr lang="en-US" altLang="zh-TW" sz="1400" i="1" dirty="0"/>
                  <a:t> ,</a:t>
                </a:r>
                <a:r>
                  <a:rPr lang="en-US" altLang="zh-TW" sz="1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𝑣𝑏</m:t>
                        </m:r>
                      </m:sub>
                      <m:sup/>
                    </m:sSubSup>
                  </m:oMath>
                </a14:m>
                <a:r>
                  <a:rPr lang="en-US" altLang="zh-TW" sz="1400" i="1" dirty="0"/>
                  <a:t>} </a:t>
                </a:r>
                <a:r>
                  <a:rPr lang="en-US" altLang="zh-TW" sz="1400" dirty="0"/>
                  <a:t>in a satellite-centered coordinate system ,which are respectively calculated as</a:t>
                </a:r>
                <a:endParaRPr lang="zh-TW" altLang="en-US" sz="900" dirty="0"/>
              </a:p>
            </p:txBody>
          </p:sp>
        </mc:Choice>
        <mc:Fallback>
          <p:sp>
            <p:nvSpPr>
              <p:cNvPr id="4" name="文字版面配置區 3">
                <a:extLst>
                  <a:ext uri="{FF2B5EF4-FFF2-40B4-BE49-F238E27FC236}">
                    <a16:creationId xmlns:a16="http://schemas.microsoft.com/office/drawing/2014/main" id="{DE8504DB-6919-40A7-AFC6-EDAEFAAB41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18300" y="1202724"/>
                <a:ext cx="6761100" cy="3511326"/>
              </a:xfrm>
              <a:blipFill>
                <a:blip r:embed="rId3"/>
                <a:stretch>
                  <a:fillRect l="-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FB5439A-F99E-46DB-8648-F7DD377F08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C3E1177-FD9D-4F20-A6FD-3AE37E7CC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398" y="2793631"/>
            <a:ext cx="6658904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020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71BD6F67-A043-477E-8907-E00CE27AEA9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18300" y="403654"/>
                <a:ext cx="6761100" cy="431039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</m:sSubSup>
                  </m:oMath>
                </a14:m>
                <a:r>
                  <a:rPr lang="zh-TW" altLang="en-US" dirty="0"/>
                  <a:t>⨯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/>
                    </m:sSubSup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expressed 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  <m:t>𝟊</m:t>
                            </m:r>
                          </m:e>
                          <m:sub/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⊃</m:t>
                            </m:r>
                          </m:e>
                          <m:sub/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  <m:t>𝛱</m:t>
                            </m:r>
                          </m:e>
                          <m:sub/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zh-TW" altLang="en-US" sz="1800" i="1">
                        <a:latin typeface="Cambria Math" panose="02040503050406030204" pitchFamily="18" charset="0"/>
                      </a:rPr>
                      <m:t>𝟊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8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1800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endParaRPr lang="en-US" altLang="zh-TW" sz="1800" dirty="0"/>
              </a:p>
              <a:p>
                <a14:m>
                  <m:oMath xmlns:m="http://schemas.openxmlformats.org/officeDocument/2006/math">
                    <m:r>
                      <a:rPr lang="en-US" altLang="zh-TW" sz="1800" i="1">
                        <a:latin typeface="Cambria Math" panose="02040503050406030204" pitchFamily="18" charset="0"/>
                      </a:rPr>
                      <m:t>⊃</m:t>
                    </m:r>
                  </m:oMath>
                </a14:m>
                <a:r>
                  <a:rPr lang="en-US" altLang="zh-TW" sz="18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1800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endParaRPr lang="en-US" altLang="zh-TW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𝛱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zh-TW" sz="1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1800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endParaRPr lang="en-US" altLang="zh-TW" sz="1800" dirty="0"/>
              </a:p>
              <a:p>
                <a:endParaRPr lang="en-US" altLang="zh-TW" sz="18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</m:sSubSup>
                  </m:oMath>
                </a14:m>
                <a:r>
                  <a:rPr lang="en-US" altLang="zh-TW" dirty="0"/>
                  <a:t>˙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/>
                    </m:sSubSup>
                  </m:oMath>
                </a14:m>
                <a:r>
                  <a:rPr lang="zh-TW" altLang="en-US" sz="1800" dirty="0"/>
                  <a:t> </a:t>
                </a:r>
                <a:r>
                  <a:rPr lang="en-US" altLang="zh-TW" sz="1800" dirty="0"/>
                  <a:t>is 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zh-TW" sz="1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18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endParaRPr lang="en-US" altLang="zh-TW" sz="1800" dirty="0"/>
              </a:p>
              <a:p>
                <a:endParaRPr lang="zh-TW" altLang="en-US" sz="1800" dirty="0"/>
              </a:p>
            </p:txBody>
          </p:sp>
        </mc:Choice>
        <mc:Fallback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71BD6F67-A043-477E-8907-E00CE27AEA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18300" y="403654"/>
                <a:ext cx="6761100" cy="4310396"/>
              </a:xfrm>
              <a:blipFill>
                <a:blip r:embed="rId3"/>
                <a:stretch>
                  <a:fillRect l="-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8D625B-6389-428D-9A98-C37C9D28A1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A14212B-E8FC-41A3-B1E8-9698746C7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171" y="4199628"/>
            <a:ext cx="3410426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30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4B68D2B3-5CB8-487B-AE08-08FDC6FCB75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18300" y="420130"/>
                <a:ext cx="6761100" cy="1886465"/>
              </a:xfrm>
            </p:spPr>
            <p:txBody>
              <a:bodyPr/>
              <a:lstStyle/>
              <a:p>
                <a:r>
                  <a:rPr lang="en-US" altLang="zh-TW" sz="1800" dirty="0"/>
                  <a:t>Recalling (3), beam gain </a:t>
                </a:r>
                <a:r>
                  <a:rPr lang="en-US" altLang="zh-TW" sz="1800" i="1" dirty="0"/>
                  <a:t>G</a:t>
                </a:r>
                <a:r>
                  <a:rPr lang="en-US" altLang="zh-TW" sz="1800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) can be redefined as the function of variable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</m:sSubSup>
                  </m:oMath>
                </a14:m>
                <a:r>
                  <a:rPr lang="en-US" altLang="zh-TW" sz="1800" i="1" dirty="0"/>
                  <a:t> </a:t>
                </a:r>
                <a:r>
                  <a:rPr lang="en-US" altLang="zh-TW" sz="1800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/>
                    </m:sSubSup>
                  </m:oMath>
                </a14:m>
                <a:r>
                  <a:rPr lang="en-US" altLang="zh-TW" sz="1800" i="1" dirty="0"/>
                  <a:t> </a:t>
                </a:r>
                <a:r>
                  <a:rPr lang="en-US" altLang="zh-TW" sz="1800" dirty="0"/>
                  <a:t>before beam association, i.e.,</a:t>
                </a:r>
              </a:p>
              <a:p>
                <a:endParaRPr lang="en-US" altLang="zh-TW" sz="1800" dirty="0"/>
              </a:p>
              <a:p>
                <a:endParaRPr lang="en-US" altLang="zh-TW" sz="1800" dirty="0"/>
              </a:p>
              <a:p>
                <a:endParaRPr lang="en-US" altLang="zh-TW" sz="1800" dirty="0"/>
              </a:p>
            </p:txBody>
          </p:sp>
        </mc:Choice>
        <mc:Fallback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4B68D2B3-5CB8-487B-AE08-08FDC6FCB7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18300" y="420130"/>
                <a:ext cx="6761100" cy="1886465"/>
              </a:xfrm>
              <a:blipFill>
                <a:blip r:embed="rId3"/>
                <a:stretch>
                  <a:fillRect l="-541" t="-3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C31F75-8C32-46A1-A859-A9613967CC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4ADC520-12A0-4224-B1E1-2B0FFB7A4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063" y="1489533"/>
            <a:ext cx="4889213" cy="101460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版面配置區 2">
                <a:extLst>
                  <a:ext uri="{FF2B5EF4-FFF2-40B4-BE49-F238E27FC236}">
                    <a16:creationId xmlns:a16="http://schemas.microsoft.com/office/drawing/2014/main" id="{13350D37-9BC9-494C-8293-1349649110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0062" y="2559394"/>
                <a:ext cx="7222976" cy="16666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8100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400"/>
                  <a:buFont typeface="Titillium Web Light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2pPr>
                <a:lvl3pPr marL="1371600" marR="0" lvl="2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3pPr>
                <a:lvl4pPr marL="1828800" marR="0" lvl="3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4pPr>
                <a:lvl5pPr marL="2286000" marR="0" lvl="4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5pPr>
                <a:lvl6pPr marL="2743200" marR="0" lvl="5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▫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6pPr>
                <a:lvl7pPr marL="3200400" marR="0" lvl="6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●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7pPr>
                <a:lvl8pPr marL="3657600" marR="0" lvl="7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○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8pPr>
                <a:lvl9pPr marL="4114800" marR="0" lvl="8" indent="-3810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tillium Web Light"/>
                  <a:buChar char="■"/>
                  <a:defRPr sz="2400" b="0" i="0" u="none" strike="noStrike" cap="none">
                    <a:solidFill>
                      <a:schemeClr val="dk1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18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sz="1800" dirty="0"/>
                  <a:t> = 2.07123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TW" sz="180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</m:sSubSup>
                            <m:r>
                              <m:rPr>
                                <m:nor/>
                              </m:rPr>
                              <a:rPr lang="en-US" altLang="zh-TW" sz="1800" dirty="0"/>
                              <m:t>, </m:t>
                            </m:r>
                            <m:sSubSup>
                              <m:sSubSupPr>
                                <m:ctrlP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  <m:sup/>
                            </m:sSubSup>
                          </m:e>
                        </m:d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TW" sz="180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⁡(</m:t>
                        </m:r>
                        <m:sSubSup>
                          <m:sSubSup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sub>
                          <m:sup/>
                        </m:sSubSup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TW" sz="1800" dirty="0"/>
              </a:p>
              <a:p>
                <a:endParaRPr lang="en-US" altLang="zh-TW" sz="18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l-GR" altLang="zh-TW" sz="1800" dirty="0"/>
                          <m:t>Υ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={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∈ X | </a:t>
                </a:r>
                <a:r>
                  <a:rPr lang="en-US" altLang="zh-TW" sz="1800" i="1" dirty="0"/>
                  <a:t>G</a:t>
                </a:r>
                <a:r>
                  <a:rPr lang="en-US" altLang="zh-TW" sz="1800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) ≧ </a:t>
                </a:r>
                <a:r>
                  <a:rPr lang="en-US" altLang="zh-TW" sz="1800" i="1" dirty="0"/>
                  <a:t>G</a:t>
                </a:r>
                <a:r>
                  <a:rPr lang="en-US" altLang="zh-TW" sz="1800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)  l = 1, … N, </a:t>
                </a:r>
                <a:r>
                  <a:rPr lang="en-US" altLang="zh-TW" sz="1800" dirty="0" err="1"/>
                  <a:t>l≠b</a:t>
                </a:r>
                <a:r>
                  <a:rPr lang="en-US" altLang="zh-TW" sz="1800" dirty="0"/>
                  <a:t>; j = 1,…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} </a:t>
                </a:r>
              </a:p>
              <a:p>
                <a:endParaRPr lang="en-US" altLang="zh-TW" sz="1800" dirty="0"/>
              </a:p>
            </p:txBody>
          </p:sp>
        </mc:Choice>
        <mc:Fallback>
          <p:sp>
            <p:nvSpPr>
              <p:cNvPr id="6" name="文字版面配置區 2">
                <a:extLst>
                  <a:ext uri="{FF2B5EF4-FFF2-40B4-BE49-F238E27FC236}">
                    <a16:creationId xmlns:a16="http://schemas.microsoft.com/office/drawing/2014/main" id="{13350D37-9BC9-494C-8293-134964911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62" y="2559394"/>
                <a:ext cx="7222976" cy="1666617"/>
              </a:xfrm>
              <a:prstGeom prst="rect">
                <a:avLst/>
              </a:prstGeom>
              <a:blipFill>
                <a:blip r:embed="rId5"/>
                <a:stretch>
                  <a:fillRect l="-506" r="-844" b="-32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907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版面配置區 3">
                <a:extLst>
                  <a:ext uri="{FF2B5EF4-FFF2-40B4-BE49-F238E27FC236}">
                    <a16:creationId xmlns:a16="http://schemas.microsoft.com/office/drawing/2014/main" id="{DE8504DB-6919-40A7-AFC6-EDAEFAAB41F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18300" y="230659"/>
                <a:ext cx="6761100" cy="4483391"/>
              </a:xfrm>
            </p:spPr>
            <p:txBody>
              <a:bodyPr/>
              <a:lstStyle/>
              <a:p>
                <a:r>
                  <a:rPr lang="en-US" altLang="zh-TW" dirty="0"/>
                  <a:t>Phase 2. </a:t>
                </a:r>
                <a:r>
                  <a:rPr lang="en-US" altLang="zh-TW" i="1" dirty="0"/>
                  <a:t>Searching NOMA User Candidates with High Channel Correlation:</a:t>
                </a:r>
              </a:p>
              <a:p>
                <a:r>
                  <a:rPr lang="en-US" altLang="zh-TW" sz="1800" dirty="0"/>
                  <a:t>After user association,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we first select a primary user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800" dirty="0"/>
                  <a:t>with low date rate requirement from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l-GR" altLang="zh-TW" sz="1800" dirty="0"/>
                          <m:t>Υ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.</a:t>
                </a:r>
              </a:p>
              <a:p>
                <a:r>
                  <a:rPr lang="en-US" altLang="zh-TW" sz="1800" dirty="0"/>
                  <a:t>Next, we proceed to seeking users from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l-GR" altLang="zh-TW" sz="1800" dirty="0"/>
                          <m:t>Υ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 /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altLang="zh-TW" sz="1800" dirty="0"/>
                  <a:t>, whose channel correlations with the primary user are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larger than a threshold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l-GR" altLang="zh-TW" sz="1800" dirty="0">
                            <a:solidFill>
                              <a:srgbClr val="FF0000"/>
                            </a:solidFill>
                          </a:rPr>
                          <m:t>δ</m:t>
                        </m:r>
                      </m:e>
                      <m:sub/>
                      <m:sup>
                        <m:r>
                          <a:rPr lang="en-US" altLang="zh-TW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zh-TW" sz="1800" dirty="0"/>
                  <a:t> , </a:t>
                </a:r>
              </a:p>
              <a:p>
                <a:endParaRPr lang="zh-TW" altLang="en-US" sz="900" dirty="0"/>
              </a:p>
            </p:txBody>
          </p:sp>
        </mc:Choice>
        <mc:Fallback>
          <p:sp>
            <p:nvSpPr>
              <p:cNvPr id="4" name="文字版面配置區 3">
                <a:extLst>
                  <a:ext uri="{FF2B5EF4-FFF2-40B4-BE49-F238E27FC236}">
                    <a16:creationId xmlns:a16="http://schemas.microsoft.com/office/drawing/2014/main" id="{DE8504DB-6919-40A7-AFC6-EDAEFAAB41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18300" y="230659"/>
                <a:ext cx="6761100" cy="4483391"/>
              </a:xfrm>
              <a:blipFill>
                <a:blip r:embed="rId3"/>
                <a:stretch>
                  <a:fillRect l="-541" r="-14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FB5439A-F99E-46DB-8648-F7DD377F08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26F775D-1739-4EC5-B334-0B514D5E1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881" y="3047622"/>
            <a:ext cx="6544588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401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版面配置區 3">
                <a:extLst>
                  <a:ext uri="{FF2B5EF4-FFF2-40B4-BE49-F238E27FC236}">
                    <a16:creationId xmlns:a16="http://schemas.microsoft.com/office/drawing/2014/main" id="{DE8504DB-6919-40A7-AFC6-EDAEFAAB41F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18300" y="230659"/>
                <a:ext cx="6761100" cy="4483391"/>
              </a:xfrm>
            </p:spPr>
            <p:txBody>
              <a:bodyPr/>
              <a:lstStyle/>
              <a:p>
                <a:r>
                  <a:rPr lang="en-US" altLang="zh-TW" dirty="0"/>
                  <a:t>Phase 3. </a:t>
                </a:r>
                <a:r>
                  <a:rPr lang="en-US" altLang="zh-TW" i="1" dirty="0"/>
                  <a:t>Grouping NOMA User Candidates with K-means:</a:t>
                </a:r>
                <a:r>
                  <a:rPr lang="zh-TW" altLang="en-US" i="1" dirty="0"/>
                  <a:t> </a:t>
                </a:r>
                <a:endParaRPr lang="en-US" altLang="zh-TW" i="1" dirty="0"/>
              </a:p>
              <a:p>
                <a:endParaRPr lang="en-US" altLang="zh-TW" i="1" dirty="0"/>
              </a:p>
              <a:p>
                <a:r>
                  <a:rPr lang="en-US" altLang="zh-TW" sz="1600" dirty="0"/>
                  <a:t>Next, K-means algorithm is further employed to divide the channel gains of a user set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altLang="zh-TW" sz="1600" dirty="0"/>
                  <a:t> U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/>
                    </m:sSubSup>
                  </m:oMath>
                </a14:m>
                <a:r>
                  <a:rPr lang="en-US" altLang="zh-TW" sz="1600" dirty="0"/>
                  <a:t> into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</m:sSubSup>
                  </m:oMath>
                </a14:m>
                <a:r>
                  <a:rPr lang="en-US" altLang="zh-TW" sz="1600" dirty="0"/>
                  <a:t> groups.</a:t>
                </a:r>
              </a:p>
              <a:p>
                <a:endParaRPr lang="en-US" altLang="zh-TW" sz="1600" dirty="0"/>
              </a:p>
              <a:p>
                <a:r>
                  <a:rPr lang="en-US" altLang="zh-TW" sz="1800" dirty="0"/>
                  <a:t>The objective of the K-means algorithm is to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group users with similar channel gains</a:t>
                </a:r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文字版面配置區 3">
                <a:extLst>
                  <a:ext uri="{FF2B5EF4-FFF2-40B4-BE49-F238E27FC236}">
                    <a16:creationId xmlns:a16="http://schemas.microsoft.com/office/drawing/2014/main" id="{DE8504DB-6919-40A7-AFC6-EDAEFAAB41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18300" y="230659"/>
                <a:ext cx="6761100" cy="4483391"/>
              </a:xfrm>
              <a:blipFill>
                <a:blip r:embed="rId3"/>
                <a:stretch>
                  <a:fillRect l="-541" r="-9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FB5439A-F99E-46DB-8648-F7DD377F08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55211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E8504DB-6919-40A7-AFC6-EDAEFAAB4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30659"/>
            <a:ext cx="6761100" cy="4483391"/>
          </a:xfrm>
        </p:spPr>
        <p:txBody>
          <a:bodyPr/>
          <a:lstStyle/>
          <a:p>
            <a:r>
              <a:rPr lang="en-US" altLang="zh-TW" dirty="0"/>
              <a:t>Phase 4. </a:t>
            </a:r>
            <a:r>
              <a:rPr lang="en-US" altLang="zh-TW" i="1" dirty="0"/>
              <a:t>Scheduling NOMA Users with Maximum Channel</a:t>
            </a:r>
            <a:r>
              <a:rPr lang="zh-TW" altLang="en-US" i="1" dirty="0"/>
              <a:t> </a:t>
            </a:r>
            <a:r>
              <a:rPr lang="en-US" altLang="zh-TW" i="1" dirty="0"/>
              <a:t>Gain Difference:</a:t>
            </a:r>
          </a:p>
          <a:p>
            <a:endParaRPr lang="en-US" altLang="zh-TW" i="1" dirty="0"/>
          </a:p>
          <a:p>
            <a:r>
              <a:rPr lang="en-US" altLang="zh-TW" sz="1600" dirty="0"/>
              <a:t>Then, we successively schedule users that belong to different user groups, so as to </a:t>
            </a:r>
            <a:r>
              <a:rPr lang="en-US" altLang="zh-TW" sz="1600" dirty="0">
                <a:solidFill>
                  <a:srgbClr val="FF0000"/>
                </a:solidFill>
              </a:rPr>
              <a:t>maximize</a:t>
            </a:r>
            <a:r>
              <a:rPr lang="en-US" altLang="zh-TW" sz="1600" dirty="0"/>
              <a:t> corresponding </a:t>
            </a:r>
            <a:r>
              <a:rPr lang="en-US" altLang="zh-TW" sz="1600" dirty="0">
                <a:solidFill>
                  <a:srgbClr val="FF0000"/>
                </a:solidFill>
              </a:rPr>
              <a:t>channel gain difference </a:t>
            </a:r>
            <a:r>
              <a:rPr lang="en-US" altLang="zh-TW" sz="1600" dirty="0"/>
              <a:t>from the primary user per beam.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FB5439A-F99E-46DB-8648-F7DD377F08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74BB654-C218-417A-914C-A607483F7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005" y="2917741"/>
            <a:ext cx="5716503" cy="120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91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3DCA4B-B876-4204-ACBB-02CA6A4B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212153"/>
            <a:ext cx="6761100" cy="857400"/>
          </a:xfrm>
        </p:spPr>
        <p:txBody>
          <a:bodyPr/>
          <a:lstStyle/>
          <a:p>
            <a:r>
              <a:rPr lang="en-US" altLang="zh-TW" i="1" dirty="0"/>
              <a:t>B.</a:t>
            </a:r>
            <a:r>
              <a:rPr lang="zh-TW" altLang="en-US" i="1" dirty="0"/>
              <a:t> </a:t>
            </a:r>
            <a:r>
              <a:rPr lang="en-US" altLang="zh-TW" i="1" dirty="0"/>
              <a:t>Multi-layer Beamforming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0851E7-4F11-45EB-BC01-2607DF9F0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214566"/>
            <a:ext cx="6761100" cy="2980500"/>
          </a:xfrm>
        </p:spPr>
        <p:txBody>
          <a:bodyPr/>
          <a:lstStyle/>
          <a:p>
            <a:endParaRPr lang="en-US" altLang="zh-TW" sz="1600" dirty="0"/>
          </a:p>
          <a:p>
            <a:endParaRPr lang="en-US" altLang="zh-TW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0F5738-BA76-4796-AFB7-9F1826F018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07FF92A-9792-43D2-B74F-D245E899E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451" y="1114252"/>
            <a:ext cx="5529290" cy="381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85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3DCA4B-B876-4204-ACBB-02CA6A4B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212153"/>
            <a:ext cx="6761100" cy="857400"/>
          </a:xfrm>
        </p:spPr>
        <p:txBody>
          <a:bodyPr/>
          <a:lstStyle/>
          <a:p>
            <a:r>
              <a:rPr lang="en-US" altLang="zh-TW" i="1" dirty="0"/>
              <a:t>B.</a:t>
            </a:r>
            <a:r>
              <a:rPr lang="zh-TW" altLang="en-US" i="1" dirty="0"/>
              <a:t> </a:t>
            </a:r>
            <a:r>
              <a:rPr lang="en-US" altLang="zh-TW" i="1" dirty="0"/>
              <a:t>Multi-layer Beamforming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2F0851E7-4F11-45EB-BC01-2607DF9F081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18300" y="1214566"/>
                <a:ext cx="6761100" cy="2980500"/>
              </a:xfrm>
            </p:spPr>
            <p:txBody>
              <a:bodyPr/>
              <a:lstStyle/>
              <a:p>
                <a:r>
                  <a:rPr lang="en-US" altLang="zh-TW" sz="1800" dirty="0"/>
                  <a:t>First step:  </a:t>
                </a:r>
              </a:p>
              <a:p>
                <a:r>
                  <a:rPr lang="en-US" altLang="zh-TW" sz="1800" dirty="0"/>
                  <a:t>First, outer BF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800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 is conceived based on regularized zero-forcing (ZF)</a:t>
                </a:r>
                <a:r>
                  <a:rPr lang="zh-TW" altLang="en-US" sz="1800" dirty="0"/>
                  <a:t>，</a:t>
                </a:r>
                <a:endParaRPr lang="en-US" altLang="zh-TW" sz="1800" dirty="0"/>
              </a:p>
              <a:p>
                <a:r>
                  <a:rPr lang="en-US" altLang="zh-TW" sz="1800" dirty="0"/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8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 denote a channel matrix of size (N -1)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8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 X 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8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 , Next, by taking the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singular value decomposition </a:t>
                </a:r>
                <a:r>
                  <a:rPr lang="en-US" altLang="zh-TW" sz="1800" dirty="0"/>
                  <a:t>(SVD)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8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 ,</a:t>
                </a:r>
              </a:p>
              <a:p>
                <a:r>
                  <a:rPr lang="en-US" altLang="zh-TW" sz="1800" dirty="0"/>
                  <a:t>We have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8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 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8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 smtClean="0"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</m:sSubSup>
                  </m:oMath>
                </a14:m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8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altLang="zh-TW" sz="1800" dirty="0"/>
                  <a:t> </a:t>
                </a:r>
              </a:p>
              <a:p>
                <a:endParaRPr lang="en-US" altLang="zh-TW" sz="1800" dirty="0"/>
              </a:p>
              <a:p>
                <a:endParaRPr lang="en-US" altLang="zh-TW" sz="1800" dirty="0"/>
              </a:p>
              <a:p>
                <a:endParaRPr lang="en-US" altLang="zh-TW" sz="1800" dirty="0"/>
              </a:p>
              <a:p>
                <a:endParaRPr lang="en-US" altLang="zh-TW" sz="1800" dirty="0"/>
              </a:p>
              <a:p>
                <a:endParaRPr lang="en-US" altLang="zh-TW" sz="1800" dirty="0"/>
              </a:p>
              <a:p>
                <a:endParaRPr lang="en-US" altLang="zh-TW" sz="1600" dirty="0"/>
              </a:p>
              <a:p>
                <a:endParaRPr lang="en-US" altLang="zh-TW" sz="1600" dirty="0"/>
              </a:p>
            </p:txBody>
          </p:sp>
        </mc:Choice>
        <mc:Fallback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2F0851E7-4F11-45EB-BC01-2607DF9F08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18300" y="1214566"/>
                <a:ext cx="6761100" cy="2980500"/>
              </a:xfrm>
              <a:blipFill>
                <a:blip r:embed="rId3"/>
                <a:stretch>
                  <a:fillRect l="-541" t="-2045" r="-2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0F5738-BA76-4796-AFB7-9F1826F018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D90AF21-33AA-4A39-91EE-D6B0786DB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804" y="3518697"/>
            <a:ext cx="4925112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173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6B72BA-59B3-494D-BD94-2069148C6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CF2CAFB-31DE-4E91-A0AC-083B2F774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8CA30D-BF67-42DB-BA14-F20C2A0CB9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33E1D78-8BBB-4365-96FE-889502BF9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083" y="1596775"/>
            <a:ext cx="5077534" cy="212437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BC6BDC7-40C2-417F-A322-2F7367B9E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019" y="1574105"/>
            <a:ext cx="6649378" cy="248637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8604BA7-14D6-4802-88E6-2B7FD233C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700" y="1596775"/>
            <a:ext cx="4318893" cy="247106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43AB394-B2F0-47B7-99C1-61BE8692E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941" y="1168075"/>
            <a:ext cx="6496957" cy="337232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E0A7E75-496F-486C-9B33-796B20672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572" y="518826"/>
            <a:ext cx="6763694" cy="410584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1D6CBB3-E078-4831-A005-EC0A81C243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925" y="707894"/>
            <a:ext cx="7360134" cy="369623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FBA1AD8-D1E2-4A9B-8A2C-B17FEEBA5B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875" y="1305751"/>
            <a:ext cx="8806249" cy="269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3075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2F0851E7-4F11-45EB-BC01-2607DF9F081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18300" y="659027"/>
                <a:ext cx="6761100" cy="4055023"/>
              </a:xfrm>
            </p:spPr>
            <p:txBody>
              <a:bodyPr/>
              <a:lstStyle/>
              <a:p>
                <a:r>
                  <a:rPr lang="en-US" altLang="zh-TW" sz="1800" dirty="0"/>
                  <a:t>Second step</a:t>
                </a:r>
                <a:r>
                  <a:rPr lang="en-US" altLang="zh-TW" sz="1600" dirty="0"/>
                  <a:t>:  </a:t>
                </a:r>
              </a:p>
              <a:p>
                <a:r>
                  <a:rPr lang="en-US" altLang="zh-TW" sz="1600" dirty="0"/>
                  <a:t>We </a:t>
                </a:r>
                <a:r>
                  <a:rPr lang="en-US" altLang="zh-TW" sz="1600" dirty="0">
                    <a:solidFill>
                      <a:srgbClr val="FF0000"/>
                    </a:solidFill>
                  </a:rPr>
                  <a:t>increase the difference </a:t>
                </a:r>
                <a:r>
                  <a:rPr lang="en-US" altLang="zh-TW" sz="1600" dirty="0"/>
                  <a:t>of users’ effective channel gain by optimizing each user’s effective channel after inter-beam interference suppression.</a:t>
                </a:r>
              </a:p>
              <a:p>
                <a:endParaRPr lang="en-US" altLang="zh-TW" sz="1600" dirty="0"/>
              </a:p>
              <a:p>
                <a:r>
                  <a:rPr lang="en-US" altLang="zh-TW" sz="1600" dirty="0"/>
                  <a:t>Enhancing user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600" dirty="0" err="1"/>
                  <a:t>'s</a:t>
                </a:r>
                <a:r>
                  <a:rPr lang="en-US" altLang="zh-TW" sz="1600" dirty="0"/>
                  <a:t> effective channel gain based on maximal ratio transmission, which is motivated by</a:t>
                </a:r>
              </a:p>
            </p:txBody>
          </p:sp>
        </mc:Choice>
        <mc:Fallback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2F0851E7-4F11-45EB-BC01-2607DF9F08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18300" y="659027"/>
                <a:ext cx="6761100" cy="4055023"/>
              </a:xfrm>
              <a:blipFill>
                <a:blip r:embed="rId3"/>
                <a:stretch>
                  <a:fillRect l="-541" t="-1504" r="-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0F5738-BA76-4796-AFB7-9F1826F018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CB09962-C1BC-4F5F-AFE3-45E850A32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459" y="2855471"/>
            <a:ext cx="5268060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26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2F0851E7-4F11-45EB-BC01-2607DF9F081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18300" y="659027"/>
                <a:ext cx="6761100" cy="4055023"/>
              </a:xfrm>
            </p:spPr>
            <p:txBody>
              <a:bodyPr/>
              <a:lstStyle/>
              <a:p>
                <a:r>
                  <a:rPr lang="en-US" altLang="zh-TW" sz="1800" dirty="0"/>
                  <a:t>Third step</a:t>
                </a:r>
                <a:r>
                  <a:rPr lang="en-US" altLang="zh-TW" sz="1600" dirty="0"/>
                  <a:t>:  </a:t>
                </a:r>
              </a:p>
              <a:p>
                <a:r>
                  <a:rPr lang="en-US" altLang="zh-TW" sz="1600" dirty="0"/>
                  <a:t>In the third step, inter-beam power allocation is performed according to the desired performance metric. </a:t>
                </a:r>
              </a:p>
              <a:p>
                <a:r>
                  <a:rPr lang="en-US" altLang="zh-TW" sz="1600" dirty="0"/>
                  <a:t>Considering equal inter-beam power allocation, we get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/>
                    </m:sSubSup>
                  </m:oMath>
                </a14:m>
                <a:r>
                  <a:rPr lang="en-US" altLang="zh-TW" sz="1600" dirty="0"/>
                  <a:t> 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  <m:sup/>
                    </m:sSubSup>
                  </m:oMath>
                </a14:m>
                <a:r>
                  <a:rPr lang="en-US" altLang="zh-TW" sz="1600" dirty="0"/>
                  <a:t> /N</a:t>
                </a:r>
              </a:p>
              <a:p>
                <a:endParaRPr lang="en-US" altLang="zh-TW" sz="1600" dirty="0"/>
              </a:p>
              <a:p>
                <a:endParaRPr lang="en-US" altLang="zh-TW" sz="1600" dirty="0"/>
              </a:p>
              <a:p>
                <a:endParaRPr lang="en-US" altLang="zh-TW" sz="1600" dirty="0"/>
              </a:p>
            </p:txBody>
          </p:sp>
        </mc:Choice>
        <mc:Fallback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2F0851E7-4F11-45EB-BC01-2607DF9F08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18300" y="659027"/>
                <a:ext cx="6761100" cy="4055023"/>
              </a:xfrm>
              <a:blipFill>
                <a:blip r:embed="rId3"/>
                <a:stretch>
                  <a:fillRect l="-541" t="-15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0F5738-BA76-4796-AFB7-9F1826F018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CEFE54F-A9DD-4007-8EAA-DABD77889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600" y="3067611"/>
            <a:ext cx="4058374" cy="67232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02B845B-8956-4461-917A-1788324F0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4205" y="897958"/>
            <a:ext cx="5529290" cy="381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51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3DCA4B-B876-4204-ACBB-02CA6A4B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965" y="381118"/>
            <a:ext cx="6761100" cy="857400"/>
          </a:xfrm>
        </p:spPr>
        <p:txBody>
          <a:bodyPr/>
          <a:lstStyle/>
          <a:p>
            <a:r>
              <a:rPr lang="en-US" altLang="zh-TW" sz="2800" i="1" dirty="0"/>
              <a:t>C. Dynamic Power Allocation Scheme with Target Data Rates</a:t>
            </a:r>
            <a:endParaRPr lang="zh-TW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2F0851E7-4F11-45EB-BC01-2607DF9F081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18300" y="1300213"/>
                <a:ext cx="6761100" cy="2980500"/>
              </a:xfrm>
            </p:spPr>
            <p:txBody>
              <a:bodyPr/>
              <a:lstStyle/>
              <a:p>
                <a:r>
                  <a:rPr lang="en-US" altLang="zh-TW" sz="2000" i="1" dirty="0"/>
                  <a:t>Dynamic Intra-beam Power Allocation:</a:t>
                </a:r>
              </a:p>
              <a:p>
                <a:r>
                  <a:rPr lang="en-US" altLang="zh-TW" sz="1400" dirty="0"/>
                  <a:t>For the sake of our exposition, an auxiliary variable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14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sz="1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altLang="zh-TW" sz="1400" i="1"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altLang="zh-TW" sz="1400" i="1"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altLang="zh-TW" sz="1400" dirty="0"/>
                  <a:t>  is introduced to denote the power allocation relationship between user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400" dirty="0"/>
                  <a:t>and user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altLang="zh-TW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400" dirty="0"/>
                  <a:t>in beam b</a:t>
                </a:r>
              </a:p>
              <a:p>
                <a:endParaRPr lang="en-US" altLang="zh-TW" sz="1600" dirty="0"/>
              </a:p>
            </p:txBody>
          </p:sp>
        </mc:Choice>
        <mc:Fallback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2F0851E7-4F11-45EB-BC01-2607DF9F08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18300" y="1300213"/>
                <a:ext cx="6761100" cy="2980500"/>
              </a:xfrm>
              <a:blipFill>
                <a:blip r:embed="rId3"/>
                <a:stretch>
                  <a:fillRect l="-541" t="-12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0F5738-BA76-4796-AFB7-9F1826F018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5837335-85ED-4EB5-9C5C-11AF1A7E4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600" y="2790463"/>
            <a:ext cx="4828769" cy="123343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13025C8-63DB-4A15-8633-2DF2182EB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589" y="4219768"/>
            <a:ext cx="5915851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27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7" name="Google Shape;3877;p19"/>
          <p:cNvSpPr txBox="1">
            <a:spLocks noGrp="1"/>
          </p:cNvSpPr>
          <p:nvPr>
            <p:ph type="ctrTitle" idx="4294967295"/>
          </p:nvPr>
        </p:nvSpPr>
        <p:spPr>
          <a:xfrm>
            <a:off x="685800" y="2650150"/>
            <a:ext cx="5495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altLang="zh-TW" dirty="0"/>
              <a:t>SIMULATION RESULTS</a:t>
            </a:r>
            <a:endParaRPr sz="7200" dirty="0">
              <a:solidFill>
                <a:srgbClr val="D3EBD5"/>
              </a:solidFill>
            </a:endParaRPr>
          </a:p>
        </p:txBody>
      </p:sp>
      <p:sp>
        <p:nvSpPr>
          <p:cNvPr id="3879" name="Google Shape;3879;p19"/>
          <p:cNvSpPr/>
          <p:nvPr/>
        </p:nvSpPr>
        <p:spPr>
          <a:xfrm>
            <a:off x="2347313" y="2155769"/>
            <a:ext cx="270850" cy="258617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0159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0" name="Google Shape;3880;p19"/>
          <p:cNvGrpSpPr/>
          <p:nvPr/>
        </p:nvGrpSpPr>
        <p:grpSpPr>
          <a:xfrm>
            <a:off x="2011275" y="703738"/>
            <a:ext cx="1160371" cy="1160688"/>
            <a:chOff x="6654650" y="3665275"/>
            <a:chExt cx="409100" cy="409125"/>
          </a:xfrm>
        </p:grpSpPr>
        <p:sp>
          <p:nvSpPr>
            <p:cNvPr id="3881" name="Google Shape;3881;p19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19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83" name="Google Shape;3883;p19"/>
          <p:cNvGrpSpPr/>
          <p:nvPr/>
        </p:nvGrpSpPr>
        <p:grpSpPr>
          <a:xfrm rot="1057001">
            <a:off x="892483" y="1616446"/>
            <a:ext cx="766645" cy="766759"/>
            <a:chOff x="570875" y="4322250"/>
            <a:chExt cx="443300" cy="443325"/>
          </a:xfrm>
        </p:grpSpPr>
        <p:sp>
          <p:nvSpPr>
            <p:cNvPr id="3884" name="Google Shape;3884;p19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19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19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19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88" name="Google Shape;3888;p19"/>
          <p:cNvSpPr/>
          <p:nvPr/>
        </p:nvSpPr>
        <p:spPr>
          <a:xfrm rot="2466991">
            <a:off x="978868" y="928441"/>
            <a:ext cx="376301" cy="359305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0159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9" name="Google Shape;3889;p19"/>
          <p:cNvSpPr/>
          <p:nvPr/>
        </p:nvSpPr>
        <p:spPr>
          <a:xfrm rot="-1609377">
            <a:off x="1529232" y="1154513"/>
            <a:ext cx="270839" cy="258606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0159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0" name="Google Shape;3890;p19"/>
          <p:cNvSpPr/>
          <p:nvPr/>
        </p:nvSpPr>
        <p:spPr>
          <a:xfrm rot="2925705">
            <a:off x="3171263" y="1359369"/>
            <a:ext cx="202799" cy="193640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0159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1" name="Google Shape;3891;p19"/>
          <p:cNvSpPr/>
          <p:nvPr/>
        </p:nvSpPr>
        <p:spPr>
          <a:xfrm rot="-1609197">
            <a:off x="2135091" y="394613"/>
            <a:ext cx="182676" cy="174425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0159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2" name="Google Shape;3892;p19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3DE3621-DBA0-4899-96B8-208A9D9C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3F07E98-C63D-422E-9F80-E5C8A0820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63137AF-09E4-4280-9DE3-C644C8D2F3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9D31230-1640-425B-9E94-7BF027E21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78" y="593124"/>
            <a:ext cx="7002322" cy="395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05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88D4B0-682E-4ABE-A4E5-69176BD1E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4764C8-DD96-4D27-A1AA-706790752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701C88-0857-40FB-ACB7-76ACA6CDA7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6F1E1C-31C9-4513-947E-EA608B53A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47" y="432398"/>
            <a:ext cx="7280712" cy="432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428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7" name="Google Shape;3937;p25"/>
          <p:cNvSpPr txBox="1">
            <a:spLocks noGrp="1"/>
          </p:cNvSpPr>
          <p:nvPr>
            <p:ph type="title"/>
          </p:nvPr>
        </p:nvSpPr>
        <p:spPr>
          <a:xfrm>
            <a:off x="718300" y="124381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Conclusion</a:t>
            </a:r>
            <a:endParaRPr dirty="0"/>
          </a:p>
        </p:txBody>
      </p:sp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95FF4859-B7F3-4C2F-B234-501CF1A2B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231" y="1264210"/>
            <a:ext cx="6761100" cy="2980500"/>
          </a:xfrm>
        </p:spPr>
        <p:txBody>
          <a:bodyPr/>
          <a:lstStyle/>
          <a:p>
            <a:r>
              <a:rPr lang="en-US" altLang="zh-TW" sz="1400" dirty="0"/>
              <a:t>In this work, a geographical NOMA-BF scheme is proposed to improve spectrum efficiency in multi-beam satellite-based IoT, where more than two users are simultaneously served in each beam. In addition, by employing the proposed user scheduling, multi-layer BF and power allocation policy, spectrum efficiency of multi-beam satellite-based IoT is improved while meeting predefined target data rates of primary NOMA users. Simulation results show the efficiency of our proposal.</a:t>
            </a:r>
            <a:endParaRPr lang="zh-TW" altLang="en-US" sz="1400" dirty="0"/>
          </a:p>
        </p:txBody>
      </p:sp>
      <p:sp>
        <p:nvSpPr>
          <p:cNvPr id="3939" name="Google Shape;3939;p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8" name="Google Shape;4038;p36"/>
          <p:cNvSpPr txBox="1">
            <a:spLocks noGrp="1"/>
          </p:cNvSpPr>
          <p:nvPr>
            <p:ph type="ctrTitle" idx="4294967295"/>
          </p:nvPr>
        </p:nvSpPr>
        <p:spPr>
          <a:xfrm>
            <a:off x="685800" y="745150"/>
            <a:ext cx="4863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80BFB7"/>
                </a:solidFill>
              </a:rPr>
              <a:t>THANKS!</a:t>
            </a:r>
            <a:endParaRPr sz="6000">
              <a:solidFill>
                <a:srgbClr val="80BFB7"/>
              </a:solidFill>
            </a:endParaRPr>
          </a:p>
        </p:txBody>
      </p:sp>
      <p:sp>
        <p:nvSpPr>
          <p:cNvPr id="4041" name="Google Shape;4041;p36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ustom 347">
      <a:dk1>
        <a:srgbClr val="003B55"/>
      </a:dk1>
      <a:lt1>
        <a:srgbClr val="FFFFFF"/>
      </a:lt1>
      <a:dk2>
        <a:srgbClr val="0B87A1"/>
      </a:dk2>
      <a:lt2>
        <a:srgbClr val="EEF1EE"/>
      </a:lt2>
      <a:accent1>
        <a:srgbClr val="D3EBD5"/>
      </a:accent1>
      <a:accent2>
        <a:srgbClr val="80BFB7"/>
      </a:accent2>
      <a:accent3>
        <a:srgbClr val="0B87A1"/>
      </a:accent3>
      <a:accent4>
        <a:srgbClr val="01597F"/>
      </a:accent4>
      <a:accent5>
        <a:srgbClr val="003B55"/>
      </a:accent5>
      <a:accent6>
        <a:srgbClr val="001120"/>
      </a:accent6>
      <a:hlink>
        <a:srgbClr val="01597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3364</TotalTime>
  <Words>2487</Words>
  <Application>Microsoft Office PowerPoint</Application>
  <PresentationFormat>如螢幕大小 (16:9)</PresentationFormat>
  <Paragraphs>185</Paragraphs>
  <Slides>30</Slides>
  <Notes>29</Notes>
  <HiddenSlides>1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5" baseType="lpstr">
      <vt:lpstr>Arial</vt:lpstr>
      <vt:lpstr>Cambria Math</vt:lpstr>
      <vt:lpstr>Dosis ExtraLight</vt:lpstr>
      <vt:lpstr>Titillium Web Light</vt:lpstr>
      <vt:lpstr>Mowbray template</vt:lpstr>
      <vt:lpstr>Geographical NOMA-Beamforming in Multi-Beam Satellite-Based Internet of Things</vt:lpstr>
      <vt:lpstr>Introduction</vt:lpstr>
      <vt:lpstr>Introduction</vt:lpstr>
      <vt:lpstr>Introduction</vt:lpstr>
      <vt:lpstr>SYSTEM MODEL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DESIGN OF GEOGRAPHICAL NOMA-BF</vt:lpstr>
      <vt:lpstr>A Novel User Scheduling</vt:lpstr>
      <vt:lpstr>PowerPoint 簡報</vt:lpstr>
      <vt:lpstr>PowerPoint 簡報</vt:lpstr>
      <vt:lpstr>PowerPoint 簡報</vt:lpstr>
      <vt:lpstr>PowerPoint 簡報</vt:lpstr>
      <vt:lpstr>PowerPoint 簡報</vt:lpstr>
      <vt:lpstr>B. Multi-layer Beamforming</vt:lpstr>
      <vt:lpstr>B. Multi-layer Beamforming</vt:lpstr>
      <vt:lpstr>PowerPoint 簡報</vt:lpstr>
      <vt:lpstr>PowerPoint 簡報</vt:lpstr>
      <vt:lpstr>PowerPoint 簡報</vt:lpstr>
      <vt:lpstr>C. Dynamic Power Allocation Scheme with Target Data Rates</vt:lpstr>
      <vt:lpstr>SIMULATION RESULTS</vt:lpstr>
      <vt:lpstr>PowerPoint 簡報</vt:lpstr>
      <vt:lpstr>PowerPoint 簡報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Precoded Cluster Hopping in Multi-Beam High Throughput Satellite Systems</dc:title>
  <cp:lastModifiedBy>Albert</cp:lastModifiedBy>
  <cp:revision>424</cp:revision>
  <dcterms:modified xsi:type="dcterms:W3CDTF">2020-06-11T23:38:02Z</dcterms:modified>
</cp:coreProperties>
</file>