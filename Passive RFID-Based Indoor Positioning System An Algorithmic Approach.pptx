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9"/>
  </p:notesMasterIdLst>
  <p:sldIdLst>
    <p:sldId id="256" r:id="rId2"/>
    <p:sldId id="257" r:id="rId3"/>
    <p:sldId id="286" r:id="rId4"/>
    <p:sldId id="310" r:id="rId5"/>
    <p:sldId id="287" r:id="rId6"/>
    <p:sldId id="303" r:id="rId7"/>
    <p:sldId id="304" r:id="rId8"/>
    <p:sldId id="305" r:id="rId9"/>
    <p:sldId id="290" r:id="rId10"/>
    <p:sldId id="306" r:id="rId11"/>
    <p:sldId id="307" r:id="rId12"/>
    <p:sldId id="258" r:id="rId13"/>
    <p:sldId id="259" r:id="rId14"/>
    <p:sldId id="308" r:id="rId15"/>
    <p:sldId id="309" r:id="rId16"/>
    <p:sldId id="268" r:id="rId17"/>
    <p:sldId id="279" r:id="rId18"/>
  </p:sldIdLst>
  <p:sldSz cx="9144000" cy="5143500" type="screen16x9"/>
  <p:notesSz cx="6858000" cy="9144000"/>
  <p:embeddedFontLst>
    <p:embeddedFont>
      <p:font typeface="Cambria Math" panose="02040503050406030204" pitchFamily="18" charset="0"/>
      <p:regular r:id="rId20"/>
    </p:embeddedFont>
    <p:embeddedFont>
      <p:font typeface="Dosis ExtraLight" panose="02020500000000000000" charset="0"/>
      <p:regular r:id="rId21"/>
      <p:bold r:id="rId22"/>
    </p:embeddedFont>
    <p:embeddedFont>
      <p:font typeface="Titillium Web Light" panose="02020500000000000000"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3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EC0432-F7E4-46DE-892C-E2017EF582BC}">
  <a:tblStyle styleId="{ECEC0432-F7E4-46DE-892C-E2017EF582BC}"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38" autoAdjust="0"/>
    <p:restoredTop sz="76698" autoAdjust="0"/>
  </p:normalViewPr>
  <p:slideViewPr>
    <p:cSldViewPr snapToGrid="0">
      <p:cViewPr varScale="1">
        <p:scale>
          <a:sx n="116" d="100"/>
          <a:sy n="116" d="100"/>
        </p:scale>
        <p:origin x="12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2401784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2"/>
        <p:cNvGrpSpPr/>
        <p:nvPr/>
      </p:nvGrpSpPr>
      <p:grpSpPr>
        <a:xfrm>
          <a:off x="0" y="0"/>
          <a:ext cx="0" cy="0"/>
          <a:chOff x="0" y="0"/>
          <a:chExt cx="0" cy="0"/>
        </a:xfrm>
      </p:grpSpPr>
      <p:sp>
        <p:nvSpPr>
          <p:cNvPr id="3833" name="Google Shape;383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4" name="Google Shape;383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這篇是</a:t>
            </a:r>
            <a:r>
              <a:rPr lang="en-US" altLang="zh-TW" dirty="0"/>
              <a:t>2010</a:t>
            </a:r>
            <a:r>
              <a:rPr lang="zh-TW" altLang="en-US" dirty="0"/>
              <a:t>刊登在</a:t>
            </a:r>
            <a:r>
              <a:rPr lang="en-US" altLang="zh-TW" dirty="0"/>
              <a:t>RFID</a:t>
            </a:r>
            <a:r>
              <a:rPr lang="zh-TW" altLang="en-US" dirty="0"/>
              <a:t>的</a:t>
            </a:r>
            <a:r>
              <a:rPr lang="en-US" altLang="zh-TW" dirty="0"/>
              <a:t>conference</a:t>
            </a:r>
            <a:r>
              <a:rPr lang="zh-TW" altLang="en-US" dirty="0"/>
              <a:t>上的</a:t>
            </a:r>
            <a:endParaRPr lang="en-US" altLang="zh-TW" dirty="0"/>
          </a:p>
          <a:p>
            <a:pPr marL="0" lvl="0" indent="0" algn="l" rtl="0">
              <a:spcBef>
                <a:spcPts val="0"/>
              </a:spcBef>
              <a:spcAft>
                <a:spcPts val="0"/>
              </a:spcAft>
              <a:buNone/>
            </a:pPr>
            <a:r>
              <a:rPr lang="zh-TW" altLang="en-US" dirty="0"/>
              <a:t>使用</a:t>
            </a:r>
            <a:r>
              <a:rPr lang="en-US" altLang="zh-TW" dirty="0"/>
              <a:t>RFID</a:t>
            </a:r>
            <a:r>
              <a:rPr lang="zh-TW" altLang="en-US" dirty="0"/>
              <a:t>定位的論文然後提出了一種算法來增加他的精度 </a:t>
            </a:r>
            <a:endParaRPr lang="en-US" altLang="zh-TW" dirty="0"/>
          </a:p>
          <a:p>
            <a:pPr marL="0" lvl="0" indent="0" algn="l" rtl="0">
              <a:spcBef>
                <a:spcPts val="0"/>
              </a:spcBef>
              <a:spcAft>
                <a:spcPts val="0"/>
              </a:spcAft>
              <a:buNone/>
            </a:pPr>
            <a:r>
              <a:rPr lang="zh-TW" altLang="en-US" dirty="0"/>
              <a:t>被引用次數是</a:t>
            </a:r>
            <a:r>
              <a:rPr lang="en-US" altLang="zh-TW" dirty="0"/>
              <a:t>21</a:t>
            </a:r>
            <a:r>
              <a:rPr lang="zh-TW" altLang="en-US" dirty="0"/>
              <a:t>次，</a:t>
            </a:r>
            <a:endParaRPr lang="en-US" altLang="zh-TW" dirty="0"/>
          </a:p>
          <a:p>
            <a:pPr marL="0" lvl="0" indent="0" algn="l" rtl="0">
              <a:spcBef>
                <a:spcPts val="0"/>
              </a:spcBef>
              <a:spcAft>
                <a:spcPts val="0"/>
              </a:spcAft>
              <a:buNone/>
            </a:pPr>
            <a:r>
              <a:rPr lang="zh-TW" altLang="en-US" dirty="0"/>
              <a:t>這篇是使用被動式標籤來定位，因此</a:t>
            </a:r>
            <a:r>
              <a:rPr lang="en-US" altLang="zh-TW" dirty="0"/>
              <a:t>tag</a:t>
            </a:r>
            <a:r>
              <a:rPr lang="zh-TW" altLang="en-US" dirty="0"/>
              <a:t>不需要用到電池或其他供電系統。</a:t>
            </a:r>
            <a:endParaRPr lang="en-US" altLang="zh-TW"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564027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在被動</a:t>
            </a:r>
            <a:r>
              <a:rPr lang="en-US" altLang="zh-TW" sz="1100" b="1" i="0" u="none" strike="noStrike" cap="none" dirty="0">
                <a:solidFill>
                  <a:srgbClr val="000000"/>
                </a:solidFill>
                <a:effectLst/>
                <a:latin typeface="Arial"/>
                <a:ea typeface="Arial"/>
                <a:cs typeface="Arial"/>
                <a:sym typeface="Arial"/>
              </a:rPr>
              <a:t>RFID</a:t>
            </a:r>
            <a:r>
              <a:rPr lang="zh-TW" altLang="en-US" sz="1100" b="1" i="0" u="none" strike="noStrike" cap="none" dirty="0">
                <a:solidFill>
                  <a:srgbClr val="000000"/>
                </a:solidFill>
                <a:effectLst/>
                <a:latin typeface="Arial"/>
                <a:ea typeface="Arial"/>
                <a:cs typeface="Arial"/>
                <a:sym typeface="Arial"/>
              </a:rPr>
              <a:t>中</a:t>
            </a:r>
            <a:r>
              <a:rPr lang="zh-TW" altLang="en-US" sz="1100" b="0" i="0" u="none" strike="noStrike" cap="none" dirty="0">
                <a:solidFill>
                  <a:srgbClr val="000000"/>
                </a:solidFill>
                <a:effectLst/>
                <a:latin typeface="Arial"/>
                <a:ea typeface="Arial"/>
                <a:cs typeface="Arial"/>
                <a:sym typeface="Arial"/>
              </a:rPr>
              <a:t>在系統中，讀取器天線發出無線電信號，這些無線電信號通過反向散射產生足夠的電流，以“喚醒”由</a:t>
            </a:r>
            <a:r>
              <a:rPr lang="en-US" altLang="zh-TW" sz="1100" b="0" i="0" u="none" strike="noStrike" cap="none" dirty="0">
                <a:solidFill>
                  <a:srgbClr val="000000"/>
                </a:solidFill>
                <a:effectLst/>
                <a:latin typeface="Arial"/>
                <a:ea typeface="Arial"/>
                <a:cs typeface="Arial"/>
                <a:sym typeface="Arial"/>
              </a:rPr>
              <a:t>IC</a:t>
            </a:r>
            <a:r>
              <a:rPr lang="zh-TW" altLang="en-US" sz="1100" b="0" i="0" u="none" strike="noStrike" cap="none" dirty="0">
                <a:solidFill>
                  <a:srgbClr val="000000"/>
                </a:solidFill>
                <a:effectLst/>
                <a:latin typeface="Arial"/>
                <a:ea typeface="Arial"/>
                <a:cs typeface="Arial"/>
                <a:sym typeface="Arial"/>
              </a:rPr>
              <a:t>芯片和天線組成的</a:t>
            </a:r>
            <a:r>
              <a:rPr lang="en-US" altLang="zh-TW" sz="1100" b="0" i="0" u="none" strike="noStrike" cap="none" dirty="0">
                <a:solidFill>
                  <a:srgbClr val="000000"/>
                </a:solidFill>
                <a:effectLst/>
                <a:latin typeface="Arial"/>
                <a:ea typeface="Arial"/>
                <a:cs typeface="Arial"/>
                <a:sym typeface="Arial"/>
              </a:rPr>
              <a:t>RFID</a:t>
            </a:r>
            <a:r>
              <a:rPr lang="zh-TW" altLang="en-US" sz="1100" b="0" i="0" u="none" strike="noStrike" cap="none" dirty="0">
                <a:solidFill>
                  <a:srgbClr val="000000"/>
                </a:solidFill>
                <a:effectLst/>
                <a:latin typeface="Arial"/>
                <a:ea typeface="Arial"/>
                <a:cs typeface="Arial"/>
                <a:sym typeface="Arial"/>
              </a:rPr>
              <a:t>標籤。芯片通常使用</a:t>
            </a:r>
            <a:r>
              <a:rPr lang="en-US" altLang="zh-TW" sz="1100" b="0" i="0" u="none" strike="noStrike" cap="none" dirty="0">
                <a:solidFill>
                  <a:srgbClr val="000000"/>
                </a:solidFill>
                <a:effectLst/>
                <a:latin typeface="Arial"/>
                <a:ea typeface="Arial"/>
                <a:cs typeface="Arial"/>
                <a:sym typeface="Arial"/>
              </a:rPr>
              <a:t>Impulse modulation</a:t>
            </a:r>
            <a:r>
              <a:rPr lang="zh-TW" altLang="en-US" sz="1100" b="0" i="0" u="none" strike="noStrike" cap="none" dirty="0">
                <a:solidFill>
                  <a:srgbClr val="000000"/>
                </a:solidFill>
                <a:effectLst/>
                <a:latin typeface="Arial"/>
                <a:ea typeface="Arial"/>
                <a:cs typeface="Arial"/>
                <a:sym typeface="Arial"/>
              </a:rPr>
              <a:t>來調變反射的反散射訊號並通過這個步驟來添加信息，以對</a:t>
            </a:r>
            <a:r>
              <a:rPr lang="en-US" altLang="zh-TW" sz="1100" b="0" i="0" u="none" strike="noStrike" cap="none" dirty="0">
                <a:solidFill>
                  <a:srgbClr val="000000"/>
                </a:solidFill>
                <a:effectLst/>
                <a:latin typeface="Arial"/>
                <a:ea typeface="Arial"/>
                <a:cs typeface="Arial"/>
                <a:sym typeface="Arial"/>
              </a:rPr>
              <a:t>reader</a:t>
            </a:r>
            <a:r>
              <a:rPr lang="zh-TW" altLang="en-US" sz="1100" b="0" i="0" u="none" strike="noStrike" cap="none" dirty="0">
                <a:solidFill>
                  <a:srgbClr val="000000"/>
                </a:solidFill>
                <a:effectLst/>
                <a:latin typeface="Arial"/>
                <a:ea typeface="Arial"/>
                <a:cs typeface="Arial"/>
                <a:sym typeface="Arial"/>
              </a:rPr>
              <a:t>進行回應。</a:t>
            </a:r>
            <a:r>
              <a:rPr lang="en-US" altLang="zh-TW" sz="1100" b="0" i="0" u="none" strike="noStrike" cap="none" dirty="0">
                <a:solidFill>
                  <a:srgbClr val="000000"/>
                </a:solidFill>
                <a:effectLst/>
                <a:latin typeface="Arial"/>
                <a:ea typeface="Arial"/>
                <a:cs typeface="Arial"/>
                <a:sym typeface="Arial"/>
              </a:rPr>
              <a:t> </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997223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latin typeface="Arial"/>
                <a:ea typeface="Arial"/>
                <a:cs typeface="Arial"/>
                <a:sym typeface="Arial"/>
              </a:rPr>
              <a:t>主要在他之前的定位有兩篇，</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altLang="zh-TW" sz="1100" b="0" i="0" u="none" strike="noStrike" cap="none" dirty="0" err="1">
                <a:solidFill>
                  <a:srgbClr val="000000"/>
                </a:solidFill>
                <a:latin typeface="Arial"/>
                <a:ea typeface="Arial"/>
                <a:cs typeface="Arial"/>
                <a:sym typeface="Arial"/>
              </a:rPr>
              <a:t>SpotON</a:t>
            </a:r>
            <a:r>
              <a:rPr lang="zh-TW" altLang="en-US" sz="1100" b="0" i="0" u="none" strike="noStrike" cap="none" dirty="0">
                <a:solidFill>
                  <a:srgbClr val="000000"/>
                </a:solidFill>
                <a:latin typeface="Arial"/>
                <a:ea typeface="Arial"/>
                <a:cs typeface="Arial"/>
                <a:sym typeface="Arial"/>
              </a:rPr>
              <a:t>是利用訊號強度也就是</a:t>
            </a:r>
            <a:r>
              <a:rPr lang="en-US" altLang="zh-TW" sz="1100" b="0" i="0" u="none" strike="noStrike" cap="none" dirty="0">
                <a:solidFill>
                  <a:srgbClr val="000000"/>
                </a:solidFill>
                <a:latin typeface="Arial"/>
                <a:ea typeface="Arial"/>
                <a:cs typeface="Arial"/>
                <a:sym typeface="Arial"/>
              </a:rPr>
              <a:t>RSS</a:t>
            </a:r>
            <a:r>
              <a:rPr lang="zh-TW" altLang="en-US" sz="1100" b="0" i="0" u="none" strike="noStrike" cap="none" dirty="0">
                <a:solidFill>
                  <a:srgbClr val="000000"/>
                </a:solidFill>
                <a:latin typeface="Arial"/>
                <a:ea typeface="Arial"/>
                <a:cs typeface="Arial"/>
                <a:sym typeface="Arial"/>
              </a:rPr>
              <a:t>來判斷</a:t>
            </a:r>
            <a:r>
              <a:rPr lang="en-US" altLang="zh-TW" sz="1100" b="0" i="0" u="none" strike="noStrike" cap="none" dirty="0">
                <a:solidFill>
                  <a:srgbClr val="000000"/>
                </a:solidFill>
                <a:latin typeface="Arial"/>
                <a:ea typeface="Arial"/>
                <a:cs typeface="Arial"/>
                <a:sym typeface="Arial"/>
              </a:rPr>
              <a:t>tag </a:t>
            </a:r>
            <a:r>
              <a:rPr lang="zh-TW" altLang="en-US" sz="1100" b="0" i="0" u="none" strike="noStrike" cap="none" dirty="0">
                <a:solidFill>
                  <a:srgbClr val="000000"/>
                </a:solidFill>
                <a:latin typeface="Arial"/>
                <a:ea typeface="Arial"/>
                <a:cs typeface="Arial"/>
                <a:sym typeface="Arial"/>
              </a:rPr>
              <a:t>與</a:t>
            </a:r>
            <a:r>
              <a:rPr lang="en-US" altLang="zh-TW" sz="1100" b="0" i="0" u="none" strike="noStrike" cap="none" dirty="0">
                <a:solidFill>
                  <a:srgbClr val="000000"/>
                </a:solidFill>
                <a:latin typeface="Arial"/>
                <a:ea typeface="Arial"/>
                <a:cs typeface="Arial"/>
                <a:sym typeface="Arial"/>
              </a:rPr>
              <a:t>reader</a:t>
            </a:r>
            <a:r>
              <a:rPr lang="en-US" altLang="zh-TW" sz="1100" b="0" i="0" u="none" strike="noStrike" cap="none" baseline="0" dirty="0">
                <a:solidFill>
                  <a:srgbClr val="000000"/>
                </a:solidFill>
                <a:latin typeface="Arial"/>
                <a:ea typeface="Arial"/>
                <a:cs typeface="Arial"/>
                <a:sym typeface="Arial"/>
              </a:rPr>
              <a:t> </a:t>
            </a:r>
            <a:r>
              <a:rPr lang="zh-TW" altLang="en-US" sz="1100" b="0" i="0" u="none" strike="noStrike" cap="none" baseline="0" dirty="0">
                <a:solidFill>
                  <a:srgbClr val="000000"/>
                </a:solidFill>
                <a:latin typeface="Arial"/>
                <a:ea typeface="Arial"/>
                <a:cs typeface="Arial"/>
                <a:sym typeface="Arial"/>
              </a:rPr>
              <a:t>之間的</a:t>
            </a:r>
            <a:r>
              <a:rPr lang="zh-TW" altLang="en-US" sz="1100" b="0" i="0" u="none" strike="noStrike" cap="none" dirty="0">
                <a:solidFill>
                  <a:srgbClr val="000000"/>
                </a:solidFill>
                <a:latin typeface="Arial"/>
                <a:ea typeface="Arial"/>
                <a:cs typeface="Arial"/>
                <a:sym typeface="Arial"/>
              </a:rPr>
              <a:t>距離，但到目前為止沒有做出定位的系統，只有做出距離偵測，</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altLang="zh-TW" sz="1100" b="0" i="0" u="none" strike="noStrike" cap="none" dirty="0" err="1">
                <a:solidFill>
                  <a:srgbClr val="000000"/>
                </a:solidFill>
                <a:latin typeface="Arial"/>
                <a:ea typeface="Arial"/>
                <a:cs typeface="Arial"/>
                <a:sym typeface="Arial"/>
              </a:rPr>
              <a:t>LandMARC</a:t>
            </a:r>
            <a:r>
              <a:rPr lang="zh-TW" altLang="en-US" sz="1100" b="0" i="0" u="none" strike="noStrike" cap="none" dirty="0">
                <a:solidFill>
                  <a:srgbClr val="000000"/>
                </a:solidFill>
                <a:latin typeface="Arial"/>
                <a:ea typeface="Arial"/>
                <a:cs typeface="Arial"/>
                <a:sym typeface="Arial"/>
              </a:rPr>
              <a:t>是一個使用主動式</a:t>
            </a:r>
            <a:r>
              <a:rPr lang="en-US" altLang="zh-TW" sz="1100" b="0" i="0" u="none" strike="noStrike" cap="none" dirty="0" err="1">
                <a:solidFill>
                  <a:srgbClr val="000000"/>
                </a:solidFill>
                <a:latin typeface="Arial"/>
                <a:ea typeface="Arial"/>
                <a:cs typeface="Arial"/>
                <a:sym typeface="Arial"/>
              </a:rPr>
              <a:t>rfid</a:t>
            </a:r>
            <a:r>
              <a:rPr lang="zh-TW" altLang="en-US" sz="1100" b="0" i="0" u="none" strike="noStrike" cap="none" dirty="0">
                <a:solidFill>
                  <a:srgbClr val="000000"/>
                </a:solidFill>
                <a:latin typeface="Arial"/>
                <a:ea typeface="Arial"/>
                <a:cs typeface="Arial"/>
                <a:sym typeface="Arial"/>
              </a:rPr>
              <a:t>標籤的定位系統，他的定位方式與本篇接下來的定位方式雷同，不過本篇是採取被動式標籤來做定位，相較於</a:t>
            </a:r>
            <a:r>
              <a:rPr lang="en-US" altLang="zh-TW" sz="1100" b="0" i="0" u="none" strike="noStrike" cap="none" dirty="0" err="1">
                <a:solidFill>
                  <a:srgbClr val="000000"/>
                </a:solidFill>
                <a:latin typeface="Arial"/>
                <a:ea typeface="Arial"/>
                <a:cs typeface="Arial"/>
                <a:sym typeface="Arial"/>
              </a:rPr>
              <a:t>LandMARC</a:t>
            </a:r>
            <a:r>
              <a:rPr lang="zh-TW" altLang="en-US" sz="1100" b="0" i="0" u="none" strike="noStrike" cap="none" dirty="0">
                <a:solidFill>
                  <a:srgbClr val="000000"/>
                </a:solidFill>
                <a:latin typeface="Arial"/>
                <a:ea typeface="Arial"/>
                <a:cs typeface="Arial"/>
                <a:sym typeface="Arial"/>
              </a:rPr>
              <a:t>的耗電量少了許多。</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79683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latin typeface="Arial"/>
                <a:ea typeface="Arial"/>
                <a:cs typeface="Arial"/>
                <a:sym typeface="Arial"/>
              </a:rPr>
              <a:t>這邊是他實驗場景的一些主要設備規格，他</a:t>
            </a:r>
            <a:r>
              <a:rPr lang="en-US" altLang="zh-TW" sz="1100" b="0" i="0" u="none" strike="noStrike" cap="none" dirty="0">
                <a:solidFill>
                  <a:srgbClr val="000000"/>
                </a:solidFill>
                <a:latin typeface="Arial"/>
                <a:ea typeface="Arial"/>
                <a:cs typeface="Arial"/>
                <a:sym typeface="Arial"/>
              </a:rPr>
              <a:t>reader</a:t>
            </a:r>
            <a:r>
              <a:rPr lang="zh-TW" altLang="en-US" sz="1100" b="0" i="0" u="none" strike="noStrike" cap="none" dirty="0">
                <a:solidFill>
                  <a:srgbClr val="000000"/>
                </a:solidFill>
                <a:latin typeface="Arial"/>
                <a:ea typeface="Arial"/>
                <a:cs typeface="Arial"/>
                <a:sym typeface="Arial"/>
              </a:rPr>
              <a:t>是使用</a:t>
            </a:r>
            <a:r>
              <a:rPr lang="en-US" altLang="zh-TW" sz="1100" b="0" i="0" u="none" strike="noStrike" cap="none" dirty="0">
                <a:solidFill>
                  <a:srgbClr val="000000"/>
                </a:solidFill>
                <a:latin typeface="Arial"/>
                <a:ea typeface="Arial"/>
                <a:cs typeface="Arial"/>
                <a:sym typeface="Arial"/>
              </a:rPr>
              <a:t>long range</a:t>
            </a:r>
            <a:r>
              <a:rPr lang="zh-TW" altLang="en-US" sz="1100" b="0" i="0" u="none" strike="noStrike" cap="none" dirty="0">
                <a:solidFill>
                  <a:srgbClr val="000000"/>
                </a:solidFill>
                <a:latin typeface="Arial"/>
                <a:ea typeface="Arial"/>
                <a:cs typeface="Arial"/>
                <a:sym typeface="Arial"/>
              </a:rPr>
              <a:t>並固定在一處的高頻</a:t>
            </a:r>
            <a:r>
              <a:rPr lang="en-US" altLang="zh-TW" sz="1100" b="0" i="0" u="none" strike="noStrike" cap="none" dirty="0">
                <a:solidFill>
                  <a:srgbClr val="000000"/>
                </a:solidFill>
                <a:latin typeface="Arial"/>
                <a:ea typeface="Arial"/>
                <a:cs typeface="Arial"/>
                <a:sym typeface="Arial"/>
              </a:rPr>
              <a:t>RFID reader</a:t>
            </a:r>
          </a:p>
          <a:p>
            <a:pPr marL="0" lvl="0" indent="0" algn="l" rtl="0">
              <a:spcBef>
                <a:spcPts val="0"/>
              </a:spcBef>
              <a:spcAft>
                <a:spcPts val="0"/>
              </a:spcAft>
              <a:buNone/>
            </a:pPr>
            <a:r>
              <a:rPr lang="zh-TW" altLang="en-US" sz="1100" b="0" i="0" u="none" strike="noStrike" cap="none" dirty="0">
                <a:solidFill>
                  <a:srgbClr val="000000"/>
                </a:solidFill>
                <a:latin typeface="Arial"/>
                <a:ea typeface="Arial"/>
                <a:cs typeface="Arial"/>
                <a:sym typeface="Arial"/>
              </a:rPr>
              <a:t>天線使用圓極化的天線</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latin typeface="Arial"/>
                <a:ea typeface="Arial"/>
                <a:cs typeface="Arial"/>
                <a:sym typeface="Arial"/>
              </a:rPr>
              <a:t>頻率是</a:t>
            </a:r>
            <a:r>
              <a:rPr lang="en-US" altLang="zh-TW" sz="1100" b="0" i="0" u="none" strike="noStrike" cap="none" dirty="0">
                <a:solidFill>
                  <a:srgbClr val="000000"/>
                </a:solidFill>
                <a:latin typeface="Arial"/>
                <a:ea typeface="Arial"/>
                <a:cs typeface="Arial"/>
                <a:sym typeface="Arial"/>
              </a:rPr>
              <a:t>865~870</a:t>
            </a:r>
            <a:r>
              <a:rPr lang="zh-TW" altLang="en-US" sz="1100" b="0" i="0" u="none" strike="noStrike" cap="none" dirty="0">
                <a:solidFill>
                  <a:srgbClr val="000000"/>
                </a:solidFill>
                <a:latin typeface="Arial"/>
                <a:ea typeface="Arial"/>
                <a:cs typeface="Arial"/>
                <a:sym typeface="Arial"/>
              </a:rPr>
              <a:t>赫茲</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latin typeface="Arial"/>
                <a:ea typeface="Arial"/>
                <a:cs typeface="Arial"/>
                <a:sym typeface="Arial"/>
              </a:rPr>
              <a:t>Tag</a:t>
            </a:r>
            <a:r>
              <a:rPr lang="zh-TW" altLang="en-US" sz="1100" b="0" i="0" u="none" strike="noStrike" cap="none" dirty="0">
                <a:solidFill>
                  <a:srgbClr val="000000"/>
                </a:solidFill>
                <a:latin typeface="Arial"/>
                <a:ea typeface="Arial"/>
                <a:cs typeface="Arial"/>
                <a:sym typeface="Arial"/>
              </a:rPr>
              <a:t>是使用被動式高頻</a:t>
            </a:r>
            <a:r>
              <a:rPr lang="en-US" altLang="zh-TW" sz="1100" b="0" i="0" u="none" strike="noStrike" cap="none" dirty="0">
                <a:solidFill>
                  <a:srgbClr val="000000"/>
                </a:solidFill>
                <a:latin typeface="Arial"/>
                <a:ea typeface="Arial"/>
                <a:cs typeface="Arial"/>
                <a:sym typeface="Arial"/>
              </a:rPr>
              <a:t>tag</a:t>
            </a:r>
          </a:p>
          <a:p>
            <a:pPr marL="0" lvl="0" indent="0" algn="l" rtl="0">
              <a:spcBef>
                <a:spcPts val="0"/>
              </a:spcBef>
              <a:spcAft>
                <a:spcPts val="0"/>
              </a:spcAft>
              <a:buNone/>
            </a:pPr>
            <a:r>
              <a:rPr lang="en-US" altLang="zh-TW" sz="1100" b="0" i="0" u="none" strike="noStrike" cap="none" dirty="0">
                <a:solidFill>
                  <a:srgbClr val="000000"/>
                </a:solidFill>
                <a:latin typeface="Arial"/>
                <a:ea typeface="Arial"/>
                <a:cs typeface="Arial"/>
                <a:sym typeface="Arial"/>
              </a:rPr>
              <a:t>power</a:t>
            </a:r>
            <a:r>
              <a:rPr lang="zh-TW" altLang="en-US" sz="1100" b="0" i="0" u="none" strike="noStrike" cap="none" dirty="0">
                <a:solidFill>
                  <a:srgbClr val="000000"/>
                </a:solidFill>
                <a:latin typeface="Arial"/>
                <a:ea typeface="Arial"/>
                <a:cs typeface="Arial"/>
                <a:sym typeface="Arial"/>
              </a:rPr>
              <a:t>能從</a:t>
            </a:r>
            <a:r>
              <a:rPr lang="en-US" altLang="zh-TW" sz="1100" b="0" i="0" u="none" strike="noStrike" cap="none" dirty="0">
                <a:solidFill>
                  <a:srgbClr val="000000"/>
                </a:solidFill>
                <a:latin typeface="Arial"/>
                <a:ea typeface="Arial"/>
                <a:cs typeface="Arial"/>
                <a:sym typeface="Arial"/>
              </a:rPr>
              <a:t>100</a:t>
            </a:r>
            <a:r>
              <a:rPr lang="zh-TW" altLang="en-US" sz="1100" b="0" i="0" u="none" strike="noStrike" cap="none" dirty="0">
                <a:solidFill>
                  <a:srgbClr val="000000"/>
                </a:solidFill>
                <a:latin typeface="Arial"/>
                <a:ea typeface="Arial"/>
                <a:cs typeface="Arial"/>
                <a:sym typeface="Arial"/>
              </a:rPr>
              <a:t>毫瓦打至</a:t>
            </a:r>
            <a:r>
              <a:rPr lang="en-US" altLang="zh-TW" sz="1100" b="0" i="0" u="none" strike="noStrike" cap="none" dirty="0">
                <a:solidFill>
                  <a:srgbClr val="000000"/>
                </a:solidFill>
                <a:latin typeface="Arial"/>
                <a:ea typeface="Arial"/>
                <a:cs typeface="Arial"/>
                <a:sym typeface="Arial"/>
              </a:rPr>
              <a:t>4</a:t>
            </a:r>
            <a:r>
              <a:rPr lang="zh-TW" altLang="en-US" sz="1100" b="0" i="0" u="none" strike="noStrike" cap="none" dirty="0">
                <a:solidFill>
                  <a:srgbClr val="000000"/>
                </a:solidFill>
                <a:latin typeface="Arial"/>
                <a:ea typeface="Arial"/>
                <a:cs typeface="Arial"/>
                <a:sym typeface="Arial"/>
              </a:rPr>
              <a:t>瓦</a:t>
            </a:r>
            <a:endParaRPr lang="en-US" altLang="zh-TW"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486049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indent="0">
              <a:buNone/>
            </a:pPr>
            <a:r>
              <a:rPr lang="zh-TW" altLang="en-US" dirty="0"/>
              <a:t>那這篇的場景是在這個</a:t>
            </a:r>
            <a:r>
              <a:rPr lang="en-US" altLang="zh-TW" dirty="0"/>
              <a:t>9x9</a:t>
            </a:r>
            <a:r>
              <a:rPr lang="zh-TW" altLang="en-US" dirty="0"/>
              <a:t>的房間內對角布置各一台</a:t>
            </a:r>
            <a:r>
              <a:rPr lang="en-US" altLang="zh-TW" dirty="0"/>
              <a:t>reader</a:t>
            </a:r>
            <a:r>
              <a:rPr lang="zh-TW" altLang="en-US" dirty="0"/>
              <a:t>就是藍色框住的部分，空間內相隔固定空間會有一個</a:t>
            </a:r>
            <a:r>
              <a:rPr lang="en-US" altLang="zh-TW" dirty="0"/>
              <a:t>tag </a:t>
            </a:r>
            <a:r>
              <a:rPr lang="zh-TW" altLang="en-US" dirty="0"/>
              <a:t>，這些</a:t>
            </a:r>
            <a:r>
              <a:rPr lang="en-US" altLang="zh-TW" dirty="0"/>
              <a:t>tag</a:t>
            </a:r>
            <a:r>
              <a:rPr lang="zh-TW" altLang="en-US" dirty="0"/>
              <a:t>的座標位置都是已知的，我們把已知的</a:t>
            </a:r>
            <a:r>
              <a:rPr lang="en-US" altLang="zh-TW" dirty="0"/>
              <a:t>tag</a:t>
            </a:r>
            <a:r>
              <a:rPr lang="zh-TW" altLang="en-US" dirty="0"/>
              <a:t>叫做</a:t>
            </a:r>
            <a:r>
              <a:rPr lang="en-US" altLang="zh-TW" dirty="0"/>
              <a:t>reference tag</a:t>
            </a:r>
            <a:r>
              <a:rPr lang="zh-TW" altLang="en-US" dirty="0"/>
              <a:t>， 紅框圈起來的是</a:t>
            </a:r>
            <a:r>
              <a:rPr lang="en-US" altLang="zh-TW" dirty="0"/>
              <a:t>tracking tag</a:t>
            </a:r>
            <a:r>
              <a:rPr lang="zh-TW" altLang="en-US" dirty="0"/>
              <a:t>，也就是我們想知道的</a:t>
            </a:r>
            <a:r>
              <a:rPr lang="en-US" altLang="zh-TW" dirty="0"/>
              <a:t>tag</a:t>
            </a:r>
            <a:r>
              <a:rPr lang="zh-TW" altLang="en-US" dirty="0"/>
              <a:t>，那這些</a:t>
            </a:r>
            <a:r>
              <a:rPr lang="en-US" altLang="zh-TW" dirty="0"/>
              <a:t>tracking</a:t>
            </a:r>
            <a:r>
              <a:rPr lang="zh-TW" altLang="en-US" dirty="0"/>
              <a:t> </a:t>
            </a:r>
            <a:r>
              <a:rPr lang="en-US" altLang="zh-TW" dirty="0"/>
              <a:t>tag</a:t>
            </a:r>
            <a:r>
              <a:rPr lang="zh-TW" altLang="en-US" dirty="0"/>
              <a:t>可以任意擺放。</a:t>
            </a:r>
          </a:p>
        </p:txBody>
      </p:sp>
    </p:spTree>
    <p:extLst>
      <p:ext uri="{BB962C8B-B14F-4D97-AF65-F5344CB8AC3E}">
        <p14:creationId xmlns:p14="http://schemas.microsoft.com/office/powerpoint/2010/main" val="313285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139700" indent="0">
                  <a:buNone/>
                </a:pPr>
                <a:r>
                  <a:rPr lang="zh-TW" altLang="en-US" dirty="0"/>
                  <a:t>我們把場景簡化，單看一個</a:t>
                </a:r>
                <a:r>
                  <a:rPr lang="en-US" altLang="zh-TW" dirty="0"/>
                  <a:t>reader</a:t>
                </a:r>
                <a:r>
                  <a:rPr lang="zh-TW" altLang="en-US" dirty="0"/>
                  <a:t>的話，我們可以以</a:t>
                </a:r>
                <a:r>
                  <a:rPr lang="en-US" altLang="zh-TW" dirty="0"/>
                  <a:t>reader</a:t>
                </a:r>
                <a:r>
                  <a:rPr lang="zh-TW" altLang="en-US" dirty="0"/>
                  <a:t>當圓心，半徑就是他接收到的</a:t>
                </a:r>
                <a:r>
                  <a:rPr lang="en-US" altLang="zh-TW" dirty="0"/>
                  <a:t>tracking tag</a:t>
                </a:r>
                <a:r>
                  <a:rPr lang="zh-TW" altLang="en-US" dirty="0"/>
                  <a:t>距離。由於</a:t>
                </a:r>
                <a:r>
                  <a:rPr lang="en-US" altLang="zh-TW" dirty="0"/>
                  <a:t>reference tag</a:t>
                </a:r>
                <a:r>
                  <a:rPr lang="zh-TW" altLang="en-US" dirty="0"/>
                  <a:t>座標跟</a:t>
                </a:r>
                <a:r>
                  <a:rPr lang="en-US" altLang="zh-TW" dirty="0"/>
                  <a:t>reader</a:t>
                </a:r>
                <a:r>
                  <a:rPr lang="zh-TW" altLang="en-US" dirty="0"/>
                  <a:t>座標已知，因此可以用右上角的歐基理得距離公式知道</a:t>
                </a:r>
                <a:r>
                  <a:rPr lang="en-US" altLang="zh-TW" dirty="0"/>
                  <a:t>reader</a:t>
                </a:r>
                <a:r>
                  <a:rPr lang="zh-TW" altLang="en-US" dirty="0"/>
                  <a:t>與</a:t>
                </a:r>
                <a:r>
                  <a:rPr lang="en-US" altLang="zh-TW" dirty="0"/>
                  <a:t>reference tag</a:t>
                </a:r>
                <a:r>
                  <a:rPr lang="zh-TW" altLang="en-US" dirty="0"/>
                  <a:t>的距離，並用</a:t>
                </a:r>
                <a:r>
                  <a:rPr lang="en-US" altLang="zh-TW" dirty="0"/>
                  <a:t>arctan</a:t>
                </a:r>
                <a:r>
                  <a:rPr lang="zh-TW" altLang="en-US" dirty="0"/>
                  <a:t>知道</a:t>
                </a:r>
                <a:r>
                  <a:rPr lang="en-US" altLang="zh-TW" dirty="0"/>
                  <a:t>reader</a:t>
                </a:r>
                <a:r>
                  <a:rPr lang="zh-TW" altLang="en-US" dirty="0"/>
                  <a:t>與</a:t>
                </a:r>
                <a:r>
                  <a:rPr lang="en-US" altLang="zh-TW" dirty="0"/>
                  <a:t>reference</a:t>
                </a:r>
                <a:r>
                  <a:rPr lang="zh-TW" altLang="en-US" dirty="0"/>
                  <a:t>的夾角。</a:t>
                </a:r>
                <a:endParaRPr lang="en-US" altLang="zh-TW" dirty="0"/>
              </a:p>
              <a:p>
                <a:pPr marL="139700" indent="0">
                  <a:buNone/>
                </a:pPr>
                <a:r>
                  <a:rPr lang="zh-TW" altLang="en-US" dirty="0"/>
                  <a:t>接下來我們要算 </a:t>
                </a:r>
                <a14:m>
                  <m:oMath xmlns:m="http://schemas.openxmlformats.org/officeDocument/2006/math">
                    <m:r>
                      <a:rPr lang="zh-TW" altLang="en-US" i="1" smtClean="0">
                        <a:latin typeface="Cambria Math" panose="02040503050406030204" pitchFamily="18" charset="0"/>
                      </a:rPr>
                      <m:t> </m:t>
                    </m:r>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θ</m:t>
                        </m:r>
                      </m:e>
                      <m:sub>
                        <m:r>
                          <m:rPr>
                            <m:sty m:val="p"/>
                          </m:rPr>
                          <a:rPr lang="en-US" altLang="zh-TW" i="1" smtClean="0">
                            <a:latin typeface="Cambria Math" panose="02040503050406030204" pitchFamily="18" charset="0"/>
                          </a:rPr>
                          <m:t>T</m:t>
                        </m:r>
                      </m:sub>
                    </m:sSub>
                  </m:oMath>
                </a14:m>
                <a:r>
                  <a:rPr lang="zh-TW" altLang="en-US" dirty="0"/>
                  <a:t>，但這邊論文是講說 </a:t>
                </a:r>
                <a:r>
                  <a:rPr lang="en-US" altLang="zh-TW" dirty="0"/>
                  <a:t>tracking tag</a:t>
                </a:r>
                <a:r>
                  <a:rPr lang="zh-TW" altLang="en-US" dirty="0"/>
                  <a:t>的角度可以透過剛剛計算</a:t>
                </a:r>
                <a:r>
                  <a:rPr lang="en-US" altLang="zh-TW" dirty="0" err="1"/>
                  <a:t>Ar</a:t>
                </a:r>
                <a:r>
                  <a:rPr lang="zh-TW" altLang="en-US" dirty="0"/>
                  <a:t>的方式求得，但是很奇怪的是</a:t>
                </a:r>
                <a:r>
                  <a:rPr lang="en-US" altLang="zh-TW" dirty="0" err="1"/>
                  <a:t>Ar</a:t>
                </a:r>
                <a:r>
                  <a:rPr lang="en-US" altLang="zh-TW" dirty="0"/>
                  <a:t> </a:t>
                </a:r>
                <a:r>
                  <a:rPr lang="zh-TW" altLang="en-US" dirty="0"/>
                  <a:t>是基於我已知的座標位置才能去算</a:t>
                </a:r>
                <a:r>
                  <a:rPr lang="en-US" altLang="zh-TW" dirty="0" err="1"/>
                  <a:t>arctan</a:t>
                </a:r>
                <a:r>
                  <a:rPr lang="zh-TW" altLang="en-US" dirty="0"/>
                  <a:t>，但是我明明不知道</a:t>
                </a:r>
                <a:r>
                  <a:rPr lang="en-US" altLang="zh-TW" dirty="0"/>
                  <a:t>tracking</a:t>
                </a:r>
                <a:r>
                  <a:rPr lang="zh-TW" altLang="en-US" dirty="0"/>
                  <a:t> </a:t>
                </a:r>
                <a:r>
                  <a:rPr lang="en-US" altLang="zh-TW" dirty="0"/>
                  <a:t>tag</a:t>
                </a:r>
                <a:r>
                  <a:rPr lang="zh-TW" altLang="en-US" dirty="0"/>
                  <a:t>的座標，我不知道到底要怎麼算出來</a:t>
                </a:r>
                <a:endParaRPr lang="en-US" altLang="zh-TW" dirty="0"/>
              </a:p>
              <a:p>
                <a:pPr marL="139700" indent="0">
                  <a:buNone/>
                </a:pPr>
                <a:endParaRPr lang="en-US" altLang="zh-TW" dirty="0"/>
              </a:p>
              <a:p>
                <a:pPr marL="139700" indent="0">
                  <a:buNone/>
                </a:pPr>
                <a:r>
                  <a:rPr lang="zh-TW" altLang="en-US" dirty="0"/>
                  <a:t>接著為了知道</a:t>
                </a:r>
                <a:r>
                  <a:rPr lang="en-US" altLang="zh-TW" dirty="0"/>
                  <a:t>tracking tag</a:t>
                </a:r>
                <a:r>
                  <a:rPr lang="zh-TW" altLang="en-US" dirty="0"/>
                  <a:t>與</a:t>
                </a:r>
                <a:r>
                  <a:rPr lang="en-US" altLang="zh-TW" dirty="0"/>
                  <a:t>reader</a:t>
                </a:r>
                <a:r>
                  <a:rPr lang="zh-TW" altLang="en-US" dirty="0"/>
                  <a:t>之間的距離，</a:t>
                </a:r>
                <a:r>
                  <a:rPr lang="en-US" altLang="zh-TW" dirty="0"/>
                  <a:t>Reader</a:t>
                </a:r>
                <a:r>
                  <a:rPr lang="zh-TW" altLang="en-US" dirty="0"/>
                  <a:t>一開始會先打出最大功率 確定他能讀取得範圍內有</a:t>
                </a:r>
                <a:r>
                  <a:rPr lang="en-US" altLang="zh-TW" dirty="0"/>
                  <a:t>tracking tag</a:t>
                </a:r>
                <a:r>
                  <a:rPr lang="zh-TW" altLang="en-US" dirty="0"/>
                  <a:t>的存在，若確定有，則逐步減少打得</a:t>
                </a:r>
                <a:r>
                  <a:rPr lang="en-US" altLang="zh-TW" dirty="0"/>
                  <a:t>power</a:t>
                </a:r>
                <a:r>
                  <a:rPr lang="zh-TW" altLang="en-US" dirty="0"/>
                  <a:t>，直到收不到訊號，當他收步道訊號後會再加大一次</a:t>
                </a:r>
                <a:r>
                  <a:rPr lang="en-US" altLang="zh-TW" dirty="0"/>
                  <a:t>power</a:t>
                </a:r>
                <a:r>
                  <a:rPr lang="zh-TW" altLang="en-US" dirty="0"/>
                  <a:t>確定是否有收到</a:t>
                </a:r>
                <a:r>
                  <a:rPr lang="en-US" altLang="zh-TW" dirty="0"/>
                  <a:t>tracking tag</a:t>
                </a:r>
                <a:r>
                  <a:rPr lang="zh-TW" altLang="en-US" dirty="0"/>
                  <a:t>的訊號。</a:t>
                </a:r>
                <a:endParaRPr lang="en-US" altLang="zh-TW" dirty="0"/>
              </a:p>
            </p:txBody>
          </p:sp>
        </mc:Choice>
        <mc:Fallback xmlns="">
          <p:sp>
            <p:nvSpPr>
              <p:cNvPr id="3" name="備忘稿版面配置區 2"/>
              <p:cNvSpPr>
                <a:spLocks noGrp="1"/>
              </p:cNvSpPr>
              <p:nvPr>
                <p:ph type="body" idx="1"/>
              </p:nvPr>
            </p:nvSpPr>
            <p:spPr/>
            <p:txBody>
              <a:bodyPr/>
              <a:lstStyle/>
              <a:p>
                <a:pPr marL="139700" indent="0">
                  <a:buNone/>
                </a:pPr>
                <a:r>
                  <a:rPr lang="zh-TW" altLang="en-US" dirty="0"/>
                  <a:t>單看一個</a:t>
                </a:r>
                <a:r>
                  <a:rPr lang="en-US" altLang="zh-TW" dirty="0"/>
                  <a:t>reader</a:t>
                </a:r>
                <a:r>
                  <a:rPr lang="zh-TW" altLang="en-US" dirty="0"/>
                  <a:t>的話，我們可以以</a:t>
                </a:r>
                <a:r>
                  <a:rPr lang="en-US" altLang="zh-TW" dirty="0"/>
                  <a:t>reader</a:t>
                </a:r>
                <a:r>
                  <a:rPr lang="zh-TW" altLang="en-US" dirty="0"/>
                  <a:t>當圓心，半徑就是他接收到的</a:t>
                </a:r>
                <a:r>
                  <a:rPr lang="en-US" altLang="zh-TW" dirty="0"/>
                  <a:t>tracking tag</a:t>
                </a:r>
                <a:r>
                  <a:rPr lang="zh-TW" altLang="en-US" dirty="0"/>
                  <a:t>距離。由於</a:t>
                </a:r>
                <a:r>
                  <a:rPr lang="en-US" altLang="zh-TW" dirty="0"/>
                  <a:t>reference tag</a:t>
                </a:r>
                <a:r>
                  <a:rPr lang="zh-TW" altLang="en-US" dirty="0"/>
                  <a:t>座標跟</a:t>
                </a:r>
                <a:r>
                  <a:rPr lang="en-US" altLang="zh-TW" dirty="0"/>
                  <a:t>reader</a:t>
                </a:r>
                <a:r>
                  <a:rPr lang="zh-TW" altLang="en-US" dirty="0"/>
                  <a:t>座標已知，因此可以知道</a:t>
                </a:r>
                <a:r>
                  <a:rPr lang="en-US" altLang="zh-TW" dirty="0"/>
                  <a:t>reader</a:t>
                </a:r>
                <a:r>
                  <a:rPr lang="zh-TW" altLang="en-US" dirty="0"/>
                  <a:t>與</a:t>
                </a:r>
                <a:r>
                  <a:rPr lang="en-US" altLang="zh-TW" dirty="0"/>
                  <a:t>reference tag</a:t>
                </a:r>
                <a:r>
                  <a:rPr lang="zh-TW" altLang="en-US" dirty="0"/>
                  <a:t>的距離，並用</a:t>
                </a:r>
                <a:r>
                  <a:rPr lang="en-US" altLang="zh-TW" dirty="0"/>
                  <a:t>arctan</a:t>
                </a:r>
                <a:r>
                  <a:rPr lang="zh-TW" altLang="en-US" dirty="0"/>
                  <a:t>知道</a:t>
                </a:r>
                <a:r>
                  <a:rPr lang="en-US" altLang="zh-TW" dirty="0"/>
                  <a:t>reader</a:t>
                </a:r>
                <a:r>
                  <a:rPr lang="zh-TW" altLang="en-US" dirty="0"/>
                  <a:t>與</a:t>
                </a:r>
                <a:r>
                  <a:rPr lang="en-US" altLang="zh-TW" dirty="0"/>
                  <a:t>reference</a:t>
                </a:r>
                <a:r>
                  <a:rPr lang="zh-TW" altLang="en-US" dirty="0"/>
                  <a:t>的夾角，</a:t>
                </a:r>
                <a:endParaRPr lang="en-US" altLang="zh-TW" dirty="0"/>
              </a:p>
              <a:p>
                <a:pPr marL="139700" indent="0">
                  <a:buNone/>
                </a:pPr>
                <a:r>
                  <a:rPr lang="zh-TW" altLang="en-US" dirty="0"/>
                  <a:t>若此夾角為正，</a:t>
                </a:r>
                <a:r>
                  <a:rPr lang="en-US" altLang="zh-TW" dirty="0"/>
                  <a:t>AR</a:t>
                </a:r>
                <a:r>
                  <a:rPr lang="zh-TW" altLang="en-US" dirty="0"/>
                  <a:t>就是這個</a:t>
                </a:r>
                <a:r>
                  <a:rPr lang="el-GR" altLang="zh-TW" i="0">
                    <a:latin typeface="Cambria Math" panose="02040503050406030204" pitchFamily="18" charset="0"/>
                  </a:rPr>
                  <a:t>θ</a:t>
                </a:r>
                <a:r>
                  <a:rPr lang="en-US" altLang="zh-TW" i="0">
                    <a:latin typeface="Cambria Math" panose="02040503050406030204" pitchFamily="18" charset="0"/>
                  </a:rPr>
                  <a:t>_</a:t>
                </a:r>
                <a:r>
                  <a:rPr lang="en-US" altLang="zh-TW" b="0" i="0">
                    <a:latin typeface="Cambria Math" panose="02040503050406030204" pitchFamily="18" charset="0"/>
                  </a:rPr>
                  <a:t>𝑅</a:t>
                </a:r>
                <a:r>
                  <a:rPr lang="zh-TW" altLang="en-US" dirty="0"/>
                  <a:t>夾角減掉</a:t>
                </a:r>
                <a:r>
                  <a:rPr lang="en-US" altLang="zh-TW" dirty="0"/>
                  <a:t>180</a:t>
                </a:r>
                <a:r>
                  <a:rPr lang="zh-TW" altLang="en-US" dirty="0"/>
                  <a:t>，若是</a:t>
                </a:r>
                <a:r>
                  <a:rPr lang="el-GR" altLang="zh-TW" i="0">
                    <a:latin typeface="Cambria Math" panose="02040503050406030204" pitchFamily="18" charset="0"/>
                  </a:rPr>
                  <a:t>θ</a:t>
                </a:r>
                <a:r>
                  <a:rPr lang="en-US" altLang="zh-TW" i="0">
                    <a:latin typeface="Cambria Math" panose="02040503050406030204" pitchFamily="18" charset="0"/>
                  </a:rPr>
                  <a:t>_</a:t>
                </a:r>
                <a:r>
                  <a:rPr lang="en-US" altLang="zh-TW" b="0" i="0">
                    <a:latin typeface="Cambria Math" panose="02040503050406030204" pitchFamily="18" charset="0"/>
                  </a:rPr>
                  <a:t>𝑅</a:t>
                </a:r>
                <a:r>
                  <a:rPr lang="zh-TW" altLang="en-US" dirty="0"/>
                  <a:t>為負，</a:t>
                </a:r>
                <a:r>
                  <a:rPr lang="en-US" altLang="zh-TW" dirty="0"/>
                  <a:t>AR</a:t>
                </a:r>
                <a:r>
                  <a:rPr lang="zh-TW" altLang="en-US" dirty="0"/>
                  <a:t>則是</a:t>
                </a:r>
                <a:r>
                  <a:rPr lang="el-GR" altLang="zh-TW" i="0">
                    <a:latin typeface="Cambria Math" panose="02040503050406030204" pitchFamily="18" charset="0"/>
                  </a:rPr>
                  <a:t>θ</a:t>
                </a:r>
                <a:r>
                  <a:rPr lang="en-US" altLang="zh-TW" i="0">
                    <a:latin typeface="Cambria Math" panose="02040503050406030204" pitchFamily="18" charset="0"/>
                  </a:rPr>
                  <a:t>_</a:t>
                </a:r>
                <a:r>
                  <a:rPr lang="en-US" altLang="zh-TW" b="0" i="0">
                    <a:latin typeface="Cambria Math" panose="02040503050406030204" pitchFamily="18" charset="0"/>
                  </a:rPr>
                  <a:t>𝑅</a:t>
                </a:r>
                <a:r>
                  <a:rPr lang="en-US" altLang="zh-TW" dirty="0"/>
                  <a:t>+180</a:t>
                </a:r>
                <a:r>
                  <a:rPr lang="zh-TW" altLang="en-US" dirty="0"/>
                  <a:t>。</a:t>
                </a:r>
                <a:endParaRPr lang="en-US" altLang="zh-TW" dirty="0"/>
              </a:p>
              <a:p>
                <a:pPr marL="139700" indent="0">
                  <a:buNone/>
                </a:pPr>
                <a:endParaRPr lang="en-US" altLang="zh-TW" dirty="0"/>
              </a:p>
              <a:p>
                <a:pPr marL="139700" indent="0">
                  <a:buNone/>
                </a:pPr>
                <a:r>
                  <a:rPr lang="zh-TW" altLang="en-US" dirty="0"/>
                  <a:t>若這個</a:t>
                </a:r>
                <a:r>
                  <a:rPr lang="en-US" altLang="zh-TW" dirty="0"/>
                  <a:t>reference tag</a:t>
                </a:r>
                <a:r>
                  <a:rPr lang="zh-TW" altLang="en-US" dirty="0"/>
                  <a:t>坐落在第一、二象限，則</a:t>
                </a:r>
                <a:r>
                  <a:rPr lang="en-US" altLang="zh-TW" dirty="0"/>
                  <a:t>AR</a:t>
                </a:r>
                <a:r>
                  <a:rPr lang="zh-TW" altLang="en-US" dirty="0"/>
                  <a:t>的計算是逆時針方向，反之則是順時針</a:t>
                </a:r>
                <a:endParaRPr lang="en-US" altLang="zh-TW" dirty="0"/>
              </a:p>
              <a:p>
                <a:pPr marL="139700" indent="0">
                  <a:buNone/>
                </a:pPr>
                <a:endParaRPr lang="en-US" altLang="zh-TW" dirty="0"/>
              </a:p>
              <a:p>
                <a:pPr marL="139700" indent="0">
                  <a:buNone/>
                </a:pPr>
                <a:r>
                  <a:rPr lang="zh-TW" altLang="en-US" dirty="0"/>
                  <a:t>接著為了知道</a:t>
                </a:r>
                <a:r>
                  <a:rPr lang="en-US" altLang="zh-TW" dirty="0"/>
                  <a:t>tracking tag</a:t>
                </a:r>
                <a:r>
                  <a:rPr lang="zh-TW" altLang="en-US" dirty="0"/>
                  <a:t>與</a:t>
                </a:r>
                <a:r>
                  <a:rPr lang="en-US" altLang="zh-TW" dirty="0"/>
                  <a:t>reader</a:t>
                </a:r>
                <a:r>
                  <a:rPr lang="zh-TW" altLang="en-US" dirty="0"/>
                  <a:t>之間的距離，</a:t>
                </a:r>
                <a:r>
                  <a:rPr lang="en-US" altLang="zh-TW" dirty="0"/>
                  <a:t>Reader</a:t>
                </a:r>
                <a:r>
                  <a:rPr lang="zh-TW" altLang="en-US" dirty="0"/>
                  <a:t>一開始會先打出最大功率 確定他能讀取得範圍內有</a:t>
                </a:r>
                <a:r>
                  <a:rPr lang="en-US" altLang="zh-TW" dirty="0"/>
                  <a:t>tracking tag</a:t>
                </a:r>
                <a:r>
                  <a:rPr lang="zh-TW" altLang="en-US" dirty="0"/>
                  <a:t>的存在，若確定有，則逐步減少打得</a:t>
                </a:r>
                <a:r>
                  <a:rPr lang="en-US" altLang="zh-TW" dirty="0"/>
                  <a:t>power</a:t>
                </a:r>
                <a:r>
                  <a:rPr lang="zh-TW" altLang="en-US" dirty="0"/>
                  <a:t>，直到收不到訊號，當他收步道訊號後會再加大一次</a:t>
                </a:r>
                <a:r>
                  <a:rPr lang="en-US" altLang="zh-TW" dirty="0"/>
                  <a:t>power</a:t>
                </a:r>
                <a:r>
                  <a:rPr lang="zh-TW" altLang="en-US" dirty="0"/>
                  <a:t>確定是否有收到</a:t>
                </a:r>
                <a:r>
                  <a:rPr lang="en-US" altLang="zh-TW" dirty="0"/>
                  <a:t>tracking tag</a:t>
                </a:r>
                <a:r>
                  <a:rPr lang="zh-TW" altLang="en-US" dirty="0"/>
                  <a:t>的訊號。</a:t>
                </a:r>
                <a:endParaRPr lang="en-US" altLang="zh-TW" dirty="0"/>
              </a:p>
            </p:txBody>
          </p:sp>
        </mc:Fallback>
      </mc:AlternateContent>
    </p:spTree>
    <p:extLst>
      <p:ext uri="{BB962C8B-B14F-4D97-AF65-F5344CB8AC3E}">
        <p14:creationId xmlns:p14="http://schemas.microsoft.com/office/powerpoint/2010/main" val="1574695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indent="0">
              <a:buNone/>
            </a:pPr>
            <a:r>
              <a:rPr lang="en-US" altLang="zh-TW" dirty="0"/>
              <a:t>E</a:t>
            </a:r>
            <a:r>
              <a:rPr lang="zh-TW" altLang="en-US" dirty="0"/>
              <a:t>是</a:t>
            </a:r>
            <a:r>
              <a:rPr lang="en-US" altLang="zh-TW" dirty="0"/>
              <a:t>reference</a:t>
            </a:r>
            <a:r>
              <a:rPr lang="zh-TW" altLang="en-US" dirty="0"/>
              <a:t> </a:t>
            </a:r>
            <a:r>
              <a:rPr lang="en-US" altLang="zh-TW" dirty="0"/>
              <a:t>tag </a:t>
            </a:r>
            <a:r>
              <a:rPr lang="zh-TW" altLang="en-US" dirty="0"/>
              <a:t>與 </a:t>
            </a:r>
            <a:r>
              <a:rPr lang="en-US" altLang="zh-TW" dirty="0"/>
              <a:t>tracking tag</a:t>
            </a:r>
            <a:r>
              <a:rPr lang="zh-TW" altLang="en-US" dirty="0"/>
              <a:t>之間的距離，當我們求得</a:t>
            </a:r>
            <a:r>
              <a:rPr lang="el-GR" altLang="zh-TW" dirty="0"/>
              <a:t>Φ</a:t>
            </a:r>
            <a:r>
              <a:rPr lang="zh-TW" altLang="en-US" dirty="0"/>
              <a:t>值後就可以透過餘弦定理算出</a:t>
            </a:r>
            <a:r>
              <a:rPr lang="en-US" altLang="zh-TW" dirty="0"/>
              <a:t>E</a:t>
            </a:r>
            <a:r>
              <a:rPr lang="zh-TW" altLang="en-US" dirty="0"/>
              <a:t>的長度。那這個</a:t>
            </a:r>
            <a:r>
              <a:rPr lang="en-US" altLang="zh-TW" dirty="0"/>
              <a:t>E</a:t>
            </a:r>
            <a:r>
              <a:rPr lang="zh-TW" altLang="en-US" dirty="0"/>
              <a:t>值非常重要，根據</a:t>
            </a:r>
            <a:r>
              <a:rPr lang="en-US" altLang="zh-TW" dirty="0"/>
              <a:t>E</a:t>
            </a:r>
            <a:r>
              <a:rPr lang="zh-TW" altLang="en-US" dirty="0"/>
              <a:t>的數量會影響定位的精準度，因為一個作為</a:t>
            </a:r>
            <a:r>
              <a:rPr lang="en-US" altLang="zh-TW" dirty="0"/>
              <a:t>tracking</a:t>
            </a:r>
            <a:r>
              <a:rPr lang="en-US" altLang="zh-TW" baseline="0" dirty="0"/>
              <a:t> tag neighbor</a:t>
            </a:r>
            <a:r>
              <a:rPr lang="zh-TW" altLang="en-US" baseline="0" dirty="0"/>
              <a:t>的</a:t>
            </a:r>
            <a:r>
              <a:rPr lang="en-US" altLang="zh-TW" dirty="0"/>
              <a:t>reference tag</a:t>
            </a:r>
            <a:r>
              <a:rPr lang="zh-TW" altLang="en-US" dirty="0"/>
              <a:t>，就會產生一個</a:t>
            </a:r>
            <a:r>
              <a:rPr lang="en-US" altLang="zh-TW" dirty="0"/>
              <a:t>E</a:t>
            </a:r>
            <a:r>
              <a:rPr lang="zh-TW" altLang="en-US" dirty="0"/>
              <a:t>值，所以可以做為</a:t>
            </a:r>
            <a:r>
              <a:rPr lang="en-US" altLang="zh-TW" dirty="0"/>
              <a:t>neighbor</a:t>
            </a:r>
            <a:r>
              <a:rPr lang="zh-TW" altLang="en-US" dirty="0"/>
              <a:t>的</a:t>
            </a:r>
            <a:r>
              <a:rPr lang="en-US" altLang="zh-TW" dirty="0"/>
              <a:t>reference</a:t>
            </a:r>
            <a:r>
              <a:rPr lang="en-US" altLang="zh-TW" baseline="0" dirty="0"/>
              <a:t> tag</a:t>
            </a:r>
            <a:r>
              <a:rPr lang="zh-TW" altLang="en-US" baseline="0" dirty="0"/>
              <a:t>越多， </a:t>
            </a:r>
            <a:r>
              <a:rPr lang="en-US" altLang="zh-TW" baseline="0" dirty="0"/>
              <a:t>E</a:t>
            </a:r>
            <a:r>
              <a:rPr lang="zh-TW" altLang="en-US" baseline="0" dirty="0"/>
              <a:t>值也就會越多，定位就會越精準。</a:t>
            </a:r>
            <a:endParaRPr lang="en-US" altLang="zh-TW" dirty="0"/>
          </a:p>
        </p:txBody>
      </p:sp>
    </p:spTree>
    <p:extLst>
      <p:ext uri="{BB962C8B-B14F-4D97-AF65-F5344CB8AC3E}">
        <p14:creationId xmlns:p14="http://schemas.microsoft.com/office/powerpoint/2010/main" val="984499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latin typeface="Arial"/>
                <a:ea typeface="Arial"/>
                <a:cs typeface="Arial"/>
                <a:sym typeface="Arial"/>
              </a:rPr>
              <a:t>接下來就是要算出</a:t>
            </a:r>
            <a:r>
              <a:rPr lang="en-US" altLang="zh-TW" sz="1100" b="0" i="0" u="none" strike="noStrike" cap="none" dirty="0">
                <a:solidFill>
                  <a:srgbClr val="000000"/>
                </a:solidFill>
                <a:latin typeface="Arial"/>
                <a:ea typeface="Arial"/>
                <a:cs typeface="Arial"/>
                <a:sym typeface="Arial"/>
              </a:rPr>
              <a:t>tracking tag</a:t>
            </a:r>
            <a:r>
              <a:rPr lang="zh-TW" altLang="en-US" sz="1100" b="0" i="0" u="none" strike="noStrike" cap="none" dirty="0">
                <a:solidFill>
                  <a:srgbClr val="000000"/>
                </a:solidFill>
                <a:latin typeface="Arial"/>
                <a:ea typeface="Arial"/>
                <a:cs typeface="Arial"/>
                <a:sym typeface="Arial"/>
              </a:rPr>
              <a:t>的座標</a:t>
            </a:r>
            <a:r>
              <a:rPr lang="en-US" altLang="zh-TW" sz="1100" b="0" i="0" u="none" strike="noStrike" cap="none" dirty="0">
                <a:solidFill>
                  <a:srgbClr val="000000"/>
                </a:solidFill>
                <a:latin typeface="Arial"/>
                <a:ea typeface="Arial"/>
                <a:cs typeface="Arial"/>
                <a:sym typeface="Arial"/>
              </a:rPr>
              <a:t>:</a:t>
            </a:r>
          </a:p>
          <a:p>
            <a:pPr marL="0" lvl="0" indent="0" algn="l" rtl="0">
              <a:spcBef>
                <a:spcPts val="0"/>
              </a:spcBef>
              <a:spcAft>
                <a:spcPts val="0"/>
              </a:spcAft>
              <a:buNone/>
            </a:pPr>
            <a:r>
              <a:rPr lang="zh-TW" altLang="en-US" sz="1100" b="0" i="0" u="none" strike="noStrike" cap="none" baseline="0" dirty="0">
                <a:solidFill>
                  <a:srgbClr val="000000"/>
                </a:solidFill>
                <a:latin typeface="Arial"/>
                <a:ea typeface="Arial"/>
                <a:cs typeface="Arial"/>
                <a:sym typeface="Arial"/>
              </a:rPr>
              <a:t> 等式右邊代表的是</a:t>
            </a:r>
            <a:r>
              <a:rPr lang="en-US" altLang="zh-TW" sz="1100" b="0" i="0" u="none" strike="noStrike" cap="none" baseline="0" dirty="0">
                <a:solidFill>
                  <a:srgbClr val="000000"/>
                </a:solidFill>
                <a:latin typeface="Arial"/>
                <a:ea typeface="Arial"/>
                <a:cs typeface="Arial"/>
                <a:sym typeface="Arial"/>
              </a:rPr>
              <a:t>:</a:t>
            </a:r>
            <a:r>
              <a:rPr lang="zh-TW" altLang="en-US" sz="1100" b="0" i="0" u="none" strike="noStrike" cap="none" baseline="0" dirty="0">
                <a:solidFill>
                  <a:srgbClr val="000000"/>
                </a:solidFill>
                <a:latin typeface="Arial"/>
                <a:ea typeface="Arial"/>
                <a:cs typeface="Arial"/>
                <a:sym typeface="Arial"/>
              </a:rPr>
              <a:t> 將所有</a:t>
            </a:r>
            <a:r>
              <a:rPr lang="en-US" altLang="zh-TW" sz="1100" b="0" i="0" u="none" strike="noStrike" cap="none" baseline="0" dirty="0">
                <a:solidFill>
                  <a:srgbClr val="000000"/>
                </a:solidFill>
                <a:latin typeface="Arial"/>
                <a:ea typeface="Arial"/>
                <a:cs typeface="Arial"/>
                <a:sym typeface="Arial"/>
              </a:rPr>
              <a:t>reference tag</a:t>
            </a:r>
            <a:r>
              <a:rPr lang="zh-TW" altLang="en-US" sz="1100" b="0" i="0" u="none" strike="noStrike" cap="none" baseline="0" dirty="0">
                <a:solidFill>
                  <a:srgbClr val="000000"/>
                </a:solidFill>
                <a:latin typeface="Arial"/>
                <a:ea typeface="Arial"/>
                <a:cs typeface="Arial"/>
                <a:sym typeface="Arial"/>
              </a:rPr>
              <a:t>的座標乘上一個自己的</a:t>
            </a:r>
            <a:r>
              <a:rPr lang="en-US" altLang="zh-TW" sz="1100" b="0" i="0" u="none" strike="noStrike" cap="none" baseline="0" dirty="0">
                <a:solidFill>
                  <a:srgbClr val="000000"/>
                </a:solidFill>
                <a:latin typeface="Arial"/>
                <a:ea typeface="Arial"/>
                <a:cs typeface="Arial"/>
                <a:sym typeface="Arial"/>
              </a:rPr>
              <a:t>W</a:t>
            </a:r>
            <a:r>
              <a:rPr lang="zh-TW" altLang="en-US" sz="1100" b="0" i="0" u="none" strike="noStrike" cap="none" baseline="0" dirty="0">
                <a:solidFill>
                  <a:srgbClr val="000000"/>
                </a:solidFill>
                <a:latin typeface="Arial"/>
                <a:ea typeface="Arial"/>
                <a:cs typeface="Arial"/>
                <a:sym typeface="Arial"/>
              </a:rPr>
              <a:t>進行加總，</a:t>
            </a:r>
            <a:r>
              <a:rPr lang="en-US" altLang="zh-TW" sz="1100" b="0" i="0" u="none" strike="noStrike" cap="none" baseline="0" dirty="0">
                <a:solidFill>
                  <a:srgbClr val="000000"/>
                </a:solidFill>
                <a:latin typeface="Arial"/>
                <a:ea typeface="Arial"/>
                <a:cs typeface="Arial"/>
                <a:sym typeface="Arial"/>
              </a:rPr>
              <a:t>W</a:t>
            </a:r>
            <a:r>
              <a:rPr lang="zh-TW" altLang="en-US" sz="1100" b="0" i="0" u="none" strike="noStrike" cap="none" baseline="0" dirty="0">
                <a:solidFill>
                  <a:srgbClr val="000000"/>
                </a:solidFill>
                <a:latin typeface="Arial"/>
                <a:ea typeface="Arial"/>
                <a:cs typeface="Arial"/>
                <a:sym typeface="Arial"/>
              </a:rPr>
              <a:t> 是跟據</a:t>
            </a:r>
            <a:r>
              <a:rPr lang="en-US" altLang="zh-TW" sz="1100" b="0" i="0" u="none" strike="noStrike" cap="none" baseline="0" dirty="0">
                <a:solidFill>
                  <a:srgbClr val="000000"/>
                </a:solidFill>
                <a:latin typeface="Arial"/>
                <a:ea typeface="Arial"/>
                <a:cs typeface="Arial"/>
                <a:sym typeface="Arial"/>
              </a:rPr>
              <a:t>reference tag</a:t>
            </a:r>
            <a:r>
              <a:rPr lang="zh-TW" altLang="en-US" sz="1100" b="0" i="0" u="none" strike="noStrike" cap="none" baseline="0" dirty="0">
                <a:solidFill>
                  <a:srgbClr val="000000"/>
                </a:solidFill>
                <a:latin typeface="Arial"/>
                <a:ea typeface="Arial"/>
                <a:cs typeface="Arial"/>
                <a:sym typeface="Arial"/>
              </a:rPr>
              <a:t>與</a:t>
            </a:r>
            <a:r>
              <a:rPr lang="en-US" altLang="zh-TW" sz="1100" b="0" i="0" u="none" strike="noStrike" cap="none" baseline="0" dirty="0">
                <a:solidFill>
                  <a:srgbClr val="000000"/>
                </a:solidFill>
                <a:latin typeface="Arial"/>
                <a:ea typeface="Arial"/>
                <a:cs typeface="Arial"/>
                <a:sym typeface="Arial"/>
              </a:rPr>
              <a:t>tracking tag</a:t>
            </a:r>
            <a:r>
              <a:rPr lang="zh-TW" altLang="en-US" sz="1100" b="0" i="0" u="none" strike="noStrike" cap="none" baseline="0" dirty="0">
                <a:solidFill>
                  <a:srgbClr val="000000"/>
                </a:solidFill>
                <a:latin typeface="Arial"/>
                <a:ea typeface="Arial"/>
                <a:cs typeface="Arial"/>
                <a:sym typeface="Arial"/>
              </a:rPr>
              <a:t>的距離而定，距離越近，</a:t>
            </a:r>
            <a:r>
              <a:rPr lang="en-US" altLang="zh-TW" sz="1100" b="0" i="0" u="none" strike="noStrike" cap="none" baseline="0" dirty="0">
                <a:solidFill>
                  <a:srgbClr val="000000"/>
                </a:solidFill>
                <a:latin typeface="Arial"/>
                <a:ea typeface="Arial"/>
                <a:cs typeface="Arial"/>
                <a:sym typeface="Arial"/>
              </a:rPr>
              <a:t>W</a:t>
            </a:r>
            <a:r>
              <a:rPr lang="zh-TW" altLang="en-US" sz="1100" b="0" i="0" u="none" strike="noStrike" cap="none" baseline="0" dirty="0">
                <a:solidFill>
                  <a:srgbClr val="000000"/>
                </a:solidFill>
                <a:latin typeface="Arial"/>
                <a:ea typeface="Arial"/>
                <a:cs typeface="Arial"/>
                <a:sym typeface="Arial"/>
              </a:rPr>
              <a:t>值就越大。全部加總起來就是等式左邊，也就是我算出來</a:t>
            </a:r>
            <a:r>
              <a:rPr lang="en-US" altLang="zh-TW" sz="1100" b="0" i="0" u="none" strike="noStrike" cap="none" baseline="0" dirty="0">
                <a:solidFill>
                  <a:srgbClr val="000000"/>
                </a:solidFill>
                <a:latin typeface="Arial"/>
                <a:ea typeface="Arial"/>
                <a:cs typeface="Arial"/>
                <a:sym typeface="Arial"/>
              </a:rPr>
              <a:t>tracking tag</a:t>
            </a:r>
            <a:r>
              <a:rPr lang="zh-TW" altLang="en-US" sz="1100" b="0" i="0" u="none" strike="noStrike" cap="none" baseline="0" dirty="0">
                <a:solidFill>
                  <a:srgbClr val="000000"/>
                </a:solidFill>
                <a:latin typeface="Arial"/>
                <a:ea typeface="Arial"/>
                <a:cs typeface="Arial"/>
                <a:sym typeface="Arial"/>
              </a:rPr>
              <a:t>的座標位置</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13857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latin typeface="Arial"/>
                <a:ea typeface="Arial"/>
                <a:cs typeface="Arial"/>
                <a:sym typeface="Arial"/>
              </a:rPr>
              <a:t>權重的計算方法會影響最終計算位置時的準確性，經過一些其他篇論文的測試，以下權重的計算方式能夠得出令人滿意的結果。</a:t>
            </a:r>
            <a:endParaRPr lang="en-US" altLang="zh-TW"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997118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latin typeface="Arial"/>
                    <a:ea typeface="Arial"/>
                    <a:cs typeface="Arial"/>
                    <a:sym typeface="Arial"/>
                  </a:rPr>
                  <a:t>最後線性誤差 </a:t>
                </a:r>
                <a:r>
                  <a:rPr lang="en-US" altLang="zh-TW" sz="1100" b="0" i="0" u="none" strike="noStrike" cap="none" dirty="0">
                    <a:solidFill>
                      <a:srgbClr val="000000"/>
                    </a:solidFill>
                    <a:latin typeface="Arial"/>
                    <a:ea typeface="Arial"/>
                    <a:cs typeface="Arial"/>
                    <a:sym typeface="Arial"/>
                  </a:rPr>
                  <a:t>e</a:t>
                </a:r>
                <a:r>
                  <a:rPr lang="zh-TW" altLang="en-US" sz="1100" b="0" i="0" u="none" strike="noStrike" cap="none" dirty="0">
                    <a:solidFill>
                      <a:srgbClr val="000000"/>
                    </a:solidFill>
                    <a:latin typeface="Arial"/>
                    <a:ea typeface="Arial"/>
                    <a:cs typeface="Arial"/>
                    <a:sym typeface="Arial"/>
                  </a:rPr>
                  <a:t>  是根據我們前面所算出</a:t>
                </a:r>
                <a:r>
                  <a:rPr lang="en-US" altLang="zh-TW" sz="1100" b="0" i="0" u="none" strike="noStrike" cap="none" dirty="0">
                    <a:solidFill>
                      <a:srgbClr val="000000"/>
                    </a:solidFill>
                    <a:latin typeface="Arial"/>
                    <a:ea typeface="Arial"/>
                    <a:cs typeface="Arial"/>
                    <a:sym typeface="Arial"/>
                  </a:rPr>
                  <a:t>tracking tag</a:t>
                </a:r>
                <a:r>
                  <a:rPr lang="zh-TW" altLang="en-US" sz="1100" b="0" i="0" u="none" strike="noStrike" cap="none" dirty="0">
                    <a:solidFill>
                      <a:srgbClr val="000000"/>
                    </a:solidFill>
                    <a:latin typeface="Arial"/>
                    <a:ea typeface="Arial"/>
                    <a:cs typeface="Arial"/>
                    <a:sym typeface="Arial"/>
                  </a:rPr>
                  <a:t>的位置以及</a:t>
                </a:r>
                <a:r>
                  <a:rPr lang="en-US" altLang="zh-TW" sz="1100" b="0" i="0" u="none" strike="noStrike" cap="none" dirty="0">
                    <a:solidFill>
                      <a:srgbClr val="000000"/>
                    </a:solidFill>
                    <a:latin typeface="Arial"/>
                    <a:ea typeface="Arial"/>
                    <a:cs typeface="Arial"/>
                    <a:sym typeface="Arial"/>
                  </a:rPr>
                  <a:t>”</a:t>
                </a:r>
                <a:r>
                  <a:rPr lang="zh-TW" altLang="en-US" sz="1100" b="0" i="0" u="none" strike="noStrike" cap="none" dirty="0">
                    <a:solidFill>
                      <a:srgbClr val="000000"/>
                    </a:solidFill>
                    <a:latin typeface="Arial"/>
                    <a:ea typeface="Arial"/>
                    <a:cs typeface="Arial"/>
                    <a:sym typeface="Arial"/>
                  </a:rPr>
                  <a:t>實際上</a:t>
                </a:r>
                <a:r>
                  <a:rPr lang="en-US" altLang="zh-TW" sz="1100" b="0" i="0" u="none" strike="noStrike" cap="none" dirty="0">
                    <a:solidFill>
                      <a:srgbClr val="000000"/>
                    </a:solidFill>
                    <a:latin typeface="Arial"/>
                    <a:ea typeface="Arial"/>
                    <a:cs typeface="Arial"/>
                    <a:sym typeface="Arial"/>
                  </a:rPr>
                  <a:t>tracking tag</a:t>
                </a:r>
                <a:r>
                  <a:rPr lang="zh-TW" altLang="en-US" sz="1100" b="0" i="0" u="none" strike="noStrike" cap="none" dirty="0">
                    <a:solidFill>
                      <a:srgbClr val="000000"/>
                    </a:solidFill>
                    <a:latin typeface="Arial"/>
                    <a:ea typeface="Arial"/>
                    <a:cs typeface="Arial"/>
                    <a:sym typeface="Arial"/>
                  </a:rPr>
                  <a:t>的位置用歐基里德距離公式所計算出來的。上面的</a:t>
                </a:r>
                <a:r>
                  <a:rPr lang="en-US" altLang="zh-TW" sz="1100" b="0" i="0" u="none" strike="noStrike" cap="none" dirty="0">
                    <a:solidFill>
                      <a:srgbClr val="000000"/>
                    </a:solidFill>
                    <a:latin typeface="Arial"/>
                    <a:ea typeface="Arial"/>
                    <a:cs typeface="Arial"/>
                    <a:sym typeface="Arial"/>
                  </a:rPr>
                  <a:t>x y</a:t>
                </a:r>
                <a:r>
                  <a:rPr lang="zh-TW" altLang="en-US" sz="1100" b="0" i="0" u="none" strike="noStrike" cap="none" dirty="0">
                    <a:solidFill>
                      <a:srgbClr val="000000"/>
                    </a:solidFill>
                    <a:latin typeface="Arial"/>
                    <a:ea typeface="Arial"/>
                    <a:cs typeface="Arial"/>
                    <a:sym typeface="Arial"/>
                  </a:rPr>
                  <a:t>是我們算出來的</a:t>
                </a:r>
                <a14:m>
                  <m:oMath xmlns:m="http://schemas.openxmlformats.org/officeDocument/2006/math">
                    <m:sSub>
                      <m:sSubPr>
                        <m:ctrlPr>
                          <a:rPr lang="en-US" altLang="zh-TW" sz="1100" i="1" smtClean="0">
                            <a:latin typeface="Cambria Math" panose="02040503050406030204" pitchFamily="18" charset="0"/>
                          </a:rPr>
                        </m:ctrlPr>
                      </m:sSubPr>
                      <m:e>
                        <m:r>
                          <a:rPr lang="en-US" altLang="zh-TW" sz="1100" b="0" i="1" smtClean="0">
                            <a:latin typeface="Cambria Math" panose="02040503050406030204" pitchFamily="18" charset="0"/>
                          </a:rPr>
                          <m:t>𝑥</m:t>
                        </m:r>
                      </m:e>
                      <m:sub>
                        <m:r>
                          <a:rPr lang="en-US" altLang="zh-TW" sz="1100" i="1">
                            <a:latin typeface="Cambria Math" panose="02040503050406030204" pitchFamily="18" charset="0"/>
                          </a:rPr>
                          <m:t>0</m:t>
                        </m:r>
                      </m:sub>
                    </m:sSub>
                  </m:oMath>
                </a14:m>
                <a:r>
                  <a:rPr lang="en-US" altLang="zh-TW" sz="1100" dirty="0"/>
                  <a:t>, </a:t>
                </a:r>
                <a14:m>
                  <m:oMath xmlns:m="http://schemas.openxmlformats.org/officeDocument/2006/math">
                    <m:sSub>
                      <m:sSubPr>
                        <m:ctrlPr>
                          <a:rPr lang="en-US" altLang="zh-TW" sz="1100" i="1">
                            <a:latin typeface="Cambria Math" panose="02040503050406030204" pitchFamily="18" charset="0"/>
                          </a:rPr>
                        </m:ctrlPr>
                      </m:sSubPr>
                      <m:e>
                        <m:r>
                          <a:rPr lang="en-US" altLang="zh-TW" sz="1100" b="0" i="1" smtClean="0">
                            <a:latin typeface="Cambria Math" panose="02040503050406030204" pitchFamily="18" charset="0"/>
                          </a:rPr>
                          <m:t>𝑦</m:t>
                        </m:r>
                      </m:e>
                      <m:sub>
                        <m:r>
                          <a:rPr lang="en-US" altLang="zh-TW" sz="1100" i="1">
                            <a:latin typeface="Cambria Math" panose="02040503050406030204" pitchFamily="18" charset="0"/>
                          </a:rPr>
                          <m:t>0</m:t>
                        </m:r>
                      </m:sub>
                    </m:sSub>
                  </m:oMath>
                </a14:m>
                <a:r>
                  <a:rPr lang="zh-TW" altLang="en-US" sz="1100" b="0" i="0" u="none" strike="noStrike" cap="none" dirty="0">
                    <a:solidFill>
                      <a:srgbClr val="000000"/>
                    </a:solidFill>
                    <a:latin typeface="Arial"/>
                    <a:ea typeface="Arial"/>
                    <a:cs typeface="Arial"/>
                    <a:sym typeface="Arial"/>
                  </a:rPr>
                  <a:t>則是實際位置。</a:t>
                </a:r>
                <a:endParaRPr lang="en-US" altLang="zh-TW" sz="1100" b="0" i="0" u="none" strike="noStrike" cap="none" dirty="0">
                  <a:solidFill>
                    <a:srgbClr val="000000"/>
                  </a:solidFill>
                  <a:latin typeface="Arial"/>
                  <a:ea typeface="Arial"/>
                  <a:cs typeface="Arial"/>
                  <a:sym typeface="Arial"/>
                </a:endParaRPr>
              </a:p>
            </p:txBody>
          </p:sp>
        </mc:Choice>
        <mc:Fallback xmlns="">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smtClean="0">
                    <a:solidFill>
                      <a:srgbClr val="000000"/>
                    </a:solidFill>
                    <a:latin typeface="Arial"/>
                    <a:ea typeface="Arial"/>
                    <a:cs typeface="Arial"/>
                    <a:sym typeface="Arial"/>
                  </a:rPr>
                  <a:t>最後線性誤差 </a:t>
                </a:r>
                <a:r>
                  <a:rPr lang="en-US" altLang="zh-TW" sz="1100" b="0" i="0" u="none" strike="noStrike" cap="none" dirty="0" smtClean="0">
                    <a:solidFill>
                      <a:srgbClr val="000000"/>
                    </a:solidFill>
                    <a:latin typeface="Arial"/>
                    <a:ea typeface="Arial"/>
                    <a:cs typeface="Arial"/>
                    <a:sym typeface="Arial"/>
                  </a:rPr>
                  <a:t>e</a:t>
                </a:r>
                <a:r>
                  <a:rPr lang="zh-TW" altLang="en-US" sz="1100" b="0" i="0" u="none" strike="noStrike" cap="none" dirty="0" smtClean="0">
                    <a:solidFill>
                      <a:srgbClr val="000000"/>
                    </a:solidFill>
                    <a:latin typeface="Arial"/>
                    <a:ea typeface="Arial"/>
                    <a:cs typeface="Arial"/>
                    <a:sym typeface="Arial"/>
                  </a:rPr>
                  <a:t>  是根據我們前面所算出</a:t>
                </a:r>
                <a:r>
                  <a:rPr lang="en-US" altLang="zh-TW" sz="1100" b="0" i="0" u="none" strike="noStrike" cap="none" dirty="0" smtClean="0">
                    <a:solidFill>
                      <a:srgbClr val="000000"/>
                    </a:solidFill>
                    <a:latin typeface="Arial"/>
                    <a:ea typeface="Arial"/>
                    <a:cs typeface="Arial"/>
                    <a:sym typeface="Arial"/>
                  </a:rPr>
                  <a:t>tracking tag</a:t>
                </a:r>
                <a:r>
                  <a:rPr lang="zh-TW" altLang="en-US" sz="1100" b="0" i="0" u="none" strike="noStrike" cap="none" dirty="0" smtClean="0">
                    <a:solidFill>
                      <a:srgbClr val="000000"/>
                    </a:solidFill>
                    <a:latin typeface="Arial"/>
                    <a:ea typeface="Arial"/>
                    <a:cs typeface="Arial"/>
                    <a:sym typeface="Arial"/>
                  </a:rPr>
                  <a:t>的位置以及</a:t>
                </a:r>
                <a:r>
                  <a:rPr lang="en-US" altLang="zh-TW" sz="1100" b="0" i="0" u="none" strike="noStrike" cap="none" dirty="0" smtClean="0">
                    <a:solidFill>
                      <a:srgbClr val="000000"/>
                    </a:solidFill>
                    <a:latin typeface="Arial"/>
                    <a:ea typeface="Arial"/>
                    <a:cs typeface="Arial"/>
                    <a:sym typeface="Arial"/>
                  </a:rPr>
                  <a:t>”</a:t>
                </a:r>
                <a:r>
                  <a:rPr lang="zh-TW" altLang="en-US" sz="1100" b="0" i="0" u="none" strike="noStrike" cap="none" dirty="0" smtClean="0">
                    <a:solidFill>
                      <a:srgbClr val="000000"/>
                    </a:solidFill>
                    <a:latin typeface="Arial"/>
                    <a:ea typeface="Arial"/>
                    <a:cs typeface="Arial"/>
                    <a:sym typeface="Arial"/>
                  </a:rPr>
                  <a:t>實際上</a:t>
                </a:r>
                <a:r>
                  <a:rPr lang="en-US" altLang="zh-TW" sz="1100" b="0" i="0" u="none" strike="noStrike" cap="none" dirty="0" smtClean="0">
                    <a:solidFill>
                      <a:srgbClr val="000000"/>
                    </a:solidFill>
                    <a:latin typeface="Arial"/>
                    <a:ea typeface="Arial"/>
                    <a:cs typeface="Arial"/>
                    <a:sym typeface="Arial"/>
                  </a:rPr>
                  <a:t>tracking tag</a:t>
                </a:r>
                <a:r>
                  <a:rPr lang="zh-TW" altLang="en-US" sz="1100" b="0" i="0" u="none" strike="noStrike" cap="none" dirty="0" smtClean="0">
                    <a:solidFill>
                      <a:srgbClr val="000000"/>
                    </a:solidFill>
                    <a:latin typeface="Arial"/>
                    <a:ea typeface="Arial"/>
                    <a:cs typeface="Arial"/>
                    <a:sym typeface="Arial"/>
                  </a:rPr>
                  <a:t>的位置用歐基里德距離公式所計算出來的。上面的</a:t>
                </a:r>
                <a:r>
                  <a:rPr lang="en-US" altLang="zh-TW" sz="1100" b="0" i="0" u="none" strike="noStrike" cap="none" dirty="0" smtClean="0">
                    <a:solidFill>
                      <a:srgbClr val="000000"/>
                    </a:solidFill>
                    <a:latin typeface="Arial"/>
                    <a:ea typeface="Arial"/>
                    <a:cs typeface="Arial"/>
                    <a:sym typeface="Arial"/>
                  </a:rPr>
                  <a:t>x y</a:t>
                </a:r>
                <a:r>
                  <a:rPr lang="zh-TW" altLang="en-US" sz="1100" b="0" i="0" u="none" strike="noStrike" cap="none" dirty="0" smtClean="0">
                    <a:solidFill>
                      <a:srgbClr val="000000"/>
                    </a:solidFill>
                    <a:latin typeface="Arial"/>
                    <a:ea typeface="Arial"/>
                    <a:cs typeface="Arial"/>
                    <a:sym typeface="Arial"/>
                  </a:rPr>
                  <a:t>是我們算出來的</a:t>
                </a:r>
                <a:r>
                  <a:rPr lang="en-US" altLang="zh-TW" sz="1100" b="0" i="0" smtClean="0">
                    <a:latin typeface="Cambria Math" panose="02040503050406030204" pitchFamily="18" charset="0"/>
                  </a:rPr>
                  <a:t>𝑥</a:t>
                </a:r>
                <a:r>
                  <a:rPr lang="en-US" altLang="zh-TW" sz="1100" b="0" i="0" smtClean="0">
                    <a:latin typeface="Cambria Math" panose="02040503050406030204" pitchFamily="18" charset="0"/>
                  </a:rPr>
                  <a:t>_</a:t>
                </a:r>
                <a:r>
                  <a:rPr lang="en-US" altLang="zh-TW" sz="1100" i="0">
                    <a:latin typeface="Cambria Math" panose="02040503050406030204" pitchFamily="18" charset="0"/>
                  </a:rPr>
                  <a:t>0</a:t>
                </a:r>
                <a:r>
                  <a:rPr lang="en-US" altLang="zh-TW" sz="1100" dirty="0" smtClean="0"/>
                  <a:t>, </a:t>
                </a:r>
                <a:r>
                  <a:rPr lang="en-US" altLang="zh-TW" sz="1100" b="0" i="0" smtClean="0">
                    <a:latin typeface="Cambria Math" panose="02040503050406030204" pitchFamily="18" charset="0"/>
                  </a:rPr>
                  <a:t>𝑦</a:t>
                </a:r>
                <a:r>
                  <a:rPr lang="en-US" altLang="zh-TW" sz="1100" b="0" i="0">
                    <a:latin typeface="Cambria Math" panose="02040503050406030204" pitchFamily="18" charset="0"/>
                  </a:rPr>
                  <a:t>_</a:t>
                </a:r>
                <a:r>
                  <a:rPr lang="en-US" altLang="zh-TW" sz="1100" i="0">
                    <a:latin typeface="Cambria Math" panose="02040503050406030204" pitchFamily="18" charset="0"/>
                  </a:rPr>
                  <a:t>0</a:t>
                </a:r>
                <a:r>
                  <a:rPr lang="zh-TW" altLang="en-US" sz="1100" b="0" i="0" u="none" strike="noStrike" cap="none" dirty="0" smtClean="0">
                    <a:solidFill>
                      <a:srgbClr val="000000"/>
                    </a:solidFill>
                    <a:latin typeface="Arial"/>
                    <a:ea typeface="Arial"/>
                    <a:cs typeface="Arial"/>
                    <a:sym typeface="Arial"/>
                  </a:rPr>
                  <a:t>則是實際位置。</a:t>
                </a:r>
                <a:endParaRPr lang="en-US" altLang="zh-TW" sz="1100" b="0" i="0" u="none" strike="noStrike" cap="none" dirty="0">
                  <a:solidFill>
                    <a:srgbClr val="000000"/>
                  </a:solidFill>
                  <a:latin typeface="Arial"/>
                  <a:ea typeface="Arial"/>
                  <a:cs typeface="Arial"/>
                  <a:sym typeface="Arial"/>
                </a:endParaRPr>
              </a:p>
            </p:txBody>
          </p:sp>
        </mc:Fallback>
      </mc:AlternateContent>
    </p:spTree>
    <p:extLst>
      <p:ext uri="{BB962C8B-B14F-4D97-AF65-F5344CB8AC3E}">
        <p14:creationId xmlns:p14="http://schemas.microsoft.com/office/powerpoint/2010/main" val="3399347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6"/>
        <p:cNvGrpSpPr/>
        <p:nvPr/>
      </p:nvGrpSpPr>
      <p:grpSpPr>
        <a:xfrm>
          <a:off x="0" y="0"/>
          <a:ext cx="0" cy="0"/>
          <a:chOff x="0" y="0"/>
          <a:chExt cx="0" cy="0"/>
        </a:xfrm>
      </p:grpSpPr>
      <p:sp>
        <p:nvSpPr>
          <p:cNvPr id="3847" name="Google Shape;384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8" name="Google Shape;384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1502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那在實驗中，他將</a:t>
            </a:r>
            <a:r>
              <a:rPr lang="en-US" altLang="zh-TW" dirty="0"/>
              <a:t>reference</a:t>
            </a:r>
            <a:r>
              <a:rPr lang="zh-TW" altLang="en-US" dirty="0"/>
              <a:t>之間的距離逐步拉大，來觀察</a:t>
            </a:r>
            <a:r>
              <a:rPr lang="en-US" altLang="zh-TW" dirty="0"/>
              <a:t>reference</a:t>
            </a:r>
            <a:r>
              <a:rPr lang="zh-TW" altLang="en-US" dirty="0"/>
              <a:t> </a:t>
            </a:r>
            <a:r>
              <a:rPr lang="en-US" altLang="zh-TW" dirty="0"/>
              <a:t>tag</a:t>
            </a:r>
            <a:r>
              <a:rPr lang="zh-TW" altLang="en-US" dirty="0"/>
              <a:t>距離與誤差的關西，這邊的數據最左邊一行就是</a:t>
            </a:r>
            <a:r>
              <a:rPr lang="en-US" altLang="zh-TW" dirty="0"/>
              <a:t>reference tag</a:t>
            </a:r>
            <a:r>
              <a:rPr lang="zh-TW" altLang="en-US" dirty="0"/>
              <a:t>之間的距離，我們可以看到，隨著距離拉大，計算出來的位置與實際距離的誤差也就越大。那是因為在固定</a:t>
            </a:r>
            <a:r>
              <a:rPr lang="en-US" altLang="zh-TW" dirty="0"/>
              <a:t>reader </a:t>
            </a:r>
            <a:r>
              <a:rPr lang="zh-TW" altLang="en-US" dirty="0"/>
              <a:t>的</a:t>
            </a:r>
            <a:r>
              <a:rPr lang="en-US" altLang="zh-TW" dirty="0"/>
              <a:t>power</a:t>
            </a:r>
            <a:r>
              <a:rPr lang="zh-TW" altLang="en-US" dirty="0"/>
              <a:t>大小時， 當</a:t>
            </a:r>
            <a:r>
              <a:rPr lang="en-US" altLang="zh-TW" dirty="0"/>
              <a:t>reference tag</a:t>
            </a:r>
            <a:r>
              <a:rPr lang="zh-TW" altLang="en-US" dirty="0"/>
              <a:t>之間距離越小，所能參考到的</a:t>
            </a:r>
            <a:r>
              <a:rPr lang="en-US" altLang="zh-TW" dirty="0"/>
              <a:t>neighbor reference tag</a:t>
            </a:r>
            <a:r>
              <a:rPr lang="zh-TW" altLang="en-US" dirty="0"/>
              <a:t>就越多，權重就越精準。</a:t>
            </a:r>
            <a:endParaRPr lang="en-US" altLang="zh-TW" dirty="0"/>
          </a:p>
          <a:p>
            <a:pPr marL="0" lvl="0" indent="0" algn="l" rtl="0">
              <a:spcBef>
                <a:spcPts val="0"/>
              </a:spcBef>
              <a:spcAft>
                <a:spcPts val="0"/>
              </a:spcAft>
              <a:buNone/>
            </a:pPr>
            <a:endParaRPr lang="en-US" altLang="zh-TW" dirty="0"/>
          </a:p>
          <a:p>
            <a:pPr marL="0" lvl="0" indent="0" algn="l" rtl="0">
              <a:spcBef>
                <a:spcPts val="0"/>
              </a:spcBef>
              <a:spcAft>
                <a:spcPts val="0"/>
              </a:spcAft>
              <a:buNone/>
            </a:pPr>
            <a:endParaRPr lang="en-US" altLang="zh-TW" dirty="0"/>
          </a:p>
        </p:txBody>
      </p:sp>
    </p:spTree>
    <p:extLst>
      <p:ext uri="{BB962C8B-B14F-4D97-AF65-F5344CB8AC3E}">
        <p14:creationId xmlns:p14="http://schemas.microsoft.com/office/powerpoint/2010/main" val="21732434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indent="0">
              <a:buNone/>
            </a:pPr>
            <a:r>
              <a:rPr lang="zh-TW" altLang="en-US" dirty="0"/>
              <a:t>這張圖上面是</a:t>
            </a:r>
            <a:r>
              <a:rPr lang="en-US" altLang="zh-TW" dirty="0"/>
              <a:t>reader1</a:t>
            </a:r>
            <a:r>
              <a:rPr lang="zh-TW" altLang="en-US" dirty="0"/>
              <a:t>，下面是</a:t>
            </a:r>
            <a:r>
              <a:rPr lang="en-US" altLang="zh-TW" dirty="0"/>
              <a:t>reader2</a:t>
            </a:r>
            <a:r>
              <a:rPr lang="zh-TW" altLang="en-US" dirty="0"/>
              <a:t> 橫軸是</a:t>
            </a:r>
            <a:r>
              <a:rPr lang="en-US" altLang="zh-TW" dirty="0"/>
              <a:t>X</a:t>
            </a:r>
            <a:r>
              <a:rPr lang="zh-TW" altLang="en-US" dirty="0"/>
              <a:t>軸 縱軸是</a:t>
            </a:r>
            <a:r>
              <a:rPr lang="en-US" altLang="zh-TW" dirty="0"/>
              <a:t>Y</a:t>
            </a:r>
            <a:r>
              <a:rPr lang="zh-TW" altLang="en-US" dirty="0"/>
              <a:t>軸，兩張圖分別代表兩個</a:t>
            </a:r>
            <a:r>
              <a:rPr lang="en-US" altLang="zh-TW" dirty="0"/>
              <a:t>reader</a:t>
            </a:r>
            <a:r>
              <a:rPr lang="zh-TW" altLang="en-US" dirty="0"/>
              <a:t>所計算出來</a:t>
            </a:r>
            <a:r>
              <a:rPr lang="en-US" altLang="zh-TW" dirty="0"/>
              <a:t>3</a:t>
            </a:r>
            <a:r>
              <a:rPr lang="zh-TW" altLang="en-US" dirty="0"/>
              <a:t>個</a:t>
            </a:r>
            <a:r>
              <a:rPr lang="en-US" altLang="zh-TW" dirty="0"/>
              <a:t>tracking tag</a:t>
            </a:r>
            <a:r>
              <a:rPr lang="zh-TW" altLang="en-US" dirty="0"/>
              <a:t>的位置以及實際</a:t>
            </a:r>
            <a:r>
              <a:rPr lang="en-US" altLang="zh-TW" dirty="0"/>
              <a:t>tracking</a:t>
            </a:r>
            <a:r>
              <a:rPr lang="zh-TW" altLang="en-US" dirty="0"/>
              <a:t> </a:t>
            </a:r>
            <a:r>
              <a:rPr lang="en-US" altLang="zh-TW" dirty="0"/>
              <a:t>tag</a:t>
            </a:r>
            <a:r>
              <a:rPr lang="zh-TW" altLang="en-US" dirty="0"/>
              <a:t>的位置關西，然後</a:t>
            </a:r>
            <a:r>
              <a:rPr lang="en-US" altLang="zh-TW" dirty="0"/>
              <a:t>reference tag</a:t>
            </a:r>
            <a:r>
              <a:rPr lang="zh-TW" altLang="en-US" dirty="0"/>
              <a:t>是相距</a:t>
            </a:r>
            <a:r>
              <a:rPr lang="en-US" altLang="zh-TW" dirty="0"/>
              <a:t>1</a:t>
            </a:r>
            <a:r>
              <a:rPr lang="zh-TW" altLang="en-US" dirty="0"/>
              <a:t>公尺的。</a:t>
            </a:r>
          </a:p>
        </p:txBody>
      </p:sp>
    </p:spTree>
    <p:extLst>
      <p:ext uri="{BB962C8B-B14F-4D97-AF65-F5344CB8AC3E}">
        <p14:creationId xmlns:p14="http://schemas.microsoft.com/office/powerpoint/2010/main" val="22803049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39700" indent="0">
              <a:buNone/>
            </a:pPr>
            <a:r>
              <a:rPr lang="zh-TW" altLang="en-US" dirty="0"/>
              <a:t>這張圖代表的是誤差以及</a:t>
            </a:r>
            <a:r>
              <a:rPr lang="en-US" altLang="zh-TW" dirty="0"/>
              <a:t>reference tag</a:t>
            </a:r>
            <a:r>
              <a:rPr lang="zh-TW" altLang="en-US" dirty="0"/>
              <a:t>之間距離的關西圖，為了得到更高的精度，我們希望</a:t>
            </a:r>
            <a:r>
              <a:rPr lang="en-US" altLang="zh-TW" dirty="0"/>
              <a:t>reference tag</a:t>
            </a:r>
            <a:r>
              <a:rPr lang="zh-TW" altLang="en-US" dirty="0"/>
              <a:t>越多越好，這樣就有更多</a:t>
            </a:r>
            <a:r>
              <a:rPr lang="en-US" altLang="zh-TW" dirty="0"/>
              <a:t>E</a:t>
            </a:r>
            <a:r>
              <a:rPr lang="zh-TW" altLang="en-US" dirty="0"/>
              <a:t>值去計算他的權重，但是可以看到圖上的</a:t>
            </a:r>
            <a:r>
              <a:rPr lang="en-US" altLang="zh-TW" dirty="0"/>
              <a:t>tag3 </a:t>
            </a:r>
            <a:r>
              <a:rPr lang="zh-TW" altLang="en-US" dirty="0"/>
              <a:t>反而因為距離變大而提升了精準度，作者在這邊給的解釋是說，如果</a:t>
            </a:r>
            <a:r>
              <a:rPr lang="en-US" altLang="zh-TW" dirty="0"/>
              <a:t>tracking tag</a:t>
            </a:r>
            <a:r>
              <a:rPr lang="zh-TW" altLang="en-US" dirty="0"/>
              <a:t>的</a:t>
            </a:r>
            <a:r>
              <a:rPr lang="en-US" altLang="zh-TW" dirty="0"/>
              <a:t>neighbor</a:t>
            </a:r>
            <a:r>
              <a:rPr lang="en-US" altLang="zh-TW" baseline="0" dirty="0"/>
              <a:t> reference tag</a:t>
            </a:r>
            <a:r>
              <a:rPr lang="zh-TW" altLang="en-US" baseline="0" dirty="0"/>
              <a:t>很少， 會導致權重值變高，譬如當一個</a:t>
            </a:r>
            <a:r>
              <a:rPr lang="en-US" altLang="zh-TW" baseline="0" dirty="0"/>
              <a:t>tracking tag </a:t>
            </a:r>
            <a:r>
              <a:rPr lang="zh-TW" altLang="en-US" baseline="0" dirty="0"/>
              <a:t>附近只有一個</a:t>
            </a:r>
            <a:r>
              <a:rPr lang="en-US" altLang="zh-TW" baseline="0" dirty="0"/>
              <a:t>neighbor reference tag</a:t>
            </a:r>
            <a:r>
              <a:rPr lang="zh-TW" altLang="en-US" baseline="0" dirty="0"/>
              <a:t>，這時這個</a:t>
            </a:r>
            <a:r>
              <a:rPr lang="en-US" altLang="zh-TW" baseline="0" dirty="0"/>
              <a:t>reference</a:t>
            </a:r>
            <a:r>
              <a:rPr lang="zh-TW" altLang="en-US" baseline="0" dirty="0"/>
              <a:t> </a:t>
            </a:r>
            <a:r>
              <a:rPr lang="en-US" altLang="zh-TW" baseline="0" dirty="0"/>
              <a:t>tag</a:t>
            </a:r>
            <a:r>
              <a:rPr lang="zh-TW" altLang="en-US" baseline="0" dirty="0"/>
              <a:t>的座標就會被當成</a:t>
            </a:r>
            <a:r>
              <a:rPr lang="en-US" altLang="zh-TW" baseline="0" dirty="0"/>
              <a:t>tracking tag</a:t>
            </a:r>
            <a:r>
              <a:rPr lang="zh-TW" altLang="en-US" baseline="0" dirty="0"/>
              <a:t>的座標。我自己是認為說</a:t>
            </a:r>
            <a:r>
              <a:rPr lang="en-US" altLang="zh-TW" baseline="0" dirty="0"/>
              <a:t>tag3</a:t>
            </a:r>
            <a:r>
              <a:rPr lang="zh-TW" altLang="en-US" baseline="0" dirty="0"/>
              <a:t>在圖上下降的原因是因為</a:t>
            </a:r>
            <a:r>
              <a:rPr lang="en-US" altLang="zh-TW" baseline="0" dirty="0"/>
              <a:t>tracking tag</a:t>
            </a:r>
            <a:r>
              <a:rPr lang="zh-TW" altLang="en-US" baseline="0" dirty="0"/>
              <a:t>本身離一個</a:t>
            </a:r>
            <a:r>
              <a:rPr lang="en-US" altLang="zh-TW" baseline="0" dirty="0"/>
              <a:t>neighbor reference tag</a:t>
            </a:r>
            <a:r>
              <a:rPr lang="zh-TW" altLang="en-US" baseline="0" dirty="0"/>
              <a:t>很近， 所以才可能</a:t>
            </a:r>
            <a:r>
              <a:rPr lang="en-US" altLang="zh-TW" baseline="0" dirty="0"/>
              <a:t>reader </a:t>
            </a:r>
            <a:r>
              <a:rPr lang="zh-TW" altLang="en-US" baseline="0" dirty="0"/>
              <a:t>只收到這兩個</a:t>
            </a:r>
            <a:r>
              <a:rPr lang="en-US" altLang="zh-TW" baseline="0" dirty="0"/>
              <a:t>tag</a:t>
            </a:r>
            <a:r>
              <a:rPr lang="zh-TW" altLang="en-US" baseline="0" dirty="0"/>
              <a:t>的座標，因為是兩個很近的</a:t>
            </a:r>
            <a:r>
              <a:rPr lang="en-US" altLang="zh-TW" baseline="0" dirty="0"/>
              <a:t>tag</a:t>
            </a:r>
            <a:r>
              <a:rPr lang="zh-TW" altLang="en-US" baseline="0" dirty="0"/>
              <a:t>座標 所以誤差值才低。</a:t>
            </a:r>
            <a:endParaRPr lang="en-US" altLang="zh-TW" baseline="0" dirty="0"/>
          </a:p>
          <a:p>
            <a:pPr marL="139700" indent="0">
              <a:buNone/>
            </a:pPr>
            <a:endParaRPr lang="en-US" altLang="zh-TW" baseline="0" dirty="0"/>
          </a:p>
        </p:txBody>
      </p:sp>
    </p:spTree>
    <p:extLst>
      <p:ext uri="{BB962C8B-B14F-4D97-AF65-F5344CB8AC3E}">
        <p14:creationId xmlns:p14="http://schemas.microsoft.com/office/powerpoint/2010/main" val="3744703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3"/>
        <p:cNvGrpSpPr/>
        <p:nvPr/>
      </p:nvGrpSpPr>
      <p:grpSpPr>
        <a:xfrm>
          <a:off x="0" y="0"/>
          <a:ext cx="0" cy="0"/>
          <a:chOff x="0" y="0"/>
          <a:chExt cx="0" cy="0"/>
        </a:xfrm>
      </p:grpSpPr>
      <p:sp>
        <p:nvSpPr>
          <p:cNvPr id="3934" name="Google Shape;3934;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5" name="Google Shape;3935;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本篇論文提出了一種室內定位算法，這個方法使用被動標籤所形成的網格來找出未知標籤的位置，在二維的場景中，定位的平均線性誤差在</a:t>
            </a:r>
            <a:r>
              <a:rPr lang="en-US" altLang="zh-TW" dirty="0"/>
              <a:t>1.05</a:t>
            </a:r>
            <a:r>
              <a:rPr lang="zh-TW" altLang="en-US" dirty="0"/>
              <a:t>公尺左右，實驗也證明了用這個方法若是</a:t>
            </a:r>
            <a:r>
              <a:rPr lang="en-US" altLang="zh-TW" dirty="0"/>
              <a:t>reference tag</a:t>
            </a:r>
            <a:r>
              <a:rPr lang="zh-TW" altLang="en-US" dirty="0"/>
              <a:t>的間距拉大，</a:t>
            </a:r>
            <a:r>
              <a:rPr lang="en-US" altLang="zh-TW" dirty="0"/>
              <a:t>neighbor</a:t>
            </a:r>
            <a:r>
              <a:rPr lang="en-US" altLang="zh-TW" baseline="0" dirty="0"/>
              <a:t> reference tag</a:t>
            </a:r>
            <a:r>
              <a:rPr lang="zh-TW" altLang="en-US" baseline="0" dirty="0"/>
              <a:t>數量減少，就會讓誤差加大。</a:t>
            </a:r>
            <a:endParaRPr lang="en-US" altLang="zh-TW"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156124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4"/>
        <p:cNvGrpSpPr/>
        <p:nvPr/>
      </p:nvGrpSpPr>
      <p:grpSpPr>
        <a:xfrm>
          <a:off x="0" y="0"/>
          <a:ext cx="0" cy="0"/>
          <a:chOff x="0" y="0"/>
          <a:chExt cx="0" cy="0"/>
        </a:xfrm>
      </p:grpSpPr>
      <p:sp>
        <p:nvSpPr>
          <p:cNvPr id="4035" name="Google Shape;4035;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6" name="Google Shape;4036;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3969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5"/>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62000" y="696425"/>
            <a:ext cx="53967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6000"/>
              <a:buNone/>
              <a:defRPr sz="6000">
                <a:solidFill>
                  <a:schemeClr val="accent2"/>
                </a:solidFill>
              </a:defRPr>
            </a:lvl1pPr>
            <a:lvl2pPr lvl="1">
              <a:spcBef>
                <a:spcPts val="0"/>
              </a:spcBef>
              <a:spcAft>
                <a:spcPts val="0"/>
              </a:spcAft>
              <a:buClr>
                <a:schemeClr val="accent2"/>
              </a:buClr>
              <a:buSzPts val="6000"/>
              <a:buNone/>
              <a:defRPr sz="6000">
                <a:solidFill>
                  <a:schemeClr val="accent2"/>
                </a:solidFill>
              </a:defRPr>
            </a:lvl2pPr>
            <a:lvl3pPr lvl="2">
              <a:spcBef>
                <a:spcPts val="0"/>
              </a:spcBef>
              <a:spcAft>
                <a:spcPts val="0"/>
              </a:spcAft>
              <a:buClr>
                <a:schemeClr val="accent2"/>
              </a:buClr>
              <a:buSzPts val="6000"/>
              <a:buNone/>
              <a:defRPr sz="6000">
                <a:solidFill>
                  <a:schemeClr val="accent2"/>
                </a:solidFill>
              </a:defRPr>
            </a:lvl3pPr>
            <a:lvl4pPr lvl="3">
              <a:spcBef>
                <a:spcPts val="0"/>
              </a:spcBef>
              <a:spcAft>
                <a:spcPts val="0"/>
              </a:spcAft>
              <a:buClr>
                <a:schemeClr val="accent2"/>
              </a:buClr>
              <a:buSzPts val="6000"/>
              <a:buNone/>
              <a:defRPr sz="6000">
                <a:solidFill>
                  <a:schemeClr val="accent2"/>
                </a:solidFill>
              </a:defRPr>
            </a:lvl4pPr>
            <a:lvl5pPr lvl="4">
              <a:spcBef>
                <a:spcPts val="0"/>
              </a:spcBef>
              <a:spcAft>
                <a:spcPts val="0"/>
              </a:spcAft>
              <a:buClr>
                <a:schemeClr val="accent2"/>
              </a:buClr>
              <a:buSzPts val="6000"/>
              <a:buNone/>
              <a:defRPr sz="6000">
                <a:solidFill>
                  <a:schemeClr val="accent2"/>
                </a:solidFill>
              </a:defRPr>
            </a:lvl5pPr>
            <a:lvl6pPr lvl="5">
              <a:spcBef>
                <a:spcPts val="0"/>
              </a:spcBef>
              <a:spcAft>
                <a:spcPts val="0"/>
              </a:spcAft>
              <a:buClr>
                <a:schemeClr val="accent2"/>
              </a:buClr>
              <a:buSzPts val="6000"/>
              <a:buNone/>
              <a:defRPr sz="6000">
                <a:solidFill>
                  <a:schemeClr val="accent2"/>
                </a:solidFill>
              </a:defRPr>
            </a:lvl6pPr>
            <a:lvl7pPr lvl="6">
              <a:spcBef>
                <a:spcPts val="0"/>
              </a:spcBef>
              <a:spcAft>
                <a:spcPts val="0"/>
              </a:spcAft>
              <a:buClr>
                <a:schemeClr val="accent2"/>
              </a:buClr>
              <a:buSzPts val="6000"/>
              <a:buNone/>
              <a:defRPr sz="6000">
                <a:solidFill>
                  <a:schemeClr val="accent2"/>
                </a:solidFill>
              </a:defRPr>
            </a:lvl7pPr>
            <a:lvl8pPr lvl="7">
              <a:spcBef>
                <a:spcPts val="0"/>
              </a:spcBef>
              <a:spcAft>
                <a:spcPts val="0"/>
              </a:spcAft>
              <a:buClr>
                <a:schemeClr val="accent2"/>
              </a:buClr>
              <a:buSzPts val="6000"/>
              <a:buNone/>
              <a:defRPr sz="6000">
                <a:solidFill>
                  <a:schemeClr val="accent2"/>
                </a:solidFill>
              </a:defRPr>
            </a:lvl8pPr>
            <a:lvl9pPr lvl="8">
              <a:spcBef>
                <a:spcPts val="0"/>
              </a:spcBef>
              <a:spcAft>
                <a:spcPts val="0"/>
              </a:spcAft>
              <a:buClr>
                <a:schemeClr val="accent2"/>
              </a:buClr>
              <a:buSzPts val="6000"/>
              <a:buNone/>
              <a:defRPr sz="6000">
                <a:solidFill>
                  <a:schemeClr val="accent2"/>
                </a:solidFill>
              </a:defRPr>
            </a:lvl9pPr>
          </a:lstStyle>
          <a:p>
            <a:endParaRPr/>
          </a:p>
        </p:txBody>
      </p:sp>
      <p:grpSp>
        <p:nvGrpSpPr>
          <p:cNvPr id="11" name="Google Shape;11;p2"/>
          <p:cNvGrpSpPr/>
          <p:nvPr/>
        </p:nvGrpSpPr>
        <p:grpSpPr>
          <a:xfrm rot="10800000">
            <a:off x="8705367" y="28698"/>
            <a:ext cx="410132" cy="5086302"/>
            <a:chOff x="836200" y="238125"/>
            <a:chExt cx="422425" cy="5238750"/>
          </a:xfrm>
        </p:grpSpPr>
        <p:sp>
          <p:nvSpPr>
            <p:cNvPr id="12" name="Google Shape;12;p2"/>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2"/>
          <p:cNvGrpSpPr/>
          <p:nvPr/>
        </p:nvGrpSpPr>
        <p:grpSpPr>
          <a:xfrm rot="10800000">
            <a:off x="6659535" y="28698"/>
            <a:ext cx="2309844" cy="5086302"/>
            <a:chOff x="986700" y="238125"/>
            <a:chExt cx="2379075" cy="5238750"/>
          </a:xfrm>
        </p:grpSpPr>
        <p:sp>
          <p:nvSpPr>
            <p:cNvPr id="93" name="Google Shape;93;p2"/>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 name="Google Shape;212;p2"/>
          <p:cNvGrpSpPr/>
          <p:nvPr/>
        </p:nvGrpSpPr>
        <p:grpSpPr>
          <a:xfrm rot="10800000">
            <a:off x="6367294" y="28698"/>
            <a:ext cx="2017554" cy="5086302"/>
            <a:chOff x="1588750" y="238125"/>
            <a:chExt cx="2078025" cy="5238750"/>
          </a:xfrm>
        </p:grpSpPr>
        <p:sp>
          <p:nvSpPr>
            <p:cNvPr id="213" name="Google Shape;213;p2"/>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2"/>
          <p:cNvGrpSpPr/>
          <p:nvPr/>
        </p:nvGrpSpPr>
        <p:grpSpPr>
          <a:xfrm rot="10800000">
            <a:off x="6367294" y="28698"/>
            <a:ext cx="2309820" cy="5086302"/>
            <a:chOff x="1287725" y="238125"/>
            <a:chExt cx="2379050" cy="5238750"/>
          </a:xfrm>
        </p:grpSpPr>
        <p:sp>
          <p:nvSpPr>
            <p:cNvPr id="423" name="Google Shape;423;p2"/>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526"/>
        <p:cNvGrpSpPr/>
        <p:nvPr/>
      </p:nvGrpSpPr>
      <p:grpSpPr>
        <a:xfrm>
          <a:off x="0" y="0"/>
          <a:ext cx="0" cy="0"/>
          <a:chOff x="0" y="0"/>
          <a:chExt cx="0" cy="0"/>
        </a:xfrm>
      </p:grpSpPr>
      <p:sp>
        <p:nvSpPr>
          <p:cNvPr id="527" name="Google Shape;527;p3"/>
          <p:cNvSpPr txBox="1">
            <a:spLocks noGrp="1"/>
          </p:cNvSpPr>
          <p:nvPr>
            <p:ph type="ctrTitle"/>
          </p:nvPr>
        </p:nvSpPr>
        <p:spPr>
          <a:xfrm>
            <a:off x="685800" y="2878750"/>
            <a:ext cx="52689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28" name="Google Shape;528;p3"/>
          <p:cNvSpPr txBox="1">
            <a:spLocks noGrp="1"/>
          </p:cNvSpPr>
          <p:nvPr>
            <p:ph type="subTitle" idx="1"/>
          </p:nvPr>
        </p:nvSpPr>
        <p:spPr>
          <a:xfrm>
            <a:off x="685800" y="3983055"/>
            <a:ext cx="52689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2400"/>
              <a:buNone/>
              <a:defRPr>
                <a:solidFill>
                  <a:schemeClr val="accent2"/>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endParaRPr/>
          </a:p>
        </p:txBody>
      </p:sp>
      <p:grpSp>
        <p:nvGrpSpPr>
          <p:cNvPr id="529" name="Google Shape;529;p3"/>
          <p:cNvGrpSpPr/>
          <p:nvPr/>
        </p:nvGrpSpPr>
        <p:grpSpPr>
          <a:xfrm rot="10800000">
            <a:off x="8705367" y="28698"/>
            <a:ext cx="410132" cy="5086302"/>
            <a:chOff x="836200" y="238125"/>
            <a:chExt cx="422425" cy="5238750"/>
          </a:xfrm>
        </p:grpSpPr>
        <p:sp>
          <p:nvSpPr>
            <p:cNvPr id="530" name="Google Shape;530;p3"/>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 name="Google Shape;610;p3"/>
          <p:cNvGrpSpPr/>
          <p:nvPr/>
        </p:nvGrpSpPr>
        <p:grpSpPr>
          <a:xfrm rot="10800000">
            <a:off x="6659535" y="28698"/>
            <a:ext cx="2309844" cy="5086302"/>
            <a:chOff x="986700" y="238125"/>
            <a:chExt cx="2379075" cy="5238750"/>
          </a:xfrm>
        </p:grpSpPr>
        <p:sp>
          <p:nvSpPr>
            <p:cNvPr id="611" name="Google Shape;611;p3"/>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3"/>
          <p:cNvGrpSpPr/>
          <p:nvPr/>
        </p:nvGrpSpPr>
        <p:grpSpPr>
          <a:xfrm rot="10800000">
            <a:off x="6367294" y="28698"/>
            <a:ext cx="2017554" cy="5086302"/>
            <a:chOff x="1588750" y="238125"/>
            <a:chExt cx="2078025" cy="5238750"/>
          </a:xfrm>
        </p:grpSpPr>
        <p:sp>
          <p:nvSpPr>
            <p:cNvPr id="731" name="Google Shape;731;p3"/>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 name="Google Shape;940;p3"/>
          <p:cNvGrpSpPr/>
          <p:nvPr/>
        </p:nvGrpSpPr>
        <p:grpSpPr>
          <a:xfrm rot="10800000">
            <a:off x="6367294" y="28698"/>
            <a:ext cx="2309820" cy="5086302"/>
            <a:chOff x="1287725" y="238125"/>
            <a:chExt cx="2379050" cy="5238750"/>
          </a:xfrm>
        </p:grpSpPr>
        <p:sp>
          <p:nvSpPr>
            <p:cNvPr id="941" name="Google Shape;941;p3"/>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63"/>
        <p:cNvGrpSpPr/>
        <p:nvPr/>
      </p:nvGrpSpPr>
      <p:grpSpPr>
        <a:xfrm>
          <a:off x="0" y="0"/>
          <a:ext cx="0" cy="0"/>
          <a:chOff x="0" y="0"/>
          <a:chExt cx="0" cy="0"/>
        </a:xfrm>
      </p:grpSpPr>
      <p:sp>
        <p:nvSpPr>
          <p:cNvPr id="1564" name="Google Shape;1564;p5"/>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65" name="Google Shape;1565;p5"/>
          <p:cNvSpPr txBox="1">
            <a:spLocks noGrp="1"/>
          </p:cNvSpPr>
          <p:nvPr>
            <p:ph type="body" idx="1"/>
          </p:nvPr>
        </p:nvSpPr>
        <p:spPr>
          <a:xfrm>
            <a:off x="718300" y="1733550"/>
            <a:ext cx="6761100" cy="29805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grpSp>
        <p:nvGrpSpPr>
          <p:cNvPr id="1566" name="Google Shape;1566;p5"/>
          <p:cNvGrpSpPr/>
          <p:nvPr/>
        </p:nvGrpSpPr>
        <p:grpSpPr>
          <a:xfrm rot="10800000">
            <a:off x="8851487" y="28707"/>
            <a:ext cx="264012" cy="5086302"/>
            <a:chOff x="5307800" y="238125"/>
            <a:chExt cx="271925" cy="5238750"/>
          </a:xfrm>
        </p:grpSpPr>
        <p:sp>
          <p:nvSpPr>
            <p:cNvPr id="1567" name="Google Shape;1567;p5"/>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4" name="Google Shape;1624;p5"/>
          <p:cNvGrpSpPr/>
          <p:nvPr/>
        </p:nvGrpSpPr>
        <p:grpSpPr>
          <a:xfrm rot="10800000">
            <a:off x="7828571" y="28707"/>
            <a:ext cx="1140783" cy="5086302"/>
            <a:chOff x="5458325" y="238125"/>
            <a:chExt cx="1174975" cy="5238750"/>
          </a:xfrm>
        </p:grpSpPr>
        <p:sp>
          <p:nvSpPr>
            <p:cNvPr id="1625" name="Google Shape;1625;p5"/>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7" name="Google Shape;1687;p5"/>
          <p:cNvGrpSpPr/>
          <p:nvPr/>
        </p:nvGrpSpPr>
        <p:grpSpPr>
          <a:xfrm rot="10800000">
            <a:off x="7682451" y="28707"/>
            <a:ext cx="994639" cy="4940182"/>
            <a:chOff x="5759350" y="388625"/>
            <a:chExt cx="1024450" cy="5088250"/>
          </a:xfrm>
        </p:grpSpPr>
        <p:sp>
          <p:nvSpPr>
            <p:cNvPr id="1688" name="Google Shape;1688;p5"/>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5"/>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9" name="Google Shape;1789;p5"/>
          <p:cNvGrpSpPr/>
          <p:nvPr/>
        </p:nvGrpSpPr>
        <p:grpSpPr>
          <a:xfrm rot="10800000">
            <a:off x="7682451" y="28707"/>
            <a:ext cx="1140783" cy="5086302"/>
            <a:chOff x="5608825" y="238125"/>
            <a:chExt cx="1174975" cy="5238750"/>
          </a:xfrm>
        </p:grpSpPr>
        <p:sp>
          <p:nvSpPr>
            <p:cNvPr id="1790" name="Google Shape;1790;p5"/>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0" name="Google Shape;1840;p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841"/>
        <p:cNvGrpSpPr/>
        <p:nvPr/>
      </p:nvGrpSpPr>
      <p:grpSpPr>
        <a:xfrm>
          <a:off x="0" y="0"/>
          <a:ext cx="0" cy="0"/>
          <a:chOff x="0" y="0"/>
          <a:chExt cx="0" cy="0"/>
        </a:xfrm>
      </p:grpSpPr>
      <p:sp>
        <p:nvSpPr>
          <p:cNvPr id="1842" name="Google Shape;1842;p6"/>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843" name="Google Shape;1843;p6"/>
          <p:cNvSpPr txBox="1">
            <a:spLocks noGrp="1"/>
          </p:cNvSpPr>
          <p:nvPr>
            <p:ph type="body" idx="1"/>
          </p:nvPr>
        </p:nvSpPr>
        <p:spPr>
          <a:xfrm>
            <a:off x="718300"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4" name="Google Shape;1844;p6"/>
          <p:cNvSpPr txBox="1">
            <a:spLocks noGrp="1"/>
          </p:cNvSpPr>
          <p:nvPr>
            <p:ph type="body" idx="2"/>
          </p:nvPr>
        </p:nvSpPr>
        <p:spPr>
          <a:xfrm>
            <a:off x="4156071"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5" name="Google Shape;1845;p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1846" name="Google Shape;1846;p6"/>
          <p:cNvGrpSpPr/>
          <p:nvPr/>
        </p:nvGrpSpPr>
        <p:grpSpPr>
          <a:xfrm rot="10800000">
            <a:off x="8851487" y="28707"/>
            <a:ext cx="264012" cy="5086302"/>
            <a:chOff x="5307800" y="238125"/>
            <a:chExt cx="271925" cy="5238750"/>
          </a:xfrm>
        </p:grpSpPr>
        <p:sp>
          <p:nvSpPr>
            <p:cNvPr id="1847" name="Google Shape;1847;p6"/>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6"/>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6"/>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6"/>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6"/>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6"/>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6"/>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6"/>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6"/>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6"/>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6"/>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6"/>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6"/>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6"/>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6"/>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6"/>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6"/>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6"/>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6"/>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6"/>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6"/>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6"/>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6"/>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6"/>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6"/>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6"/>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6"/>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6"/>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6"/>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6"/>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6"/>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6"/>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6"/>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6"/>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4" name="Google Shape;1904;p6"/>
          <p:cNvGrpSpPr/>
          <p:nvPr/>
        </p:nvGrpSpPr>
        <p:grpSpPr>
          <a:xfrm rot="10800000">
            <a:off x="7828571" y="28707"/>
            <a:ext cx="1140783" cy="5086302"/>
            <a:chOff x="5458325" y="238125"/>
            <a:chExt cx="1174975" cy="5238750"/>
          </a:xfrm>
        </p:grpSpPr>
        <p:sp>
          <p:nvSpPr>
            <p:cNvPr id="1905" name="Google Shape;1905;p6"/>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6"/>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6"/>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6"/>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6"/>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6"/>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6"/>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6"/>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6"/>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6"/>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6"/>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6"/>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6"/>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6"/>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6"/>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6"/>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6"/>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7" name="Google Shape;1967;p6"/>
          <p:cNvGrpSpPr/>
          <p:nvPr/>
        </p:nvGrpSpPr>
        <p:grpSpPr>
          <a:xfrm rot="10800000">
            <a:off x="7682451" y="28707"/>
            <a:ext cx="994639" cy="4940182"/>
            <a:chOff x="5759350" y="388625"/>
            <a:chExt cx="1024450" cy="5088250"/>
          </a:xfrm>
        </p:grpSpPr>
        <p:sp>
          <p:nvSpPr>
            <p:cNvPr id="1968" name="Google Shape;1968;p6"/>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6"/>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6"/>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6"/>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6"/>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6"/>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6"/>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6"/>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6"/>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6"/>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6"/>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6"/>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6"/>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6"/>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6"/>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6"/>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6"/>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6"/>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6"/>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6"/>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6"/>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6"/>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6"/>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6"/>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6"/>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6"/>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6"/>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6"/>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6"/>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6"/>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6"/>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6"/>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6"/>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6"/>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6"/>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6"/>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6"/>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6"/>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6"/>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6"/>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6"/>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6"/>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6"/>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6"/>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6"/>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6"/>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6"/>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6"/>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6"/>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6"/>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6"/>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6"/>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6"/>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6"/>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6"/>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6"/>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6"/>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6"/>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6"/>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6"/>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6"/>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6"/>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6"/>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6"/>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6"/>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6"/>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6"/>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6"/>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6"/>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6"/>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6"/>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6"/>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6"/>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6"/>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6"/>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6"/>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6"/>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6"/>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6"/>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6"/>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9" name="Google Shape;2069;p6"/>
          <p:cNvGrpSpPr/>
          <p:nvPr/>
        </p:nvGrpSpPr>
        <p:grpSpPr>
          <a:xfrm rot="10800000">
            <a:off x="7682451" y="28707"/>
            <a:ext cx="1140783" cy="5086302"/>
            <a:chOff x="5608825" y="238125"/>
            <a:chExt cx="1174975" cy="5238750"/>
          </a:xfrm>
        </p:grpSpPr>
        <p:sp>
          <p:nvSpPr>
            <p:cNvPr id="2070" name="Google Shape;2070;p6"/>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6"/>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6"/>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6"/>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6"/>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6"/>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6"/>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6"/>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6"/>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6"/>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6"/>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6"/>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6"/>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6"/>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6"/>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6"/>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6"/>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6"/>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6"/>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6"/>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6"/>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6"/>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6"/>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6"/>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6"/>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6"/>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6"/>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6"/>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6"/>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6"/>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6"/>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6"/>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6"/>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6"/>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6"/>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6"/>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6"/>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6"/>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6"/>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6"/>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6"/>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6"/>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6"/>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6"/>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6"/>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6"/>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6"/>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6"/>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6"/>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6"/>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54"/>
        <p:cNvGrpSpPr/>
        <p:nvPr/>
      </p:nvGrpSpPr>
      <p:grpSpPr>
        <a:xfrm>
          <a:off x="0" y="0"/>
          <a:ext cx="0" cy="0"/>
          <a:chOff x="0" y="0"/>
          <a:chExt cx="0" cy="0"/>
        </a:xfrm>
      </p:grpSpPr>
      <p:sp>
        <p:nvSpPr>
          <p:cNvPr id="2955" name="Google Shape;2955;p10"/>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956" name="Google Shape;2956;p10"/>
          <p:cNvGrpSpPr/>
          <p:nvPr/>
        </p:nvGrpSpPr>
        <p:grpSpPr>
          <a:xfrm rot="10800000">
            <a:off x="8851487" y="28707"/>
            <a:ext cx="264012" cy="5086302"/>
            <a:chOff x="5307800" y="238125"/>
            <a:chExt cx="271925" cy="5238750"/>
          </a:xfrm>
        </p:grpSpPr>
        <p:sp>
          <p:nvSpPr>
            <p:cNvPr id="2957" name="Google Shape;2957;p10"/>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10"/>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10"/>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10"/>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10"/>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10"/>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10"/>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10"/>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10"/>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10"/>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10"/>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10"/>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10"/>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10"/>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10"/>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10"/>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10"/>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10"/>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10"/>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10"/>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10"/>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10"/>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10"/>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10"/>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10"/>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10"/>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10"/>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10"/>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10"/>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10"/>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10"/>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10"/>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10"/>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10"/>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10"/>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10"/>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10"/>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10"/>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10"/>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10"/>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10"/>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10"/>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10"/>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10"/>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10"/>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10"/>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10"/>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10"/>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10"/>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10"/>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10"/>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0"/>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0"/>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0"/>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0"/>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0"/>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0"/>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4" name="Google Shape;3014;p10"/>
          <p:cNvGrpSpPr/>
          <p:nvPr/>
        </p:nvGrpSpPr>
        <p:grpSpPr>
          <a:xfrm rot="10800000">
            <a:off x="7828571" y="28707"/>
            <a:ext cx="1140783" cy="5086302"/>
            <a:chOff x="5458325" y="238125"/>
            <a:chExt cx="1174975" cy="5238750"/>
          </a:xfrm>
        </p:grpSpPr>
        <p:sp>
          <p:nvSpPr>
            <p:cNvPr id="3015" name="Google Shape;3015;p10"/>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10"/>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10"/>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10"/>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10"/>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10"/>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10"/>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10"/>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10"/>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10"/>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10"/>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10"/>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10"/>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10"/>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10"/>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10"/>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10"/>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10"/>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10"/>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10"/>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10"/>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10"/>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10"/>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10"/>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10"/>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10"/>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10"/>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10"/>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10"/>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10"/>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10"/>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10"/>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10"/>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10"/>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10"/>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10"/>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10"/>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10"/>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10"/>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10"/>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10"/>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10"/>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10"/>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10"/>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10"/>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10"/>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10"/>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10"/>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10"/>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10"/>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10"/>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0"/>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0"/>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0"/>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0"/>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0"/>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0"/>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0"/>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10"/>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10"/>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0"/>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0"/>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7" name="Google Shape;3077;p10"/>
          <p:cNvGrpSpPr/>
          <p:nvPr/>
        </p:nvGrpSpPr>
        <p:grpSpPr>
          <a:xfrm rot="10800000">
            <a:off x="7682451" y="28707"/>
            <a:ext cx="994639" cy="4940182"/>
            <a:chOff x="5759350" y="388625"/>
            <a:chExt cx="1024450" cy="5088250"/>
          </a:xfrm>
        </p:grpSpPr>
        <p:sp>
          <p:nvSpPr>
            <p:cNvPr id="3078" name="Google Shape;3078;p10"/>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0"/>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0"/>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0"/>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0"/>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0"/>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0"/>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0"/>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0"/>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0"/>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0"/>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0"/>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10"/>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10"/>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0"/>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0"/>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0"/>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0"/>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0"/>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0"/>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0"/>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0"/>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0"/>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0"/>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0"/>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0"/>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0"/>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0"/>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0"/>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0"/>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0"/>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0"/>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0"/>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0"/>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0"/>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0"/>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0"/>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0"/>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0"/>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0"/>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0"/>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0"/>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0"/>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0"/>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0"/>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0"/>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0"/>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0"/>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0"/>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0"/>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0"/>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0"/>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0"/>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10"/>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0"/>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0"/>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0"/>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0"/>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0"/>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0"/>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0"/>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0"/>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0"/>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0"/>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0"/>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0"/>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10"/>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10"/>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10"/>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10"/>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0"/>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0"/>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0"/>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0"/>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0"/>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0"/>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0"/>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0"/>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0"/>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0"/>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0"/>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0"/>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0"/>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0"/>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0"/>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0"/>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10"/>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10"/>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10"/>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10"/>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10"/>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10"/>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10"/>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10"/>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10"/>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10"/>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10"/>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10"/>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10"/>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10"/>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10"/>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9" name="Google Shape;3179;p10"/>
          <p:cNvGrpSpPr/>
          <p:nvPr/>
        </p:nvGrpSpPr>
        <p:grpSpPr>
          <a:xfrm rot="10800000">
            <a:off x="7682451" y="28707"/>
            <a:ext cx="1140783" cy="5086302"/>
            <a:chOff x="5608825" y="238125"/>
            <a:chExt cx="1174975" cy="5238750"/>
          </a:xfrm>
        </p:grpSpPr>
        <p:sp>
          <p:nvSpPr>
            <p:cNvPr id="3180" name="Google Shape;3180;p10"/>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10"/>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10"/>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10"/>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10"/>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10"/>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10"/>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10"/>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10"/>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10"/>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10"/>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10"/>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10"/>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10"/>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10"/>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10"/>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10"/>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10"/>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10"/>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10"/>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10"/>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10"/>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10"/>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10"/>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10"/>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10"/>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10"/>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10"/>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10"/>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10"/>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10"/>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10"/>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10"/>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10"/>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10"/>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0"/>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0"/>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0"/>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0"/>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0"/>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0"/>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0"/>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0"/>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0"/>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0"/>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0"/>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0"/>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0"/>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0"/>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0"/>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accent5"/>
        </a:solidFill>
        <a:effectLst/>
      </p:bgPr>
    </p:bg>
    <p:spTree>
      <p:nvGrpSpPr>
        <p:cNvPr id="1" name="Shape 3230"/>
        <p:cNvGrpSpPr/>
        <p:nvPr/>
      </p:nvGrpSpPr>
      <p:grpSpPr>
        <a:xfrm>
          <a:off x="0" y="0"/>
          <a:ext cx="0" cy="0"/>
          <a:chOff x="0" y="0"/>
          <a:chExt cx="0" cy="0"/>
        </a:xfrm>
      </p:grpSpPr>
      <p:grpSp>
        <p:nvGrpSpPr>
          <p:cNvPr id="3231" name="Google Shape;3231;p11"/>
          <p:cNvGrpSpPr/>
          <p:nvPr/>
        </p:nvGrpSpPr>
        <p:grpSpPr>
          <a:xfrm rot="10800000">
            <a:off x="8851487" y="28707"/>
            <a:ext cx="264012" cy="5086302"/>
            <a:chOff x="5307800" y="238125"/>
            <a:chExt cx="271925" cy="5238750"/>
          </a:xfrm>
        </p:grpSpPr>
        <p:sp>
          <p:nvSpPr>
            <p:cNvPr id="3232" name="Google Shape;3232;p11"/>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11"/>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11"/>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11"/>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11"/>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11"/>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11"/>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11"/>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11"/>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11"/>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11"/>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11"/>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11"/>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11"/>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11"/>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11"/>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11"/>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11"/>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11"/>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11"/>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11"/>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11"/>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11"/>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11"/>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11"/>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11"/>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11"/>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11"/>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11"/>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11"/>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11"/>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11"/>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11"/>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11"/>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11"/>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11"/>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11"/>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11"/>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11"/>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11"/>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11"/>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11"/>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11"/>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11"/>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11"/>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11"/>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11"/>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11"/>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11"/>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11"/>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11"/>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11"/>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11"/>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11"/>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11"/>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11"/>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11"/>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9" name="Google Shape;3289;p11"/>
          <p:cNvGrpSpPr/>
          <p:nvPr/>
        </p:nvGrpSpPr>
        <p:grpSpPr>
          <a:xfrm rot="10800000">
            <a:off x="7828571" y="28707"/>
            <a:ext cx="1140783" cy="5086302"/>
            <a:chOff x="5458325" y="238125"/>
            <a:chExt cx="1174975" cy="5238750"/>
          </a:xfrm>
        </p:grpSpPr>
        <p:sp>
          <p:nvSpPr>
            <p:cNvPr id="3290" name="Google Shape;3290;p11"/>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11"/>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11"/>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11"/>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11"/>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11"/>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11"/>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11"/>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11"/>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11"/>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11"/>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11"/>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11"/>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11"/>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11"/>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11"/>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11"/>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11"/>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11"/>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11"/>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11"/>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11"/>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11"/>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11"/>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11"/>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11"/>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11"/>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11"/>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11"/>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11"/>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11"/>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11"/>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11"/>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11"/>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11"/>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11"/>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11"/>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11"/>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11"/>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11"/>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11"/>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11"/>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11"/>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11"/>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11"/>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11"/>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11"/>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11"/>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11"/>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11"/>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11"/>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11"/>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11"/>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11"/>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11"/>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11"/>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11"/>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11"/>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11"/>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11"/>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11"/>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11"/>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2" name="Google Shape;3352;p11"/>
          <p:cNvGrpSpPr/>
          <p:nvPr/>
        </p:nvGrpSpPr>
        <p:grpSpPr>
          <a:xfrm rot="10800000">
            <a:off x="7682451" y="28707"/>
            <a:ext cx="994639" cy="4940182"/>
            <a:chOff x="5759350" y="388625"/>
            <a:chExt cx="1024450" cy="5088250"/>
          </a:xfrm>
        </p:grpSpPr>
        <p:sp>
          <p:nvSpPr>
            <p:cNvPr id="3353" name="Google Shape;3353;p11"/>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11"/>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11"/>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11"/>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11"/>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11"/>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11"/>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11"/>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11"/>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11"/>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11"/>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11"/>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11"/>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11"/>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11"/>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11"/>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11"/>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11"/>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11"/>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11"/>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11"/>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11"/>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11"/>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11"/>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11"/>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11"/>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11"/>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11"/>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11"/>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11"/>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11"/>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11"/>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11"/>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11"/>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11"/>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11"/>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11"/>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11"/>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11"/>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11"/>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11"/>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11"/>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11"/>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11"/>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11"/>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11"/>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11"/>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11"/>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11"/>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11"/>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11"/>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11"/>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11"/>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11"/>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11"/>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11"/>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11"/>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11"/>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11"/>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11"/>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11"/>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11"/>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11"/>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11"/>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11"/>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11"/>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11"/>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11"/>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11"/>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11"/>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11"/>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11"/>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11"/>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11"/>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11"/>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11"/>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11"/>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11"/>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11"/>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11"/>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11"/>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11"/>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11"/>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11"/>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11"/>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11"/>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11"/>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11"/>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11"/>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11"/>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11"/>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11"/>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11"/>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11"/>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11"/>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11"/>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11"/>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11"/>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11"/>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11"/>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11"/>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4" name="Google Shape;3454;p11"/>
          <p:cNvGrpSpPr/>
          <p:nvPr/>
        </p:nvGrpSpPr>
        <p:grpSpPr>
          <a:xfrm rot="10800000">
            <a:off x="7682451" y="28707"/>
            <a:ext cx="1140783" cy="5086302"/>
            <a:chOff x="5608825" y="238125"/>
            <a:chExt cx="1174975" cy="5238750"/>
          </a:xfrm>
        </p:grpSpPr>
        <p:sp>
          <p:nvSpPr>
            <p:cNvPr id="3455" name="Google Shape;3455;p11"/>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11"/>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11"/>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11"/>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11"/>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11"/>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11"/>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11"/>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11"/>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11"/>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11"/>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11"/>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11"/>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11"/>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11"/>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11"/>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11"/>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11"/>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11"/>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11"/>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1"/>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1"/>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11"/>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11"/>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11"/>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1"/>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1"/>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11"/>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1"/>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1"/>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1"/>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11"/>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11"/>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1"/>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1"/>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11"/>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11"/>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1"/>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11"/>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1"/>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11"/>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11"/>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1"/>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11"/>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11"/>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1"/>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11"/>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11"/>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1"/>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1"/>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5" name="Google Shape;3505;p1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8300" y="739375"/>
            <a:ext cx="67611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1pPr>
            <a:lvl2pPr lvl="1">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2pPr>
            <a:lvl3pPr lvl="2">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3pPr>
            <a:lvl4pPr lvl="3">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4pPr>
            <a:lvl5pPr lvl="4">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5pPr>
            <a:lvl6pPr lvl="5">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6pPr>
            <a:lvl7pPr lvl="6">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7pPr>
            <a:lvl8pPr lvl="7">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8pPr>
            <a:lvl9pPr lvl="8">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9pPr>
          </a:lstStyle>
          <a:p>
            <a:endParaRPr/>
          </a:p>
        </p:txBody>
      </p:sp>
      <p:sp>
        <p:nvSpPr>
          <p:cNvPr id="7" name="Google Shape;7;p1"/>
          <p:cNvSpPr txBox="1">
            <a:spLocks noGrp="1"/>
          </p:cNvSpPr>
          <p:nvPr>
            <p:ph type="body" idx="1"/>
          </p:nvPr>
        </p:nvSpPr>
        <p:spPr>
          <a:xfrm>
            <a:off x="718300" y="1733550"/>
            <a:ext cx="6761100" cy="29805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1pPr>
            <a:lvl2pPr marL="914400" lvl="1"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2pPr>
            <a:lvl3pPr marL="1371600" lvl="2"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3pPr>
            <a:lvl4pPr marL="1828800" lvl="3"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4pPr>
            <a:lvl5pPr marL="2286000" lvl="4"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5pPr>
            <a:lvl6pPr marL="2743200" lvl="5"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6pPr>
            <a:lvl7pPr marL="3200400" lvl="6"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7pPr>
            <a:lvl8pPr marL="3657600" lvl="7"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8pPr>
            <a:lvl9pPr marL="4114800" lvl="8"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9pPr>
          </a:lstStyle>
          <a:p>
            <a:endParaRPr/>
          </a:p>
        </p:txBody>
      </p:sp>
      <p:sp>
        <p:nvSpPr>
          <p:cNvPr id="8" name="Google Shape;8;p1"/>
          <p:cNvSpPr txBox="1">
            <a:spLocks noGrp="1"/>
          </p:cNvSpPr>
          <p:nvPr>
            <p:ph type="sldNum" idx="12"/>
          </p:nvPr>
        </p:nvSpPr>
        <p:spPr>
          <a:xfrm>
            <a:off x="91531" y="4720201"/>
            <a:ext cx="548700" cy="393600"/>
          </a:xfrm>
          <a:prstGeom prst="rect">
            <a:avLst/>
          </a:prstGeom>
          <a:noFill/>
          <a:ln>
            <a:noFill/>
          </a:ln>
        </p:spPr>
        <p:txBody>
          <a:bodyPr spcFirstLastPara="1" wrap="square" lIns="91425" tIns="91425" rIns="91425" bIns="91425" anchor="ctr" anchorCtr="0">
            <a:noAutofit/>
          </a:bodyPr>
          <a:lstStyle>
            <a:lvl1pPr lvl="0">
              <a:buNone/>
              <a:defRPr sz="1200">
                <a:solidFill>
                  <a:schemeClr val="dk2"/>
                </a:solidFill>
                <a:latin typeface="Dosis ExtraLight"/>
                <a:ea typeface="Dosis ExtraLight"/>
                <a:cs typeface="Dosis ExtraLight"/>
                <a:sym typeface="Dosis ExtraLight"/>
              </a:defRPr>
            </a:lvl1pPr>
            <a:lvl2pPr lvl="1">
              <a:buNone/>
              <a:defRPr sz="1200">
                <a:solidFill>
                  <a:schemeClr val="dk2"/>
                </a:solidFill>
                <a:latin typeface="Dosis ExtraLight"/>
                <a:ea typeface="Dosis ExtraLight"/>
                <a:cs typeface="Dosis ExtraLight"/>
                <a:sym typeface="Dosis ExtraLight"/>
              </a:defRPr>
            </a:lvl2pPr>
            <a:lvl3pPr lvl="2">
              <a:buNone/>
              <a:defRPr sz="1200">
                <a:solidFill>
                  <a:schemeClr val="dk2"/>
                </a:solidFill>
                <a:latin typeface="Dosis ExtraLight"/>
                <a:ea typeface="Dosis ExtraLight"/>
                <a:cs typeface="Dosis ExtraLight"/>
                <a:sym typeface="Dosis ExtraLight"/>
              </a:defRPr>
            </a:lvl3pPr>
            <a:lvl4pPr lvl="3">
              <a:buNone/>
              <a:defRPr sz="1200">
                <a:solidFill>
                  <a:schemeClr val="dk2"/>
                </a:solidFill>
                <a:latin typeface="Dosis ExtraLight"/>
                <a:ea typeface="Dosis ExtraLight"/>
                <a:cs typeface="Dosis ExtraLight"/>
                <a:sym typeface="Dosis ExtraLight"/>
              </a:defRPr>
            </a:lvl4pPr>
            <a:lvl5pPr lvl="4">
              <a:buNone/>
              <a:defRPr sz="1200">
                <a:solidFill>
                  <a:schemeClr val="dk2"/>
                </a:solidFill>
                <a:latin typeface="Dosis ExtraLight"/>
                <a:ea typeface="Dosis ExtraLight"/>
                <a:cs typeface="Dosis ExtraLight"/>
                <a:sym typeface="Dosis ExtraLight"/>
              </a:defRPr>
            </a:lvl5pPr>
            <a:lvl6pPr lvl="5">
              <a:buNone/>
              <a:defRPr sz="1200">
                <a:solidFill>
                  <a:schemeClr val="dk2"/>
                </a:solidFill>
                <a:latin typeface="Dosis ExtraLight"/>
                <a:ea typeface="Dosis ExtraLight"/>
                <a:cs typeface="Dosis ExtraLight"/>
                <a:sym typeface="Dosis ExtraLight"/>
              </a:defRPr>
            </a:lvl6pPr>
            <a:lvl7pPr lvl="6">
              <a:buNone/>
              <a:defRPr sz="1200">
                <a:solidFill>
                  <a:schemeClr val="dk2"/>
                </a:solidFill>
                <a:latin typeface="Dosis ExtraLight"/>
                <a:ea typeface="Dosis ExtraLight"/>
                <a:cs typeface="Dosis ExtraLight"/>
                <a:sym typeface="Dosis ExtraLight"/>
              </a:defRPr>
            </a:lvl7pPr>
            <a:lvl8pPr lvl="7">
              <a:buNone/>
              <a:defRPr sz="1200">
                <a:solidFill>
                  <a:schemeClr val="dk2"/>
                </a:solidFill>
                <a:latin typeface="Dosis ExtraLight"/>
                <a:ea typeface="Dosis ExtraLight"/>
                <a:cs typeface="Dosis ExtraLight"/>
                <a:sym typeface="Dosis ExtraLight"/>
              </a:defRPr>
            </a:lvl8pPr>
            <a:lvl9pPr lvl="8">
              <a:buNone/>
              <a:defRPr sz="1200">
                <a:solidFill>
                  <a:schemeClr val="dk2"/>
                </a:solidFill>
                <a:latin typeface="Dosis ExtraLight"/>
                <a:ea typeface="Dosis ExtraLight"/>
                <a:cs typeface="Dosis ExtraLight"/>
                <a:sym typeface="Dosis ExtraLigh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6" r:id="rId5"/>
    <p:sldLayoutId id="2147483657"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4.png"/><Relationship Id="rId3" Type="http://schemas.openxmlformats.org/officeDocument/2006/relationships/image" Target="../media/image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0.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35"/>
        <p:cNvGrpSpPr/>
        <p:nvPr/>
      </p:nvGrpSpPr>
      <p:grpSpPr>
        <a:xfrm>
          <a:off x="0" y="0"/>
          <a:ext cx="0" cy="0"/>
          <a:chOff x="0" y="0"/>
          <a:chExt cx="0" cy="0"/>
        </a:xfrm>
      </p:grpSpPr>
      <p:sp>
        <p:nvSpPr>
          <p:cNvPr id="3836" name="Google Shape;3836;p13"/>
          <p:cNvSpPr txBox="1">
            <a:spLocks noGrp="1"/>
          </p:cNvSpPr>
          <p:nvPr>
            <p:ph type="ctrTitle"/>
          </p:nvPr>
        </p:nvSpPr>
        <p:spPr>
          <a:xfrm>
            <a:off x="247135" y="498717"/>
            <a:ext cx="5878614" cy="1159800"/>
          </a:xfrm>
          <a:prstGeom prst="rect">
            <a:avLst/>
          </a:prstGeom>
        </p:spPr>
        <p:txBody>
          <a:bodyPr spcFirstLastPara="1" wrap="square" lIns="91425" tIns="91425" rIns="91425" bIns="91425" anchor="t" anchorCtr="0">
            <a:noAutofit/>
          </a:bodyPr>
          <a:lstStyle/>
          <a:p>
            <a:pPr lvl="0" algn="ctr"/>
            <a:r>
              <a:rPr lang="en-US" sz="4400" dirty="0"/>
              <a:t>Passive RFID-Based Indoor Positioning System, </a:t>
            </a:r>
            <a:br>
              <a:rPr lang="en-US" sz="4400" dirty="0"/>
            </a:br>
            <a:r>
              <a:rPr lang="en-US" sz="4400" dirty="0"/>
              <a:t>An Algorithmic Approach</a:t>
            </a:r>
            <a:endParaRPr sz="4400" dirty="0"/>
          </a:p>
        </p:txBody>
      </p:sp>
      <p:sp>
        <p:nvSpPr>
          <p:cNvPr id="2" name="矩形 1">
            <a:extLst>
              <a:ext uri="{FF2B5EF4-FFF2-40B4-BE49-F238E27FC236}">
                <a16:creationId xmlns:a16="http://schemas.microsoft.com/office/drawing/2014/main" id="{0A3FA827-3F89-45B7-9D1F-B91B31B4E41D}"/>
              </a:ext>
            </a:extLst>
          </p:cNvPr>
          <p:cNvSpPr/>
          <p:nvPr/>
        </p:nvSpPr>
        <p:spPr>
          <a:xfrm>
            <a:off x="900442" y="3583838"/>
            <a:ext cx="4572000" cy="954107"/>
          </a:xfrm>
          <a:prstGeom prst="rect">
            <a:avLst/>
          </a:prstGeom>
        </p:spPr>
        <p:txBody>
          <a:bodyPr>
            <a:spAutoFit/>
          </a:bodyPr>
          <a:lstStyle/>
          <a:p>
            <a:pPr algn="ctr"/>
            <a:r>
              <a:rPr lang="en-US" altLang="zh-TW" dirty="0">
                <a:solidFill>
                  <a:schemeClr val="bg1">
                    <a:lumMod val="85000"/>
                  </a:schemeClr>
                </a:solidFill>
              </a:rPr>
              <a:t>2010 IEEE International Conference on RFID-Technology and Applications</a:t>
            </a:r>
          </a:p>
          <a:p>
            <a:pPr algn="ctr"/>
            <a:endParaRPr lang="en-US" altLang="zh-TW" dirty="0">
              <a:solidFill>
                <a:schemeClr val="bg1">
                  <a:lumMod val="85000"/>
                </a:schemeClr>
              </a:solidFill>
            </a:endParaRPr>
          </a:p>
          <a:p>
            <a:pPr algn="ctr"/>
            <a:r>
              <a:rPr lang="en-US" altLang="zh-TW" dirty="0">
                <a:solidFill>
                  <a:schemeClr val="bg1">
                    <a:lumMod val="85000"/>
                  </a:schemeClr>
                </a:solidFill>
              </a:rPr>
              <a:t>Farhan Manzoor, Yi Huang, </a:t>
            </a:r>
            <a:r>
              <a:rPr lang="en-US" altLang="zh-TW" dirty="0" err="1">
                <a:solidFill>
                  <a:schemeClr val="bg1">
                    <a:lumMod val="85000"/>
                  </a:schemeClr>
                </a:solidFill>
              </a:rPr>
              <a:t>Karsten</a:t>
            </a:r>
            <a:r>
              <a:rPr lang="en-US" altLang="zh-TW" dirty="0">
                <a:solidFill>
                  <a:schemeClr val="bg1">
                    <a:lumMod val="85000"/>
                  </a:schemeClr>
                </a:solidFill>
              </a:rPr>
              <a:t> Menzel</a:t>
            </a:r>
            <a:endParaRPr lang="zh-TW" altLang="en-US" dirty="0">
              <a:solidFill>
                <a:schemeClr val="bg1">
                  <a:lumMod val="8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Introduction</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In a passive RFID system, the reader antennas send off radio frequency waves which through backscattering generate enough current to “</a:t>
            </a:r>
            <a:r>
              <a:rPr lang="en-US" altLang="zh-TW" sz="1800" dirty="0">
                <a:solidFill>
                  <a:schemeClr val="accent1">
                    <a:lumMod val="50000"/>
                  </a:schemeClr>
                </a:solidFill>
              </a:rPr>
              <a:t>wake up</a:t>
            </a:r>
            <a:r>
              <a:rPr lang="en-US" altLang="zh-TW" sz="1800" dirty="0"/>
              <a:t>” an RFID tag consisting of an IC chip and an antenna.</a:t>
            </a:r>
          </a:p>
          <a:p>
            <a:endParaRPr lang="en-US" altLang="zh-TW" sz="1800" dirty="0"/>
          </a:p>
          <a:p>
            <a:r>
              <a:rPr lang="en-US" altLang="zh-TW" sz="1800" dirty="0"/>
              <a:t>The chip responds back to the reader by modulating the reflected backscattered signal typically using </a:t>
            </a:r>
            <a:r>
              <a:rPr lang="en-US" altLang="zh-TW" sz="1800" b="1" dirty="0">
                <a:solidFill>
                  <a:schemeClr val="accent1">
                    <a:lumMod val="50000"/>
                  </a:schemeClr>
                </a:solidFill>
              </a:rPr>
              <a:t>Impulse Modulation</a:t>
            </a:r>
            <a:r>
              <a:rPr lang="en-US" altLang="zh-TW" sz="1800" dirty="0"/>
              <a:t> </a:t>
            </a:r>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dirty="0"/>
              <a:t>Related Works</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081500"/>
            <a:ext cx="6761100" cy="2980500"/>
          </a:xfrm>
        </p:spPr>
        <p:txBody>
          <a:bodyPr/>
          <a:lstStyle/>
          <a:p>
            <a:pPr lvl="1"/>
            <a:endParaRPr lang="en-US" altLang="zh-TW" sz="1800" dirty="0"/>
          </a:p>
          <a:p>
            <a:r>
              <a:rPr lang="en-US" altLang="zh-TW" sz="1800" b="1" dirty="0" err="1"/>
              <a:t>SpotON</a:t>
            </a:r>
            <a:r>
              <a:rPr lang="en-US" altLang="zh-TW" sz="1800" dirty="0"/>
              <a:t> – </a:t>
            </a:r>
          </a:p>
          <a:p>
            <a:pPr lvl="1"/>
            <a:r>
              <a:rPr lang="en-US" altLang="zh-TW" sz="1800" dirty="0"/>
              <a:t>a new tagging technology for three dimensional location sensing based on radio signal strength analysis.</a:t>
            </a:r>
          </a:p>
          <a:p>
            <a:pPr lvl="1"/>
            <a:endParaRPr lang="en-US" altLang="zh-TW" sz="1800" dirty="0"/>
          </a:p>
          <a:p>
            <a:r>
              <a:rPr lang="en-US" altLang="zh-TW" sz="1800" b="1" dirty="0" err="1"/>
              <a:t>LandMARC</a:t>
            </a:r>
            <a:r>
              <a:rPr lang="en-US" altLang="zh-TW" sz="1800" dirty="0"/>
              <a:t> – </a:t>
            </a:r>
          </a:p>
          <a:p>
            <a:pPr lvl="1"/>
            <a:r>
              <a:rPr lang="en-US" altLang="zh-TW" sz="1800" dirty="0"/>
              <a:t>The major advantage of LANDMARC is that it improves the overall accuracy of locating objects by utilizing the concept of reference tags.</a:t>
            </a:r>
          </a:p>
          <a:p>
            <a:endParaRPr lang="en-US" altLang="zh-TW" sz="1800"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spTree>
    <p:extLst>
      <p:ext uri="{BB962C8B-B14F-4D97-AF65-F5344CB8AC3E}">
        <p14:creationId xmlns:p14="http://schemas.microsoft.com/office/powerpoint/2010/main" val="997423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80582A-CEFB-41B6-B571-CC0064DF4447}"/>
              </a:ext>
            </a:extLst>
          </p:cNvPr>
          <p:cNvSpPr>
            <a:spLocks noGrp="1"/>
          </p:cNvSpPr>
          <p:nvPr>
            <p:ph type="title"/>
          </p:nvPr>
        </p:nvSpPr>
        <p:spPr/>
        <p:txBody>
          <a:bodyPr/>
          <a:lstStyle/>
          <a:p>
            <a:endParaRPr lang="zh-TW" altLang="en-US"/>
          </a:p>
        </p:txBody>
      </p:sp>
      <p:sp>
        <p:nvSpPr>
          <p:cNvPr id="3" name="文字版面配置區 2">
            <a:extLst>
              <a:ext uri="{FF2B5EF4-FFF2-40B4-BE49-F238E27FC236}">
                <a16:creationId xmlns:a16="http://schemas.microsoft.com/office/drawing/2014/main" id="{ADE6EC3F-0634-41C7-80FC-8831E6F9EC49}"/>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7E397DF-72DB-4F37-AFA1-188674CCCB5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4</a:t>
            </a:fld>
            <a:endParaRPr lang="en"/>
          </a:p>
        </p:txBody>
      </p:sp>
      <p:pic>
        <p:nvPicPr>
          <p:cNvPr id="5" name="圖片 4">
            <a:extLst>
              <a:ext uri="{FF2B5EF4-FFF2-40B4-BE49-F238E27FC236}">
                <a16:creationId xmlns:a16="http://schemas.microsoft.com/office/drawing/2014/main" id="{55B44398-006D-46E5-9D62-C411B0D7AC59}"/>
              </a:ext>
            </a:extLst>
          </p:cNvPr>
          <p:cNvPicPr>
            <a:picLocks noChangeAspect="1"/>
          </p:cNvPicPr>
          <p:nvPr/>
        </p:nvPicPr>
        <p:blipFill>
          <a:blip r:embed="rId2"/>
          <a:stretch>
            <a:fillRect/>
          </a:stretch>
        </p:blipFill>
        <p:spPr>
          <a:xfrm>
            <a:off x="1810952" y="739375"/>
            <a:ext cx="4219575" cy="3933825"/>
          </a:xfrm>
          <a:prstGeom prst="rect">
            <a:avLst/>
          </a:prstGeom>
        </p:spPr>
      </p:pic>
    </p:spTree>
    <p:extLst>
      <p:ext uri="{BB962C8B-B14F-4D97-AF65-F5344CB8AC3E}">
        <p14:creationId xmlns:p14="http://schemas.microsoft.com/office/powerpoint/2010/main" val="2043354575"/>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Experimental Setup</a:t>
            </a:r>
            <a:endParaRPr dirty="0"/>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a:t>
            </a:fld>
            <a:endParaRPr/>
          </a:p>
        </p:txBody>
      </p:sp>
      <p:graphicFrame>
        <p:nvGraphicFramePr>
          <p:cNvPr id="4" name="表格 3">
            <a:extLst>
              <a:ext uri="{FF2B5EF4-FFF2-40B4-BE49-F238E27FC236}">
                <a16:creationId xmlns:a16="http://schemas.microsoft.com/office/drawing/2014/main" id="{A30E0448-1983-4F62-8C99-34DBC318A2DB}"/>
              </a:ext>
            </a:extLst>
          </p:cNvPr>
          <p:cNvGraphicFramePr>
            <a:graphicFrameLocks noGrp="1"/>
          </p:cNvGraphicFramePr>
          <p:nvPr>
            <p:extLst>
              <p:ext uri="{D42A27DB-BD31-4B8C-83A1-F6EECF244321}">
                <p14:modId xmlns:p14="http://schemas.microsoft.com/office/powerpoint/2010/main" val="3951639389"/>
              </p:ext>
            </p:extLst>
          </p:nvPr>
        </p:nvGraphicFramePr>
        <p:xfrm>
          <a:off x="718300" y="1643620"/>
          <a:ext cx="6096000" cy="2225040"/>
        </p:xfrm>
        <a:graphic>
          <a:graphicData uri="http://schemas.openxmlformats.org/drawingml/2006/table">
            <a:tbl>
              <a:tblPr firstRow="1" bandRow="1">
                <a:tableStyleId>{5FD0F851-EC5A-4D38-B0AD-8093EC10F338}</a:tableStyleId>
              </a:tblPr>
              <a:tblGrid>
                <a:gridCol w="3048000">
                  <a:extLst>
                    <a:ext uri="{9D8B030D-6E8A-4147-A177-3AD203B41FA5}">
                      <a16:colId xmlns:a16="http://schemas.microsoft.com/office/drawing/2014/main" val="2926446216"/>
                    </a:ext>
                  </a:extLst>
                </a:gridCol>
                <a:gridCol w="3048000">
                  <a:extLst>
                    <a:ext uri="{9D8B030D-6E8A-4147-A177-3AD203B41FA5}">
                      <a16:colId xmlns:a16="http://schemas.microsoft.com/office/drawing/2014/main" val="2820705609"/>
                    </a:ext>
                  </a:extLst>
                </a:gridCol>
              </a:tblGrid>
              <a:tr h="370840">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193602139"/>
                  </a:ext>
                </a:extLst>
              </a:tr>
              <a:tr h="370840">
                <a:tc>
                  <a:txBody>
                    <a:bodyPr/>
                    <a:lstStyle/>
                    <a:p>
                      <a:r>
                        <a:rPr lang="en-US" altLang="zh-TW" dirty="0"/>
                        <a:t>Readers</a:t>
                      </a:r>
                      <a:endParaRPr lang="zh-TW" altLang="en-US" dirty="0"/>
                    </a:p>
                  </a:txBody>
                  <a:tcPr/>
                </a:tc>
                <a:tc>
                  <a:txBody>
                    <a:bodyPr/>
                    <a:lstStyle/>
                    <a:p>
                      <a:r>
                        <a:rPr lang="en-US" altLang="zh-TW" sz="1400" b="0" i="0" u="none" strike="noStrike" cap="none" dirty="0">
                          <a:solidFill>
                            <a:schemeClr val="tx1"/>
                          </a:solidFill>
                          <a:effectLst/>
                          <a:latin typeface="+mn-lt"/>
                          <a:ea typeface="+mn-ea"/>
                          <a:cs typeface="+mn-cs"/>
                          <a:sym typeface="Arial"/>
                        </a:rPr>
                        <a:t>long-range fixed UHF RFID readers</a:t>
                      </a:r>
                      <a:endParaRPr lang="zh-TW" altLang="en-US" dirty="0"/>
                    </a:p>
                  </a:txBody>
                  <a:tcPr/>
                </a:tc>
                <a:extLst>
                  <a:ext uri="{0D108BD9-81ED-4DB2-BD59-A6C34878D82A}">
                    <a16:rowId xmlns:a16="http://schemas.microsoft.com/office/drawing/2014/main" val="309419589"/>
                  </a:ext>
                </a:extLst>
              </a:tr>
              <a:tr h="370840">
                <a:tc>
                  <a:txBody>
                    <a:bodyPr/>
                    <a:lstStyle/>
                    <a:p>
                      <a:r>
                        <a:rPr lang="en-US" altLang="zh-TW" sz="1400" b="0" i="0" u="none" strike="noStrike" cap="none" dirty="0">
                          <a:solidFill>
                            <a:schemeClr val="tx1"/>
                          </a:solidFill>
                          <a:effectLst/>
                          <a:latin typeface="+mn-lt"/>
                          <a:ea typeface="+mn-ea"/>
                          <a:cs typeface="+mn-cs"/>
                          <a:sym typeface="Arial"/>
                        </a:rPr>
                        <a:t>Antennas</a:t>
                      </a:r>
                      <a:endParaRPr lang="zh-TW" altLang="en-US" dirty="0"/>
                    </a:p>
                  </a:txBody>
                  <a:tcPr/>
                </a:tc>
                <a:tc>
                  <a:txBody>
                    <a:bodyPr/>
                    <a:lstStyle/>
                    <a:p>
                      <a:r>
                        <a:rPr lang="en-US" altLang="zh-TW" sz="1400" b="0" i="0" u="none" strike="noStrike" cap="none" dirty="0">
                          <a:solidFill>
                            <a:schemeClr val="tx1"/>
                          </a:solidFill>
                          <a:effectLst/>
                          <a:latin typeface="+mn-lt"/>
                          <a:ea typeface="+mn-ea"/>
                          <a:cs typeface="+mn-cs"/>
                          <a:sym typeface="Arial"/>
                        </a:rPr>
                        <a:t>circularly polarized UHF antennas</a:t>
                      </a:r>
                      <a:endParaRPr lang="zh-TW" altLang="en-US" dirty="0"/>
                    </a:p>
                  </a:txBody>
                  <a:tcPr/>
                </a:tc>
                <a:extLst>
                  <a:ext uri="{0D108BD9-81ED-4DB2-BD59-A6C34878D82A}">
                    <a16:rowId xmlns:a16="http://schemas.microsoft.com/office/drawing/2014/main" val="1361922375"/>
                  </a:ext>
                </a:extLst>
              </a:tr>
              <a:tr h="370840">
                <a:tc>
                  <a:txBody>
                    <a:bodyPr/>
                    <a:lstStyle/>
                    <a:p>
                      <a:r>
                        <a:rPr lang="en-US" altLang="zh-TW" sz="1400" b="0" i="0" u="none" strike="noStrike" cap="none" dirty="0">
                          <a:solidFill>
                            <a:schemeClr val="tx1"/>
                          </a:solidFill>
                          <a:effectLst/>
                          <a:latin typeface="+mn-lt"/>
                          <a:ea typeface="+mn-ea"/>
                          <a:cs typeface="+mn-cs"/>
                          <a:sym typeface="Arial"/>
                        </a:rPr>
                        <a:t>frequency</a:t>
                      </a:r>
                      <a:endParaRPr lang="zh-TW" altLang="en-US" dirty="0"/>
                    </a:p>
                  </a:txBody>
                  <a:tcPr/>
                </a:tc>
                <a:tc>
                  <a:txBody>
                    <a:bodyPr/>
                    <a:lstStyle/>
                    <a:p>
                      <a:r>
                        <a:rPr lang="en-US" altLang="zh-TW" sz="1400" b="0" i="0" u="none" strike="noStrike" cap="none" dirty="0">
                          <a:solidFill>
                            <a:schemeClr val="tx1"/>
                          </a:solidFill>
                          <a:effectLst/>
                          <a:latin typeface="+mn-lt"/>
                          <a:ea typeface="+mn-ea"/>
                          <a:cs typeface="+mn-cs"/>
                          <a:sym typeface="Arial"/>
                        </a:rPr>
                        <a:t>865–870 MHz</a:t>
                      </a:r>
                      <a:endParaRPr lang="zh-TW" altLang="en-US" dirty="0"/>
                    </a:p>
                  </a:txBody>
                  <a:tcPr/>
                </a:tc>
                <a:extLst>
                  <a:ext uri="{0D108BD9-81ED-4DB2-BD59-A6C34878D82A}">
                    <a16:rowId xmlns:a16="http://schemas.microsoft.com/office/drawing/2014/main" val="1621404438"/>
                  </a:ext>
                </a:extLst>
              </a:tr>
              <a:tr h="370840">
                <a:tc>
                  <a:txBody>
                    <a:bodyPr/>
                    <a:lstStyle/>
                    <a:p>
                      <a:r>
                        <a:rPr lang="en-US" altLang="zh-TW" dirty="0"/>
                        <a:t>RFID tag</a:t>
                      </a:r>
                      <a:endParaRPr lang="zh-TW" altLang="en-US" dirty="0"/>
                    </a:p>
                  </a:txBody>
                  <a:tcPr/>
                </a:tc>
                <a:tc>
                  <a:txBody>
                    <a:bodyPr/>
                    <a:lstStyle/>
                    <a:p>
                      <a:r>
                        <a:rPr lang="en-US" altLang="zh-TW" sz="1400" b="0" i="0" u="none" strike="noStrike" cap="none" dirty="0">
                          <a:solidFill>
                            <a:schemeClr val="tx1"/>
                          </a:solidFill>
                          <a:effectLst/>
                          <a:latin typeface="+mn-lt"/>
                          <a:ea typeface="+mn-ea"/>
                          <a:cs typeface="+mn-cs"/>
                          <a:sym typeface="Arial"/>
                        </a:rPr>
                        <a:t>passive UHF (EU) RFID tags</a:t>
                      </a:r>
                      <a:endParaRPr lang="zh-TW" altLang="en-US" dirty="0"/>
                    </a:p>
                  </a:txBody>
                  <a:tcPr/>
                </a:tc>
                <a:extLst>
                  <a:ext uri="{0D108BD9-81ED-4DB2-BD59-A6C34878D82A}">
                    <a16:rowId xmlns:a16="http://schemas.microsoft.com/office/drawing/2014/main" val="3182431761"/>
                  </a:ext>
                </a:extLst>
              </a:tr>
              <a:tr h="370840">
                <a:tc>
                  <a:txBody>
                    <a:bodyPr/>
                    <a:lstStyle/>
                    <a:p>
                      <a:r>
                        <a:rPr lang="en-US" altLang="zh-TW" dirty="0"/>
                        <a:t>Power</a:t>
                      </a:r>
                    </a:p>
                  </a:txBody>
                  <a:tcPr/>
                </a:tc>
                <a:tc>
                  <a:txBody>
                    <a:bodyPr/>
                    <a:lstStyle/>
                    <a:p>
                      <a:r>
                        <a:rPr lang="pl-PL" altLang="zh-TW" dirty="0"/>
                        <a:t>100 mW to 4 W (100 mW steps).</a:t>
                      </a:r>
                      <a:endParaRPr lang="zh-TW" altLang="en-US" dirty="0"/>
                    </a:p>
                  </a:txBody>
                  <a:tcPr/>
                </a:tc>
                <a:extLst>
                  <a:ext uri="{0D108BD9-81ED-4DB2-BD59-A6C34878D82A}">
                    <a16:rowId xmlns:a16="http://schemas.microsoft.com/office/drawing/2014/main" val="2075210479"/>
                  </a:ext>
                </a:extLst>
              </a:tr>
            </a:tbl>
          </a:graphicData>
        </a:graphic>
      </p:graphicFrame>
    </p:spTree>
    <p:extLst>
      <p:ext uri="{BB962C8B-B14F-4D97-AF65-F5344CB8AC3E}">
        <p14:creationId xmlns:p14="http://schemas.microsoft.com/office/powerpoint/2010/main" val="783582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162657-93C8-444D-8420-47CD7C8B8BF8}"/>
              </a:ext>
            </a:extLst>
          </p:cNvPr>
          <p:cNvSpPr>
            <a:spLocks noGrp="1"/>
          </p:cNvSpPr>
          <p:nvPr>
            <p:ph type="title"/>
          </p:nvPr>
        </p:nvSpPr>
        <p:spPr/>
        <p:txBody>
          <a:bodyPr/>
          <a:lstStyle/>
          <a:p>
            <a:endParaRPr lang="zh-TW" altLang="en-US"/>
          </a:p>
        </p:txBody>
      </p:sp>
      <p:sp>
        <p:nvSpPr>
          <p:cNvPr id="4" name="投影片編號版面配置區 3">
            <a:extLst>
              <a:ext uri="{FF2B5EF4-FFF2-40B4-BE49-F238E27FC236}">
                <a16:creationId xmlns:a16="http://schemas.microsoft.com/office/drawing/2014/main" id="{CFE2E4D5-0376-47B0-BACA-1385277E638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6</a:t>
            </a:fld>
            <a:endParaRPr lang="en"/>
          </a:p>
        </p:txBody>
      </p:sp>
      <p:pic>
        <p:nvPicPr>
          <p:cNvPr id="6" name="圖片 5">
            <a:extLst>
              <a:ext uri="{FF2B5EF4-FFF2-40B4-BE49-F238E27FC236}">
                <a16:creationId xmlns:a16="http://schemas.microsoft.com/office/drawing/2014/main" id="{A1DCE6F8-D2E4-4838-86C1-380542E337AD}"/>
              </a:ext>
            </a:extLst>
          </p:cNvPr>
          <p:cNvPicPr>
            <a:picLocks noChangeAspect="1"/>
          </p:cNvPicPr>
          <p:nvPr/>
        </p:nvPicPr>
        <p:blipFill>
          <a:blip r:embed="rId3"/>
          <a:stretch>
            <a:fillRect/>
          </a:stretch>
        </p:blipFill>
        <p:spPr>
          <a:xfrm>
            <a:off x="1561853" y="209550"/>
            <a:ext cx="5238750" cy="4724400"/>
          </a:xfrm>
          <a:prstGeom prst="rect">
            <a:avLst/>
          </a:prstGeom>
        </p:spPr>
      </p:pic>
      <p:sp>
        <p:nvSpPr>
          <p:cNvPr id="7" name="橢圓 6">
            <a:extLst>
              <a:ext uri="{FF2B5EF4-FFF2-40B4-BE49-F238E27FC236}">
                <a16:creationId xmlns:a16="http://schemas.microsoft.com/office/drawing/2014/main" id="{BECCE13D-1771-4E3A-9E13-6A17FD5799C8}"/>
              </a:ext>
            </a:extLst>
          </p:cNvPr>
          <p:cNvSpPr/>
          <p:nvPr/>
        </p:nvSpPr>
        <p:spPr>
          <a:xfrm>
            <a:off x="3789931" y="1596775"/>
            <a:ext cx="617838" cy="792198"/>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9" name="橢圓 8">
            <a:extLst>
              <a:ext uri="{FF2B5EF4-FFF2-40B4-BE49-F238E27FC236}">
                <a16:creationId xmlns:a16="http://schemas.microsoft.com/office/drawing/2014/main" id="{BBCC7EF8-8121-4E46-A2BB-B83EC2A54F49}"/>
              </a:ext>
            </a:extLst>
          </p:cNvPr>
          <p:cNvSpPr/>
          <p:nvPr/>
        </p:nvSpPr>
        <p:spPr>
          <a:xfrm>
            <a:off x="1973488" y="2754528"/>
            <a:ext cx="617838" cy="792198"/>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 name="橢圓 9">
            <a:extLst>
              <a:ext uri="{FF2B5EF4-FFF2-40B4-BE49-F238E27FC236}">
                <a16:creationId xmlns:a16="http://schemas.microsoft.com/office/drawing/2014/main" id="{163C1A28-48AD-4069-8E7C-70D1ABF21C98}"/>
              </a:ext>
            </a:extLst>
          </p:cNvPr>
          <p:cNvSpPr/>
          <p:nvPr/>
        </p:nvSpPr>
        <p:spPr>
          <a:xfrm>
            <a:off x="5754656" y="1065434"/>
            <a:ext cx="617838" cy="792198"/>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CA8100C2-532A-4D8E-8082-6C277948BD34}"/>
              </a:ext>
            </a:extLst>
          </p:cNvPr>
          <p:cNvSpPr txBox="1"/>
          <p:nvPr/>
        </p:nvSpPr>
        <p:spPr>
          <a:xfrm>
            <a:off x="6254989" y="1784334"/>
            <a:ext cx="1327158" cy="276999"/>
          </a:xfrm>
          <a:prstGeom prst="rect">
            <a:avLst/>
          </a:prstGeom>
          <a:noFill/>
        </p:spPr>
        <p:txBody>
          <a:bodyPr wrap="square" rtlCol="0">
            <a:spAutoFit/>
          </a:bodyPr>
          <a:lstStyle/>
          <a:p>
            <a:r>
              <a:rPr lang="en-US" altLang="zh-TW" sz="1200" b="1" dirty="0">
                <a:solidFill>
                  <a:srgbClr val="FF0000"/>
                </a:solidFill>
              </a:rPr>
              <a:t>Tracking tag 4</a:t>
            </a:r>
            <a:endParaRPr lang="zh-TW" altLang="en-US" sz="1200" b="1" dirty="0">
              <a:solidFill>
                <a:srgbClr val="FF0000"/>
              </a:solidFill>
            </a:endParaRPr>
          </a:p>
        </p:txBody>
      </p:sp>
      <p:sp>
        <p:nvSpPr>
          <p:cNvPr id="12" name="文字方塊 11">
            <a:extLst>
              <a:ext uri="{FF2B5EF4-FFF2-40B4-BE49-F238E27FC236}">
                <a16:creationId xmlns:a16="http://schemas.microsoft.com/office/drawing/2014/main" id="{9125143D-C2D8-42CA-BB8E-0A681C5D6CE4}"/>
              </a:ext>
            </a:extLst>
          </p:cNvPr>
          <p:cNvSpPr txBox="1"/>
          <p:nvPr/>
        </p:nvSpPr>
        <p:spPr>
          <a:xfrm>
            <a:off x="4181228" y="2433250"/>
            <a:ext cx="1327158" cy="276999"/>
          </a:xfrm>
          <a:prstGeom prst="rect">
            <a:avLst/>
          </a:prstGeom>
          <a:noFill/>
        </p:spPr>
        <p:txBody>
          <a:bodyPr wrap="square" rtlCol="0">
            <a:spAutoFit/>
          </a:bodyPr>
          <a:lstStyle/>
          <a:p>
            <a:r>
              <a:rPr lang="en-US" altLang="zh-TW" sz="1200" b="1" dirty="0">
                <a:solidFill>
                  <a:srgbClr val="FF0000"/>
                </a:solidFill>
              </a:rPr>
              <a:t>Tracking tag 2</a:t>
            </a:r>
            <a:endParaRPr lang="zh-TW" altLang="en-US" sz="1200" b="1" dirty="0">
              <a:solidFill>
                <a:srgbClr val="FF0000"/>
              </a:solidFill>
            </a:endParaRPr>
          </a:p>
        </p:txBody>
      </p:sp>
      <p:sp>
        <p:nvSpPr>
          <p:cNvPr id="13" name="文字方塊 12">
            <a:extLst>
              <a:ext uri="{FF2B5EF4-FFF2-40B4-BE49-F238E27FC236}">
                <a16:creationId xmlns:a16="http://schemas.microsoft.com/office/drawing/2014/main" id="{CBEADAC6-9550-4DF7-8F33-F31B51451FE5}"/>
              </a:ext>
            </a:extLst>
          </p:cNvPr>
          <p:cNvSpPr txBox="1"/>
          <p:nvPr/>
        </p:nvSpPr>
        <p:spPr>
          <a:xfrm>
            <a:off x="2267146" y="3546726"/>
            <a:ext cx="1327158" cy="276999"/>
          </a:xfrm>
          <a:prstGeom prst="rect">
            <a:avLst/>
          </a:prstGeom>
          <a:noFill/>
        </p:spPr>
        <p:txBody>
          <a:bodyPr wrap="square" rtlCol="0">
            <a:spAutoFit/>
          </a:bodyPr>
          <a:lstStyle/>
          <a:p>
            <a:r>
              <a:rPr lang="en-US" altLang="zh-TW" sz="1200" b="1" dirty="0">
                <a:solidFill>
                  <a:srgbClr val="FF0000"/>
                </a:solidFill>
              </a:rPr>
              <a:t>Tracking tag 1</a:t>
            </a:r>
            <a:endParaRPr lang="zh-TW" altLang="en-US" sz="1200" b="1" dirty="0">
              <a:solidFill>
                <a:srgbClr val="FF0000"/>
              </a:solidFill>
            </a:endParaRPr>
          </a:p>
        </p:txBody>
      </p:sp>
      <p:sp>
        <p:nvSpPr>
          <p:cNvPr id="14" name="文字方塊 13">
            <a:extLst>
              <a:ext uri="{FF2B5EF4-FFF2-40B4-BE49-F238E27FC236}">
                <a16:creationId xmlns:a16="http://schemas.microsoft.com/office/drawing/2014/main" id="{4604C31C-5096-4CC5-A506-1DFD999F1F66}"/>
              </a:ext>
            </a:extLst>
          </p:cNvPr>
          <p:cNvSpPr txBox="1"/>
          <p:nvPr/>
        </p:nvSpPr>
        <p:spPr>
          <a:xfrm>
            <a:off x="4813621" y="4581701"/>
            <a:ext cx="1327158" cy="276999"/>
          </a:xfrm>
          <a:prstGeom prst="rect">
            <a:avLst/>
          </a:prstGeom>
          <a:noFill/>
        </p:spPr>
        <p:txBody>
          <a:bodyPr wrap="square" rtlCol="0">
            <a:spAutoFit/>
          </a:bodyPr>
          <a:lstStyle/>
          <a:p>
            <a:r>
              <a:rPr lang="en-US" altLang="zh-TW" sz="1200" b="1" dirty="0">
                <a:solidFill>
                  <a:srgbClr val="FF0000"/>
                </a:solidFill>
              </a:rPr>
              <a:t>Tracking tag 3</a:t>
            </a:r>
            <a:endParaRPr lang="zh-TW" altLang="en-US" sz="1200" b="1" dirty="0">
              <a:solidFill>
                <a:srgbClr val="FF0000"/>
              </a:solidFill>
            </a:endParaRPr>
          </a:p>
        </p:txBody>
      </p:sp>
      <p:sp>
        <p:nvSpPr>
          <p:cNvPr id="15" name="橢圓 14">
            <a:extLst>
              <a:ext uri="{FF2B5EF4-FFF2-40B4-BE49-F238E27FC236}">
                <a16:creationId xmlns:a16="http://schemas.microsoft.com/office/drawing/2014/main" id="{1520D631-1766-4D4F-BE13-C6361BF0CBA7}"/>
              </a:ext>
            </a:extLst>
          </p:cNvPr>
          <p:cNvSpPr/>
          <p:nvPr/>
        </p:nvSpPr>
        <p:spPr>
          <a:xfrm>
            <a:off x="4504702" y="3882166"/>
            <a:ext cx="617838" cy="792198"/>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6" name="矩形: 圓角 15">
            <a:extLst>
              <a:ext uri="{FF2B5EF4-FFF2-40B4-BE49-F238E27FC236}">
                <a16:creationId xmlns:a16="http://schemas.microsoft.com/office/drawing/2014/main" id="{9C86F69F-2B22-4E26-A8C9-0B5F23439F24}"/>
              </a:ext>
            </a:extLst>
          </p:cNvPr>
          <p:cNvSpPr/>
          <p:nvPr/>
        </p:nvSpPr>
        <p:spPr>
          <a:xfrm>
            <a:off x="1898349" y="3964460"/>
            <a:ext cx="737594" cy="651463"/>
          </a:xfrm>
          <a:prstGeom prst="roundRect">
            <a:avLst/>
          </a:prstGeom>
          <a:noFill/>
          <a:ln>
            <a:solidFill>
              <a:schemeClr val="accent5">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圓角 16">
            <a:extLst>
              <a:ext uri="{FF2B5EF4-FFF2-40B4-BE49-F238E27FC236}">
                <a16:creationId xmlns:a16="http://schemas.microsoft.com/office/drawing/2014/main" id="{4CCB76DD-3104-4D51-80A6-CF00EAD065DB}"/>
              </a:ext>
            </a:extLst>
          </p:cNvPr>
          <p:cNvSpPr/>
          <p:nvPr/>
        </p:nvSpPr>
        <p:spPr>
          <a:xfrm>
            <a:off x="5694778" y="478518"/>
            <a:ext cx="737594" cy="651463"/>
          </a:xfrm>
          <a:prstGeom prst="roundRect">
            <a:avLst/>
          </a:prstGeom>
          <a:noFill/>
          <a:ln>
            <a:solidFill>
              <a:schemeClr val="accent5">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CDB02633-3D3E-41B9-AB2F-787787E511AB}"/>
              </a:ext>
            </a:extLst>
          </p:cNvPr>
          <p:cNvSpPr txBox="1"/>
          <p:nvPr/>
        </p:nvSpPr>
        <p:spPr>
          <a:xfrm>
            <a:off x="1860579" y="4743608"/>
            <a:ext cx="1327158" cy="276999"/>
          </a:xfrm>
          <a:prstGeom prst="rect">
            <a:avLst/>
          </a:prstGeom>
          <a:noFill/>
        </p:spPr>
        <p:txBody>
          <a:bodyPr wrap="square" rtlCol="0">
            <a:spAutoFit/>
          </a:bodyPr>
          <a:lstStyle/>
          <a:p>
            <a:r>
              <a:rPr lang="en-US" altLang="zh-TW" sz="1200" b="1" dirty="0">
                <a:solidFill>
                  <a:schemeClr val="accent5">
                    <a:lumMod val="50000"/>
                    <a:lumOff val="50000"/>
                  </a:schemeClr>
                </a:solidFill>
              </a:rPr>
              <a:t>Reader 1</a:t>
            </a:r>
            <a:endParaRPr lang="zh-TW" altLang="en-US" sz="1200" b="1" dirty="0">
              <a:solidFill>
                <a:schemeClr val="accent5">
                  <a:lumMod val="50000"/>
                  <a:lumOff val="50000"/>
                </a:schemeClr>
              </a:solidFill>
            </a:endParaRPr>
          </a:p>
        </p:txBody>
      </p:sp>
      <p:sp>
        <p:nvSpPr>
          <p:cNvPr id="19" name="文字方塊 18">
            <a:extLst>
              <a:ext uri="{FF2B5EF4-FFF2-40B4-BE49-F238E27FC236}">
                <a16:creationId xmlns:a16="http://schemas.microsoft.com/office/drawing/2014/main" id="{A446E6A0-22F7-4DA0-9CAD-D1912936FA1D}"/>
              </a:ext>
            </a:extLst>
          </p:cNvPr>
          <p:cNvSpPr txBox="1"/>
          <p:nvPr/>
        </p:nvSpPr>
        <p:spPr>
          <a:xfrm>
            <a:off x="6441526" y="665749"/>
            <a:ext cx="1327158" cy="276999"/>
          </a:xfrm>
          <a:prstGeom prst="rect">
            <a:avLst/>
          </a:prstGeom>
          <a:noFill/>
        </p:spPr>
        <p:txBody>
          <a:bodyPr wrap="square" rtlCol="0">
            <a:spAutoFit/>
          </a:bodyPr>
          <a:lstStyle/>
          <a:p>
            <a:r>
              <a:rPr lang="en-US" altLang="zh-TW" sz="1200" b="1" dirty="0">
                <a:solidFill>
                  <a:schemeClr val="accent5">
                    <a:lumMod val="50000"/>
                    <a:lumOff val="50000"/>
                  </a:schemeClr>
                </a:solidFill>
              </a:rPr>
              <a:t>Reader 2</a:t>
            </a:r>
            <a:endParaRPr lang="zh-TW" altLang="en-US" sz="1200" b="1" dirty="0">
              <a:solidFill>
                <a:schemeClr val="accent5">
                  <a:lumMod val="50000"/>
                  <a:lumOff val="50000"/>
                </a:schemeClr>
              </a:solidFill>
            </a:endParaRPr>
          </a:p>
        </p:txBody>
      </p:sp>
    </p:spTree>
    <p:extLst>
      <p:ext uri="{BB962C8B-B14F-4D97-AF65-F5344CB8AC3E}">
        <p14:creationId xmlns:p14="http://schemas.microsoft.com/office/powerpoint/2010/main" val="1358009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8257A23-D2B0-4549-9749-945B34863AB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7</a:t>
            </a:fld>
            <a:endParaRPr lang="en"/>
          </a:p>
        </p:txBody>
      </p:sp>
      <p:pic>
        <p:nvPicPr>
          <p:cNvPr id="6" name="圖片 5">
            <a:extLst>
              <a:ext uri="{FF2B5EF4-FFF2-40B4-BE49-F238E27FC236}">
                <a16:creationId xmlns:a16="http://schemas.microsoft.com/office/drawing/2014/main" id="{4E5AD5C9-4488-48D7-B74B-9137B2317135}"/>
              </a:ext>
            </a:extLst>
          </p:cNvPr>
          <p:cNvPicPr>
            <a:picLocks noChangeAspect="1"/>
          </p:cNvPicPr>
          <p:nvPr/>
        </p:nvPicPr>
        <p:blipFill>
          <a:blip r:embed="rId3"/>
          <a:stretch>
            <a:fillRect/>
          </a:stretch>
        </p:blipFill>
        <p:spPr>
          <a:xfrm>
            <a:off x="202973" y="0"/>
            <a:ext cx="5162272" cy="5143500"/>
          </a:xfrm>
          <a:prstGeom prst="rect">
            <a:avLst/>
          </a:prstGeom>
        </p:spPr>
      </p:pic>
      <p:sp>
        <p:nvSpPr>
          <p:cNvPr id="7" name="矩形 6">
            <a:extLst>
              <a:ext uri="{FF2B5EF4-FFF2-40B4-BE49-F238E27FC236}">
                <a16:creationId xmlns:a16="http://schemas.microsoft.com/office/drawing/2014/main" id="{0A00B423-634C-4006-9701-0C71D7DE527B}"/>
              </a:ext>
            </a:extLst>
          </p:cNvPr>
          <p:cNvSpPr/>
          <p:nvPr/>
        </p:nvSpPr>
        <p:spPr>
          <a:xfrm>
            <a:off x="1589903" y="739375"/>
            <a:ext cx="411892" cy="17502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R1</a:t>
            </a:r>
            <a:endParaRPr lang="zh-TW" altLang="en-US" dirty="0"/>
          </a:p>
        </p:txBody>
      </p:sp>
      <p:sp>
        <p:nvSpPr>
          <p:cNvPr id="9" name="矩形 8">
            <a:extLst>
              <a:ext uri="{FF2B5EF4-FFF2-40B4-BE49-F238E27FC236}">
                <a16:creationId xmlns:a16="http://schemas.microsoft.com/office/drawing/2014/main" id="{14AB4595-CC0C-4195-9FF5-A8CBC9612F57}"/>
              </a:ext>
            </a:extLst>
          </p:cNvPr>
          <p:cNvSpPr/>
          <p:nvPr/>
        </p:nvSpPr>
        <p:spPr>
          <a:xfrm>
            <a:off x="4090086" y="3412554"/>
            <a:ext cx="411892" cy="17502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R2</a:t>
            </a:r>
            <a:endParaRPr lang="zh-TW" altLang="en-US" dirty="0"/>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B9EDDCC6-DD5E-48EC-A278-07C333DAC00B}"/>
                  </a:ext>
                </a:extLst>
              </p:cNvPr>
              <p:cNvSpPr/>
              <p:nvPr/>
            </p:nvSpPr>
            <p:spPr>
              <a:xfrm>
                <a:off x="5046743" y="1917385"/>
                <a:ext cx="438040" cy="142073"/>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𝑇</m:t>
                          </m:r>
                        </m:sub>
                      </m:sSub>
                    </m:oMath>
                  </m:oMathPara>
                </a14:m>
                <a:endParaRPr lang="zh-TW" altLang="en-US" dirty="0"/>
              </a:p>
            </p:txBody>
          </p:sp>
        </mc:Choice>
        <mc:Fallback xmlns="">
          <p:sp>
            <p:nvSpPr>
              <p:cNvPr id="10" name="矩形 9">
                <a:extLst>
                  <a:ext uri="{FF2B5EF4-FFF2-40B4-BE49-F238E27FC236}">
                    <a16:creationId xmlns:a16="http://schemas.microsoft.com/office/drawing/2014/main" id="{B9EDDCC6-DD5E-48EC-A278-07C333DAC00B}"/>
                  </a:ext>
                </a:extLst>
              </p:cNvPr>
              <p:cNvSpPr>
                <a:spLocks noRot="1" noChangeAspect="1" noMove="1" noResize="1" noEditPoints="1" noAdjustHandles="1" noChangeArrowheads="1" noChangeShapeType="1" noTextEdit="1"/>
              </p:cNvSpPr>
              <p:nvPr/>
            </p:nvSpPr>
            <p:spPr>
              <a:xfrm>
                <a:off x="5046743" y="1917385"/>
                <a:ext cx="438040" cy="142073"/>
              </a:xfrm>
              <a:prstGeom prst="rect">
                <a:avLst/>
              </a:prstGeom>
              <a:blipFill>
                <a:blip r:embed="rId4"/>
                <a:stretch>
                  <a:fillRect t="-3704" b="-37037"/>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486F5F2-995C-4D45-9DB9-974328451A28}"/>
                  </a:ext>
                </a:extLst>
              </p:cNvPr>
              <p:cNvSpPr/>
              <p:nvPr/>
            </p:nvSpPr>
            <p:spPr>
              <a:xfrm>
                <a:off x="1782775" y="1192787"/>
                <a:ext cx="411892" cy="111313"/>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𝑅</m:t>
                          </m:r>
                        </m:sub>
                      </m:sSub>
                    </m:oMath>
                  </m:oMathPara>
                </a14:m>
                <a:endParaRPr lang="zh-TW" altLang="en-US" dirty="0"/>
              </a:p>
            </p:txBody>
          </p:sp>
        </mc:Choice>
        <mc:Fallback xmlns="">
          <p:sp>
            <p:nvSpPr>
              <p:cNvPr id="11" name="矩形 10">
                <a:extLst>
                  <a:ext uri="{FF2B5EF4-FFF2-40B4-BE49-F238E27FC236}">
                    <a16:creationId xmlns:a16="http://schemas.microsoft.com/office/drawing/2014/main" id="{B486F5F2-995C-4D45-9DB9-974328451A28}"/>
                  </a:ext>
                </a:extLst>
              </p:cNvPr>
              <p:cNvSpPr>
                <a:spLocks noRot="1" noChangeAspect="1" noMove="1" noResize="1" noEditPoints="1" noAdjustHandles="1" noChangeArrowheads="1" noChangeShapeType="1" noTextEdit="1"/>
              </p:cNvSpPr>
              <p:nvPr/>
            </p:nvSpPr>
            <p:spPr>
              <a:xfrm>
                <a:off x="1782775" y="1192787"/>
                <a:ext cx="411892" cy="111313"/>
              </a:xfrm>
              <a:prstGeom prst="rect">
                <a:avLst/>
              </a:prstGeom>
              <a:blipFill>
                <a:blip r:embed="rId5"/>
                <a:stretch>
                  <a:fillRect t="-13636" b="-54545"/>
                </a:stretch>
              </a:blipFill>
              <a:ln>
                <a:solidFill>
                  <a:schemeClr val="bg1"/>
                </a:solidFill>
              </a:ln>
            </p:spPr>
            <p:txBody>
              <a:bodyPr/>
              <a:lstStyle/>
              <a:p>
                <a:r>
                  <a:rPr lang="zh-TW" altLang="en-US">
                    <a:noFill/>
                  </a:rPr>
                  <a:t> </a:t>
                </a:r>
              </a:p>
            </p:txBody>
          </p:sp>
        </mc:Fallback>
      </mc:AlternateContent>
      <p:sp>
        <p:nvSpPr>
          <p:cNvPr id="12" name="矩形 11">
            <a:extLst>
              <a:ext uri="{FF2B5EF4-FFF2-40B4-BE49-F238E27FC236}">
                <a16:creationId xmlns:a16="http://schemas.microsoft.com/office/drawing/2014/main" id="{066D0779-B90C-41E7-BCDB-A906C3ED88E5}"/>
              </a:ext>
            </a:extLst>
          </p:cNvPr>
          <p:cNvSpPr/>
          <p:nvPr/>
        </p:nvSpPr>
        <p:spPr>
          <a:xfrm>
            <a:off x="4833276" y="1248443"/>
            <a:ext cx="411892" cy="17502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T</a:t>
            </a:r>
            <a:endParaRPr lang="zh-TW" altLang="en-US" dirty="0"/>
          </a:p>
        </p:txBody>
      </p:sp>
      <p:sp>
        <p:nvSpPr>
          <p:cNvPr id="13" name="矩形 12">
            <a:extLst>
              <a:ext uri="{FF2B5EF4-FFF2-40B4-BE49-F238E27FC236}">
                <a16:creationId xmlns:a16="http://schemas.microsoft.com/office/drawing/2014/main" id="{FB0C0208-6FB3-4C1E-9104-8FFBC7987943}"/>
              </a:ext>
            </a:extLst>
          </p:cNvPr>
          <p:cNvSpPr/>
          <p:nvPr/>
        </p:nvSpPr>
        <p:spPr>
          <a:xfrm>
            <a:off x="2928551" y="1141432"/>
            <a:ext cx="411892" cy="17502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E</a:t>
            </a:r>
            <a:endParaRPr lang="zh-TW" altLang="en-US" dirty="0"/>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865CDD44-A19F-4C85-A75E-8B423D5349CB}"/>
                  </a:ext>
                </a:extLst>
              </p:cNvPr>
              <p:cNvSpPr/>
              <p:nvPr/>
            </p:nvSpPr>
            <p:spPr>
              <a:xfrm>
                <a:off x="3652046" y="1946901"/>
                <a:ext cx="438040" cy="142073"/>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𝑇</m:t>
                          </m:r>
                        </m:sub>
                      </m:sSub>
                    </m:oMath>
                  </m:oMathPara>
                </a14:m>
                <a:endParaRPr lang="zh-TW" altLang="en-US" dirty="0"/>
              </a:p>
            </p:txBody>
          </p:sp>
        </mc:Choice>
        <mc:Fallback xmlns="">
          <p:sp>
            <p:nvSpPr>
              <p:cNvPr id="14" name="矩形 13">
                <a:extLst>
                  <a:ext uri="{FF2B5EF4-FFF2-40B4-BE49-F238E27FC236}">
                    <a16:creationId xmlns:a16="http://schemas.microsoft.com/office/drawing/2014/main" id="{865CDD44-A19F-4C85-A75E-8B423D5349CB}"/>
                  </a:ext>
                </a:extLst>
              </p:cNvPr>
              <p:cNvSpPr>
                <a:spLocks noRot="1" noChangeAspect="1" noMove="1" noResize="1" noEditPoints="1" noAdjustHandles="1" noChangeArrowheads="1" noChangeShapeType="1" noTextEdit="1"/>
              </p:cNvSpPr>
              <p:nvPr/>
            </p:nvSpPr>
            <p:spPr>
              <a:xfrm>
                <a:off x="3652046" y="1946901"/>
                <a:ext cx="438040" cy="142073"/>
              </a:xfrm>
              <a:prstGeom prst="rect">
                <a:avLst/>
              </a:prstGeom>
              <a:blipFill>
                <a:blip r:embed="rId6"/>
                <a:stretch>
                  <a:fillRect b="-35714"/>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8EBAC378-5035-432F-B2D2-E0D0040ACE7B}"/>
                  </a:ext>
                </a:extLst>
              </p:cNvPr>
              <p:cNvSpPr/>
              <p:nvPr/>
            </p:nvSpPr>
            <p:spPr>
              <a:xfrm>
                <a:off x="1589903" y="1686475"/>
                <a:ext cx="494270" cy="188687"/>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𝑅</m:t>
                          </m:r>
                        </m:sub>
                      </m:sSub>
                    </m:oMath>
                  </m:oMathPara>
                </a14:m>
                <a:endParaRPr lang="zh-TW" altLang="en-US" dirty="0"/>
              </a:p>
            </p:txBody>
          </p:sp>
        </mc:Choice>
        <mc:Fallback xmlns="">
          <p:sp>
            <p:nvSpPr>
              <p:cNvPr id="15" name="矩形 14">
                <a:extLst>
                  <a:ext uri="{FF2B5EF4-FFF2-40B4-BE49-F238E27FC236}">
                    <a16:creationId xmlns:a16="http://schemas.microsoft.com/office/drawing/2014/main" id="{8EBAC378-5035-432F-B2D2-E0D0040ACE7B}"/>
                  </a:ext>
                </a:extLst>
              </p:cNvPr>
              <p:cNvSpPr>
                <a:spLocks noRot="1" noChangeAspect="1" noMove="1" noResize="1" noEditPoints="1" noAdjustHandles="1" noChangeArrowheads="1" noChangeShapeType="1" noTextEdit="1"/>
              </p:cNvSpPr>
              <p:nvPr/>
            </p:nvSpPr>
            <p:spPr>
              <a:xfrm>
                <a:off x="1589903" y="1686475"/>
                <a:ext cx="494270" cy="188687"/>
              </a:xfrm>
              <a:prstGeom prst="rect">
                <a:avLst/>
              </a:prstGeom>
              <a:blipFill>
                <a:blip r:embed="rId7"/>
                <a:stretch>
                  <a:fillRect b="-17143"/>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80F16802-2488-4766-B6D1-58D758A8F35E}"/>
                  </a:ext>
                </a:extLst>
              </p:cNvPr>
              <p:cNvSpPr/>
              <p:nvPr/>
            </p:nvSpPr>
            <p:spPr>
              <a:xfrm>
                <a:off x="977611" y="1272390"/>
                <a:ext cx="725996" cy="111314"/>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𝑅</m:t>
                        </m:r>
                      </m:sub>
                    </m:sSub>
                  </m:oMath>
                </a14:m>
                <a:r>
                  <a:rPr lang="en-US" altLang="zh-TW" sz="1200" dirty="0"/>
                  <a:t>, </a:t>
                </a:r>
                <a14:m>
                  <m:oMath xmlns:m="http://schemas.openxmlformats.org/officeDocument/2006/math">
                    <m:sSub>
                      <m:sSubPr>
                        <m:ctrlPr>
                          <a:rPr lang="en-US" altLang="zh-TW" sz="1200" i="1">
                            <a:latin typeface="Cambria Math" panose="02040503050406030204" pitchFamily="18" charset="0"/>
                          </a:rPr>
                        </m:ctrlPr>
                      </m:sSubPr>
                      <m:e>
                        <m:r>
                          <a:rPr lang="en-US" altLang="zh-TW" sz="1200" b="0" i="1" smtClean="0">
                            <a:latin typeface="Cambria Math" panose="02040503050406030204" pitchFamily="18" charset="0"/>
                          </a:rPr>
                          <m:t>𝑦</m:t>
                        </m:r>
                      </m:e>
                      <m:sub>
                        <m:r>
                          <a:rPr lang="en-US" altLang="zh-TW" sz="1200" b="0" i="1" smtClean="0">
                            <a:latin typeface="Cambria Math" panose="02040503050406030204" pitchFamily="18" charset="0"/>
                          </a:rPr>
                          <m:t>𝑅</m:t>
                        </m:r>
                      </m:sub>
                    </m:sSub>
                  </m:oMath>
                </a14:m>
                <a:r>
                  <a:rPr lang="en-US" altLang="zh-TW" sz="1200" dirty="0"/>
                  <a:t>)</a:t>
                </a:r>
                <a:endParaRPr lang="zh-TW" altLang="en-US" sz="1200" dirty="0"/>
              </a:p>
            </p:txBody>
          </p:sp>
        </mc:Choice>
        <mc:Fallback xmlns="">
          <p:sp>
            <p:nvSpPr>
              <p:cNvPr id="16" name="矩形 15">
                <a:extLst>
                  <a:ext uri="{FF2B5EF4-FFF2-40B4-BE49-F238E27FC236}">
                    <a16:creationId xmlns:a16="http://schemas.microsoft.com/office/drawing/2014/main" id="{80F16802-2488-4766-B6D1-58D758A8F35E}"/>
                  </a:ext>
                </a:extLst>
              </p:cNvPr>
              <p:cNvSpPr>
                <a:spLocks noRot="1" noChangeAspect="1" noMove="1" noResize="1" noEditPoints="1" noAdjustHandles="1" noChangeArrowheads="1" noChangeShapeType="1" noTextEdit="1"/>
              </p:cNvSpPr>
              <p:nvPr/>
            </p:nvSpPr>
            <p:spPr>
              <a:xfrm>
                <a:off x="977611" y="1272390"/>
                <a:ext cx="725996" cy="111314"/>
              </a:xfrm>
              <a:prstGeom prst="rect">
                <a:avLst/>
              </a:prstGeom>
              <a:blipFill>
                <a:blip r:embed="rId8"/>
                <a:stretch>
                  <a:fillRect t="-59091" b="-81818"/>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0244B0F0-B0A1-4CDA-9A0F-9B119BC56DC2}"/>
                  </a:ext>
                </a:extLst>
              </p:cNvPr>
              <p:cNvSpPr/>
              <p:nvPr/>
            </p:nvSpPr>
            <p:spPr>
              <a:xfrm>
                <a:off x="4831300" y="1468825"/>
                <a:ext cx="725996" cy="17502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𝑇</m:t>
                        </m:r>
                      </m:sub>
                    </m:sSub>
                  </m:oMath>
                </a14:m>
                <a:r>
                  <a:rPr lang="en-US" altLang="zh-TW" sz="1200" dirty="0"/>
                  <a:t>, </a:t>
                </a:r>
                <a14:m>
                  <m:oMath xmlns:m="http://schemas.openxmlformats.org/officeDocument/2006/math">
                    <m:sSub>
                      <m:sSubPr>
                        <m:ctrlPr>
                          <a:rPr lang="en-US" altLang="zh-TW" sz="1200" i="1">
                            <a:latin typeface="Cambria Math" panose="02040503050406030204" pitchFamily="18" charset="0"/>
                          </a:rPr>
                        </m:ctrlPr>
                      </m:sSubPr>
                      <m:e>
                        <m:r>
                          <a:rPr lang="en-US" altLang="zh-TW" sz="1200" b="0" i="1" smtClean="0">
                            <a:latin typeface="Cambria Math" panose="02040503050406030204" pitchFamily="18" charset="0"/>
                          </a:rPr>
                          <m:t>𝑦</m:t>
                        </m:r>
                      </m:e>
                      <m:sub>
                        <m:r>
                          <a:rPr lang="en-US" altLang="zh-TW" sz="1200" b="0" i="1" smtClean="0">
                            <a:latin typeface="Cambria Math" panose="02040503050406030204" pitchFamily="18" charset="0"/>
                          </a:rPr>
                          <m:t>𝑇</m:t>
                        </m:r>
                      </m:sub>
                    </m:sSub>
                  </m:oMath>
                </a14:m>
                <a:r>
                  <a:rPr lang="en-US" altLang="zh-TW" sz="1200" dirty="0"/>
                  <a:t>)</a:t>
                </a:r>
                <a:endParaRPr lang="zh-TW" altLang="en-US" sz="1200" dirty="0"/>
              </a:p>
            </p:txBody>
          </p:sp>
        </mc:Choice>
        <mc:Fallback xmlns="">
          <p:sp>
            <p:nvSpPr>
              <p:cNvPr id="18" name="矩形 17">
                <a:extLst>
                  <a:ext uri="{FF2B5EF4-FFF2-40B4-BE49-F238E27FC236}">
                    <a16:creationId xmlns:a16="http://schemas.microsoft.com/office/drawing/2014/main" id="{0244B0F0-B0A1-4CDA-9A0F-9B119BC56DC2}"/>
                  </a:ext>
                </a:extLst>
              </p:cNvPr>
              <p:cNvSpPr>
                <a:spLocks noRot="1" noChangeAspect="1" noMove="1" noResize="1" noEditPoints="1" noAdjustHandles="1" noChangeArrowheads="1" noChangeShapeType="1" noTextEdit="1"/>
              </p:cNvSpPr>
              <p:nvPr/>
            </p:nvSpPr>
            <p:spPr>
              <a:xfrm>
                <a:off x="4831300" y="1468825"/>
                <a:ext cx="725996" cy="175025"/>
              </a:xfrm>
              <a:prstGeom prst="rect">
                <a:avLst/>
              </a:prstGeom>
              <a:blipFill>
                <a:blip r:embed="rId9"/>
                <a:stretch>
                  <a:fillRect t="-24242" b="-39394"/>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11537BD4-3CF0-48F1-8A9C-001A4EC8EBC4}"/>
                  </a:ext>
                </a:extLst>
              </p:cNvPr>
              <p:cNvSpPr/>
              <p:nvPr/>
            </p:nvSpPr>
            <p:spPr>
              <a:xfrm>
                <a:off x="1865153" y="2945182"/>
                <a:ext cx="438040" cy="142073"/>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θ</m:t>
                          </m:r>
                        </m:e>
                        <m:sub>
                          <m:r>
                            <a:rPr lang="en-US" altLang="zh-TW" b="0" i="1" smtClean="0">
                              <a:latin typeface="Cambria Math" panose="02040503050406030204" pitchFamily="18" charset="0"/>
                            </a:rPr>
                            <m:t>𝑅</m:t>
                          </m:r>
                        </m:sub>
                      </m:sSub>
                    </m:oMath>
                  </m:oMathPara>
                </a14:m>
                <a:endParaRPr lang="zh-TW" altLang="en-US" dirty="0"/>
              </a:p>
            </p:txBody>
          </p:sp>
        </mc:Choice>
        <mc:Fallback xmlns="">
          <p:sp>
            <p:nvSpPr>
              <p:cNvPr id="19" name="矩形 18">
                <a:extLst>
                  <a:ext uri="{FF2B5EF4-FFF2-40B4-BE49-F238E27FC236}">
                    <a16:creationId xmlns:a16="http://schemas.microsoft.com/office/drawing/2014/main" id="{11537BD4-3CF0-48F1-8A9C-001A4EC8EBC4}"/>
                  </a:ext>
                </a:extLst>
              </p:cNvPr>
              <p:cNvSpPr>
                <a:spLocks noRot="1" noChangeAspect="1" noMove="1" noResize="1" noEditPoints="1" noAdjustHandles="1" noChangeArrowheads="1" noChangeShapeType="1" noTextEdit="1"/>
              </p:cNvSpPr>
              <p:nvPr/>
            </p:nvSpPr>
            <p:spPr>
              <a:xfrm>
                <a:off x="1865153" y="2945182"/>
                <a:ext cx="438040" cy="142073"/>
              </a:xfrm>
              <a:prstGeom prst="rect">
                <a:avLst/>
              </a:prstGeom>
              <a:blipFill>
                <a:blip r:embed="rId10"/>
                <a:stretch>
                  <a:fillRect t="-3704" b="-37037"/>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D3C5335C-2B77-4B93-AA85-80DB19965974}"/>
                  </a:ext>
                </a:extLst>
              </p:cNvPr>
              <p:cNvSpPr/>
              <p:nvPr/>
            </p:nvSpPr>
            <p:spPr>
              <a:xfrm>
                <a:off x="3376078" y="2336149"/>
                <a:ext cx="275968" cy="211327"/>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θ</m:t>
                          </m:r>
                        </m:e>
                        <m:sub>
                          <m:r>
                            <a:rPr lang="en-US" altLang="zh-TW" b="0" i="1" smtClean="0">
                              <a:latin typeface="Cambria Math" panose="02040503050406030204" pitchFamily="18" charset="0"/>
                            </a:rPr>
                            <m:t>𝑇</m:t>
                          </m:r>
                        </m:sub>
                      </m:sSub>
                    </m:oMath>
                  </m:oMathPara>
                </a14:m>
                <a:endParaRPr lang="zh-TW" altLang="en-US" dirty="0"/>
              </a:p>
            </p:txBody>
          </p:sp>
        </mc:Choice>
        <mc:Fallback xmlns="">
          <p:sp>
            <p:nvSpPr>
              <p:cNvPr id="20" name="矩形 19">
                <a:extLst>
                  <a:ext uri="{FF2B5EF4-FFF2-40B4-BE49-F238E27FC236}">
                    <a16:creationId xmlns:a16="http://schemas.microsoft.com/office/drawing/2014/main" id="{D3C5335C-2B77-4B93-AA85-80DB19965974}"/>
                  </a:ext>
                </a:extLst>
              </p:cNvPr>
              <p:cNvSpPr>
                <a:spLocks noRot="1" noChangeAspect="1" noMove="1" noResize="1" noEditPoints="1" noAdjustHandles="1" noChangeArrowheads="1" noChangeShapeType="1" noTextEdit="1"/>
              </p:cNvSpPr>
              <p:nvPr/>
            </p:nvSpPr>
            <p:spPr>
              <a:xfrm>
                <a:off x="3376078" y="2336149"/>
                <a:ext cx="275968" cy="211327"/>
              </a:xfrm>
              <a:prstGeom prst="rect">
                <a:avLst/>
              </a:prstGeom>
              <a:blipFill>
                <a:blip r:embed="rId11"/>
                <a:stretch>
                  <a:fillRect l="-12245" b="-10256"/>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2DBC2597-3337-45AC-B9E3-D1F66818EC6F}"/>
                  </a:ext>
                </a:extLst>
              </p:cNvPr>
              <p:cNvSpPr/>
              <p:nvPr/>
            </p:nvSpPr>
            <p:spPr>
              <a:xfrm>
                <a:off x="776503" y="3195468"/>
                <a:ext cx="1526690" cy="434171"/>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l-GR" altLang="zh-TW" dirty="0"/>
                  <a:t>Φ</a:t>
                </a:r>
                <a:r>
                  <a:rPr lang="en-US" altLang="zh-TW" dirty="0"/>
                  <a:t> = |</a:t>
                </a:r>
                <a14:m>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θ</m:t>
                        </m:r>
                      </m:e>
                      <m:sub>
                        <m:r>
                          <a:rPr lang="en-US" altLang="zh-TW" b="0" i="1" smtClean="0">
                            <a:latin typeface="Cambria Math" panose="02040503050406030204" pitchFamily="18" charset="0"/>
                          </a:rPr>
                          <m:t>𝑅</m:t>
                        </m:r>
                      </m:sub>
                    </m:sSub>
                  </m:oMath>
                </a14:m>
                <a:r>
                  <a:rPr lang="zh-TW" altLang="en-US" dirty="0"/>
                  <a:t> </a:t>
                </a:r>
                <a:r>
                  <a:rPr lang="en-US" altLang="zh-TW" dirty="0"/>
                  <a:t>- </a:t>
                </a:r>
                <a14:m>
                  <m:oMath xmlns:m="http://schemas.openxmlformats.org/officeDocument/2006/math">
                    <m:sSub>
                      <m:sSubPr>
                        <m:ctrlPr>
                          <a:rPr lang="en-US" altLang="zh-TW" i="1">
                            <a:latin typeface="Cambria Math" panose="02040503050406030204" pitchFamily="18" charset="0"/>
                          </a:rPr>
                        </m:ctrlPr>
                      </m:sSubPr>
                      <m:e>
                        <m:r>
                          <m:rPr>
                            <m:sty m:val="p"/>
                          </m:rPr>
                          <a:rPr lang="el-GR" altLang="zh-TW" i="1">
                            <a:latin typeface="Cambria Math" panose="02040503050406030204" pitchFamily="18" charset="0"/>
                          </a:rPr>
                          <m:t>θ</m:t>
                        </m:r>
                      </m:e>
                      <m:sub>
                        <m:r>
                          <a:rPr lang="en-US" altLang="zh-TW" i="1">
                            <a:latin typeface="Cambria Math" panose="02040503050406030204" pitchFamily="18" charset="0"/>
                          </a:rPr>
                          <m:t>𝑇</m:t>
                        </m:r>
                      </m:sub>
                    </m:sSub>
                  </m:oMath>
                </a14:m>
                <a:r>
                  <a:rPr lang="en-US" altLang="zh-TW" dirty="0"/>
                  <a:t>| </a:t>
                </a:r>
                <a:endParaRPr lang="zh-TW" altLang="en-US" dirty="0"/>
              </a:p>
            </p:txBody>
          </p:sp>
        </mc:Choice>
        <mc:Fallback xmlns="">
          <p:sp>
            <p:nvSpPr>
              <p:cNvPr id="21" name="矩形 20">
                <a:extLst>
                  <a:ext uri="{FF2B5EF4-FFF2-40B4-BE49-F238E27FC236}">
                    <a16:creationId xmlns:a16="http://schemas.microsoft.com/office/drawing/2014/main" id="{2DBC2597-3337-45AC-B9E3-D1F66818EC6F}"/>
                  </a:ext>
                </a:extLst>
              </p:cNvPr>
              <p:cNvSpPr>
                <a:spLocks noRot="1" noChangeAspect="1" noMove="1" noResize="1" noEditPoints="1" noAdjustHandles="1" noChangeArrowheads="1" noChangeShapeType="1" noTextEdit="1"/>
              </p:cNvSpPr>
              <p:nvPr/>
            </p:nvSpPr>
            <p:spPr>
              <a:xfrm>
                <a:off x="776503" y="3195468"/>
                <a:ext cx="1526690" cy="434171"/>
              </a:xfrm>
              <a:prstGeom prst="rect">
                <a:avLst/>
              </a:prstGeom>
              <a:blipFill>
                <a:blip r:embed="rId12"/>
                <a:stretch>
                  <a:fillRect/>
                </a:stretch>
              </a:blipFill>
              <a:ln>
                <a:solidFill>
                  <a:schemeClr val="bg1"/>
                </a:solidFill>
              </a:ln>
            </p:spPr>
            <p:txBody>
              <a:bodyPr/>
              <a:lstStyle/>
              <a:p>
                <a:r>
                  <a:rPr lang="zh-TW" altLang="en-US">
                    <a:noFill/>
                  </a:rPr>
                  <a:t> </a:t>
                </a:r>
              </a:p>
            </p:txBody>
          </p:sp>
        </mc:Fallback>
      </mc:AlternateContent>
      <p:pic>
        <p:nvPicPr>
          <p:cNvPr id="22" name="圖片 21">
            <a:extLst>
              <a:ext uri="{FF2B5EF4-FFF2-40B4-BE49-F238E27FC236}">
                <a16:creationId xmlns:a16="http://schemas.microsoft.com/office/drawing/2014/main" id="{063CCEE8-A981-4488-91A2-5B811BD9BA7E}"/>
              </a:ext>
            </a:extLst>
          </p:cNvPr>
          <p:cNvPicPr>
            <a:picLocks noChangeAspect="1"/>
          </p:cNvPicPr>
          <p:nvPr/>
        </p:nvPicPr>
        <p:blipFill rotWithShape="1">
          <a:blip r:embed="rId13"/>
          <a:srcRect r="36207"/>
          <a:stretch/>
        </p:blipFill>
        <p:spPr>
          <a:xfrm>
            <a:off x="5194298" y="97281"/>
            <a:ext cx="2772224" cy="1219176"/>
          </a:xfrm>
          <a:prstGeom prst="rect">
            <a:avLst/>
          </a:prstGeom>
        </p:spPr>
      </p:pic>
      <mc:AlternateContent xmlns:mc="http://schemas.openxmlformats.org/markup-compatibility/2006">
        <mc:Choice xmlns:a14="http://schemas.microsoft.com/office/drawing/2010/main" Requires="a14">
          <p:sp>
            <p:nvSpPr>
              <p:cNvPr id="25" name="矩形 24">
                <a:extLst>
                  <a:ext uri="{FF2B5EF4-FFF2-40B4-BE49-F238E27FC236}">
                    <a16:creationId xmlns:a16="http://schemas.microsoft.com/office/drawing/2014/main" id="{84A269DB-AE8F-444F-A9AD-53419537A67F}"/>
                  </a:ext>
                </a:extLst>
              </p:cNvPr>
              <p:cNvSpPr/>
              <p:nvPr/>
            </p:nvSpPr>
            <p:spPr>
              <a:xfrm>
                <a:off x="4314215" y="1867990"/>
                <a:ext cx="187763" cy="147586"/>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sz="1100" i="1" smtClean="0">
                              <a:latin typeface="Cambria Math" panose="02040503050406030204" pitchFamily="18" charset="0"/>
                            </a:rPr>
                          </m:ctrlPr>
                        </m:sSubPr>
                        <m:e>
                          <m:r>
                            <m:rPr>
                              <m:sty m:val="p"/>
                            </m:rPr>
                            <a:rPr lang="el-GR" altLang="zh-TW" sz="1100" i="1" smtClean="0">
                              <a:latin typeface="Cambria Math" panose="02040503050406030204" pitchFamily="18" charset="0"/>
                            </a:rPr>
                            <m:t>θ</m:t>
                          </m:r>
                        </m:e>
                        <m:sub>
                          <m:r>
                            <a:rPr lang="en-US" altLang="zh-TW" sz="1100" b="0" i="1" smtClean="0">
                              <a:latin typeface="Cambria Math" panose="02040503050406030204" pitchFamily="18" charset="0"/>
                            </a:rPr>
                            <m:t>𝑇</m:t>
                          </m:r>
                        </m:sub>
                      </m:sSub>
                    </m:oMath>
                  </m:oMathPara>
                </a14:m>
                <a:endParaRPr lang="zh-TW" altLang="en-US" sz="1100" dirty="0"/>
              </a:p>
            </p:txBody>
          </p:sp>
        </mc:Choice>
        <mc:Fallback>
          <p:sp>
            <p:nvSpPr>
              <p:cNvPr id="25" name="矩形 24">
                <a:extLst>
                  <a:ext uri="{FF2B5EF4-FFF2-40B4-BE49-F238E27FC236}">
                    <a16:creationId xmlns:a16="http://schemas.microsoft.com/office/drawing/2014/main" id="{84A269DB-AE8F-444F-A9AD-53419537A67F}"/>
                  </a:ext>
                </a:extLst>
              </p:cNvPr>
              <p:cNvSpPr>
                <a:spLocks noRot="1" noChangeAspect="1" noMove="1" noResize="1" noEditPoints="1" noAdjustHandles="1" noChangeArrowheads="1" noChangeShapeType="1" noTextEdit="1"/>
              </p:cNvSpPr>
              <p:nvPr/>
            </p:nvSpPr>
            <p:spPr>
              <a:xfrm>
                <a:off x="4314215" y="1867990"/>
                <a:ext cx="187763" cy="147586"/>
              </a:xfrm>
              <a:prstGeom prst="rect">
                <a:avLst/>
              </a:prstGeom>
              <a:blipFill>
                <a:blip r:embed="rId14"/>
                <a:stretch>
                  <a:fillRect l="-20000" b="-17241"/>
                </a:stretch>
              </a:blipFill>
              <a:ln>
                <a:solidFill>
                  <a:schemeClr val="bg1"/>
                </a:solidFill>
              </a:ln>
            </p:spPr>
            <p:txBody>
              <a:bodyPr/>
              <a:lstStyle/>
              <a:p>
                <a:r>
                  <a:rPr lang="zh-TW" altLang="en-US">
                    <a:noFill/>
                  </a:rPr>
                  <a:t> </a:t>
                </a:r>
              </a:p>
            </p:txBody>
          </p:sp>
        </mc:Fallback>
      </mc:AlternateContent>
    </p:spTree>
    <p:extLst>
      <p:ext uri="{BB962C8B-B14F-4D97-AF65-F5344CB8AC3E}">
        <p14:creationId xmlns:p14="http://schemas.microsoft.com/office/powerpoint/2010/main" val="1922252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8257A23-D2B0-4549-9749-945B34863AB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8</a:t>
            </a:fld>
            <a:endParaRPr lang="en"/>
          </a:p>
        </p:txBody>
      </p:sp>
      <p:pic>
        <p:nvPicPr>
          <p:cNvPr id="6" name="圖片 5">
            <a:extLst>
              <a:ext uri="{FF2B5EF4-FFF2-40B4-BE49-F238E27FC236}">
                <a16:creationId xmlns:a16="http://schemas.microsoft.com/office/drawing/2014/main" id="{4E5AD5C9-4488-48D7-B74B-9137B2317135}"/>
              </a:ext>
            </a:extLst>
          </p:cNvPr>
          <p:cNvPicPr>
            <a:picLocks noChangeAspect="1"/>
          </p:cNvPicPr>
          <p:nvPr/>
        </p:nvPicPr>
        <p:blipFill>
          <a:blip r:embed="rId3"/>
          <a:stretch>
            <a:fillRect/>
          </a:stretch>
        </p:blipFill>
        <p:spPr>
          <a:xfrm>
            <a:off x="162064" y="0"/>
            <a:ext cx="5162272" cy="5143500"/>
          </a:xfrm>
          <a:prstGeom prst="rect">
            <a:avLst/>
          </a:prstGeom>
        </p:spPr>
      </p:pic>
      <p:sp>
        <p:nvSpPr>
          <p:cNvPr id="7" name="矩形 6">
            <a:extLst>
              <a:ext uri="{FF2B5EF4-FFF2-40B4-BE49-F238E27FC236}">
                <a16:creationId xmlns:a16="http://schemas.microsoft.com/office/drawing/2014/main" id="{0A00B423-634C-4006-9701-0C71D7DE527B}"/>
              </a:ext>
            </a:extLst>
          </p:cNvPr>
          <p:cNvSpPr/>
          <p:nvPr/>
        </p:nvSpPr>
        <p:spPr>
          <a:xfrm>
            <a:off x="1589903" y="739375"/>
            <a:ext cx="411892" cy="17502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R1</a:t>
            </a:r>
            <a:endParaRPr lang="zh-TW" altLang="en-US" dirty="0"/>
          </a:p>
        </p:txBody>
      </p:sp>
      <p:sp>
        <p:nvSpPr>
          <p:cNvPr id="9" name="矩形 8">
            <a:extLst>
              <a:ext uri="{FF2B5EF4-FFF2-40B4-BE49-F238E27FC236}">
                <a16:creationId xmlns:a16="http://schemas.microsoft.com/office/drawing/2014/main" id="{14AB4595-CC0C-4195-9FF5-A8CBC9612F57}"/>
              </a:ext>
            </a:extLst>
          </p:cNvPr>
          <p:cNvSpPr/>
          <p:nvPr/>
        </p:nvSpPr>
        <p:spPr>
          <a:xfrm>
            <a:off x="4090086" y="3412554"/>
            <a:ext cx="411892" cy="17502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R2</a:t>
            </a:r>
            <a:endParaRPr lang="zh-TW" altLang="en-US" dirty="0"/>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B9EDDCC6-DD5E-48EC-A278-07C333DAC00B}"/>
                  </a:ext>
                </a:extLst>
              </p:cNvPr>
              <p:cNvSpPr/>
              <p:nvPr/>
            </p:nvSpPr>
            <p:spPr>
              <a:xfrm>
                <a:off x="5046743" y="1917385"/>
                <a:ext cx="438040" cy="142073"/>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𝑇</m:t>
                          </m:r>
                        </m:sub>
                      </m:sSub>
                    </m:oMath>
                  </m:oMathPara>
                </a14:m>
                <a:endParaRPr lang="zh-TW" altLang="en-US" dirty="0"/>
              </a:p>
            </p:txBody>
          </p:sp>
        </mc:Choice>
        <mc:Fallback xmlns="">
          <p:sp>
            <p:nvSpPr>
              <p:cNvPr id="10" name="矩形 9">
                <a:extLst>
                  <a:ext uri="{FF2B5EF4-FFF2-40B4-BE49-F238E27FC236}">
                    <a16:creationId xmlns:a16="http://schemas.microsoft.com/office/drawing/2014/main" xmlns:a14="http://schemas.microsoft.com/office/drawing/2010/main" xmlns="" id="{B9EDDCC6-DD5E-48EC-A278-07C333DAC00B}"/>
                  </a:ext>
                </a:extLst>
              </p:cNvPr>
              <p:cNvSpPr>
                <a:spLocks noRot="1" noChangeAspect="1" noMove="1" noResize="1" noEditPoints="1" noAdjustHandles="1" noChangeArrowheads="1" noChangeShapeType="1" noTextEdit="1"/>
              </p:cNvSpPr>
              <p:nvPr/>
            </p:nvSpPr>
            <p:spPr>
              <a:xfrm>
                <a:off x="5046743" y="1917385"/>
                <a:ext cx="438040" cy="142073"/>
              </a:xfrm>
              <a:prstGeom prst="rect">
                <a:avLst/>
              </a:prstGeom>
              <a:blipFill rotWithShape="0">
                <a:blip r:embed="rId4"/>
                <a:stretch>
                  <a:fillRect t="-3704" b="-37037"/>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486F5F2-995C-4D45-9DB9-974328451A28}"/>
                  </a:ext>
                </a:extLst>
              </p:cNvPr>
              <p:cNvSpPr/>
              <p:nvPr/>
            </p:nvSpPr>
            <p:spPr>
              <a:xfrm>
                <a:off x="1782775" y="1192787"/>
                <a:ext cx="411892" cy="111313"/>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𝑅</m:t>
                          </m:r>
                        </m:sub>
                      </m:sSub>
                    </m:oMath>
                  </m:oMathPara>
                </a14:m>
                <a:endParaRPr lang="zh-TW" altLang="en-US" dirty="0"/>
              </a:p>
            </p:txBody>
          </p:sp>
        </mc:Choice>
        <mc:Fallback xmlns="">
          <p:sp>
            <p:nvSpPr>
              <p:cNvPr id="11" name="矩形 10">
                <a:extLst>
                  <a:ext uri="{FF2B5EF4-FFF2-40B4-BE49-F238E27FC236}">
                    <a16:creationId xmlns:a16="http://schemas.microsoft.com/office/drawing/2014/main" xmlns:a14="http://schemas.microsoft.com/office/drawing/2010/main" xmlns="" id="{B486F5F2-995C-4D45-9DB9-974328451A28}"/>
                  </a:ext>
                </a:extLst>
              </p:cNvPr>
              <p:cNvSpPr>
                <a:spLocks noRot="1" noChangeAspect="1" noMove="1" noResize="1" noEditPoints="1" noAdjustHandles="1" noChangeArrowheads="1" noChangeShapeType="1" noTextEdit="1"/>
              </p:cNvSpPr>
              <p:nvPr/>
            </p:nvSpPr>
            <p:spPr>
              <a:xfrm>
                <a:off x="1782775" y="1192787"/>
                <a:ext cx="411892" cy="111313"/>
              </a:xfrm>
              <a:prstGeom prst="rect">
                <a:avLst/>
              </a:prstGeom>
              <a:blipFill rotWithShape="0">
                <a:blip r:embed="rId5"/>
                <a:stretch>
                  <a:fillRect t="-13636" b="-54545"/>
                </a:stretch>
              </a:blipFill>
              <a:ln>
                <a:solidFill>
                  <a:schemeClr val="bg1"/>
                </a:solidFill>
              </a:ln>
            </p:spPr>
            <p:txBody>
              <a:bodyPr/>
              <a:lstStyle/>
              <a:p>
                <a:r>
                  <a:rPr lang="zh-TW" altLang="en-US">
                    <a:noFill/>
                  </a:rPr>
                  <a:t> </a:t>
                </a:r>
              </a:p>
            </p:txBody>
          </p:sp>
        </mc:Fallback>
      </mc:AlternateContent>
      <p:sp>
        <p:nvSpPr>
          <p:cNvPr id="12" name="矩形 11">
            <a:extLst>
              <a:ext uri="{FF2B5EF4-FFF2-40B4-BE49-F238E27FC236}">
                <a16:creationId xmlns:a16="http://schemas.microsoft.com/office/drawing/2014/main" id="{066D0779-B90C-41E7-BCDB-A906C3ED88E5}"/>
              </a:ext>
            </a:extLst>
          </p:cNvPr>
          <p:cNvSpPr/>
          <p:nvPr/>
        </p:nvSpPr>
        <p:spPr>
          <a:xfrm>
            <a:off x="4833276" y="1248443"/>
            <a:ext cx="411892" cy="17502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T</a:t>
            </a:r>
            <a:endParaRPr lang="zh-TW" altLang="en-US" dirty="0"/>
          </a:p>
        </p:txBody>
      </p:sp>
      <p:sp>
        <p:nvSpPr>
          <p:cNvPr id="13" name="矩形 12">
            <a:extLst>
              <a:ext uri="{FF2B5EF4-FFF2-40B4-BE49-F238E27FC236}">
                <a16:creationId xmlns:a16="http://schemas.microsoft.com/office/drawing/2014/main" id="{FB0C0208-6FB3-4C1E-9104-8FFBC7987943}"/>
              </a:ext>
            </a:extLst>
          </p:cNvPr>
          <p:cNvSpPr/>
          <p:nvPr/>
        </p:nvSpPr>
        <p:spPr>
          <a:xfrm>
            <a:off x="2931577" y="1129075"/>
            <a:ext cx="411892" cy="17502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E</a:t>
            </a:r>
            <a:endParaRPr lang="zh-TW" altLang="en-US" dirty="0"/>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865CDD44-A19F-4C85-A75E-8B423D5349CB}"/>
                  </a:ext>
                </a:extLst>
              </p:cNvPr>
              <p:cNvSpPr/>
              <p:nvPr/>
            </p:nvSpPr>
            <p:spPr>
              <a:xfrm>
                <a:off x="3652046" y="1946901"/>
                <a:ext cx="438040" cy="142073"/>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𝑇</m:t>
                          </m:r>
                        </m:sub>
                      </m:sSub>
                    </m:oMath>
                  </m:oMathPara>
                </a14:m>
                <a:endParaRPr lang="zh-TW" altLang="en-US" dirty="0"/>
              </a:p>
            </p:txBody>
          </p:sp>
        </mc:Choice>
        <mc:Fallback xmlns="">
          <p:sp>
            <p:nvSpPr>
              <p:cNvPr id="14" name="矩形 13">
                <a:extLst>
                  <a:ext uri="{FF2B5EF4-FFF2-40B4-BE49-F238E27FC236}">
                    <a16:creationId xmlns:a16="http://schemas.microsoft.com/office/drawing/2014/main" xmlns:a14="http://schemas.microsoft.com/office/drawing/2010/main" xmlns="" id="{865CDD44-A19F-4C85-A75E-8B423D5349CB}"/>
                  </a:ext>
                </a:extLst>
              </p:cNvPr>
              <p:cNvSpPr>
                <a:spLocks noRot="1" noChangeAspect="1" noMove="1" noResize="1" noEditPoints="1" noAdjustHandles="1" noChangeArrowheads="1" noChangeShapeType="1" noTextEdit="1"/>
              </p:cNvSpPr>
              <p:nvPr/>
            </p:nvSpPr>
            <p:spPr>
              <a:xfrm>
                <a:off x="3652046" y="1946901"/>
                <a:ext cx="438040" cy="142073"/>
              </a:xfrm>
              <a:prstGeom prst="rect">
                <a:avLst/>
              </a:prstGeom>
              <a:blipFill rotWithShape="0">
                <a:blip r:embed="rId6"/>
                <a:stretch>
                  <a:fillRect b="-35714"/>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8EBAC378-5035-432F-B2D2-E0D0040ACE7B}"/>
                  </a:ext>
                </a:extLst>
              </p:cNvPr>
              <p:cNvSpPr/>
              <p:nvPr/>
            </p:nvSpPr>
            <p:spPr>
              <a:xfrm>
                <a:off x="1589903" y="1686475"/>
                <a:ext cx="494270" cy="188687"/>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𝑅</m:t>
                          </m:r>
                        </m:sub>
                      </m:sSub>
                    </m:oMath>
                  </m:oMathPara>
                </a14:m>
                <a:endParaRPr lang="zh-TW" altLang="en-US" dirty="0"/>
              </a:p>
            </p:txBody>
          </p:sp>
        </mc:Choice>
        <mc:Fallback xmlns="">
          <p:sp>
            <p:nvSpPr>
              <p:cNvPr id="15" name="矩形 14">
                <a:extLst>
                  <a:ext uri="{FF2B5EF4-FFF2-40B4-BE49-F238E27FC236}">
                    <a16:creationId xmlns:a16="http://schemas.microsoft.com/office/drawing/2014/main" xmlns:a14="http://schemas.microsoft.com/office/drawing/2010/main" xmlns="" id="{8EBAC378-5035-432F-B2D2-E0D0040ACE7B}"/>
                  </a:ext>
                </a:extLst>
              </p:cNvPr>
              <p:cNvSpPr>
                <a:spLocks noRot="1" noChangeAspect="1" noMove="1" noResize="1" noEditPoints="1" noAdjustHandles="1" noChangeArrowheads="1" noChangeShapeType="1" noTextEdit="1"/>
              </p:cNvSpPr>
              <p:nvPr/>
            </p:nvSpPr>
            <p:spPr>
              <a:xfrm>
                <a:off x="1589903" y="1686475"/>
                <a:ext cx="494270" cy="188687"/>
              </a:xfrm>
              <a:prstGeom prst="rect">
                <a:avLst/>
              </a:prstGeom>
              <a:blipFill rotWithShape="0">
                <a:blip r:embed="rId7"/>
                <a:stretch>
                  <a:fillRect b="-17143"/>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80F16802-2488-4766-B6D1-58D758A8F35E}"/>
                  </a:ext>
                </a:extLst>
              </p:cNvPr>
              <p:cNvSpPr/>
              <p:nvPr/>
            </p:nvSpPr>
            <p:spPr>
              <a:xfrm>
                <a:off x="977611" y="1272390"/>
                <a:ext cx="725996" cy="111314"/>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𝑅</m:t>
                        </m:r>
                      </m:sub>
                    </m:sSub>
                  </m:oMath>
                </a14:m>
                <a:r>
                  <a:rPr lang="en-US" altLang="zh-TW" sz="1200" dirty="0"/>
                  <a:t>, </a:t>
                </a:r>
                <a14:m>
                  <m:oMath xmlns:m="http://schemas.openxmlformats.org/officeDocument/2006/math">
                    <m:sSub>
                      <m:sSubPr>
                        <m:ctrlPr>
                          <a:rPr lang="en-US" altLang="zh-TW" sz="1200" i="1">
                            <a:latin typeface="Cambria Math" panose="02040503050406030204" pitchFamily="18" charset="0"/>
                          </a:rPr>
                        </m:ctrlPr>
                      </m:sSubPr>
                      <m:e>
                        <m:r>
                          <a:rPr lang="en-US" altLang="zh-TW" sz="1200" b="0" i="1" smtClean="0">
                            <a:latin typeface="Cambria Math" panose="02040503050406030204" pitchFamily="18" charset="0"/>
                          </a:rPr>
                          <m:t>𝑦</m:t>
                        </m:r>
                      </m:e>
                      <m:sub>
                        <m:r>
                          <a:rPr lang="en-US" altLang="zh-TW" sz="1200" b="0" i="1" smtClean="0">
                            <a:latin typeface="Cambria Math" panose="02040503050406030204" pitchFamily="18" charset="0"/>
                          </a:rPr>
                          <m:t>𝑅</m:t>
                        </m:r>
                      </m:sub>
                    </m:sSub>
                  </m:oMath>
                </a14:m>
                <a:r>
                  <a:rPr lang="en-US" altLang="zh-TW" sz="1200" dirty="0"/>
                  <a:t>)</a:t>
                </a:r>
                <a:endParaRPr lang="zh-TW" altLang="en-US" sz="1200" dirty="0"/>
              </a:p>
            </p:txBody>
          </p:sp>
        </mc:Choice>
        <mc:Fallback xmlns="">
          <p:sp>
            <p:nvSpPr>
              <p:cNvPr id="16" name="矩形 15">
                <a:extLst>
                  <a:ext uri="{FF2B5EF4-FFF2-40B4-BE49-F238E27FC236}">
                    <a16:creationId xmlns:a16="http://schemas.microsoft.com/office/drawing/2014/main" xmlns:a14="http://schemas.microsoft.com/office/drawing/2010/main" xmlns="" id="{80F16802-2488-4766-B6D1-58D758A8F35E}"/>
                  </a:ext>
                </a:extLst>
              </p:cNvPr>
              <p:cNvSpPr>
                <a:spLocks noRot="1" noChangeAspect="1" noMove="1" noResize="1" noEditPoints="1" noAdjustHandles="1" noChangeArrowheads="1" noChangeShapeType="1" noTextEdit="1"/>
              </p:cNvSpPr>
              <p:nvPr/>
            </p:nvSpPr>
            <p:spPr>
              <a:xfrm>
                <a:off x="977611" y="1272390"/>
                <a:ext cx="725996" cy="111314"/>
              </a:xfrm>
              <a:prstGeom prst="rect">
                <a:avLst/>
              </a:prstGeom>
              <a:blipFill rotWithShape="0">
                <a:blip r:embed="rId8"/>
                <a:stretch>
                  <a:fillRect t="-59091" b="-81818"/>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0244B0F0-B0A1-4CDA-9A0F-9B119BC56DC2}"/>
                  </a:ext>
                </a:extLst>
              </p:cNvPr>
              <p:cNvSpPr/>
              <p:nvPr/>
            </p:nvSpPr>
            <p:spPr>
              <a:xfrm>
                <a:off x="4831300" y="1468825"/>
                <a:ext cx="725996" cy="17502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200" dirty="0"/>
                  <a:t>(</a:t>
                </a:r>
                <a14:m>
                  <m:oMath xmlns:m="http://schemas.openxmlformats.org/officeDocument/2006/math">
                    <m:sSub>
                      <m:sSubPr>
                        <m:ctrlPr>
                          <a:rPr lang="en-US" altLang="zh-TW" sz="1200" i="1" smtClean="0">
                            <a:latin typeface="Cambria Math" panose="02040503050406030204" pitchFamily="18" charset="0"/>
                          </a:rPr>
                        </m:ctrlPr>
                      </m:sSubPr>
                      <m:e>
                        <m:r>
                          <a:rPr lang="en-US" altLang="zh-TW" sz="1200" b="0" i="1" smtClean="0">
                            <a:latin typeface="Cambria Math" panose="02040503050406030204" pitchFamily="18" charset="0"/>
                          </a:rPr>
                          <m:t>𝑥</m:t>
                        </m:r>
                      </m:e>
                      <m:sub>
                        <m:r>
                          <a:rPr lang="en-US" altLang="zh-TW" sz="1200" b="0" i="1" smtClean="0">
                            <a:latin typeface="Cambria Math" panose="02040503050406030204" pitchFamily="18" charset="0"/>
                          </a:rPr>
                          <m:t>𝑇</m:t>
                        </m:r>
                      </m:sub>
                    </m:sSub>
                  </m:oMath>
                </a14:m>
                <a:r>
                  <a:rPr lang="en-US" altLang="zh-TW" sz="1200" dirty="0"/>
                  <a:t>, </a:t>
                </a:r>
                <a14:m>
                  <m:oMath xmlns:m="http://schemas.openxmlformats.org/officeDocument/2006/math">
                    <m:sSub>
                      <m:sSubPr>
                        <m:ctrlPr>
                          <a:rPr lang="en-US" altLang="zh-TW" sz="1200" i="1">
                            <a:latin typeface="Cambria Math" panose="02040503050406030204" pitchFamily="18" charset="0"/>
                          </a:rPr>
                        </m:ctrlPr>
                      </m:sSubPr>
                      <m:e>
                        <m:r>
                          <a:rPr lang="en-US" altLang="zh-TW" sz="1200" b="0" i="1" smtClean="0">
                            <a:latin typeface="Cambria Math" panose="02040503050406030204" pitchFamily="18" charset="0"/>
                          </a:rPr>
                          <m:t>𝑦</m:t>
                        </m:r>
                      </m:e>
                      <m:sub>
                        <m:r>
                          <a:rPr lang="en-US" altLang="zh-TW" sz="1200" b="0" i="1" smtClean="0">
                            <a:latin typeface="Cambria Math" panose="02040503050406030204" pitchFamily="18" charset="0"/>
                          </a:rPr>
                          <m:t>𝑇</m:t>
                        </m:r>
                      </m:sub>
                    </m:sSub>
                  </m:oMath>
                </a14:m>
                <a:r>
                  <a:rPr lang="en-US" altLang="zh-TW" sz="1200" dirty="0"/>
                  <a:t>)</a:t>
                </a:r>
                <a:endParaRPr lang="zh-TW" altLang="en-US" sz="1200" dirty="0"/>
              </a:p>
            </p:txBody>
          </p:sp>
        </mc:Choice>
        <mc:Fallback xmlns="">
          <p:sp>
            <p:nvSpPr>
              <p:cNvPr id="18" name="矩形 17">
                <a:extLst>
                  <a:ext uri="{FF2B5EF4-FFF2-40B4-BE49-F238E27FC236}">
                    <a16:creationId xmlns:a16="http://schemas.microsoft.com/office/drawing/2014/main" xmlns:a14="http://schemas.microsoft.com/office/drawing/2010/main" xmlns="" id="{0244B0F0-B0A1-4CDA-9A0F-9B119BC56DC2}"/>
                  </a:ext>
                </a:extLst>
              </p:cNvPr>
              <p:cNvSpPr>
                <a:spLocks noRot="1" noChangeAspect="1" noMove="1" noResize="1" noEditPoints="1" noAdjustHandles="1" noChangeArrowheads="1" noChangeShapeType="1" noTextEdit="1"/>
              </p:cNvSpPr>
              <p:nvPr/>
            </p:nvSpPr>
            <p:spPr>
              <a:xfrm>
                <a:off x="4831300" y="1468825"/>
                <a:ext cx="725996" cy="175025"/>
              </a:xfrm>
              <a:prstGeom prst="rect">
                <a:avLst/>
              </a:prstGeom>
              <a:blipFill rotWithShape="0">
                <a:blip r:embed="rId9"/>
                <a:stretch>
                  <a:fillRect t="-24242" b="-39394"/>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11537BD4-3CF0-48F1-8A9C-001A4EC8EBC4}"/>
                  </a:ext>
                </a:extLst>
              </p:cNvPr>
              <p:cNvSpPr/>
              <p:nvPr/>
            </p:nvSpPr>
            <p:spPr>
              <a:xfrm>
                <a:off x="1865153" y="2945182"/>
                <a:ext cx="438040" cy="142073"/>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θ</m:t>
                          </m:r>
                        </m:e>
                        <m:sub>
                          <m:r>
                            <a:rPr lang="en-US" altLang="zh-TW" b="0" i="1" smtClean="0">
                              <a:latin typeface="Cambria Math" panose="02040503050406030204" pitchFamily="18" charset="0"/>
                            </a:rPr>
                            <m:t>𝑅</m:t>
                          </m:r>
                        </m:sub>
                      </m:sSub>
                    </m:oMath>
                  </m:oMathPara>
                </a14:m>
                <a:endParaRPr lang="zh-TW" altLang="en-US" dirty="0"/>
              </a:p>
            </p:txBody>
          </p:sp>
        </mc:Choice>
        <mc:Fallback xmlns="">
          <p:sp>
            <p:nvSpPr>
              <p:cNvPr id="19" name="矩形 18">
                <a:extLst>
                  <a:ext uri="{FF2B5EF4-FFF2-40B4-BE49-F238E27FC236}">
                    <a16:creationId xmlns:a16="http://schemas.microsoft.com/office/drawing/2014/main" xmlns:a14="http://schemas.microsoft.com/office/drawing/2010/main" xmlns="" id="{11537BD4-3CF0-48F1-8A9C-001A4EC8EBC4}"/>
                  </a:ext>
                </a:extLst>
              </p:cNvPr>
              <p:cNvSpPr>
                <a:spLocks noRot="1" noChangeAspect="1" noMove="1" noResize="1" noEditPoints="1" noAdjustHandles="1" noChangeArrowheads="1" noChangeShapeType="1" noTextEdit="1"/>
              </p:cNvSpPr>
              <p:nvPr/>
            </p:nvSpPr>
            <p:spPr>
              <a:xfrm>
                <a:off x="1865153" y="2945182"/>
                <a:ext cx="438040" cy="142073"/>
              </a:xfrm>
              <a:prstGeom prst="rect">
                <a:avLst/>
              </a:prstGeom>
              <a:blipFill rotWithShape="0">
                <a:blip r:embed="rId10"/>
                <a:stretch>
                  <a:fillRect t="-3704" b="-37037"/>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D3C5335C-2B77-4B93-AA85-80DB19965974}"/>
                  </a:ext>
                </a:extLst>
              </p:cNvPr>
              <p:cNvSpPr/>
              <p:nvPr/>
            </p:nvSpPr>
            <p:spPr>
              <a:xfrm>
                <a:off x="3376078" y="2336149"/>
                <a:ext cx="275968" cy="211327"/>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θ</m:t>
                          </m:r>
                        </m:e>
                        <m:sub>
                          <m:r>
                            <a:rPr lang="en-US" altLang="zh-TW" b="0" i="1" smtClean="0">
                              <a:latin typeface="Cambria Math" panose="02040503050406030204" pitchFamily="18" charset="0"/>
                            </a:rPr>
                            <m:t>𝑇</m:t>
                          </m:r>
                        </m:sub>
                      </m:sSub>
                    </m:oMath>
                  </m:oMathPara>
                </a14:m>
                <a:endParaRPr lang="zh-TW" altLang="en-US" dirty="0"/>
              </a:p>
            </p:txBody>
          </p:sp>
        </mc:Choice>
        <mc:Fallback xmlns="">
          <p:sp>
            <p:nvSpPr>
              <p:cNvPr id="20" name="矩形 19">
                <a:extLst>
                  <a:ext uri="{FF2B5EF4-FFF2-40B4-BE49-F238E27FC236}">
                    <a16:creationId xmlns:a16="http://schemas.microsoft.com/office/drawing/2014/main" xmlns:a14="http://schemas.microsoft.com/office/drawing/2010/main" xmlns="" id="{D3C5335C-2B77-4B93-AA85-80DB19965974}"/>
                  </a:ext>
                </a:extLst>
              </p:cNvPr>
              <p:cNvSpPr>
                <a:spLocks noRot="1" noChangeAspect="1" noMove="1" noResize="1" noEditPoints="1" noAdjustHandles="1" noChangeArrowheads="1" noChangeShapeType="1" noTextEdit="1"/>
              </p:cNvSpPr>
              <p:nvPr/>
            </p:nvSpPr>
            <p:spPr>
              <a:xfrm>
                <a:off x="3376078" y="2336149"/>
                <a:ext cx="275968" cy="211327"/>
              </a:xfrm>
              <a:prstGeom prst="rect">
                <a:avLst/>
              </a:prstGeom>
              <a:blipFill rotWithShape="0">
                <a:blip r:embed="rId11"/>
                <a:stretch>
                  <a:fillRect l="-12245" b="-10256"/>
                </a:stretch>
              </a:blipFill>
              <a:ln>
                <a:solidFill>
                  <a:schemeClr val="bg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2DBC2597-3337-45AC-B9E3-D1F66818EC6F}"/>
                  </a:ext>
                </a:extLst>
              </p:cNvPr>
              <p:cNvSpPr/>
              <p:nvPr/>
            </p:nvSpPr>
            <p:spPr>
              <a:xfrm>
                <a:off x="776503" y="3195468"/>
                <a:ext cx="1526690" cy="434171"/>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l-GR" altLang="zh-TW" dirty="0"/>
                  <a:t>Φ</a:t>
                </a:r>
                <a:r>
                  <a:rPr lang="en-US" altLang="zh-TW" dirty="0"/>
                  <a:t> = |</a:t>
                </a:r>
                <a14:m>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θ</m:t>
                        </m:r>
                      </m:e>
                      <m:sub>
                        <m:r>
                          <a:rPr lang="en-US" altLang="zh-TW" b="0" i="1" smtClean="0">
                            <a:latin typeface="Cambria Math" panose="02040503050406030204" pitchFamily="18" charset="0"/>
                          </a:rPr>
                          <m:t>𝑅</m:t>
                        </m:r>
                      </m:sub>
                    </m:sSub>
                  </m:oMath>
                </a14:m>
                <a:r>
                  <a:rPr lang="zh-TW" altLang="en-US" dirty="0"/>
                  <a:t> </a:t>
                </a:r>
                <a:r>
                  <a:rPr lang="en-US" altLang="zh-TW" dirty="0"/>
                  <a:t>- </a:t>
                </a:r>
                <a14:m>
                  <m:oMath xmlns:m="http://schemas.openxmlformats.org/officeDocument/2006/math">
                    <m:sSub>
                      <m:sSubPr>
                        <m:ctrlPr>
                          <a:rPr lang="en-US" altLang="zh-TW" i="1">
                            <a:latin typeface="Cambria Math" panose="02040503050406030204" pitchFamily="18" charset="0"/>
                          </a:rPr>
                        </m:ctrlPr>
                      </m:sSubPr>
                      <m:e>
                        <m:r>
                          <m:rPr>
                            <m:sty m:val="p"/>
                          </m:rPr>
                          <a:rPr lang="el-GR" altLang="zh-TW" i="1">
                            <a:latin typeface="Cambria Math" panose="02040503050406030204" pitchFamily="18" charset="0"/>
                          </a:rPr>
                          <m:t>θ</m:t>
                        </m:r>
                      </m:e>
                      <m:sub>
                        <m:r>
                          <a:rPr lang="en-US" altLang="zh-TW" i="1">
                            <a:latin typeface="Cambria Math" panose="02040503050406030204" pitchFamily="18" charset="0"/>
                          </a:rPr>
                          <m:t>𝑇</m:t>
                        </m:r>
                      </m:sub>
                    </m:sSub>
                  </m:oMath>
                </a14:m>
                <a:r>
                  <a:rPr lang="en-US" altLang="zh-TW" dirty="0"/>
                  <a:t>| </a:t>
                </a:r>
                <a:endParaRPr lang="zh-TW" altLang="en-US" dirty="0"/>
              </a:p>
            </p:txBody>
          </p:sp>
        </mc:Choice>
        <mc:Fallback xmlns="">
          <p:sp>
            <p:nvSpPr>
              <p:cNvPr id="21" name="矩形 20">
                <a:extLst>
                  <a:ext uri="{FF2B5EF4-FFF2-40B4-BE49-F238E27FC236}">
                    <a16:creationId xmlns:a16="http://schemas.microsoft.com/office/drawing/2014/main" xmlns:a14="http://schemas.microsoft.com/office/drawing/2010/main" xmlns="" id="{2DBC2597-3337-45AC-B9E3-D1F66818EC6F}"/>
                  </a:ext>
                </a:extLst>
              </p:cNvPr>
              <p:cNvSpPr>
                <a:spLocks noRot="1" noChangeAspect="1" noMove="1" noResize="1" noEditPoints="1" noAdjustHandles="1" noChangeArrowheads="1" noChangeShapeType="1" noTextEdit="1"/>
              </p:cNvSpPr>
              <p:nvPr/>
            </p:nvSpPr>
            <p:spPr>
              <a:xfrm>
                <a:off x="776503" y="3195468"/>
                <a:ext cx="1526690" cy="434171"/>
              </a:xfrm>
              <a:prstGeom prst="rect">
                <a:avLst/>
              </a:prstGeom>
              <a:blipFill rotWithShape="0">
                <a:blip r:embed="rId12"/>
                <a:stretch>
                  <a:fillRect/>
                </a:stretch>
              </a:blipFill>
              <a:ln>
                <a:solidFill>
                  <a:schemeClr val="bg1"/>
                </a:solidFill>
              </a:ln>
            </p:spPr>
            <p:txBody>
              <a:bodyPr/>
              <a:lstStyle/>
              <a:p>
                <a:r>
                  <a:rPr lang="zh-TW" altLang="en-US">
                    <a:noFill/>
                  </a:rPr>
                  <a:t> </a:t>
                </a:r>
              </a:p>
            </p:txBody>
          </p:sp>
        </mc:Fallback>
      </mc:AlternateContent>
      <p:pic>
        <p:nvPicPr>
          <p:cNvPr id="2" name="圖片 1"/>
          <p:cNvPicPr>
            <a:picLocks noChangeAspect="1"/>
          </p:cNvPicPr>
          <p:nvPr/>
        </p:nvPicPr>
        <p:blipFill rotWithShape="1">
          <a:blip r:embed="rId13"/>
          <a:srcRect l="8360" r="26736"/>
          <a:stretch/>
        </p:blipFill>
        <p:spPr>
          <a:xfrm>
            <a:off x="4723061" y="4001789"/>
            <a:ext cx="2919157" cy="776260"/>
          </a:xfrm>
          <a:prstGeom prst="rect">
            <a:avLst/>
          </a:prstGeom>
        </p:spPr>
      </p:pic>
      <p:sp>
        <p:nvSpPr>
          <p:cNvPr id="3" name="橢圓 2"/>
          <p:cNvSpPr/>
          <p:nvPr/>
        </p:nvSpPr>
        <p:spPr>
          <a:xfrm>
            <a:off x="2879215" y="976265"/>
            <a:ext cx="510564" cy="4330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67798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Location Positioning Calculations</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After finding out all the mentioned parameter, final position for a tracking tag is calculated as:</a:t>
            </a:r>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a:t>
            </a:fld>
            <a:endParaRPr/>
          </a:p>
        </p:txBody>
      </p:sp>
      <p:pic>
        <p:nvPicPr>
          <p:cNvPr id="2" name="圖片 1"/>
          <p:cNvPicPr>
            <a:picLocks noChangeAspect="1"/>
          </p:cNvPicPr>
          <p:nvPr/>
        </p:nvPicPr>
        <p:blipFill>
          <a:blip r:embed="rId3"/>
          <a:stretch>
            <a:fillRect/>
          </a:stretch>
        </p:blipFill>
        <p:spPr>
          <a:xfrm>
            <a:off x="2159888" y="2320009"/>
            <a:ext cx="3577365" cy="1273464"/>
          </a:xfrm>
          <a:prstGeom prst="rect">
            <a:avLst/>
          </a:prstGeom>
        </p:spPr>
      </p:pic>
    </p:spTree>
    <p:extLst>
      <p:ext uri="{BB962C8B-B14F-4D97-AF65-F5344CB8AC3E}">
        <p14:creationId xmlns:p14="http://schemas.microsoft.com/office/powerpoint/2010/main" val="1052376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Location Positioning Calculations</a:t>
            </a:r>
            <a:endParaRPr dirty="0"/>
          </a:p>
        </p:txBody>
      </p:sp>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The method of weight calculation itself can greatly influence the accuracy of final position calculations. After some test calculations in comparison with other formulae for weight calculations, the equation giving satisfying results and used in the methodology is;</a:t>
            </a:r>
          </a:p>
        </p:txBody>
      </p:sp>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pic>
        <p:nvPicPr>
          <p:cNvPr id="3" name="圖片 2"/>
          <p:cNvPicPr>
            <a:picLocks noChangeAspect="1"/>
          </p:cNvPicPr>
          <p:nvPr/>
        </p:nvPicPr>
        <p:blipFill>
          <a:blip r:embed="rId3"/>
          <a:stretch>
            <a:fillRect/>
          </a:stretch>
        </p:blipFill>
        <p:spPr>
          <a:xfrm>
            <a:off x="2497689" y="3216275"/>
            <a:ext cx="2925149" cy="1576753"/>
          </a:xfrm>
          <a:prstGeom prst="rect">
            <a:avLst/>
          </a:prstGeom>
        </p:spPr>
      </p:pic>
    </p:spTree>
    <p:extLst>
      <p:ext uri="{BB962C8B-B14F-4D97-AF65-F5344CB8AC3E}">
        <p14:creationId xmlns:p14="http://schemas.microsoft.com/office/powerpoint/2010/main" val="3158477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261580"/>
            <a:ext cx="6761100" cy="857400"/>
          </a:xfrm>
          <a:prstGeom prst="rect">
            <a:avLst/>
          </a:prstGeom>
        </p:spPr>
        <p:txBody>
          <a:bodyPr spcFirstLastPara="1" wrap="square" lIns="91425" tIns="91425" rIns="91425" bIns="91425" anchor="b" anchorCtr="0">
            <a:noAutofit/>
          </a:bodyPr>
          <a:lstStyle/>
          <a:p>
            <a:pPr lvl="0"/>
            <a:r>
              <a:rPr lang="en-US" altLang="zh-TW" dirty="0"/>
              <a:t>Location Positioning Calculations</a:t>
            </a:r>
            <a:endParaRPr dirty="0"/>
          </a:p>
        </p:txBody>
      </p:sp>
      <mc:AlternateContent xmlns:mc="http://schemas.openxmlformats.org/markup-compatibility/2006" xmlns:a14="http://schemas.microsoft.com/office/drawing/2010/main">
        <mc:Choice Requires="a14">
          <p:sp>
            <p:nvSpPr>
              <p:cNvPr id="8" name="文字版面配置區 7">
                <a:extLst>
                  <a:ext uri="{FF2B5EF4-FFF2-40B4-BE49-F238E27FC236}">
                    <a16:creationId xmlns:a16="http://schemas.microsoft.com/office/drawing/2014/main" id="{D0DB9C07-2550-4D8B-B66C-68B0DE7CBB67}"/>
                  </a:ext>
                </a:extLst>
              </p:cNvPr>
              <p:cNvSpPr>
                <a:spLocks noGrp="1"/>
              </p:cNvSpPr>
              <p:nvPr>
                <p:ph type="body" idx="1"/>
              </p:nvPr>
            </p:nvSpPr>
            <p:spPr>
              <a:xfrm>
                <a:off x="718300" y="1379323"/>
                <a:ext cx="6761100" cy="2980500"/>
              </a:xfrm>
            </p:spPr>
            <p:txBody>
              <a:bodyPr/>
              <a:lstStyle/>
              <a:p>
                <a:r>
                  <a:rPr lang="en-US" altLang="zh-TW" sz="1800" dirty="0"/>
                  <a:t>The linear error, e in final position estimations is calculated between (x, y)T and (</a:t>
                </a:r>
                <a14:m>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i="1">
                            <a:latin typeface="Cambria Math" panose="02040503050406030204" pitchFamily="18" charset="0"/>
                          </a:rPr>
                          <m:t>0</m:t>
                        </m:r>
                      </m:sub>
                    </m:sSub>
                  </m:oMath>
                </a14:m>
                <a:r>
                  <a:rPr lang="en-US" altLang="zh-TW" sz="1800" dirty="0"/>
                  <a:t>, </a:t>
                </a:r>
                <a14:m>
                  <m:oMath xmlns:m="http://schemas.openxmlformats.org/officeDocument/2006/math">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𝑦</m:t>
                        </m:r>
                      </m:e>
                      <m:sub>
                        <m:r>
                          <a:rPr lang="en-US" altLang="zh-TW" sz="1800" i="1">
                            <a:latin typeface="Cambria Math" panose="02040503050406030204" pitchFamily="18" charset="0"/>
                          </a:rPr>
                          <m:t>0</m:t>
                        </m:r>
                      </m:sub>
                    </m:sSub>
                  </m:oMath>
                </a14:m>
                <a:r>
                  <a:rPr lang="en-US" altLang="zh-TW" sz="1800" dirty="0"/>
                  <a:t>)T using the Euclid Linear distance calculation formula. Where (x, y) is the calculated position and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𝑥</m:t>
                        </m:r>
                      </m:e>
                      <m:sub>
                        <m:r>
                          <a:rPr lang="en-US" altLang="zh-TW" sz="1800" i="1">
                            <a:latin typeface="Cambria Math" panose="02040503050406030204" pitchFamily="18" charset="0"/>
                          </a:rPr>
                          <m:t>0</m:t>
                        </m:r>
                      </m:sub>
                    </m:sSub>
                  </m:oMath>
                </a14:m>
                <a:r>
                  <a:rPr lang="en-US" altLang="zh-TW" sz="1800" dirty="0"/>
                  <a:t>,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𝑦</m:t>
                        </m:r>
                      </m:e>
                      <m:sub>
                        <m:r>
                          <a:rPr lang="en-US" altLang="zh-TW" sz="1800" i="1">
                            <a:latin typeface="Cambria Math" panose="02040503050406030204" pitchFamily="18" charset="0"/>
                          </a:rPr>
                          <m:t>0</m:t>
                        </m:r>
                      </m:sub>
                    </m:sSub>
                  </m:oMath>
                </a14:m>
                <a:r>
                  <a:rPr lang="en-US" altLang="zh-TW" sz="1800" dirty="0"/>
                  <a:t>) is the actual position of a tag.</a:t>
                </a:r>
              </a:p>
            </p:txBody>
          </p:sp>
        </mc:Choice>
        <mc:Fallback xmlns="">
          <p:sp>
            <p:nvSpPr>
              <p:cNvPr id="8" name="文字版面配置區 7">
                <a:extLst>
                  <a:ext uri="{FF2B5EF4-FFF2-40B4-BE49-F238E27FC236}">
                    <a16:creationId xmlns="" xmlns:a16="http://schemas.microsoft.com/office/drawing/2014/main" id="{D0DB9C07-2550-4D8B-B66C-68B0DE7CBB67}"/>
                  </a:ext>
                </a:extLst>
              </p:cNvPr>
              <p:cNvSpPr>
                <a:spLocks noGrp="1" noRot="1" noChangeAspect="1" noMove="1" noResize="1" noEditPoints="1" noAdjustHandles="1" noChangeArrowheads="1" noChangeShapeType="1" noTextEdit="1"/>
              </p:cNvSpPr>
              <p:nvPr>
                <p:ph type="body" idx="1"/>
              </p:nvPr>
            </p:nvSpPr>
            <p:spPr>
              <a:xfrm>
                <a:off x="718300" y="1379323"/>
                <a:ext cx="6761100" cy="2980500"/>
              </a:xfrm>
              <a:blipFill rotWithShape="0">
                <a:blip r:embed="rId3"/>
                <a:stretch>
                  <a:fillRect l="-90"/>
                </a:stretch>
              </a:blipFill>
            </p:spPr>
            <p:txBody>
              <a:bodyPr/>
              <a:lstStyle/>
              <a:p>
                <a:r>
                  <a:rPr lang="zh-TW" altLang="en-US">
                    <a:noFill/>
                  </a:rPr>
                  <a:t> </a:t>
                </a:r>
              </a:p>
            </p:txBody>
          </p:sp>
        </mc:Fallback>
      </mc:AlternateContent>
      <p:sp>
        <p:nvSpPr>
          <p:cNvPr id="3845" name="Google Shape;3845;p14"/>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a:t>
            </a:fld>
            <a:endParaRPr/>
          </a:p>
        </p:txBody>
      </p:sp>
      <p:pic>
        <p:nvPicPr>
          <p:cNvPr id="2" name="圖片 1"/>
          <p:cNvPicPr>
            <a:picLocks noChangeAspect="1"/>
          </p:cNvPicPr>
          <p:nvPr/>
        </p:nvPicPr>
        <p:blipFill>
          <a:blip r:embed="rId4"/>
          <a:stretch>
            <a:fillRect/>
          </a:stretch>
        </p:blipFill>
        <p:spPr>
          <a:xfrm>
            <a:off x="2201645" y="3189807"/>
            <a:ext cx="3915321" cy="819264"/>
          </a:xfrm>
          <a:prstGeom prst="rect">
            <a:avLst/>
          </a:prstGeom>
        </p:spPr>
      </p:pic>
    </p:spTree>
    <p:extLst>
      <p:ext uri="{BB962C8B-B14F-4D97-AF65-F5344CB8AC3E}">
        <p14:creationId xmlns:p14="http://schemas.microsoft.com/office/powerpoint/2010/main" val="935170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49"/>
        <p:cNvGrpSpPr/>
        <p:nvPr/>
      </p:nvGrpSpPr>
      <p:grpSpPr>
        <a:xfrm>
          <a:off x="0" y="0"/>
          <a:ext cx="0" cy="0"/>
          <a:chOff x="0" y="0"/>
          <a:chExt cx="0" cy="0"/>
        </a:xfrm>
      </p:grpSpPr>
      <p:sp>
        <p:nvSpPr>
          <p:cNvPr id="3850" name="Google Shape;3850;p15"/>
          <p:cNvSpPr txBox="1">
            <a:spLocks noGrp="1"/>
          </p:cNvSpPr>
          <p:nvPr>
            <p:ph type="ctrTitle" idx="4294967295"/>
          </p:nvPr>
        </p:nvSpPr>
        <p:spPr>
          <a:xfrm>
            <a:off x="3339503" y="3014585"/>
            <a:ext cx="3731400" cy="1159800"/>
          </a:xfrm>
          <a:prstGeom prst="rect">
            <a:avLst/>
          </a:prstGeom>
        </p:spPr>
        <p:txBody>
          <a:bodyPr spcFirstLastPara="1" wrap="square" lIns="91425" tIns="91425" rIns="91425" bIns="91425" anchor="b" anchorCtr="0">
            <a:noAutofit/>
          </a:bodyPr>
          <a:lstStyle/>
          <a:p>
            <a:r>
              <a:rPr lang="en-US" altLang="zh-TW" dirty="0"/>
              <a:t>Experimental Results</a:t>
            </a:r>
            <a:endParaRPr sz="6000" dirty="0"/>
          </a:p>
        </p:txBody>
      </p:sp>
      <p:pic>
        <p:nvPicPr>
          <p:cNvPr id="3852" name="Google Shape;3852;p15" descr="photo-1434030216411-0b793f4b4173.jpg"/>
          <p:cNvPicPr preferRelativeResize="0"/>
          <p:nvPr/>
        </p:nvPicPr>
        <p:blipFill rotWithShape="1">
          <a:blip r:embed="rId3">
            <a:alphaModFix/>
          </a:blip>
          <a:srcRect l="23367" r="21417"/>
          <a:stretch/>
        </p:blipFill>
        <p:spPr>
          <a:xfrm>
            <a:off x="0" y="0"/>
            <a:ext cx="2840000" cy="5143500"/>
          </a:xfrm>
          <a:prstGeom prst="rect">
            <a:avLst/>
          </a:prstGeom>
          <a:noFill/>
          <a:ln>
            <a:noFill/>
          </a:ln>
        </p:spPr>
      </p:pic>
      <p:sp>
        <p:nvSpPr>
          <p:cNvPr id="3853" name="Google Shape;3853;p1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p:pic>
        <p:nvPicPr>
          <p:cNvPr id="3" name="圖片 2"/>
          <p:cNvPicPr>
            <a:picLocks noChangeAspect="1"/>
          </p:cNvPicPr>
          <p:nvPr/>
        </p:nvPicPr>
        <p:blipFill>
          <a:blip r:embed="rId3"/>
          <a:stretch>
            <a:fillRect/>
          </a:stretch>
        </p:blipFill>
        <p:spPr>
          <a:xfrm>
            <a:off x="458070" y="0"/>
            <a:ext cx="8363242" cy="54875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14</a:t>
            </a:fld>
            <a:endParaRPr lang="en"/>
          </a:p>
        </p:txBody>
      </p:sp>
      <p:pic>
        <p:nvPicPr>
          <p:cNvPr id="3" name="圖片 2"/>
          <p:cNvPicPr>
            <a:picLocks noChangeAspect="1"/>
          </p:cNvPicPr>
          <p:nvPr/>
        </p:nvPicPr>
        <p:blipFill>
          <a:blip r:embed="rId3"/>
          <a:stretch>
            <a:fillRect/>
          </a:stretch>
        </p:blipFill>
        <p:spPr>
          <a:xfrm>
            <a:off x="1134482" y="162143"/>
            <a:ext cx="5623765" cy="4754858"/>
          </a:xfrm>
          <a:prstGeom prst="rect">
            <a:avLst/>
          </a:prstGeom>
        </p:spPr>
      </p:pic>
    </p:spTree>
    <p:extLst>
      <p:ext uri="{BB962C8B-B14F-4D97-AF65-F5344CB8AC3E}">
        <p14:creationId xmlns:p14="http://schemas.microsoft.com/office/powerpoint/2010/main" val="2476459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15</a:t>
            </a:fld>
            <a:endParaRPr lang="en"/>
          </a:p>
        </p:txBody>
      </p:sp>
      <p:pic>
        <p:nvPicPr>
          <p:cNvPr id="4" name="圖片 3"/>
          <p:cNvPicPr>
            <a:picLocks noChangeAspect="1"/>
          </p:cNvPicPr>
          <p:nvPr/>
        </p:nvPicPr>
        <p:blipFill>
          <a:blip r:embed="rId3"/>
          <a:stretch>
            <a:fillRect/>
          </a:stretch>
        </p:blipFill>
        <p:spPr>
          <a:xfrm>
            <a:off x="1051961" y="182227"/>
            <a:ext cx="5712981" cy="4961273"/>
          </a:xfrm>
          <a:prstGeom prst="rect">
            <a:avLst/>
          </a:prstGeom>
        </p:spPr>
      </p:pic>
    </p:spTree>
    <p:extLst>
      <p:ext uri="{BB962C8B-B14F-4D97-AF65-F5344CB8AC3E}">
        <p14:creationId xmlns:p14="http://schemas.microsoft.com/office/powerpoint/2010/main" val="1156084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36"/>
        <p:cNvGrpSpPr/>
        <p:nvPr/>
      </p:nvGrpSpPr>
      <p:grpSpPr>
        <a:xfrm>
          <a:off x="0" y="0"/>
          <a:ext cx="0" cy="0"/>
          <a:chOff x="0" y="0"/>
          <a:chExt cx="0" cy="0"/>
        </a:xfrm>
      </p:grpSpPr>
      <p:sp>
        <p:nvSpPr>
          <p:cNvPr id="3937" name="Google Shape;3937;p2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zh-TW" dirty="0"/>
              <a:t>Conclusion</a:t>
            </a:r>
            <a:endParaRPr dirty="0"/>
          </a:p>
        </p:txBody>
      </p:sp>
      <p:sp>
        <p:nvSpPr>
          <p:cNvPr id="2" name="文字版面配置區 1">
            <a:extLst>
              <a:ext uri="{FF2B5EF4-FFF2-40B4-BE49-F238E27FC236}">
                <a16:creationId xmlns:a16="http://schemas.microsoft.com/office/drawing/2014/main" id="{95FF4859-B7F3-4C2F-B234-501CF1A2B395}"/>
              </a:ext>
            </a:extLst>
          </p:cNvPr>
          <p:cNvSpPr>
            <a:spLocks noGrp="1"/>
          </p:cNvSpPr>
          <p:nvPr>
            <p:ph type="body" idx="1"/>
          </p:nvPr>
        </p:nvSpPr>
        <p:spPr/>
        <p:txBody>
          <a:bodyPr/>
          <a:lstStyle/>
          <a:p>
            <a:r>
              <a:rPr lang="en-US" altLang="zh-TW" sz="1800" dirty="0"/>
              <a:t>In this paper, we presented an indoor positioning algorithm that uses a grid of passive RFID (reference) tags to set a layout of </a:t>
            </a:r>
            <a:r>
              <a:rPr lang="en-US" altLang="zh-TW" sz="1800" dirty="0" err="1"/>
              <a:t>neighbours</a:t>
            </a:r>
            <a:r>
              <a:rPr lang="en-US" altLang="zh-TW" sz="1800" dirty="0"/>
              <a:t> for unknown (tracking) tags to be positioned.</a:t>
            </a:r>
          </a:p>
          <a:p>
            <a:endParaRPr lang="en-US" altLang="zh-TW" sz="1800" dirty="0"/>
          </a:p>
          <a:p>
            <a:r>
              <a:rPr lang="en-US" altLang="zh-TW" sz="1800" dirty="0"/>
              <a:t>The average linear error in positioning for the particular scenario presented in this paper was found to be approximately </a:t>
            </a:r>
            <a:r>
              <a:rPr lang="en-US" altLang="zh-TW" sz="1800" b="1" dirty="0">
                <a:solidFill>
                  <a:schemeClr val="accent1">
                    <a:lumMod val="50000"/>
                  </a:schemeClr>
                </a:solidFill>
              </a:rPr>
              <a:t>1.05m</a:t>
            </a:r>
            <a:r>
              <a:rPr lang="en-US" altLang="zh-TW" sz="1800" dirty="0"/>
              <a:t> in 2D. The approach was validated by experimental results for inter-tag spacing of reference tags from 1m up to 7m. With increase in this spacing, the number of reference tags detected decreased and the error increased.</a:t>
            </a:r>
            <a:endParaRPr lang="zh-TW" altLang="en-US" sz="1800" dirty="0"/>
          </a:p>
        </p:txBody>
      </p:sp>
      <p:sp>
        <p:nvSpPr>
          <p:cNvPr id="3939" name="Google Shape;3939;p25"/>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37"/>
        <p:cNvGrpSpPr/>
        <p:nvPr/>
      </p:nvGrpSpPr>
      <p:grpSpPr>
        <a:xfrm>
          <a:off x="0" y="0"/>
          <a:ext cx="0" cy="0"/>
          <a:chOff x="0" y="0"/>
          <a:chExt cx="0" cy="0"/>
        </a:xfrm>
      </p:grpSpPr>
      <p:sp>
        <p:nvSpPr>
          <p:cNvPr id="4038" name="Google Shape;4038;p36"/>
          <p:cNvSpPr txBox="1">
            <a:spLocks noGrp="1"/>
          </p:cNvSpPr>
          <p:nvPr>
            <p:ph type="ctrTitle" idx="4294967295"/>
          </p:nvPr>
        </p:nvSpPr>
        <p:spPr>
          <a:xfrm>
            <a:off x="685800" y="745150"/>
            <a:ext cx="48639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a:solidFill>
                  <a:srgbClr val="80BFB7"/>
                </a:solidFill>
              </a:rPr>
              <a:t>THANKS!</a:t>
            </a:r>
            <a:endParaRPr sz="6000">
              <a:solidFill>
                <a:srgbClr val="80BFB7"/>
              </a:solidFill>
            </a:endParaRPr>
          </a:p>
        </p:txBody>
      </p:sp>
      <p:sp>
        <p:nvSpPr>
          <p:cNvPr id="4041" name="Google Shape;4041;p3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17</a:t>
            </a:fld>
            <a:endParaRPr/>
          </a:p>
        </p:txBody>
      </p:sp>
    </p:spTree>
  </p:cSld>
  <p:clrMapOvr>
    <a:masterClrMapping/>
  </p:clrMapOvr>
</p:sld>
</file>

<file path=ppt/theme/theme1.xml><?xml version="1.0" encoding="utf-8"?>
<a:theme xmlns:a="http://schemas.openxmlformats.org/drawingml/2006/main" name="Mowbray template">
  <a:themeElements>
    <a:clrScheme name="Custom 347">
      <a:dk1>
        <a:srgbClr val="003B55"/>
      </a:dk1>
      <a:lt1>
        <a:srgbClr val="FFFFFF"/>
      </a:lt1>
      <a:dk2>
        <a:srgbClr val="0B87A1"/>
      </a:dk2>
      <a:lt2>
        <a:srgbClr val="EEF1EE"/>
      </a:lt2>
      <a:accent1>
        <a:srgbClr val="D3EBD5"/>
      </a:accent1>
      <a:accent2>
        <a:srgbClr val="80BFB7"/>
      </a:accent2>
      <a:accent3>
        <a:srgbClr val="0B87A1"/>
      </a:accent3>
      <a:accent4>
        <a:srgbClr val="01597F"/>
      </a:accent4>
      <a:accent5>
        <a:srgbClr val="003B55"/>
      </a:accent5>
      <a:accent6>
        <a:srgbClr val="001120"/>
      </a:accent6>
      <a:hlink>
        <a:srgbClr val="01597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7844</TotalTime>
  <Words>1658</Words>
  <Application>Microsoft Office PowerPoint</Application>
  <PresentationFormat>如螢幕大小 (16:9)</PresentationFormat>
  <Paragraphs>113</Paragraphs>
  <Slides>17</Slides>
  <Notes>16</Notes>
  <HiddenSlides>1</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17</vt:i4>
      </vt:variant>
    </vt:vector>
  </HeadingPairs>
  <TitlesOfParts>
    <vt:vector size="23" baseType="lpstr">
      <vt:lpstr>新細明體</vt:lpstr>
      <vt:lpstr>Titillium Web Light</vt:lpstr>
      <vt:lpstr>Cambria Math</vt:lpstr>
      <vt:lpstr>Dosis ExtraLight</vt:lpstr>
      <vt:lpstr>Arial</vt:lpstr>
      <vt:lpstr>Mowbray template</vt:lpstr>
      <vt:lpstr>Passive RFID-Based Indoor Positioning System,  An Algorithmic Approach</vt:lpstr>
      <vt:lpstr>Introduction</vt:lpstr>
      <vt:lpstr>Related Works</vt:lpstr>
      <vt:lpstr>PowerPoint 簡報</vt:lpstr>
      <vt:lpstr>Experimental Setup</vt:lpstr>
      <vt:lpstr>PowerPoint 簡報</vt:lpstr>
      <vt:lpstr>PowerPoint 簡報</vt:lpstr>
      <vt:lpstr>PowerPoint 簡報</vt:lpstr>
      <vt:lpstr>Location Positioning Calculations</vt:lpstr>
      <vt:lpstr>Location Positioning Calculations</vt:lpstr>
      <vt:lpstr>Location Positioning Calculations</vt:lpstr>
      <vt:lpstr>Experimental Results</vt:lpstr>
      <vt:lpstr>PowerPoint 簡報</vt:lpstr>
      <vt:lpstr>PowerPoint 簡報</vt:lpstr>
      <vt:lpstr>PowerPoint 簡報</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Precoded Cluster Hopping in Multi-Beam High Throughput Satellite Systems</dc:title>
  <dc:creator>Albert</dc:creator>
  <cp:lastModifiedBy>Albert</cp:lastModifiedBy>
  <cp:revision>243</cp:revision>
  <dcterms:modified xsi:type="dcterms:W3CDTF">2020-09-14T10:40:47Z</dcterms:modified>
</cp:coreProperties>
</file>